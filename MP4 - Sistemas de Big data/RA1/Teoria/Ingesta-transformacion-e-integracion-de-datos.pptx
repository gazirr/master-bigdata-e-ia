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1695" cy="6858000"/>
  <p:notesSz cx="6858000" cy="12191695"/>
  <p:embeddedFontLst>
    <p:embeddedFont>
      <p:font typeface="Alexandria Medium"/>
      <p:regular r:id="rId201314"/>
    </p:embeddedFont>
    <p:embeddedFont>
      <p:font typeface="Manrope"/>
      <p:regular r:id="rId201315"/>
    </p:embeddedFont>
    <p:embeddedFont>
      <p:font typeface="Manrope Bol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4B2885"/>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gasquer@monlau.com" TargetMode="External"/><Relationship Id="rId1" Type="http://schemas.openxmlformats.org/officeDocument/2006/relationships/image" Target="../media/image-1-1.jpe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image" Target="../media/image-2-1.png"/><Relationship Id="rId5" Type="http://schemas.openxmlformats.org/officeDocument/2006/relationships/image" Target="../media/image-2-1.png"/><Relationship Id="rId6" Type="http://schemas.openxmlformats.org/officeDocument/2006/relationships/image" Target="../media/image-2-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slideLayout" Target="../slideLayouts/slideLayout2.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1.png"/><Relationship Id="rId4" Type="http://schemas.openxmlformats.org/officeDocument/2006/relationships/image" Target="../media/image-6-2.svg"/><Relationship Id="rId5" Type="http://schemas.openxmlformats.org/officeDocument/2006/relationships/image" Target="../media/image-6-1.png"/><Relationship Id="rId6" Type="http://schemas.openxmlformats.org/officeDocument/2006/relationships/image" Target="../media/image-6-2.svg"/><Relationship Id="rId7" Type="http://schemas.openxmlformats.org/officeDocument/2006/relationships/image" Target="../media/image-6-1.png"/><Relationship Id="rId8" Type="http://schemas.openxmlformats.org/officeDocument/2006/relationships/image" Target="../media/image-6-2.sv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slideLayout" Target="../slideLayouts/slideLayout2.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slideLayout" Target="../slideLayouts/slideLayout2.xml"/><Relationship Id="rId11"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svg"/><Relationship Id="rId3" Type="http://schemas.openxmlformats.org/officeDocument/2006/relationships/image" Target="../media/image-32-1.png"/><Relationship Id="rId4" Type="http://schemas.openxmlformats.org/officeDocument/2006/relationships/image" Target="../media/image-32-2.svg"/><Relationship Id="rId5" Type="http://schemas.openxmlformats.org/officeDocument/2006/relationships/image" Target="../media/image-32-1.png"/><Relationship Id="rId6" Type="http://schemas.openxmlformats.org/officeDocument/2006/relationships/image" Target="../media/image-32-2.svg"/><Relationship Id="rId7" Type="http://schemas.openxmlformats.org/officeDocument/2006/relationships/image" Target="../media/image-32-1.png"/><Relationship Id="rId8" Type="http://schemas.openxmlformats.org/officeDocument/2006/relationships/image" Target="../media/image-32-2.svg"/><Relationship Id="rId9" Type="http://schemas.openxmlformats.org/officeDocument/2006/relationships/image" Target="../media/image-32-9.png"/><Relationship Id="rId10" Type="http://schemas.openxmlformats.org/officeDocument/2006/relationships/image" Target="../media/image-32-10.svg"/><Relationship Id="rId11" Type="http://schemas.openxmlformats.org/officeDocument/2006/relationships/image" Target="../media/image-32-9.png"/><Relationship Id="rId12" Type="http://schemas.openxmlformats.org/officeDocument/2006/relationships/image" Target="../media/image-32-10.svg"/><Relationship Id="rId13" Type="http://schemas.openxmlformats.org/officeDocument/2006/relationships/image" Target="../media/image-32-9.png"/><Relationship Id="rId14" Type="http://schemas.openxmlformats.org/officeDocument/2006/relationships/image" Target="../media/image-32-10.svg"/><Relationship Id="rId15" Type="http://schemas.openxmlformats.org/officeDocument/2006/relationships/image" Target="../media/image-32-9.png"/><Relationship Id="rId16" Type="http://schemas.openxmlformats.org/officeDocument/2006/relationships/image" Target="../media/image-32-10.svg"/><Relationship Id="rId17" Type="http://schemas.openxmlformats.org/officeDocument/2006/relationships/image" Target="../media/image-1-2.png"/><Relationship Id="rId18" Type="http://schemas.openxmlformats.org/officeDocument/2006/relationships/image" Target="../media/image-1-3.png"/><Relationship Id="rId19" Type="http://schemas.openxmlformats.org/officeDocument/2006/relationships/slideLayout" Target="../slideLayouts/slideLayout2.xml"/><Relationship Id="rId20"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svg"/><Relationship Id="rId3" Type="http://schemas.openxmlformats.org/officeDocument/2006/relationships/image" Target="../media/image-34-1.png"/><Relationship Id="rId4" Type="http://schemas.openxmlformats.org/officeDocument/2006/relationships/image" Target="../media/image-34-2.svg"/><Relationship Id="rId5" Type="http://schemas.openxmlformats.org/officeDocument/2006/relationships/image" Target="../media/image-34-5.png"/><Relationship Id="rId6" Type="http://schemas.openxmlformats.org/officeDocument/2006/relationships/image" Target="../media/image-34-6.svg"/><Relationship Id="rId7" Type="http://schemas.openxmlformats.org/officeDocument/2006/relationships/image" Target="../media/image-34-5.png"/><Relationship Id="rId8" Type="http://schemas.openxmlformats.org/officeDocument/2006/relationships/image" Target="../media/image-34-6.sv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slideLayout" Target="../slideLayouts/slideLayout2.xml"/><Relationship Id="rId1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36-2.png"/><Relationship Id="rId3" Type="http://schemas.openxmlformats.org/officeDocument/2006/relationships/image" Target="../media/image-36-3.svg"/><Relationship Id="rId4" Type="http://schemas.openxmlformats.org/officeDocument/2006/relationships/image" Target="../media/image-36-4.png"/><Relationship Id="rId5" Type="http://schemas.openxmlformats.org/officeDocument/2006/relationships/image" Target="../media/image-36-5.svg"/><Relationship Id="rId6" Type="http://schemas.openxmlformats.org/officeDocument/2006/relationships/image" Target="../media/image-36-2.png"/><Relationship Id="rId7" Type="http://schemas.openxmlformats.org/officeDocument/2006/relationships/image" Target="../media/image-36-3.svg"/><Relationship Id="rId8" Type="http://schemas.openxmlformats.org/officeDocument/2006/relationships/image" Target="../media/image-36-4.png"/><Relationship Id="rId9" Type="http://schemas.openxmlformats.org/officeDocument/2006/relationships/image" Target="../media/image-36-5.svg"/><Relationship Id="rId10" Type="http://schemas.openxmlformats.org/officeDocument/2006/relationships/image" Target="../media/image-1-2.png"/><Relationship Id="rId11" Type="http://schemas.openxmlformats.org/officeDocument/2006/relationships/image" Target="../media/image-1-3.png"/><Relationship Id="rId12" Type="http://schemas.openxmlformats.org/officeDocument/2006/relationships/slideLayout" Target="../slideLayouts/slideLayout2.xml"/><Relationship Id="rId1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svg"/><Relationship Id="rId3" Type="http://schemas.openxmlformats.org/officeDocument/2006/relationships/image" Target="../media/image-42-1.png"/><Relationship Id="rId4" Type="http://schemas.openxmlformats.org/officeDocument/2006/relationships/image" Target="../media/image-42-2.svg"/><Relationship Id="rId5" Type="http://schemas.openxmlformats.org/officeDocument/2006/relationships/image" Target="../media/image-42-5.png"/><Relationship Id="rId6" Type="http://schemas.openxmlformats.org/officeDocument/2006/relationships/image" Target="../media/image-42-6.svg"/><Relationship Id="rId7" Type="http://schemas.openxmlformats.org/officeDocument/2006/relationships/image" Target="../media/image-42-5.png"/><Relationship Id="rId8" Type="http://schemas.openxmlformats.org/officeDocument/2006/relationships/image" Target="../media/image-42-6.svg"/><Relationship Id="rId9" Type="http://schemas.openxmlformats.org/officeDocument/2006/relationships/image" Target="../media/image-14-1.png"/><Relationship Id="rId10" Type="http://schemas.openxmlformats.org/officeDocument/2006/relationships/image" Target="../media/image-1-2.png"/><Relationship Id="rId11" Type="http://schemas.openxmlformats.org/officeDocument/2006/relationships/image" Target="../media/image-1-3.png"/><Relationship Id="rId12" Type="http://schemas.openxmlformats.org/officeDocument/2006/relationships/slideLayout" Target="../slideLayouts/slideLayout2.xml"/><Relationship Id="rId1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sv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slideLayout" Target="../slideLayouts/slideLayout2.xml"/><Relationship Id="rId6"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svg"/><Relationship Id="rId3" Type="http://schemas.openxmlformats.org/officeDocument/2006/relationships/image" Target="../media/image-51-1.png"/><Relationship Id="rId4" Type="http://schemas.openxmlformats.org/officeDocument/2006/relationships/image" Target="../media/image-51-2.svg"/><Relationship Id="rId5" Type="http://schemas.openxmlformats.org/officeDocument/2006/relationships/image" Target="../media/image-51-1.png"/><Relationship Id="rId6" Type="http://schemas.openxmlformats.org/officeDocument/2006/relationships/image" Target="../media/image-51-2.svg"/><Relationship Id="rId7" Type="http://schemas.openxmlformats.org/officeDocument/2006/relationships/image" Target="../media/image-51-1.png"/><Relationship Id="rId8" Type="http://schemas.openxmlformats.org/officeDocument/2006/relationships/image" Target="../media/image-51-2.svg"/><Relationship Id="rId9" Type="http://schemas.openxmlformats.org/officeDocument/2006/relationships/image" Target="../media/image-51-1.png"/><Relationship Id="rId10" Type="http://schemas.openxmlformats.org/officeDocument/2006/relationships/image" Target="../media/image-51-2.svg"/><Relationship Id="rId11" Type="http://schemas.openxmlformats.org/officeDocument/2006/relationships/image" Target="../media/image-51-1.png"/><Relationship Id="rId12" Type="http://schemas.openxmlformats.org/officeDocument/2006/relationships/image" Target="../media/image-51-2.svg"/><Relationship Id="rId13" Type="http://schemas.openxmlformats.org/officeDocument/2006/relationships/image" Target="../media/image-51-1.png"/><Relationship Id="rId14" Type="http://schemas.openxmlformats.org/officeDocument/2006/relationships/image" Target="../media/image-51-2.svg"/><Relationship Id="rId15" Type="http://schemas.openxmlformats.org/officeDocument/2006/relationships/image" Target="../media/image-1-2.png"/><Relationship Id="rId16" Type="http://schemas.openxmlformats.org/officeDocument/2006/relationships/image" Target="../media/image-1-3.png"/><Relationship Id="rId17" Type="http://schemas.openxmlformats.org/officeDocument/2006/relationships/slideLayout" Target="../slideLayouts/slideLayout2.xml"/><Relationship Id="rId18"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083197"/>
            <a:ext cx="6296860" cy="826889"/>
          </a:xfrm>
          <a:prstGeom prst="rect">
            <a:avLst/>
          </a:prstGeom>
          <a:noFill/>
          <a:ln/>
        </p:spPr>
        <p:txBody>
          <a:bodyPr wrap="square" lIns="0" tIns="0" rIns="0" bIns="0" rtlCol="0" anchor="t">
            <a:normAutofit/>
          </a:bodyPr>
          <a:lstStyle/>
          <a:p>
            <a:pPr algn="l" indent="0" marL="0">
              <a:lnSpc>
                <a:spcPct val="104000"/>
              </a:lnSpc>
              <a:buNone/>
            </a:pPr>
            <a:r>
              <a:rPr lang="en-US" sz="2600" spc="-26" kern="0" dirty="0">
                <a:solidFill>
                  <a:srgbClr val="FFFFFF"/>
                </a:solidFill>
                <a:latin typeface="Alexandria Medium" pitchFamily="34" charset="0"/>
                <a:ea typeface="Alexandria Medium" pitchFamily="34" charset="-122"/>
                <a:cs typeface="Alexandria Medium" pitchFamily="34" charset="-120"/>
              </a:rPr>
              <a:t>Ingesta, transformación e integración de datos</a:t>
            </a:r>
            <a:endParaRPr lang="en-US" sz="2600" dirty="0"/>
          </a:p>
        </p:txBody>
      </p:sp>
      <p:sp>
        <p:nvSpPr>
          <p:cNvPr id="4" name="Text 1"/>
          <p:cNvSpPr/>
          <p:nvPr/>
        </p:nvSpPr>
        <p:spPr>
          <a:xfrm>
            <a:off x="661475" y="3158133"/>
            <a:ext cx="6296860" cy="1616571"/>
          </a:xfrm>
          <a:prstGeom prst="rect">
            <a:avLst/>
          </a:prstGeom>
          <a:noFill/>
          <a:ln/>
        </p:spPr>
        <p:txBody>
          <a:bodyPr wrap="square" lIns="0" tIns="0" rIns="0" bIns="0" rtlCol="0" anchor="t"/>
          <a:lstStyle/>
          <a:p>
            <a:pPr algn="l" indent="0" marL="0">
              <a:lnSpc>
                <a:spcPct val="133000"/>
              </a:lnSpc>
              <a:spcAft>
                <a:spcPts val="1450"/>
              </a:spcAft>
              <a:buNone/>
            </a:pPr>
            <a:r>
              <a:rPr lang="en-US" sz="1300" b="1" dirty="0">
                <a:solidFill>
                  <a:srgbClr val="FFFFFF"/>
                </a:solidFill>
                <a:latin typeface="Manrope Bold" pitchFamily="34" charset="0"/>
                <a:ea typeface="Manrope Bold" pitchFamily="34" charset="-122"/>
                <a:cs typeface="Manrope Bold" pitchFamily="34" charset="-120"/>
              </a:rPr>
              <a:t>M4 · Sistemas de Big Data — RA1</a:t>
            </a:r>
            <a:endParaRPr lang="en-US" sz="1300" dirty="0"/>
          </a:p>
          <a:p>
            <a:pPr algn="l" indent="0" marL="0">
              <a:lnSpc>
                <a:spcPct val="133000"/>
              </a:lnSpc>
              <a:spcAft>
                <a:spcPts val="1450"/>
              </a:spcAft>
              <a:buNone/>
            </a:pPr>
            <a:r>
              <a:rPr lang="en-US" sz="1300" dirty="0">
                <a:solidFill>
                  <a:srgbClr val="FFFFFF"/>
                </a:solidFill>
                <a:latin typeface="Manrope" pitchFamily="34" charset="0"/>
                <a:ea typeface="Manrope" pitchFamily="34" charset="-122"/>
                <a:cs typeface="Manrope" pitchFamily="34" charset="-120"/>
              </a:rPr>
              <a:t>Especialización en Inteligencia Artificial y Big Data</a:t>
            </a:r>
            <a:endParaRPr lang="en-US" sz="1300" dirty="0"/>
          </a:p>
          <a:p>
            <a:pPr algn="l" indent="0" marL="0">
              <a:lnSpc>
                <a:spcPct val="133000"/>
              </a:lnSpc>
              <a:spcAft>
                <a:spcPts val="1450"/>
              </a:spcAft>
              <a:buNone/>
            </a:pPr>
            <a:r>
              <a:rPr lang="en-US" sz="1300" dirty="0">
                <a:solidFill>
                  <a:srgbClr val="FFFFFF"/>
                </a:solidFill>
                <a:latin typeface="Manrope" pitchFamily="34" charset="0"/>
                <a:ea typeface="Manrope" pitchFamily="34" charset="-122"/>
                <a:cs typeface="Manrope" pitchFamily="34" charset="-120"/>
              </a:rPr>
              <a:t>Rubén Gasque Todolí</a:t>
            </a:r>
            <a:endParaRPr lang="en-US" sz="1300" dirty="0"/>
          </a:p>
          <a:p>
            <a:pPr algn="l" indent="0" marL="0">
              <a:lnSpc>
                <a:spcPct val="133000"/>
              </a:lnSpc>
              <a:buNone/>
            </a:pPr>
            <a:r>
              <a:rPr lang="en-US" sz="1300" b="1" u="sng" dirty="0">
                <a:solidFill>
                  <a:srgbClr val="FFFFFF"/>
                </a:solidFill>
                <a:latin typeface="Manrope Bold" pitchFamily="34" charset="0"/>
                <a:ea typeface="Manrope Bold" pitchFamily="34" charset="-122"/>
                <a:cs typeface="Manrope Bold" pitchFamily="34" charset="-120"/>
                <a:hlinkClick r:id="rId2" invalidUrl="" action="" tgtFrame="" tooltip="" history="1" highlightClick="0" endSnd="0">
                  <a:extLst>
                    <a:ext uri="{A12FA001-AC4F-418D-AE19-62706E023703}">
                      <ahyp:hlinkClr xmlns:ahyp="http://schemas.microsoft.com/office/drawing/2018/hyperlinkcolor" val="tx"/>
                    </a:ext>
                  </a:extLst>
                </a:hlinkClick>
              </a:rPr>
              <a:t>gasquer@monlau.com</a:t>
            </a:r>
            <a:endParaRPr lang="en-US" sz="1300" dirty="0"/>
          </a:p>
        </p:txBody>
      </p:sp>
      <p:pic>
        <p:nvPicPr>
          <p:cNvPr id="5" name="Image 1" descr="preencoded.png">    </p:cNvPr>
          <p:cNvPicPr>
            <a:picLocks noChangeAspect="1"/>
          </p:cNvPicPr>
          <p:nvPr/>
        </p:nvPicPr>
        <p:blipFill>
          <a:blip r:embed="rId3"/>
          <a:stretch>
            <a:fillRect/>
          </a:stretch>
        </p:blipFill>
        <p:spPr>
          <a:xfrm>
            <a:off x="198433" y="203597"/>
            <a:ext cx="676357" cy="568623"/>
          </a:xfrm>
          <a:prstGeom prst="rect">
            <a:avLst/>
          </a:prstGeom>
        </p:spPr>
      </p:pic>
      <p:pic>
        <p:nvPicPr>
          <p:cNvPr id="6" name="Image 2" descr="preencoded.png">    </p:cNvPr>
          <p:cNvPicPr>
            <a:picLocks noChangeAspect="1"/>
          </p:cNvPicPr>
          <p:nvPr/>
        </p:nvPicPr>
        <p:blipFill>
          <a:blip r:embed="rId4"/>
          <a:stretch>
            <a:fillRect/>
          </a:stretch>
        </p:blipFill>
        <p:spPr>
          <a:xfrm>
            <a:off x="6814471" y="268784"/>
            <a:ext cx="606906" cy="438249"/>
          </a:xfrm>
          <a:prstGeom prst="rect">
            <a:avLst/>
          </a:prstGeom>
        </p:spPr>
      </p:pic>
      <p:sp>
        <p:nvSpPr>
          <p:cNvPr id="7" name="Text 2"/>
          <p:cNvSpPr/>
          <p:nvPr/>
        </p:nvSpPr>
        <p:spPr>
          <a:xfrm>
            <a:off x="6342995" y="6300589"/>
            <a:ext cx="1078382"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1025624"/>
            <a:ext cx="10868745" cy="372170"/>
          </a:xfrm>
          <a:prstGeom prst="rect">
            <a:avLst/>
          </a:prstGeom>
          <a:noFill/>
          <a:ln/>
        </p:spPr>
        <p:txBody>
          <a:bodyPr wrap="none" lIns="0" tIns="0" rIns="0" bIns="0" rtlCol="0" anchor="t"/>
          <a:lstStyle/>
          <a:p>
            <a:pPr algn="l" indent="0" marL="0">
              <a:lnSpc>
                <a:spcPct val="104000"/>
              </a:lnSpc>
              <a:buNone/>
            </a:pPr>
            <a:r>
              <a:rPr lang="en-US" sz="2300" spc="-23" kern="0" dirty="0">
                <a:solidFill>
                  <a:srgbClr val="FFFFFF"/>
                </a:solidFill>
                <a:latin typeface="Alexandria Medium" pitchFamily="34" charset="0"/>
                <a:ea typeface="Alexandria Medium" pitchFamily="34" charset="-122"/>
                <a:cs typeface="Alexandria Medium" pitchFamily="34" charset="-120"/>
              </a:rPr>
              <a:t>Del dato bruto al dato útil</a:t>
            </a:r>
            <a:endParaRPr lang="en-US" sz="2300" dirty="0"/>
          </a:p>
        </p:txBody>
      </p:sp>
      <p:sp>
        <p:nvSpPr>
          <p:cNvPr id="3" name="Text 1"/>
          <p:cNvSpPr/>
          <p:nvPr/>
        </p:nvSpPr>
        <p:spPr>
          <a:xfrm>
            <a:off x="661475" y="1665684"/>
            <a:ext cx="10868745" cy="452438"/>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Todo proyecto de datos sigue un camino desde las fuentes originales hasta un dataset listo para el análisis. Este pipeline es el </a:t>
            </a:r>
            <a:pPr algn="l" indent="0" marL="0">
              <a:lnSpc>
                <a:spcPct val="127000"/>
              </a:lnSpc>
              <a:buNone/>
            </a:pPr>
            <a:r>
              <a:rPr lang="en-US" sz="1150" b="1" dirty="0">
                <a:solidFill>
                  <a:srgbClr val="FFFFFF"/>
                </a:solidFill>
                <a:latin typeface="Manrope Bold" pitchFamily="34" charset="0"/>
                <a:ea typeface="Manrope Bold" pitchFamily="34" charset="-122"/>
                <a:cs typeface="Manrope Bold" pitchFamily="34" charset="-120"/>
              </a:rPr>
              <a:t>hilo conductor</a:t>
            </a:r>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 de toda la presentación.</a:t>
            </a:r>
            <a:endParaRPr lang="en-US" sz="1150" dirty="0"/>
          </a:p>
        </p:txBody>
      </p:sp>
      <p:pic>
        <p:nvPicPr>
          <p:cNvPr id="4" name="Image 0" descr="preencoded.png">    </p:cNvPr>
          <p:cNvPicPr>
            <a:picLocks noChangeAspect="1"/>
          </p:cNvPicPr>
          <p:nvPr/>
        </p:nvPicPr>
        <p:blipFill>
          <a:blip r:embed="rId1"/>
          <a:stretch>
            <a:fillRect/>
          </a:stretch>
        </p:blipFill>
        <p:spPr>
          <a:xfrm>
            <a:off x="661475" y="2715320"/>
            <a:ext cx="3533587" cy="952500"/>
          </a:xfrm>
          <a:prstGeom prst="rect">
            <a:avLst/>
          </a:prstGeom>
        </p:spPr>
      </p:pic>
      <p:sp>
        <p:nvSpPr>
          <p:cNvPr id="5" name="Text 2"/>
          <p:cNvSpPr/>
          <p:nvPr/>
        </p:nvSpPr>
        <p:spPr>
          <a:xfrm>
            <a:off x="810299" y="3295749"/>
            <a:ext cx="3235939"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Fuentes</a:t>
            </a:r>
            <a:endParaRPr lang="en-US" sz="1450" dirty="0"/>
          </a:p>
        </p:txBody>
      </p:sp>
      <p:sp>
        <p:nvSpPr>
          <p:cNvPr id="6" name="Text 3"/>
          <p:cNvSpPr/>
          <p:nvPr/>
        </p:nvSpPr>
        <p:spPr>
          <a:xfrm>
            <a:off x="810299" y="3608586"/>
            <a:ext cx="3235939" cy="226219"/>
          </a:xfrm>
          <a:prstGeom prst="rect">
            <a:avLst/>
          </a:prstGeom>
          <a:noFill/>
          <a:ln/>
        </p:spPr>
        <p:txBody>
          <a:bodyPr wrap="none" lIns="0" tIns="0" rIns="0" bIns="0" rtlCol="0" anchor="t"/>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CSV, SQL, API, Web, Logs, Sensores</a:t>
            </a:r>
            <a:endParaRPr lang="en-US" sz="1150" dirty="0"/>
          </a:p>
        </p:txBody>
      </p:sp>
      <p:pic>
        <p:nvPicPr>
          <p:cNvPr id="7" name="Image 1" descr="preencoded.png">    </p:cNvPr>
          <p:cNvPicPr>
            <a:picLocks noChangeAspect="1"/>
          </p:cNvPicPr>
          <p:nvPr/>
        </p:nvPicPr>
        <p:blipFill>
          <a:blip r:embed="rId2"/>
          <a:stretch>
            <a:fillRect/>
          </a:stretch>
        </p:blipFill>
        <p:spPr>
          <a:xfrm>
            <a:off x="4329004" y="2492077"/>
            <a:ext cx="3533587" cy="952500"/>
          </a:xfrm>
          <a:prstGeom prst="rect">
            <a:avLst/>
          </a:prstGeom>
        </p:spPr>
      </p:pic>
      <p:sp>
        <p:nvSpPr>
          <p:cNvPr id="8" name="Text 4"/>
          <p:cNvSpPr/>
          <p:nvPr/>
        </p:nvSpPr>
        <p:spPr>
          <a:xfrm>
            <a:off x="4477829" y="3072507"/>
            <a:ext cx="3235939"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Ingesta</a:t>
            </a:r>
            <a:endParaRPr lang="en-US" sz="1450" dirty="0"/>
          </a:p>
        </p:txBody>
      </p:sp>
      <p:sp>
        <p:nvSpPr>
          <p:cNvPr id="9" name="Text 5"/>
          <p:cNvSpPr/>
          <p:nvPr/>
        </p:nvSpPr>
        <p:spPr>
          <a:xfrm>
            <a:off x="4477829" y="3385344"/>
            <a:ext cx="3235939" cy="226219"/>
          </a:xfrm>
          <a:prstGeom prst="rect">
            <a:avLst/>
          </a:prstGeom>
          <a:noFill/>
          <a:ln/>
        </p:spPr>
        <p:txBody>
          <a:bodyPr wrap="none" lIns="0" tIns="0" rIns="0" bIns="0" rtlCol="0" anchor="t"/>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Obtener e incorporar los datos al sistema</a:t>
            </a:r>
            <a:endParaRPr lang="en-US" sz="1150" dirty="0"/>
          </a:p>
        </p:txBody>
      </p:sp>
      <p:pic>
        <p:nvPicPr>
          <p:cNvPr id="10" name="Image 2" descr="preencoded.png">    </p:cNvPr>
          <p:cNvPicPr>
            <a:picLocks noChangeAspect="1"/>
          </p:cNvPicPr>
          <p:nvPr/>
        </p:nvPicPr>
        <p:blipFill>
          <a:blip r:embed="rId3"/>
          <a:stretch>
            <a:fillRect/>
          </a:stretch>
        </p:blipFill>
        <p:spPr>
          <a:xfrm>
            <a:off x="7996534" y="2268835"/>
            <a:ext cx="3533587" cy="952500"/>
          </a:xfrm>
          <a:prstGeom prst="rect">
            <a:avLst/>
          </a:prstGeom>
        </p:spPr>
      </p:pic>
      <p:sp>
        <p:nvSpPr>
          <p:cNvPr id="11" name="Text 6"/>
          <p:cNvSpPr/>
          <p:nvPr/>
        </p:nvSpPr>
        <p:spPr>
          <a:xfrm>
            <a:off x="8145358" y="2849265"/>
            <a:ext cx="3235939"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Transformación</a:t>
            </a:r>
            <a:endParaRPr lang="en-US" sz="1450" dirty="0"/>
          </a:p>
        </p:txBody>
      </p:sp>
      <p:sp>
        <p:nvSpPr>
          <p:cNvPr id="12" name="Text 7"/>
          <p:cNvSpPr/>
          <p:nvPr/>
        </p:nvSpPr>
        <p:spPr>
          <a:xfrm>
            <a:off x="8145358" y="3162102"/>
            <a:ext cx="3235939" cy="226219"/>
          </a:xfrm>
          <a:prstGeom prst="rect">
            <a:avLst/>
          </a:prstGeom>
          <a:noFill/>
          <a:ln/>
        </p:spPr>
        <p:txBody>
          <a:bodyPr wrap="none" lIns="0" tIns="0" rIns="0" bIns="0" rtlCol="0" anchor="t"/>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Limpiar, normalizar, tipar, corregir</a:t>
            </a:r>
            <a:endParaRPr lang="en-US" sz="1150" dirty="0"/>
          </a:p>
        </p:txBody>
      </p:sp>
      <p:pic>
        <p:nvPicPr>
          <p:cNvPr id="13" name="Image 3" descr="preencoded.png">    </p:cNvPr>
          <p:cNvPicPr>
            <a:picLocks noChangeAspect="1"/>
          </p:cNvPicPr>
          <p:nvPr/>
        </p:nvPicPr>
        <p:blipFill>
          <a:blip r:embed="rId4"/>
          <a:stretch>
            <a:fillRect/>
          </a:stretch>
        </p:blipFill>
        <p:spPr>
          <a:xfrm>
            <a:off x="661475" y="4564062"/>
            <a:ext cx="3533587" cy="952500"/>
          </a:xfrm>
          <a:prstGeom prst="rect">
            <a:avLst/>
          </a:prstGeom>
        </p:spPr>
      </p:pic>
      <p:sp>
        <p:nvSpPr>
          <p:cNvPr id="14" name="Text 8"/>
          <p:cNvSpPr/>
          <p:nvPr/>
        </p:nvSpPr>
        <p:spPr>
          <a:xfrm>
            <a:off x="810299" y="5144492"/>
            <a:ext cx="3235939"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Integración</a:t>
            </a:r>
            <a:endParaRPr lang="en-US" sz="1450" dirty="0"/>
          </a:p>
        </p:txBody>
      </p:sp>
      <p:sp>
        <p:nvSpPr>
          <p:cNvPr id="15" name="Text 9"/>
          <p:cNvSpPr/>
          <p:nvPr/>
        </p:nvSpPr>
        <p:spPr>
          <a:xfrm>
            <a:off x="810299" y="5457329"/>
            <a:ext cx="3235939" cy="226219"/>
          </a:xfrm>
          <a:prstGeom prst="rect">
            <a:avLst/>
          </a:prstGeom>
          <a:noFill/>
          <a:ln/>
        </p:spPr>
        <p:txBody>
          <a:bodyPr wrap="none" lIns="0" tIns="0" rIns="0" bIns="0" rtlCol="0" anchor="t"/>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Combinar y relacionar las fuentes</a:t>
            </a:r>
            <a:endParaRPr lang="en-US" sz="1150" dirty="0"/>
          </a:p>
        </p:txBody>
      </p:sp>
      <p:pic>
        <p:nvPicPr>
          <p:cNvPr id="16" name="Image 4" descr="preencoded.png">    </p:cNvPr>
          <p:cNvPicPr>
            <a:picLocks noChangeAspect="1"/>
          </p:cNvPicPr>
          <p:nvPr/>
        </p:nvPicPr>
        <p:blipFill>
          <a:blip r:embed="rId5"/>
          <a:stretch>
            <a:fillRect/>
          </a:stretch>
        </p:blipFill>
        <p:spPr>
          <a:xfrm>
            <a:off x="4329004" y="4340820"/>
            <a:ext cx="3533587" cy="952500"/>
          </a:xfrm>
          <a:prstGeom prst="rect">
            <a:avLst/>
          </a:prstGeom>
        </p:spPr>
      </p:pic>
      <p:sp>
        <p:nvSpPr>
          <p:cNvPr id="17" name="Text 10"/>
          <p:cNvSpPr/>
          <p:nvPr/>
        </p:nvSpPr>
        <p:spPr>
          <a:xfrm>
            <a:off x="4477829" y="4921250"/>
            <a:ext cx="3235939"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Validación</a:t>
            </a:r>
            <a:endParaRPr lang="en-US" sz="1450" dirty="0"/>
          </a:p>
        </p:txBody>
      </p:sp>
      <p:sp>
        <p:nvSpPr>
          <p:cNvPr id="18" name="Text 11"/>
          <p:cNvSpPr/>
          <p:nvPr/>
        </p:nvSpPr>
        <p:spPr>
          <a:xfrm>
            <a:off x="4477829" y="5234087"/>
            <a:ext cx="3235939" cy="226219"/>
          </a:xfrm>
          <a:prstGeom prst="rect">
            <a:avLst/>
          </a:prstGeom>
          <a:noFill/>
          <a:ln/>
        </p:spPr>
        <p:txBody>
          <a:bodyPr wrap="none" lIns="0" tIns="0" rIns="0" bIns="0" rtlCol="0" anchor="t"/>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Verificar que el resultado es correcto</a:t>
            </a:r>
            <a:endParaRPr lang="en-US" sz="1150" dirty="0"/>
          </a:p>
        </p:txBody>
      </p:sp>
      <p:pic>
        <p:nvPicPr>
          <p:cNvPr id="19" name="Image 5" descr="preencoded.png">    </p:cNvPr>
          <p:cNvPicPr>
            <a:picLocks noChangeAspect="1"/>
          </p:cNvPicPr>
          <p:nvPr/>
        </p:nvPicPr>
        <p:blipFill>
          <a:blip r:embed="rId6"/>
          <a:stretch>
            <a:fillRect/>
          </a:stretch>
        </p:blipFill>
        <p:spPr>
          <a:xfrm>
            <a:off x="7996534" y="4117578"/>
            <a:ext cx="3533587" cy="952500"/>
          </a:xfrm>
          <a:prstGeom prst="rect">
            <a:avLst/>
          </a:prstGeom>
        </p:spPr>
      </p:pic>
      <p:sp>
        <p:nvSpPr>
          <p:cNvPr id="20" name="Text 12"/>
          <p:cNvSpPr/>
          <p:nvPr/>
        </p:nvSpPr>
        <p:spPr>
          <a:xfrm>
            <a:off x="8145358" y="4698008"/>
            <a:ext cx="3235939"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Dataset analítico</a:t>
            </a:r>
            <a:endParaRPr lang="en-US" sz="1450" dirty="0"/>
          </a:p>
        </p:txBody>
      </p:sp>
      <p:sp>
        <p:nvSpPr>
          <p:cNvPr id="21" name="Text 13"/>
          <p:cNvSpPr/>
          <p:nvPr/>
        </p:nvSpPr>
        <p:spPr>
          <a:xfrm>
            <a:off x="8145358" y="5010845"/>
            <a:ext cx="3235939" cy="226219"/>
          </a:xfrm>
          <a:prstGeom prst="rect">
            <a:avLst/>
          </a:prstGeom>
          <a:noFill/>
          <a:ln/>
        </p:spPr>
        <p:txBody>
          <a:bodyPr wrap="none" lIns="0" tIns="0" rIns="0" bIns="0" rtlCol="0" anchor="t"/>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Listo para análisis o modelo</a:t>
            </a:r>
            <a:endParaRPr lang="en-US" sz="1150" dirty="0"/>
          </a:p>
        </p:txBody>
      </p:sp>
      <p:pic>
        <p:nvPicPr>
          <p:cNvPr id="22" name="Image 6" descr="preencoded.png">    </p:cNvPr>
          <p:cNvPicPr>
            <a:picLocks noChangeAspect="1"/>
          </p:cNvPicPr>
          <p:nvPr/>
        </p:nvPicPr>
        <p:blipFill>
          <a:blip r:embed="rId7"/>
          <a:stretch>
            <a:fillRect/>
          </a:stretch>
        </p:blipFill>
        <p:spPr>
          <a:xfrm>
            <a:off x="198433" y="203597"/>
            <a:ext cx="676357" cy="568623"/>
          </a:xfrm>
          <a:prstGeom prst="rect">
            <a:avLst/>
          </a:prstGeom>
        </p:spPr>
      </p:pic>
      <p:pic>
        <p:nvPicPr>
          <p:cNvPr id="23" name="Image 7" descr="preencoded.png">    </p:cNvPr>
          <p:cNvPicPr>
            <a:picLocks noChangeAspect="1"/>
          </p:cNvPicPr>
          <p:nvPr/>
        </p:nvPicPr>
        <p:blipFill>
          <a:blip r:embed="rId8"/>
          <a:stretch>
            <a:fillRect/>
          </a:stretch>
        </p:blipFill>
        <p:spPr>
          <a:xfrm>
            <a:off x="11386357" y="268784"/>
            <a:ext cx="606906" cy="438249"/>
          </a:xfrm>
          <a:prstGeom prst="rect">
            <a:avLst/>
          </a:prstGeom>
        </p:spPr>
      </p:pic>
      <p:sp>
        <p:nvSpPr>
          <p:cNvPr id="24" name="Text 14"/>
          <p:cNvSpPr/>
          <p:nvPr/>
        </p:nvSpPr>
        <p:spPr>
          <a:xfrm>
            <a:off x="10894045" y="6300589"/>
            <a:ext cx="1099217"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008955"/>
            <a:ext cx="10868745" cy="386655"/>
          </a:xfrm>
          <a:prstGeom prst="rect">
            <a:avLst/>
          </a:prstGeom>
          <a:noFill/>
          <a:ln/>
        </p:spPr>
        <p:txBody>
          <a:bodyPr wrap="none" lIns="0" tIns="0" rIns="0" bIns="0" rtlCol="0" anchor="t"/>
          <a:lstStyle/>
          <a:p>
            <a:pPr algn="l" indent="0" marL="0">
              <a:lnSpc>
                <a:spcPct val="104000"/>
              </a:lnSpc>
              <a:buNone/>
            </a:pPr>
            <a:r>
              <a:rPr lang="en-US" sz="2400" spc="-24" kern="0" dirty="0">
                <a:solidFill>
                  <a:srgbClr val="FFFFFF"/>
                </a:solidFill>
                <a:latin typeface="Alexandria Medium" pitchFamily="34" charset="0"/>
                <a:ea typeface="Alexandria Medium" pitchFamily="34" charset="-122"/>
                <a:cs typeface="Alexandria Medium" pitchFamily="34" charset="-120"/>
              </a:rPr>
              <a:t>Un escenario real: ShopData S.L.</a:t>
            </a:r>
            <a:endParaRPr lang="en-US" sz="2400" dirty="0"/>
          </a:p>
        </p:txBody>
      </p:sp>
      <p:sp>
        <p:nvSpPr>
          <p:cNvPr id="3" name="Text 1"/>
          <p:cNvSpPr/>
          <p:nvPr/>
        </p:nvSpPr>
        <p:spPr>
          <a:xfrm>
            <a:off x="661475" y="1684834"/>
            <a:ext cx="11478330" cy="239415"/>
          </a:xfrm>
          <a:prstGeom prst="rect">
            <a:avLst/>
          </a:prstGeom>
          <a:noFill/>
          <a:ln/>
        </p:spPr>
        <p:txBody>
          <a:bodyPr wrap="none" lIns="0" tIns="0" rIns="0" bIns="0" rtlCol="0" anchor="t"/>
          <a:lstStyle/>
          <a:p>
            <a:pPr algn="l" indent="0" marL="0">
              <a:lnSpc>
                <a:spcPct val="129000"/>
              </a:lnSpc>
              <a:buNone/>
            </a:pPr>
            <a:r>
              <a:rPr lang="en-US" sz="1200" dirty="0">
                <a:solidFill>
                  <a:srgbClr val="FFFFFF"/>
                </a:solidFill>
                <a:latin typeface="Manrope" pitchFamily="34" charset="0"/>
                <a:ea typeface="Manrope" pitchFamily="34" charset="-122"/>
                <a:cs typeface="Manrope" pitchFamily="34" charset="-120"/>
              </a:rPr>
              <a:t>Empresa ficticia de comercio electrónico. Usaremos este caso durante </a:t>
            </a:r>
            <a:pPr algn="l" indent="0" marL="0">
              <a:lnSpc>
                <a:spcPct val="129000"/>
              </a:lnSpc>
              <a:buNone/>
            </a:pPr>
            <a:r>
              <a:rPr lang="en-US" sz="1200" b="1" dirty="0">
                <a:solidFill>
                  <a:srgbClr val="FFFFFF"/>
                </a:solidFill>
                <a:latin typeface="Manrope Bold" pitchFamily="34" charset="0"/>
                <a:ea typeface="Manrope Bold" pitchFamily="34" charset="-122"/>
                <a:cs typeface="Manrope Bold" pitchFamily="34" charset="-120"/>
              </a:rPr>
              <a:t>toda la presentación</a:t>
            </a:r>
            <a:pPr algn="l" indent="0" marL="0">
              <a:lnSpc>
                <a:spcPct val="129000"/>
              </a:lnSpc>
              <a:buNone/>
            </a:pPr>
            <a:r>
              <a:rPr lang="en-US" sz="1200" dirty="0">
                <a:solidFill>
                  <a:srgbClr val="FFFFFF"/>
                </a:solidFill>
                <a:latin typeface="Manrope" pitchFamily="34" charset="0"/>
                <a:ea typeface="Manrope" pitchFamily="34" charset="-122"/>
                <a:cs typeface="Manrope" pitchFamily="34" charset="-120"/>
              </a:rPr>
              <a:t>.</a:t>
            </a:r>
            <a:endParaRPr lang="en-US" sz="1200" dirty="0"/>
          </a:p>
        </p:txBody>
      </p:sp>
      <p:sp>
        <p:nvSpPr>
          <p:cNvPr id="4" name="Text 2"/>
          <p:cNvSpPr/>
          <p:nvPr/>
        </p:nvSpPr>
        <p:spPr>
          <a:xfrm>
            <a:off x="661475" y="2231529"/>
            <a:ext cx="7269973" cy="241697"/>
          </a:xfrm>
          <a:prstGeom prst="rect">
            <a:avLst/>
          </a:prstGeom>
          <a:noFill/>
          <a:ln/>
        </p:spPr>
        <p:txBody>
          <a:bodyPr wrap="none" lIns="0" tIns="0" rIns="0" bIns="0" rtlCol="0" anchor="t"/>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Sus fuentes de datos</a:t>
            </a:r>
            <a:endParaRPr lang="en-US" sz="1500" dirty="0"/>
          </a:p>
        </p:txBody>
      </p:sp>
      <p:sp>
        <p:nvSpPr>
          <p:cNvPr id="5" name="Shape 3"/>
          <p:cNvSpPr/>
          <p:nvPr/>
        </p:nvSpPr>
        <p:spPr>
          <a:xfrm>
            <a:off x="661475" y="2635945"/>
            <a:ext cx="2326919" cy="1454051"/>
          </a:xfrm>
          <a:prstGeom prst="roundRect">
            <a:avLst>
              <a:gd name="adj" fmla="val 15955"/>
            </a:avLst>
          </a:prstGeom>
          <a:solidFill>
            <a:srgbClr val="4B2885"/>
          </a:solidFill>
          <a:ln w="19050">
            <a:solidFill>
              <a:srgbClr val="4B3082"/>
            </a:solidFill>
            <a:prstDash val="solid"/>
          </a:ln>
        </p:spPr>
      </p:sp>
      <p:sp>
        <p:nvSpPr>
          <p:cNvPr id="6" name="Text 4"/>
          <p:cNvSpPr/>
          <p:nvPr/>
        </p:nvSpPr>
        <p:spPr>
          <a:xfrm>
            <a:off x="835103" y="2809577"/>
            <a:ext cx="1979662" cy="241697"/>
          </a:xfrm>
          <a:prstGeom prst="rect">
            <a:avLst/>
          </a:prstGeom>
          <a:noFill/>
          <a:ln/>
        </p:spPr>
        <p:txBody>
          <a:bodyPr wrap="none" lIns="0" tIns="0" rIns="0" bIns="0" rtlCol="0" anchor="t"/>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clientes.csv</a:t>
            </a:r>
            <a:endParaRPr lang="en-US" sz="1500" dirty="0"/>
          </a:p>
        </p:txBody>
      </p:sp>
      <p:sp>
        <p:nvSpPr>
          <p:cNvPr id="7" name="Text 5"/>
          <p:cNvSpPr/>
          <p:nvPr/>
        </p:nvSpPr>
        <p:spPr>
          <a:xfrm>
            <a:off x="835103" y="3195836"/>
            <a:ext cx="1979662" cy="478830"/>
          </a:xfrm>
          <a:prstGeom prst="rect">
            <a:avLst/>
          </a:prstGeom>
          <a:noFill/>
          <a:ln/>
        </p:spPr>
        <p:txBody>
          <a:bodyPr wrap="square" lIns="0" tIns="0" rIns="0" bIns="0" rtlCol="0" anchor="t">
            <a:normAutofit/>
          </a:bodyPr>
          <a:lstStyle/>
          <a:p>
            <a:pPr algn="l" indent="0" marL="0">
              <a:lnSpc>
                <a:spcPct val="129000"/>
              </a:lnSpc>
              <a:buNone/>
            </a:pPr>
            <a:r>
              <a:rPr lang="en-US" sz="1200" dirty="0">
                <a:solidFill>
                  <a:srgbClr val="FFFFFF"/>
                </a:solidFill>
                <a:latin typeface="Manrope" pitchFamily="34" charset="0"/>
                <a:ea typeface="Manrope" pitchFamily="34" charset="-122"/>
                <a:cs typeface="Manrope" pitchFamily="34" charset="-120"/>
              </a:rPr>
              <a:t>Exportación mensual del CRM con datos de clientes.</a:t>
            </a:r>
            <a:endParaRPr lang="en-US" sz="1200" dirty="0"/>
          </a:p>
        </p:txBody>
      </p:sp>
      <p:sp>
        <p:nvSpPr>
          <p:cNvPr id="8" name="Shape 6"/>
          <p:cNvSpPr/>
          <p:nvPr/>
        </p:nvSpPr>
        <p:spPr>
          <a:xfrm>
            <a:off x="3132952" y="2635945"/>
            <a:ext cx="2326919" cy="1454051"/>
          </a:xfrm>
          <a:prstGeom prst="roundRect">
            <a:avLst>
              <a:gd name="adj" fmla="val 15955"/>
            </a:avLst>
          </a:prstGeom>
          <a:solidFill>
            <a:srgbClr val="4B2885"/>
          </a:solidFill>
          <a:ln w="19050">
            <a:solidFill>
              <a:srgbClr val="4B3082"/>
            </a:solidFill>
            <a:prstDash val="solid"/>
          </a:ln>
        </p:spPr>
      </p:sp>
      <p:sp>
        <p:nvSpPr>
          <p:cNvPr id="9" name="Text 7"/>
          <p:cNvSpPr/>
          <p:nvPr/>
        </p:nvSpPr>
        <p:spPr>
          <a:xfrm>
            <a:off x="3306581" y="2809577"/>
            <a:ext cx="1979662" cy="241697"/>
          </a:xfrm>
          <a:prstGeom prst="rect">
            <a:avLst/>
          </a:prstGeom>
          <a:noFill/>
          <a:ln/>
        </p:spPr>
        <p:txBody>
          <a:bodyPr wrap="none" lIns="0" tIns="0" rIns="0" bIns="0" rtlCol="0" anchor="t"/>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Base de datos SQL</a:t>
            </a:r>
            <a:endParaRPr lang="en-US" sz="1500" dirty="0"/>
          </a:p>
        </p:txBody>
      </p:sp>
      <p:sp>
        <p:nvSpPr>
          <p:cNvPr id="10" name="Text 8"/>
          <p:cNvSpPr/>
          <p:nvPr/>
        </p:nvSpPr>
        <p:spPr>
          <a:xfrm>
            <a:off x="3306581" y="3195836"/>
            <a:ext cx="1979662" cy="478830"/>
          </a:xfrm>
          <a:prstGeom prst="rect">
            <a:avLst/>
          </a:prstGeom>
          <a:noFill/>
          <a:ln/>
        </p:spPr>
        <p:txBody>
          <a:bodyPr wrap="square" lIns="0" tIns="0" rIns="0" bIns="0" rtlCol="0" anchor="t">
            <a:normAutofit/>
          </a:bodyPr>
          <a:lstStyle/>
          <a:p>
            <a:pPr algn="l" indent="0" marL="0">
              <a:lnSpc>
                <a:spcPct val="129000"/>
              </a:lnSpc>
              <a:buNone/>
            </a:pPr>
            <a:r>
              <a:rPr lang="en-US" sz="1200" dirty="0">
                <a:solidFill>
                  <a:srgbClr val="FFFFFF"/>
                </a:solidFill>
                <a:latin typeface="Manrope" pitchFamily="34" charset="0"/>
                <a:ea typeface="Manrope" pitchFamily="34" charset="-122"/>
                <a:cs typeface="Manrope" pitchFamily="34" charset="-120"/>
              </a:rPr>
              <a:t>Registro transaccional de todas las ventas.</a:t>
            </a:r>
            <a:endParaRPr lang="en-US" sz="1200" dirty="0"/>
          </a:p>
        </p:txBody>
      </p:sp>
      <p:sp>
        <p:nvSpPr>
          <p:cNvPr id="11" name="Shape 9"/>
          <p:cNvSpPr/>
          <p:nvPr/>
        </p:nvSpPr>
        <p:spPr>
          <a:xfrm>
            <a:off x="5604429" y="2635945"/>
            <a:ext cx="2326919" cy="1454051"/>
          </a:xfrm>
          <a:prstGeom prst="roundRect">
            <a:avLst>
              <a:gd name="adj" fmla="val 15955"/>
            </a:avLst>
          </a:prstGeom>
          <a:solidFill>
            <a:srgbClr val="4B2885"/>
          </a:solidFill>
          <a:ln w="19050">
            <a:solidFill>
              <a:srgbClr val="4B3082"/>
            </a:solidFill>
            <a:prstDash val="solid"/>
          </a:ln>
        </p:spPr>
      </p:sp>
      <p:sp>
        <p:nvSpPr>
          <p:cNvPr id="12" name="Text 10"/>
          <p:cNvSpPr/>
          <p:nvPr/>
        </p:nvSpPr>
        <p:spPr>
          <a:xfrm>
            <a:off x="5778058" y="2809577"/>
            <a:ext cx="1979662" cy="483394"/>
          </a:xfrm>
          <a:prstGeom prst="rect">
            <a:avLst/>
          </a:prstGeom>
          <a:noFill/>
          <a:ln/>
        </p:spPr>
        <p:txBody>
          <a:bodyPr wrap="square" lIns="0" tIns="0" rIns="0" bIns="0" rtlCol="0" anchor="t">
            <a:normAutofit/>
          </a:bodyPr>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API JSON de productos</a:t>
            </a:r>
            <a:endParaRPr lang="en-US" sz="1500" dirty="0"/>
          </a:p>
        </p:txBody>
      </p:sp>
      <p:sp>
        <p:nvSpPr>
          <p:cNvPr id="13" name="Text 11"/>
          <p:cNvSpPr/>
          <p:nvPr/>
        </p:nvSpPr>
        <p:spPr>
          <a:xfrm>
            <a:off x="5778058" y="3437533"/>
            <a:ext cx="1979662" cy="478830"/>
          </a:xfrm>
          <a:prstGeom prst="rect">
            <a:avLst/>
          </a:prstGeom>
          <a:noFill/>
          <a:ln/>
        </p:spPr>
        <p:txBody>
          <a:bodyPr wrap="square" lIns="0" tIns="0" rIns="0" bIns="0" rtlCol="0" anchor="t">
            <a:normAutofit/>
          </a:bodyPr>
          <a:lstStyle/>
          <a:p>
            <a:pPr algn="l" indent="0" marL="0">
              <a:lnSpc>
                <a:spcPct val="129000"/>
              </a:lnSpc>
              <a:buNone/>
            </a:pPr>
            <a:r>
              <a:rPr lang="en-US" sz="1200" dirty="0">
                <a:solidFill>
                  <a:srgbClr val="FFFFFF"/>
                </a:solidFill>
                <a:latin typeface="Manrope" pitchFamily="34" charset="0"/>
                <a:ea typeface="Manrope" pitchFamily="34" charset="-122"/>
                <a:cs typeface="Manrope" pitchFamily="34" charset="-120"/>
              </a:rPr>
              <a:t>Catálogo actualizado de productos del proveedor.</a:t>
            </a:r>
            <a:endParaRPr lang="en-US" sz="1200" dirty="0"/>
          </a:p>
        </p:txBody>
      </p:sp>
      <p:sp>
        <p:nvSpPr>
          <p:cNvPr id="14" name="Shape 12"/>
          <p:cNvSpPr/>
          <p:nvPr/>
        </p:nvSpPr>
        <p:spPr>
          <a:xfrm>
            <a:off x="661475" y="4234557"/>
            <a:ext cx="2326919" cy="1451769"/>
          </a:xfrm>
          <a:prstGeom prst="roundRect">
            <a:avLst>
              <a:gd name="adj" fmla="val 15980"/>
            </a:avLst>
          </a:prstGeom>
          <a:solidFill>
            <a:srgbClr val="4B2885"/>
          </a:solidFill>
          <a:ln w="19050">
            <a:solidFill>
              <a:srgbClr val="4B3082"/>
            </a:solidFill>
            <a:prstDash val="solid"/>
          </a:ln>
        </p:spPr>
      </p:sp>
      <p:sp>
        <p:nvSpPr>
          <p:cNvPr id="15" name="Text 13"/>
          <p:cNvSpPr/>
          <p:nvPr/>
        </p:nvSpPr>
        <p:spPr>
          <a:xfrm>
            <a:off x="835103" y="4408190"/>
            <a:ext cx="1979662" cy="241697"/>
          </a:xfrm>
          <a:prstGeom prst="rect">
            <a:avLst/>
          </a:prstGeom>
          <a:noFill/>
          <a:ln/>
        </p:spPr>
        <p:txBody>
          <a:bodyPr wrap="none" lIns="0" tIns="0" rIns="0" bIns="0" rtlCol="0" anchor="t"/>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Web competidores</a:t>
            </a:r>
            <a:endParaRPr lang="en-US" sz="1500" dirty="0"/>
          </a:p>
        </p:txBody>
      </p:sp>
      <p:sp>
        <p:nvSpPr>
          <p:cNvPr id="16" name="Text 14"/>
          <p:cNvSpPr/>
          <p:nvPr/>
        </p:nvSpPr>
        <p:spPr>
          <a:xfrm>
            <a:off x="835103" y="4794448"/>
            <a:ext cx="1979662" cy="478830"/>
          </a:xfrm>
          <a:prstGeom prst="rect">
            <a:avLst/>
          </a:prstGeom>
          <a:noFill/>
          <a:ln/>
        </p:spPr>
        <p:txBody>
          <a:bodyPr wrap="square" lIns="0" tIns="0" rIns="0" bIns="0" rtlCol="0" anchor="t">
            <a:normAutofit/>
          </a:bodyPr>
          <a:lstStyle/>
          <a:p>
            <a:pPr algn="l" indent="0" marL="0">
              <a:lnSpc>
                <a:spcPct val="129000"/>
              </a:lnSpc>
              <a:buNone/>
            </a:pPr>
            <a:r>
              <a:rPr lang="en-US" sz="1200" dirty="0">
                <a:solidFill>
                  <a:srgbClr val="FFFFFF"/>
                </a:solidFill>
                <a:latin typeface="Manrope" pitchFamily="34" charset="0"/>
                <a:ea typeface="Manrope" pitchFamily="34" charset="-122"/>
                <a:cs typeface="Manrope" pitchFamily="34" charset="-120"/>
              </a:rPr>
              <a:t>Precios de la competencia obtenidos desde su web.</a:t>
            </a:r>
            <a:endParaRPr lang="en-US" sz="1200" dirty="0"/>
          </a:p>
        </p:txBody>
      </p:sp>
      <p:sp>
        <p:nvSpPr>
          <p:cNvPr id="17" name="Shape 15"/>
          <p:cNvSpPr/>
          <p:nvPr/>
        </p:nvSpPr>
        <p:spPr>
          <a:xfrm>
            <a:off x="3132952" y="4234557"/>
            <a:ext cx="2326919" cy="1451769"/>
          </a:xfrm>
          <a:prstGeom prst="roundRect">
            <a:avLst>
              <a:gd name="adj" fmla="val 15980"/>
            </a:avLst>
          </a:prstGeom>
          <a:solidFill>
            <a:srgbClr val="4B2885"/>
          </a:solidFill>
          <a:ln w="19050">
            <a:solidFill>
              <a:srgbClr val="4B3082"/>
            </a:solidFill>
            <a:prstDash val="solid"/>
          </a:ln>
        </p:spPr>
      </p:sp>
      <p:sp>
        <p:nvSpPr>
          <p:cNvPr id="18" name="Text 16"/>
          <p:cNvSpPr/>
          <p:nvPr/>
        </p:nvSpPr>
        <p:spPr>
          <a:xfrm>
            <a:off x="3306581" y="4408190"/>
            <a:ext cx="1979662" cy="241697"/>
          </a:xfrm>
          <a:prstGeom prst="rect">
            <a:avLst/>
          </a:prstGeom>
          <a:noFill/>
          <a:ln/>
        </p:spPr>
        <p:txBody>
          <a:bodyPr wrap="none" lIns="0" tIns="0" rIns="0" bIns="0" rtlCol="0" anchor="t"/>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Logs de navegación</a:t>
            </a:r>
            <a:endParaRPr lang="en-US" sz="1500" dirty="0"/>
          </a:p>
        </p:txBody>
      </p:sp>
      <p:sp>
        <p:nvSpPr>
          <p:cNvPr id="19" name="Text 17"/>
          <p:cNvSpPr/>
          <p:nvPr/>
        </p:nvSpPr>
        <p:spPr>
          <a:xfrm>
            <a:off x="3306581" y="4794448"/>
            <a:ext cx="1979662" cy="718245"/>
          </a:xfrm>
          <a:prstGeom prst="rect">
            <a:avLst/>
          </a:prstGeom>
          <a:noFill/>
          <a:ln/>
        </p:spPr>
        <p:txBody>
          <a:bodyPr wrap="square" lIns="0" tIns="0" rIns="0" bIns="0" rtlCol="0" anchor="t">
            <a:normAutofit/>
          </a:bodyPr>
          <a:lstStyle/>
          <a:p>
            <a:pPr algn="l" indent="0" marL="0">
              <a:lnSpc>
                <a:spcPct val="129000"/>
              </a:lnSpc>
              <a:buNone/>
            </a:pPr>
            <a:r>
              <a:rPr lang="en-US" sz="1200" dirty="0">
                <a:solidFill>
                  <a:srgbClr val="FFFFFF"/>
                </a:solidFill>
                <a:latin typeface="Manrope" pitchFamily="34" charset="0"/>
                <a:ea typeface="Manrope" pitchFamily="34" charset="-122"/>
                <a:cs typeface="Manrope" pitchFamily="34" charset="-120"/>
              </a:rPr>
              <a:t>Registros de la app sobre el comportamiento del usuario.</a:t>
            </a:r>
            <a:endParaRPr lang="en-US" sz="1200" dirty="0"/>
          </a:p>
        </p:txBody>
      </p:sp>
      <p:sp>
        <p:nvSpPr>
          <p:cNvPr id="20" name="Shape 18"/>
          <p:cNvSpPr/>
          <p:nvPr/>
        </p:nvSpPr>
        <p:spPr>
          <a:xfrm>
            <a:off x="5604429" y="4234557"/>
            <a:ext cx="2326919" cy="1451769"/>
          </a:xfrm>
          <a:prstGeom prst="roundRect">
            <a:avLst>
              <a:gd name="adj" fmla="val 15980"/>
            </a:avLst>
          </a:prstGeom>
          <a:solidFill>
            <a:srgbClr val="4B2885"/>
          </a:solidFill>
          <a:ln w="19050">
            <a:solidFill>
              <a:srgbClr val="4B3082"/>
            </a:solidFill>
            <a:prstDash val="solid"/>
          </a:ln>
        </p:spPr>
      </p:sp>
      <p:sp>
        <p:nvSpPr>
          <p:cNvPr id="21" name="Text 19"/>
          <p:cNvSpPr/>
          <p:nvPr/>
        </p:nvSpPr>
        <p:spPr>
          <a:xfrm>
            <a:off x="5778058" y="4408190"/>
            <a:ext cx="1979662" cy="241697"/>
          </a:xfrm>
          <a:prstGeom prst="rect">
            <a:avLst/>
          </a:prstGeom>
          <a:noFill/>
          <a:ln/>
        </p:spPr>
        <p:txBody>
          <a:bodyPr wrap="none" lIns="0" tIns="0" rIns="0" bIns="0" rtlCol="0" anchor="t"/>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Sensores / Eventos</a:t>
            </a:r>
            <a:endParaRPr lang="en-US" sz="1500" dirty="0"/>
          </a:p>
        </p:txBody>
      </p:sp>
      <p:sp>
        <p:nvSpPr>
          <p:cNvPr id="22" name="Text 20"/>
          <p:cNvSpPr/>
          <p:nvPr/>
        </p:nvSpPr>
        <p:spPr>
          <a:xfrm>
            <a:off x="5778058" y="4794448"/>
            <a:ext cx="1979662" cy="478830"/>
          </a:xfrm>
          <a:prstGeom prst="rect">
            <a:avLst/>
          </a:prstGeom>
          <a:noFill/>
          <a:ln/>
        </p:spPr>
        <p:txBody>
          <a:bodyPr wrap="square" lIns="0" tIns="0" rIns="0" bIns="0" rtlCol="0" anchor="t">
            <a:normAutofit/>
          </a:bodyPr>
          <a:lstStyle/>
          <a:p>
            <a:pPr algn="l" indent="0" marL="0">
              <a:lnSpc>
                <a:spcPct val="129000"/>
              </a:lnSpc>
              <a:buNone/>
            </a:pPr>
            <a:r>
              <a:rPr lang="en-US" sz="1200" dirty="0">
                <a:solidFill>
                  <a:srgbClr val="FFFFFF"/>
                </a:solidFill>
                <a:latin typeface="Manrope" pitchFamily="34" charset="0"/>
                <a:ea typeface="Manrope" pitchFamily="34" charset="-122"/>
                <a:cs typeface="Manrope" pitchFamily="34" charset="-120"/>
              </a:rPr>
              <a:t>Eventos del almacén: temperatura, stock, alertas.</a:t>
            </a:r>
            <a:endParaRPr lang="en-US" sz="1200" dirty="0"/>
          </a:p>
        </p:txBody>
      </p:sp>
      <p:sp>
        <p:nvSpPr>
          <p:cNvPr id="23" name="Text 21"/>
          <p:cNvSpPr/>
          <p:nvPr/>
        </p:nvSpPr>
        <p:spPr>
          <a:xfrm>
            <a:off x="8315018" y="2231529"/>
            <a:ext cx="3221453" cy="241697"/>
          </a:xfrm>
          <a:prstGeom prst="rect">
            <a:avLst/>
          </a:prstGeom>
          <a:noFill/>
          <a:ln/>
        </p:spPr>
        <p:txBody>
          <a:bodyPr wrap="none" lIns="0" tIns="0" rIns="0" bIns="0" rtlCol="0" anchor="t"/>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La pregunta</a:t>
            </a:r>
            <a:endParaRPr lang="en-US" sz="1500" dirty="0"/>
          </a:p>
        </p:txBody>
      </p:sp>
      <p:sp>
        <p:nvSpPr>
          <p:cNvPr id="24" name="Text 22"/>
          <p:cNvSpPr/>
          <p:nvPr/>
        </p:nvSpPr>
        <p:spPr>
          <a:xfrm>
            <a:off x="8546985" y="2766120"/>
            <a:ext cx="2989485" cy="478830"/>
          </a:xfrm>
          <a:prstGeom prst="rect">
            <a:avLst/>
          </a:prstGeom>
          <a:noFill/>
          <a:ln/>
        </p:spPr>
        <p:txBody>
          <a:bodyPr wrap="square" lIns="0" tIns="0" rIns="0" bIns="0" rtlCol="0" anchor="t">
            <a:normAutofit/>
          </a:bodyPr>
          <a:lstStyle/>
          <a:p>
            <a:pPr algn="l" indent="0" marL="0">
              <a:lnSpc>
                <a:spcPct val="129000"/>
              </a:lnSpc>
              <a:buNone/>
            </a:pPr>
            <a:r>
              <a:rPr lang="en-US" sz="1200" dirty="0">
                <a:solidFill>
                  <a:srgbClr val="FFFFFF"/>
                </a:solidFill>
                <a:latin typeface="Manrope" pitchFamily="34" charset="0"/>
                <a:ea typeface="Manrope" pitchFamily="34" charset="-122"/>
                <a:cs typeface="Manrope" pitchFamily="34" charset="-120"/>
              </a:rPr>
              <a:t>¿Cómo conseguimos analizar toda esta información conjuntamente?</a:t>
            </a:r>
            <a:endParaRPr lang="en-US" sz="1200" dirty="0"/>
          </a:p>
        </p:txBody>
      </p:sp>
      <p:sp>
        <p:nvSpPr>
          <p:cNvPr id="25" name="Shape 23"/>
          <p:cNvSpPr/>
          <p:nvPr/>
        </p:nvSpPr>
        <p:spPr>
          <a:xfrm>
            <a:off x="8315018" y="2635945"/>
            <a:ext cx="19050" cy="739180"/>
          </a:xfrm>
          <a:prstGeom prst="roundRect">
            <a:avLst>
              <a:gd name="adj" fmla="val 49999"/>
            </a:avLst>
          </a:prstGeom>
          <a:solidFill>
            <a:srgbClr val="B499E9"/>
          </a:solidFill>
          <a:ln/>
        </p:spPr>
      </p:sp>
      <p:sp>
        <p:nvSpPr>
          <p:cNvPr id="26" name="Text 24"/>
          <p:cNvSpPr/>
          <p:nvPr/>
        </p:nvSpPr>
        <p:spPr>
          <a:xfrm>
            <a:off x="8315018" y="3537843"/>
            <a:ext cx="3221453" cy="957659"/>
          </a:xfrm>
          <a:prstGeom prst="rect">
            <a:avLst/>
          </a:prstGeom>
          <a:noFill/>
          <a:ln/>
        </p:spPr>
        <p:txBody>
          <a:bodyPr wrap="square" lIns="0" tIns="0" rIns="0" bIns="0" rtlCol="0" anchor="t">
            <a:normAutofit/>
          </a:bodyPr>
          <a:lstStyle/>
          <a:p>
            <a:pPr algn="l" indent="0" marL="0">
              <a:lnSpc>
                <a:spcPct val="129000"/>
              </a:lnSpc>
              <a:buNone/>
            </a:pPr>
            <a:r>
              <a:rPr lang="en-US" sz="1200" dirty="0">
                <a:solidFill>
                  <a:srgbClr val="FFFFFF"/>
                </a:solidFill>
                <a:latin typeface="Manrope" pitchFamily="34" charset="0"/>
                <a:ea typeface="Manrope" pitchFamily="34" charset="-122"/>
                <a:cs typeface="Manrope" pitchFamily="34" charset="-120"/>
              </a:rPr>
              <a:t>Cada fuente tiene un formato diferente, llega por un canal diferente y tiene problemas de calidad distintos. El reto no es leer un CSV: es </a:t>
            </a:r>
            <a:pPr algn="l" indent="0" marL="0">
              <a:lnSpc>
                <a:spcPct val="129000"/>
              </a:lnSpc>
              <a:buNone/>
            </a:pPr>
            <a:r>
              <a:rPr lang="en-US" sz="1200" b="1" dirty="0">
                <a:solidFill>
                  <a:srgbClr val="FFFFFF"/>
                </a:solidFill>
                <a:latin typeface="Manrope Bold" pitchFamily="34" charset="0"/>
                <a:ea typeface="Manrope Bold" pitchFamily="34" charset="-122"/>
                <a:cs typeface="Manrope Bold" pitchFamily="34" charset="-120"/>
              </a:rPr>
              <a:t>integrar realidades heterogéneas</a:t>
            </a:r>
            <a:pPr algn="l" indent="0" marL="0">
              <a:lnSpc>
                <a:spcPct val="129000"/>
              </a:lnSpc>
              <a:buNone/>
            </a:pPr>
            <a:r>
              <a:rPr lang="en-US" sz="1200" dirty="0">
                <a:solidFill>
                  <a:srgbClr val="FFFFFF"/>
                </a:solidFill>
                <a:latin typeface="Manrope" pitchFamily="34" charset="0"/>
                <a:ea typeface="Manrope" pitchFamily="34" charset="-122"/>
                <a:cs typeface="Manrope" pitchFamily="34" charset="-120"/>
              </a:rPr>
              <a:t>.</a:t>
            </a:r>
            <a:endParaRPr lang="en-US" sz="1200" dirty="0"/>
          </a:p>
        </p:txBody>
      </p:sp>
      <p:pic>
        <p:nvPicPr>
          <p:cNvPr id="27"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28"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29" name="Text 25"/>
          <p:cNvSpPr/>
          <p:nvPr/>
        </p:nvSpPr>
        <p:spPr>
          <a:xfrm>
            <a:off x="10896030" y="6300589"/>
            <a:ext cx="1097233"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089620"/>
            <a:ext cx="10868745" cy="372170"/>
          </a:xfrm>
          <a:prstGeom prst="rect">
            <a:avLst/>
          </a:prstGeom>
          <a:noFill/>
          <a:ln/>
        </p:spPr>
        <p:txBody>
          <a:bodyPr wrap="none" lIns="0" tIns="0" rIns="0" bIns="0" rtlCol="0" anchor="t"/>
          <a:lstStyle/>
          <a:p>
            <a:pPr algn="l" indent="0" marL="0">
              <a:lnSpc>
                <a:spcPct val="104000"/>
              </a:lnSpc>
              <a:buNone/>
            </a:pPr>
            <a:r>
              <a:rPr lang="en-US" sz="2300" spc="-23" kern="0" dirty="0">
                <a:solidFill>
                  <a:srgbClr val="FFFFFF"/>
                </a:solidFill>
                <a:latin typeface="Alexandria Medium" pitchFamily="34" charset="0"/>
                <a:ea typeface="Alexandria Medium" pitchFamily="34" charset="-122"/>
                <a:cs typeface="Alexandria Medium" pitchFamily="34" charset="-120"/>
              </a:rPr>
              <a:t>Primero: definir el objetivo</a:t>
            </a:r>
            <a:endParaRPr lang="en-US" sz="2300" dirty="0"/>
          </a:p>
        </p:txBody>
      </p:sp>
      <p:sp>
        <p:nvSpPr>
          <p:cNvPr id="3" name="Text 1"/>
          <p:cNvSpPr/>
          <p:nvPr/>
        </p:nvSpPr>
        <p:spPr>
          <a:xfrm>
            <a:off x="661475" y="1729680"/>
            <a:ext cx="11478330" cy="226219"/>
          </a:xfrm>
          <a:prstGeom prst="rect">
            <a:avLst/>
          </a:prstGeom>
          <a:noFill/>
          <a:ln/>
        </p:spPr>
        <p:txBody>
          <a:bodyPr wrap="none" lIns="0" tIns="0" rIns="0" bIns="0" rtlCol="0" anchor="t"/>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Antes de tocar ningún dato debemos saber exactamente qué queremos responder.</a:t>
            </a:r>
            <a:endParaRPr lang="en-US" sz="1150" dirty="0"/>
          </a:p>
        </p:txBody>
      </p:sp>
      <p:sp>
        <p:nvSpPr>
          <p:cNvPr id="4" name="Text 2"/>
          <p:cNvSpPr/>
          <p:nvPr/>
        </p:nvSpPr>
        <p:spPr>
          <a:xfrm>
            <a:off x="884711" y="2257326"/>
            <a:ext cx="11255093" cy="226219"/>
          </a:xfrm>
          <a:prstGeom prst="rect">
            <a:avLst/>
          </a:prstGeom>
          <a:noFill/>
          <a:ln/>
        </p:spPr>
        <p:txBody>
          <a:bodyPr wrap="none" lIns="0" tIns="0" rIns="0" bIns="0" rtlCol="0" anchor="t"/>
          <a:lstStyle/>
          <a:p>
            <a:pPr algn="l" indent="0" marL="0">
              <a:lnSpc>
                <a:spcPct val="127000"/>
              </a:lnSpc>
              <a:buNone/>
            </a:pPr>
            <a:r>
              <a:rPr lang="en-US" sz="1150" b="1" dirty="0">
                <a:solidFill>
                  <a:srgbClr val="FFFFFF"/>
                </a:solidFill>
                <a:latin typeface="Manrope Bold" pitchFamily="34" charset="0"/>
                <a:ea typeface="Manrope Bold" pitchFamily="34" charset="-122"/>
                <a:cs typeface="Manrope Bold" pitchFamily="34" charset="-120"/>
              </a:rPr>
              <a:t>Objetivo de ShopData:</a:t>
            </a:r>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 detectar qué productos tienen mayor demanda y qué perfil de cliente los compra para personalizar las recomendaciones.</a:t>
            </a:r>
            <a:endParaRPr lang="en-US" sz="1150" dirty="0"/>
          </a:p>
        </p:txBody>
      </p:sp>
      <p:sp>
        <p:nvSpPr>
          <p:cNvPr id="5" name="Shape 3"/>
          <p:cNvSpPr/>
          <p:nvPr/>
        </p:nvSpPr>
        <p:spPr>
          <a:xfrm>
            <a:off x="661475" y="2106613"/>
            <a:ext cx="19050" cy="527645"/>
          </a:xfrm>
          <a:prstGeom prst="roundRect">
            <a:avLst>
              <a:gd name="adj" fmla="val 49999"/>
            </a:avLst>
          </a:prstGeom>
          <a:solidFill>
            <a:srgbClr val="B499E9"/>
          </a:solidFill>
          <a:ln/>
        </p:spPr>
      </p:sp>
      <p:sp>
        <p:nvSpPr>
          <p:cNvPr id="6" name="Text 4"/>
          <p:cNvSpPr/>
          <p:nvPr/>
        </p:nvSpPr>
        <p:spPr>
          <a:xfrm>
            <a:off x="661475" y="2784971"/>
            <a:ext cx="11478330" cy="226219"/>
          </a:xfrm>
          <a:prstGeom prst="rect">
            <a:avLst/>
          </a:prstGeom>
          <a:noFill/>
          <a:ln/>
        </p:spPr>
        <p:txBody>
          <a:bodyPr wrap="none" lIns="0" tIns="0" rIns="0" bIns="0" rtlCol="0" anchor="t"/>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A partir del objetivo determinamos:</a:t>
            </a:r>
            <a:endParaRPr lang="en-US" sz="1150" dirty="0"/>
          </a:p>
        </p:txBody>
      </p:sp>
      <p:sp>
        <p:nvSpPr>
          <p:cNvPr id="7" name="Shape 5"/>
          <p:cNvSpPr/>
          <p:nvPr/>
        </p:nvSpPr>
        <p:spPr>
          <a:xfrm>
            <a:off x="661475" y="3161903"/>
            <a:ext cx="334855" cy="334863"/>
          </a:xfrm>
          <a:prstGeom prst="ellipse">
            <a:avLst/>
          </a:prstGeom>
          <a:solidFill>
            <a:srgbClr val="3F2077"/>
          </a:solidFill>
          <a:ln w="6350">
            <a:solidFill>
              <a:srgbClr val="4B3082"/>
            </a:solidFill>
            <a:prstDash val="solid"/>
          </a:ln>
        </p:spPr>
      </p:sp>
      <p:sp>
        <p:nvSpPr>
          <p:cNvPr id="8" name="Text 6"/>
          <p:cNvSpPr/>
          <p:nvPr/>
        </p:nvSpPr>
        <p:spPr>
          <a:xfrm>
            <a:off x="717234" y="3189734"/>
            <a:ext cx="223237" cy="279102"/>
          </a:xfrm>
          <a:prstGeom prst="rect">
            <a:avLst/>
          </a:prstGeom>
          <a:noFill/>
          <a:ln/>
        </p:spPr>
        <p:txBody>
          <a:bodyPr wrap="none" lIns="0" tIns="0" rIns="0" bIns="0" rtlCol="0" anchor="ctr"/>
          <a:lstStyle/>
          <a:p>
            <a:pPr algn="ctr" indent="0" marL="0">
              <a:lnSpc>
                <a:spcPct val="100000"/>
              </a:lnSpc>
              <a:buNone/>
            </a:pPr>
            <a:r>
              <a:rPr lang="en-US" sz="1750" spc="-18" kern="0" dirty="0">
                <a:solidFill>
                  <a:srgbClr val="FFFFFF"/>
                </a:solidFill>
                <a:latin typeface="Alexandria Medium" pitchFamily="34" charset="0"/>
                <a:ea typeface="Alexandria Medium" pitchFamily="34" charset="-122"/>
                <a:cs typeface="Alexandria Medium" pitchFamily="34" charset="-120"/>
              </a:rPr>
              <a:t>1</a:t>
            </a:r>
            <a:endParaRPr lang="en-US" sz="1750" dirty="0"/>
          </a:p>
        </p:txBody>
      </p:sp>
      <p:sp>
        <p:nvSpPr>
          <p:cNvPr id="9" name="Text 7"/>
          <p:cNvSpPr/>
          <p:nvPr/>
        </p:nvSpPr>
        <p:spPr>
          <a:xfrm>
            <a:off x="1130272" y="3213001"/>
            <a:ext cx="3042467"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¿Qué datos necesitamos?</a:t>
            </a:r>
            <a:endParaRPr lang="en-US" sz="1450" dirty="0"/>
          </a:p>
        </p:txBody>
      </p:sp>
      <p:sp>
        <p:nvSpPr>
          <p:cNvPr id="10" name="Text 8"/>
          <p:cNvSpPr/>
          <p:nvPr/>
        </p:nvSpPr>
        <p:spPr>
          <a:xfrm>
            <a:off x="1130272" y="3525838"/>
            <a:ext cx="3042467" cy="452438"/>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Ventas, productos, clientes. No todos los datos disponibles son necesarios.</a:t>
            </a:r>
            <a:endParaRPr lang="en-US" sz="1150" dirty="0"/>
          </a:p>
        </p:txBody>
      </p:sp>
      <p:sp>
        <p:nvSpPr>
          <p:cNvPr id="11" name="Shape 9"/>
          <p:cNvSpPr/>
          <p:nvPr/>
        </p:nvSpPr>
        <p:spPr>
          <a:xfrm>
            <a:off x="4340116" y="3161903"/>
            <a:ext cx="334855" cy="334863"/>
          </a:xfrm>
          <a:prstGeom prst="ellipse">
            <a:avLst/>
          </a:prstGeom>
          <a:solidFill>
            <a:srgbClr val="3F2077"/>
          </a:solidFill>
          <a:ln w="6350">
            <a:solidFill>
              <a:srgbClr val="4B3082"/>
            </a:solidFill>
            <a:prstDash val="solid"/>
          </a:ln>
        </p:spPr>
      </p:sp>
      <p:sp>
        <p:nvSpPr>
          <p:cNvPr id="12" name="Text 10"/>
          <p:cNvSpPr/>
          <p:nvPr/>
        </p:nvSpPr>
        <p:spPr>
          <a:xfrm>
            <a:off x="4395876" y="3189734"/>
            <a:ext cx="223237" cy="279102"/>
          </a:xfrm>
          <a:prstGeom prst="rect">
            <a:avLst/>
          </a:prstGeom>
          <a:noFill/>
          <a:ln/>
        </p:spPr>
        <p:txBody>
          <a:bodyPr wrap="none" lIns="0" tIns="0" rIns="0" bIns="0" rtlCol="0" anchor="ctr"/>
          <a:lstStyle/>
          <a:p>
            <a:pPr algn="ctr" indent="0" marL="0">
              <a:lnSpc>
                <a:spcPct val="100000"/>
              </a:lnSpc>
              <a:buNone/>
            </a:pPr>
            <a:r>
              <a:rPr lang="en-US" sz="1750" spc="-18" kern="0" dirty="0">
                <a:solidFill>
                  <a:srgbClr val="FFFFFF"/>
                </a:solidFill>
                <a:latin typeface="Alexandria Medium" pitchFamily="34" charset="0"/>
                <a:ea typeface="Alexandria Medium" pitchFamily="34" charset="-122"/>
                <a:cs typeface="Alexandria Medium" pitchFamily="34" charset="-120"/>
              </a:rPr>
              <a:t>2</a:t>
            </a:r>
            <a:endParaRPr lang="en-US" sz="1750" dirty="0"/>
          </a:p>
        </p:txBody>
      </p:sp>
      <p:sp>
        <p:nvSpPr>
          <p:cNvPr id="13" name="Text 11"/>
          <p:cNvSpPr/>
          <p:nvPr/>
        </p:nvSpPr>
        <p:spPr>
          <a:xfrm>
            <a:off x="4808913" y="3213001"/>
            <a:ext cx="3042566"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¿Dónde están?</a:t>
            </a:r>
            <a:endParaRPr lang="en-US" sz="1450" dirty="0"/>
          </a:p>
        </p:txBody>
      </p:sp>
      <p:sp>
        <p:nvSpPr>
          <p:cNvPr id="14" name="Text 12"/>
          <p:cNvSpPr/>
          <p:nvPr/>
        </p:nvSpPr>
        <p:spPr>
          <a:xfrm>
            <a:off x="4808913" y="3525838"/>
            <a:ext cx="3042566" cy="452438"/>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SQL, CSV, API. Cada fuente requiere una estrategia de extracción diferente.</a:t>
            </a:r>
            <a:endParaRPr lang="en-US" sz="1150" dirty="0"/>
          </a:p>
        </p:txBody>
      </p:sp>
      <p:sp>
        <p:nvSpPr>
          <p:cNvPr id="15" name="Shape 13"/>
          <p:cNvSpPr/>
          <p:nvPr/>
        </p:nvSpPr>
        <p:spPr>
          <a:xfrm>
            <a:off x="8018857" y="3161903"/>
            <a:ext cx="334855" cy="334863"/>
          </a:xfrm>
          <a:prstGeom prst="ellipse">
            <a:avLst/>
          </a:prstGeom>
          <a:solidFill>
            <a:srgbClr val="3F2077"/>
          </a:solidFill>
          <a:ln w="6350">
            <a:solidFill>
              <a:srgbClr val="4B3082"/>
            </a:solidFill>
            <a:prstDash val="solid"/>
          </a:ln>
        </p:spPr>
      </p:sp>
      <p:sp>
        <p:nvSpPr>
          <p:cNvPr id="16" name="Text 14"/>
          <p:cNvSpPr/>
          <p:nvPr/>
        </p:nvSpPr>
        <p:spPr>
          <a:xfrm>
            <a:off x="8074617" y="3189734"/>
            <a:ext cx="223237" cy="279102"/>
          </a:xfrm>
          <a:prstGeom prst="rect">
            <a:avLst/>
          </a:prstGeom>
          <a:noFill/>
          <a:ln/>
        </p:spPr>
        <p:txBody>
          <a:bodyPr wrap="none" lIns="0" tIns="0" rIns="0" bIns="0" rtlCol="0" anchor="ctr"/>
          <a:lstStyle/>
          <a:p>
            <a:pPr algn="ctr" indent="0" marL="0">
              <a:lnSpc>
                <a:spcPct val="100000"/>
              </a:lnSpc>
              <a:buNone/>
            </a:pPr>
            <a:r>
              <a:rPr lang="en-US" sz="1750" spc="-18" kern="0" dirty="0">
                <a:solidFill>
                  <a:srgbClr val="FFFFFF"/>
                </a:solidFill>
                <a:latin typeface="Alexandria Medium" pitchFamily="34" charset="0"/>
                <a:ea typeface="Alexandria Medium" pitchFamily="34" charset="-122"/>
                <a:cs typeface="Alexandria Medium" pitchFamily="34" charset="-120"/>
              </a:rPr>
              <a:t>3</a:t>
            </a:r>
            <a:endParaRPr lang="en-US" sz="1750" dirty="0"/>
          </a:p>
        </p:txBody>
      </p:sp>
      <p:sp>
        <p:nvSpPr>
          <p:cNvPr id="17" name="Text 15"/>
          <p:cNvSpPr/>
          <p:nvPr/>
        </p:nvSpPr>
        <p:spPr>
          <a:xfrm>
            <a:off x="8487654" y="3213001"/>
            <a:ext cx="3042566"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¿Cómo accedemos a ellos?</a:t>
            </a:r>
            <a:endParaRPr lang="en-US" sz="1450" dirty="0"/>
          </a:p>
        </p:txBody>
      </p:sp>
      <p:sp>
        <p:nvSpPr>
          <p:cNvPr id="18" name="Text 16"/>
          <p:cNvSpPr/>
          <p:nvPr/>
        </p:nvSpPr>
        <p:spPr>
          <a:xfrm>
            <a:off x="8487654" y="3525838"/>
            <a:ext cx="3042566" cy="452438"/>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Conexión directa, petición HTTP, lectura de fichero, scraping.</a:t>
            </a:r>
            <a:endParaRPr lang="en-US" sz="1150" dirty="0"/>
          </a:p>
        </p:txBody>
      </p:sp>
      <p:sp>
        <p:nvSpPr>
          <p:cNvPr id="19" name="Shape 17"/>
          <p:cNvSpPr/>
          <p:nvPr/>
        </p:nvSpPr>
        <p:spPr>
          <a:xfrm>
            <a:off x="661475" y="4246166"/>
            <a:ext cx="334855" cy="334863"/>
          </a:xfrm>
          <a:prstGeom prst="ellipse">
            <a:avLst/>
          </a:prstGeom>
          <a:solidFill>
            <a:srgbClr val="3F2077"/>
          </a:solidFill>
          <a:ln w="6350">
            <a:solidFill>
              <a:srgbClr val="4B3082"/>
            </a:solidFill>
            <a:prstDash val="solid"/>
          </a:ln>
        </p:spPr>
      </p:sp>
      <p:sp>
        <p:nvSpPr>
          <p:cNvPr id="20" name="Text 18"/>
          <p:cNvSpPr/>
          <p:nvPr/>
        </p:nvSpPr>
        <p:spPr>
          <a:xfrm>
            <a:off x="717234" y="4273996"/>
            <a:ext cx="223237" cy="279102"/>
          </a:xfrm>
          <a:prstGeom prst="rect">
            <a:avLst/>
          </a:prstGeom>
          <a:noFill/>
          <a:ln/>
        </p:spPr>
        <p:txBody>
          <a:bodyPr wrap="none" lIns="0" tIns="0" rIns="0" bIns="0" rtlCol="0" anchor="ctr"/>
          <a:lstStyle/>
          <a:p>
            <a:pPr algn="ctr" indent="0" marL="0">
              <a:lnSpc>
                <a:spcPct val="100000"/>
              </a:lnSpc>
              <a:buNone/>
            </a:pPr>
            <a:r>
              <a:rPr lang="en-US" sz="1750" spc="-18" kern="0" dirty="0">
                <a:solidFill>
                  <a:srgbClr val="FFFFFF"/>
                </a:solidFill>
                <a:latin typeface="Alexandria Medium" pitchFamily="34" charset="0"/>
                <a:ea typeface="Alexandria Medium" pitchFamily="34" charset="-122"/>
                <a:cs typeface="Alexandria Medium" pitchFamily="34" charset="-120"/>
              </a:rPr>
              <a:t>4</a:t>
            </a:r>
            <a:endParaRPr lang="en-US" sz="1750" dirty="0"/>
          </a:p>
        </p:txBody>
      </p:sp>
      <p:sp>
        <p:nvSpPr>
          <p:cNvPr id="21" name="Text 19"/>
          <p:cNvSpPr/>
          <p:nvPr/>
        </p:nvSpPr>
        <p:spPr>
          <a:xfrm>
            <a:off x="1130272" y="4297263"/>
            <a:ext cx="4881837"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¿Con qué frecuencia se actualizan?</a:t>
            </a:r>
            <a:endParaRPr lang="en-US" sz="1450" dirty="0"/>
          </a:p>
        </p:txBody>
      </p:sp>
      <p:sp>
        <p:nvSpPr>
          <p:cNvPr id="22" name="Text 20"/>
          <p:cNvSpPr/>
          <p:nvPr/>
        </p:nvSpPr>
        <p:spPr>
          <a:xfrm>
            <a:off x="1130272" y="4610100"/>
            <a:ext cx="4881837" cy="452438"/>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¿Diario, en tiempo real, mensual? La frecuencia condiciona la arquitectura.</a:t>
            </a:r>
            <a:endParaRPr lang="en-US" sz="1150" dirty="0"/>
          </a:p>
        </p:txBody>
      </p:sp>
      <p:sp>
        <p:nvSpPr>
          <p:cNvPr id="23" name="Shape 21"/>
          <p:cNvSpPr/>
          <p:nvPr/>
        </p:nvSpPr>
        <p:spPr>
          <a:xfrm>
            <a:off x="6179487" y="4246166"/>
            <a:ext cx="334855" cy="334863"/>
          </a:xfrm>
          <a:prstGeom prst="ellipse">
            <a:avLst/>
          </a:prstGeom>
          <a:solidFill>
            <a:srgbClr val="3F2077"/>
          </a:solidFill>
          <a:ln w="6350">
            <a:solidFill>
              <a:srgbClr val="4B3082"/>
            </a:solidFill>
            <a:prstDash val="solid"/>
          </a:ln>
        </p:spPr>
      </p:sp>
      <p:sp>
        <p:nvSpPr>
          <p:cNvPr id="24" name="Text 22"/>
          <p:cNvSpPr/>
          <p:nvPr/>
        </p:nvSpPr>
        <p:spPr>
          <a:xfrm>
            <a:off x="6235246" y="4273996"/>
            <a:ext cx="223237" cy="279102"/>
          </a:xfrm>
          <a:prstGeom prst="rect">
            <a:avLst/>
          </a:prstGeom>
          <a:noFill/>
          <a:ln/>
        </p:spPr>
        <p:txBody>
          <a:bodyPr wrap="none" lIns="0" tIns="0" rIns="0" bIns="0" rtlCol="0" anchor="ctr"/>
          <a:lstStyle/>
          <a:p>
            <a:pPr algn="ctr" indent="0" marL="0">
              <a:lnSpc>
                <a:spcPct val="100000"/>
              </a:lnSpc>
              <a:buNone/>
            </a:pPr>
            <a:r>
              <a:rPr lang="en-US" sz="1750" spc="-18" kern="0" dirty="0">
                <a:solidFill>
                  <a:srgbClr val="FFFFFF"/>
                </a:solidFill>
                <a:latin typeface="Alexandria Medium" pitchFamily="34" charset="0"/>
                <a:ea typeface="Alexandria Medium" pitchFamily="34" charset="-122"/>
                <a:cs typeface="Alexandria Medium" pitchFamily="34" charset="-120"/>
              </a:rPr>
              <a:t>5</a:t>
            </a:r>
            <a:endParaRPr lang="en-US" sz="1750" dirty="0"/>
          </a:p>
        </p:txBody>
      </p:sp>
      <p:sp>
        <p:nvSpPr>
          <p:cNvPr id="25" name="Text 23"/>
          <p:cNvSpPr/>
          <p:nvPr/>
        </p:nvSpPr>
        <p:spPr>
          <a:xfrm>
            <a:off x="6648284" y="4297263"/>
            <a:ext cx="4881936"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¿Cómo los relacionamos?</a:t>
            </a:r>
            <a:endParaRPr lang="en-US" sz="1450" dirty="0"/>
          </a:p>
        </p:txBody>
      </p:sp>
      <p:sp>
        <p:nvSpPr>
          <p:cNvPr id="26" name="Text 24"/>
          <p:cNvSpPr/>
          <p:nvPr/>
        </p:nvSpPr>
        <p:spPr>
          <a:xfrm>
            <a:off x="6648284" y="4610100"/>
            <a:ext cx="4881936" cy="226219"/>
          </a:xfrm>
          <a:prstGeom prst="rect">
            <a:avLst/>
          </a:prstGeom>
          <a:noFill/>
          <a:ln/>
        </p:spPr>
        <p:txBody>
          <a:bodyPr wrap="none" lIns="0" tIns="0" rIns="0" bIns="0" rtlCol="0" anchor="t"/>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¿Qué identificadores tenemos en común entre las fuentes?</a:t>
            </a:r>
            <a:endParaRPr lang="en-US" sz="1150" dirty="0"/>
          </a:p>
        </p:txBody>
      </p:sp>
      <p:sp>
        <p:nvSpPr>
          <p:cNvPr id="27" name="Shape 25"/>
          <p:cNvSpPr/>
          <p:nvPr/>
        </p:nvSpPr>
        <p:spPr>
          <a:xfrm>
            <a:off x="661475" y="5213251"/>
            <a:ext cx="10868745" cy="555129"/>
          </a:xfrm>
          <a:prstGeom prst="roundRect">
            <a:avLst>
              <a:gd name="adj" fmla="val 40221"/>
            </a:avLst>
          </a:prstGeom>
          <a:solidFill>
            <a:srgbClr val="321769"/>
          </a:solidFill>
          <a:ln/>
        </p:spPr>
      </p:sp>
      <p:pic>
        <p:nvPicPr>
          <p:cNvPr id="28" name="Image 0" descr="preencoded.png">    </p:cNvPr>
          <p:cNvPicPr>
            <a:picLocks noChangeAspect="1"/>
          </p:cNvPicPr>
          <p:nvPr/>
        </p:nvPicPr>
        <p:blipFill>
          <a:blip r:embed="rId1"/>
          <a:stretch>
            <a:fillRect/>
          </a:stretch>
        </p:blipFill>
        <p:spPr>
          <a:xfrm>
            <a:off x="810299" y="5406529"/>
            <a:ext cx="186031" cy="148828"/>
          </a:xfrm>
          <a:prstGeom prst="rect">
            <a:avLst/>
          </a:prstGeom>
        </p:spPr>
      </p:pic>
      <p:sp>
        <p:nvSpPr>
          <p:cNvPr id="29" name="Text 26"/>
          <p:cNvSpPr/>
          <p:nvPr/>
        </p:nvSpPr>
        <p:spPr>
          <a:xfrm>
            <a:off x="1145154" y="5384403"/>
            <a:ext cx="10845826" cy="226219"/>
          </a:xfrm>
          <a:prstGeom prst="rect">
            <a:avLst/>
          </a:prstGeom>
          <a:noFill/>
          <a:ln/>
        </p:spPr>
        <p:txBody>
          <a:bodyPr wrap="none" lIns="0" tIns="0" rIns="0" bIns="0" rtlCol="0" anchor="t"/>
          <a:lstStyle/>
          <a:p>
            <a:pPr algn="l" indent="0" marL="0">
              <a:lnSpc>
                <a:spcPct val="127000"/>
              </a:lnSpc>
              <a:buNone/>
            </a:pPr>
            <a:r>
              <a:rPr lang="en-US" sz="1150" b="1" dirty="0">
                <a:solidFill>
                  <a:srgbClr val="FFFFFF"/>
                </a:solidFill>
                <a:latin typeface="Manrope Bold" pitchFamily="34" charset="0"/>
                <a:ea typeface="Manrope Bold" pitchFamily="34" charset="-122"/>
                <a:cs typeface="Manrope Bold" pitchFamily="34" charset="-120"/>
              </a:rPr>
              <a:t>No se construye un pipeline porque haya datos; se construye para resolver una necesidad.</a:t>
            </a:r>
            <a:endParaRPr lang="en-US" sz="1150" dirty="0"/>
          </a:p>
        </p:txBody>
      </p:sp>
      <p:pic>
        <p:nvPicPr>
          <p:cNvPr id="30" name="Image 1" descr="preencoded.png">    </p:cNvPr>
          <p:cNvPicPr>
            <a:picLocks noChangeAspect="1"/>
          </p:cNvPicPr>
          <p:nvPr/>
        </p:nvPicPr>
        <p:blipFill>
          <a:blip r:embed="rId2"/>
          <a:stretch>
            <a:fillRect/>
          </a:stretch>
        </p:blipFill>
        <p:spPr>
          <a:xfrm>
            <a:off x="198433" y="203597"/>
            <a:ext cx="676357" cy="568623"/>
          </a:xfrm>
          <a:prstGeom prst="rect">
            <a:avLst/>
          </a:prstGeom>
        </p:spPr>
      </p:pic>
      <p:pic>
        <p:nvPicPr>
          <p:cNvPr id="31" name="Image 2" descr="preencoded.png">    </p:cNvPr>
          <p:cNvPicPr>
            <a:picLocks noChangeAspect="1"/>
          </p:cNvPicPr>
          <p:nvPr/>
        </p:nvPicPr>
        <p:blipFill>
          <a:blip r:embed="rId3"/>
          <a:stretch>
            <a:fillRect/>
          </a:stretch>
        </p:blipFill>
        <p:spPr>
          <a:xfrm>
            <a:off x="11386357" y="268784"/>
            <a:ext cx="606906" cy="438249"/>
          </a:xfrm>
          <a:prstGeom prst="rect">
            <a:avLst/>
          </a:prstGeom>
        </p:spPr>
      </p:pic>
      <p:sp>
        <p:nvSpPr>
          <p:cNvPr id="32" name="Text 27"/>
          <p:cNvSpPr/>
          <p:nvPr/>
        </p:nvSpPr>
        <p:spPr>
          <a:xfrm>
            <a:off x="10891763" y="6300589"/>
            <a:ext cx="1101499"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297087"/>
            <a:ext cx="10868745" cy="372170"/>
          </a:xfrm>
          <a:prstGeom prst="rect">
            <a:avLst/>
          </a:prstGeom>
          <a:noFill/>
          <a:ln/>
        </p:spPr>
        <p:txBody>
          <a:bodyPr wrap="none" lIns="0" tIns="0" rIns="0" bIns="0" rtlCol="0" anchor="t"/>
          <a:lstStyle/>
          <a:p>
            <a:pPr algn="l" indent="0" marL="0">
              <a:lnSpc>
                <a:spcPct val="104000"/>
              </a:lnSpc>
              <a:buNone/>
            </a:pPr>
            <a:r>
              <a:rPr lang="en-US" sz="2300" spc="-23" kern="0" dirty="0">
                <a:solidFill>
                  <a:srgbClr val="FFFFFF"/>
                </a:solidFill>
                <a:latin typeface="Alexandria Medium" pitchFamily="34" charset="0"/>
                <a:ea typeface="Alexandria Medium" pitchFamily="34" charset="-122"/>
                <a:cs typeface="Alexandria Medium" pitchFamily="34" charset="-120"/>
              </a:rPr>
              <a:t>¿De dónde pueden proceder los datos?</a:t>
            </a:r>
            <a:endParaRPr lang="en-US" sz="2300" dirty="0"/>
          </a:p>
        </p:txBody>
      </p:sp>
      <p:sp>
        <p:nvSpPr>
          <p:cNvPr id="3" name="Text 1"/>
          <p:cNvSpPr/>
          <p:nvPr/>
        </p:nvSpPr>
        <p:spPr>
          <a:xfrm>
            <a:off x="661475" y="1937147"/>
            <a:ext cx="11478330" cy="226219"/>
          </a:xfrm>
          <a:prstGeom prst="rect">
            <a:avLst/>
          </a:prstGeom>
          <a:noFill/>
          <a:ln/>
        </p:spPr>
        <p:txBody>
          <a:bodyPr wrap="none" lIns="0" tIns="0" rIns="0" bIns="0" rtlCol="0" anchor="t"/>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Una </a:t>
            </a:r>
            <a:pPr algn="l" indent="0" marL="0">
              <a:lnSpc>
                <a:spcPct val="127000"/>
              </a:lnSpc>
              <a:buNone/>
            </a:pPr>
            <a:r>
              <a:rPr lang="en-US" sz="1150" b="1" dirty="0">
                <a:solidFill>
                  <a:srgbClr val="FFFFFF"/>
                </a:solidFill>
                <a:latin typeface="Manrope Bold" pitchFamily="34" charset="0"/>
                <a:ea typeface="Manrope Bold" pitchFamily="34" charset="-122"/>
                <a:cs typeface="Manrope Bold" pitchFamily="34" charset="-120"/>
              </a:rPr>
              <a:t>fuente de datos</a:t>
            </a:r>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 es el origen desde el que obtenemos información. El </a:t>
            </a:r>
            <a:pPr algn="l" indent="0" marL="0">
              <a:lnSpc>
                <a:spcPct val="127000"/>
              </a:lnSpc>
              <a:buNone/>
            </a:pPr>
            <a:r>
              <a:rPr lang="en-US" sz="1150" b="1" dirty="0">
                <a:solidFill>
                  <a:srgbClr val="FFFFFF"/>
                </a:solidFill>
                <a:latin typeface="Manrope Bold" pitchFamily="34" charset="0"/>
                <a:ea typeface="Manrope Bold" pitchFamily="34" charset="-122"/>
                <a:cs typeface="Manrope Bold" pitchFamily="34" charset="-120"/>
              </a:rPr>
              <a:t>formato</a:t>
            </a:r>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 es cómo está representada esa información. Son conceptos distintos.</a:t>
            </a:r>
            <a:endParaRPr lang="en-US" sz="1150" dirty="0"/>
          </a:p>
        </p:txBody>
      </p:sp>
      <p:sp>
        <p:nvSpPr>
          <p:cNvPr id="4" name="Shape 2"/>
          <p:cNvSpPr/>
          <p:nvPr/>
        </p:nvSpPr>
        <p:spPr>
          <a:xfrm>
            <a:off x="661475" y="2314079"/>
            <a:ext cx="2066576" cy="1333500"/>
          </a:xfrm>
          <a:prstGeom prst="roundRect">
            <a:avLst>
              <a:gd name="adj" fmla="val 16744"/>
            </a:avLst>
          </a:prstGeom>
          <a:solidFill>
            <a:srgbClr val="4B2885"/>
          </a:solidFill>
          <a:ln w="19050">
            <a:solidFill>
              <a:srgbClr val="4B3082"/>
            </a:solidFill>
            <a:prstDash val="solid"/>
          </a:ln>
        </p:spPr>
      </p:sp>
      <p:sp>
        <p:nvSpPr>
          <p:cNvPr id="5" name="Text 3"/>
          <p:cNvSpPr/>
          <p:nvPr/>
        </p:nvSpPr>
        <p:spPr>
          <a:xfrm>
            <a:off x="829349" y="2481957"/>
            <a:ext cx="1730828"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Archivos</a:t>
            </a:r>
            <a:endParaRPr lang="en-US" sz="1450" dirty="0"/>
          </a:p>
        </p:txBody>
      </p:sp>
      <p:sp>
        <p:nvSpPr>
          <p:cNvPr id="6" name="Text 4"/>
          <p:cNvSpPr/>
          <p:nvPr/>
        </p:nvSpPr>
        <p:spPr>
          <a:xfrm>
            <a:off x="829349" y="2794794"/>
            <a:ext cx="1730828" cy="452438"/>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CSV, TSV, Excel, JSON, XML, Parquet</a:t>
            </a:r>
            <a:endParaRPr lang="en-US" sz="1150" dirty="0"/>
          </a:p>
        </p:txBody>
      </p:sp>
      <p:sp>
        <p:nvSpPr>
          <p:cNvPr id="7" name="Shape 5"/>
          <p:cNvSpPr/>
          <p:nvPr/>
        </p:nvSpPr>
        <p:spPr>
          <a:xfrm>
            <a:off x="2861992" y="2314079"/>
            <a:ext cx="2066576" cy="1333500"/>
          </a:xfrm>
          <a:prstGeom prst="roundRect">
            <a:avLst>
              <a:gd name="adj" fmla="val 16744"/>
            </a:avLst>
          </a:prstGeom>
          <a:solidFill>
            <a:srgbClr val="4B2885"/>
          </a:solidFill>
          <a:ln w="19050">
            <a:solidFill>
              <a:srgbClr val="4B3082"/>
            </a:solidFill>
            <a:prstDash val="solid"/>
          </a:ln>
        </p:spPr>
      </p:sp>
      <p:sp>
        <p:nvSpPr>
          <p:cNvPr id="8" name="Text 6"/>
          <p:cNvSpPr/>
          <p:nvPr/>
        </p:nvSpPr>
        <p:spPr>
          <a:xfrm>
            <a:off x="3029866" y="2481957"/>
            <a:ext cx="1730828"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Bases de datos</a:t>
            </a:r>
            <a:endParaRPr lang="en-US" sz="1450" dirty="0"/>
          </a:p>
        </p:txBody>
      </p:sp>
      <p:sp>
        <p:nvSpPr>
          <p:cNvPr id="9" name="Text 7"/>
          <p:cNvSpPr/>
          <p:nvPr/>
        </p:nvSpPr>
        <p:spPr>
          <a:xfrm>
            <a:off x="3029866" y="2794794"/>
            <a:ext cx="1730828" cy="452438"/>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MySQL, PostgreSQL, SQLite, Oracle</a:t>
            </a:r>
            <a:endParaRPr lang="en-US" sz="1150" dirty="0"/>
          </a:p>
        </p:txBody>
      </p:sp>
      <p:sp>
        <p:nvSpPr>
          <p:cNvPr id="10" name="Shape 8"/>
          <p:cNvSpPr/>
          <p:nvPr/>
        </p:nvSpPr>
        <p:spPr>
          <a:xfrm>
            <a:off x="5062510" y="2314079"/>
            <a:ext cx="2066576" cy="1333500"/>
          </a:xfrm>
          <a:prstGeom prst="roundRect">
            <a:avLst>
              <a:gd name="adj" fmla="val 16744"/>
            </a:avLst>
          </a:prstGeom>
          <a:solidFill>
            <a:srgbClr val="4B2885"/>
          </a:solidFill>
          <a:ln w="19050">
            <a:solidFill>
              <a:srgbClr val="4B3082"/>
            </a:solidFill>
            <a:prstDash val="solid"/>
          </a:ln>
        </p:spPr>
      </p:sp>
      <p:sp>
        <p:nvSpPr>
          <p:cNvPr id="11" name="Text 9"/>
          <p:cNvSpPr/>
          <p:nvPr/>
        </p:nvSpPr>
        <p:spPr>
          <a:xfrm>
            <a:off x="5230384" y="2481957"/>
            <a:ext cx="1730828"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APIs</a:t>
            </a:r>
            <a:endParaRPr lang="en-US" sz="1450" dirty="0"/>
          </a:p>
        </p:txBody>
      </p:sp>
      <p:sp>
        <p:nvSpPr>
          <p:cNvPr id="12" name="Text 10"/>
          <p:cNvSpPr/>
          <p:nvPr/>
        </p:nvSpPr>
        <p:spPr>
          <a:xfrm>
            <a:off x="5230384" y="2794794"/>
            <a:ext cx="1730828" cy="452438"/>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REST, GraphQL, SOAP, webhooks</a:t>
            </a:r>
            <a:endParaRPr lang="en-US" sz="1150" dirty="0"/>
          </a:p>
        </p:txBody>
      </p:sp>
      <p:sp>
        <p:nvSpPr>
          <p:cNvPr id="13" name="Shape 11"/>
          <p:cNvSpPr/>
          <p:nvPr/>
        </p:nvSpPr>
        <p:spPr>
          <a:xfrm>
            <a:off x="7263028" y="2314079"/>
            <a:ext cx="2066576" cy="1333500"/>
          </a:xfrm>
          <a:prstGeom prst="roundRect">
            <a:avLst>
              <a:gd name="adj" fmla="val 16744"/>
            </a:avLst>
          </a:prstGeom>
          <a:solidFill>
            <a:srgbClr val="4B2885"/>
          </a:solidFill>
          <a:ln w="19050">
            <a:solidFill>
              <a:srgbClr val="4B3082"/>
            </a:solidFill>
            <a:prstDash val="solid"/>
          </a:ln>
        </p:spPr>
      </p:sp>
      <p:sp>
        <p:nvSpPr>
          <p:cNvPr id="14" name="Text 12"/>
          <p:cNvSpPr/>
          <p:nvPr/>
        </p:nvSpPr>
        <p:spPr>
          <a:xfrm>
            <a:off x="7430902" y="2481957"/>
            <a:ext cx="1730828"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Páginas web</a:t>
            </a:r>
            <a:endParaRPr lang="en-US" sz="1450" dirty="0"/>
          </a:p>
        </p:txBody>
      </p:sp>
      <p:sp>
        <p:nvSpPr>
          <p:cNvPr id="15" name="Text 13"/>
          <p:cNvSpPr/>
          <p:nvPr/>
        </p:nvSpPr>
        <p:spPr>
          <a:xfrm>
            <a:off x="7430902" y="2794794"/>
            <a:ext cx="1730828" cy="452438"/>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HTML scraping, tablas, formularios</a:t>
            </a:r>
            <a:endParaRPr lang="en-US" sz="1150" dirty="0"/>
          </a:p>
        </p:txBody>
      </p:sp>
      <p:sp>
        <p:nvSpPr>
          <p:cNvPr id="16" name="Shape 14"/>
          <p:cNvSpPr/>
          <p:nvPr/>
        </p:nvSpPr>
        <p:spPr>
          <a:xfrm>
            <a:off x="9463545" y="2314079"/>
            <a:ext cx="2066675" cy="1333500"/>
          </a:xfrm>
          <a:prstGeom prst="roundRect">
            <a:avLst>
              <a:gd name="adj" fmla="val 16744"/>
            </a:avLst>
          </a:prstGeom>
          <a:solidFill>
            <a:srgbClr val="4B2885"/>
          </a:solidFill>
          <a:ln w="19050">
            <a:solidFill>
              <a:srgbClr val="4B3082"/>
            </a:solidFill>
            <a:prstDash val="solid"/>
          </a:ln>
        </p:spPr>
      </p:sp>
      <p:sp>
        <p:nvSpPr>
          <p:cNvPr id="17" name="Text 15"/>
          <p:cNvSpPr/>
          <p:nvPr/>
        </p:nvSpPr>
        <p:spPr>
          <a:xfrm>
            <a:off x="9631419" y="2481957"/>
            <a:ext cx="1730927" cy="464939"/>
          </a:xfrm>
          <a:prstGeom prst="rect">
            <a:avLst/>
          </a:prstGeom>
          <a:noFill/>
          <a:ln/>
        </p:spPr>
        <p:txBody>
          <a:bodyPr wrap="square" lIns="0" tIns="0" rIns="0" bIns="0" rtlCol="0" anchor="t">
            <a:normAutofit/>
          </a:bodyPr>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Logs y aplicaciones</a:t>
            </a:r>
            <a:endParaRPr lang="en-US" sz="1450" dirty="0"/>
          </a:p>
        </p:txBody>
      </p:sp>
      <p:sp>
        <p:nvSpPr>
          <p:cNvPr id="18" name="Text 16"/>
          <p:cNvSpPr/>
          <p:nvPr/>
        </p:nvSpPr>
        <p:spPr>
          <a:xfrm>
            <a:off x="9631419" y="3027263"/>
            <a:ext cx="1730927" cy="452438"/>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Ficheros de log, eventos de app, clickstream</a:t>
            </a:r>
            <a:endParaRPr lang="en-US" sz="1150" dirty="0"/>
          </a:p>
        </p:txBody>
      </p:sp>
      <p:sp>
        <p:nvSpPr>
          <p:cNvPr id="19" name="Shape 17"/>
          <p:cNvSpPr/>
          <p:nvPr/>
        </p:nvSpPr>
        <p:spPr>
          <a:xfrm>
            <a:off x="661475" y="3781524"/>
            <a:ext cx="3533587" cy="1101030"/>
          </a:xfrm>
          <a:prstGeom prst="roundRect">
            <a:avLst>
              <a:gd name="adj" fmla="val 20279"/>
            </a:avLst>
          </a:prstGeom>
          <a:solidFill>
            <a:srgbClr val="4B2885"/>
          </a:solidFill>
          <a:ln w="19050">
            <a:solidFill>
              <a:srgbClr val="4B3082"/>
            </a:solidFill>
            <a:prstDash val="solid"/>
          </a:ln>
        </p:spPr>
      </p:sp>
      <p:sp>
        <p:nvSpPr>
          <p:cNvPr id="20" name="Text 18"/>
          <p:cNvSpPr/>
          <p:nvPr/>
        </p:nvSpPr>
        <p:spPr>
          <a:xfrm>
            <a:off x="829349" y="3949402"/>
            <a:ext cx="3197840"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Sensores / IoT</a:t>
            </a:r>
            <a:endParaRPr lang="en-US" sz="1450" dirty="0"/>
          </a:p>
        </p:txBody>
      </p:sp>
      <p:sp>
        <p:nvSpPr>
          <p:cNvPr id="21" name="Text 19"/>
          <p:cNvSpPr/>
          <p:nvPr/>
        </p:nvSpPr>
        <p:spPr>
          <a:xfrm>
            <a:off x="829349" y="4262239"/>
            <a:ext cx="3197840" cy="452438"/>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Temperatura, presión, GPS, alertas industriales</a:t>
            </a:r>
            <a:endParaRPr lang="en-US" sz="1150" dirty="0"/>
          </a:p>
        </p:txBody>
      </p:sp>
      <p:sp>
        <p:nvSpPr>
          <p:cNvPr id="22" name="Shape 20"/>
          <p:cNvSpPr/>
          <p:nvPr/>
        </p:nvSpPr>
        <p:spPr>
          <a:xfrm>
            <a:off x="4329004" y="3781524"/>
            <a:ext cx="3533587" cy="1101030"/>
          </a:xfrm>
          <a:prstGeom prst="roundRect">
            <a:avLst>
              <a:gd name="adj" fmla="val 20279"/>
            </a:avLst>
          </a:prstGeom>
          <a:solidFill>
            <a:srgbClr val="4B2885"/>
          </a:solidFill>
          <a:ln w="19050">
            <a:solidFill>
              <a:srgbClr val="4B3082"/>
            </a:solidFill>
            <a:prstDash val="solid"/>
          </a:ln>
        </p:spPr>
      </p:sp>
      <p:sp>
        <p:nvSpPr>
          <p:cNvPr id="23" name="Text 21"/>
          <p:cNvSpPr/>
          <p:nvPr/>
        </p:nvSpPr>
        <p:spPr>
          <a:xfrm>
            <a:off x="4496878" y="3949402"/>
            <a:ext cx="3197840"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Servicios cloud</a:t>
            </a:r>
            <a:endParaRPr lang="en-US" sz="1450" dirty="0"/>
          </a:p>
        </p:txBody>
      </p:sp>
      <p:sp>
        <p:nvSpPr>
          <p:cNvPr id="24" name="Text 22"/>
          <p:cNvSpPr/>
          <p:nvPr/>
        </p:nvSpPr>
        <p:spPr>
          <a:xfrm>
            <a:off x="4496878" y="4262239"/>
            <a:ext cx="3197840" cy="226219"/>
          </a:xfrm>
          <a:prstGeom prst="rect">
            <a:avLst/>
          </a:prstGeom>
          <a:noFill/>
          <a:ln/>
        </p:spPr>
        <p:txBody>
          <a:bodyPr wrap="none" lIns="0" tIns="0" rIns="0" bIns="0" rtlCol="0" anchor="t"/>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S3, Azure Blob, Google Cloud Storage</a:t>
            </a:r>
            <a:endParaRPr lang="en-US" sz="1150" dirty="0"/>
          </a:p>
        </p:txBody>
      </p:sp>
      <p:sp>
        <p:nvSpPr>
          <p:cNvPr id="25" name="Shape 23"/>
          <p:cNvSpPr/>
          <p:nvPr/>
        </p:nvSpPr>
        <p:spPr>
          <a:xfrm>
            <a:off x="7996534" y="3781524"/>
            <a:ext cx="3533687" cy="1101030"/>
          </a:xfrm>
          <a:prstGeom prst="roundRect">
            <a:avLst>
              <a:gd name="adj" fmla="val 20279"/>
            </a:avLst>
          </a:prstGeom>
          <a:solidFill>
            <a:srgbClr val="4B2885"/>
          </a:solidFill>
          <a:ln w="19050">
            <a:solidFill>
              <a:srgbClr val="4B3082"/>
            </a:solidFill>
            <a:prstDash val="solid"/>
          </a:ln>
        </p:spPr>
      </p:sp>
      <p:sp>
        <p:nvSpPr>
          <p:cNvPr id="26" name="Text 24"/>
          <p:cNvSpPr/>
          <p:nvPr/>
        </p:nvSpPr>
        <p:spPr>
          <a:xfrm>
            <a:off x="8164407" y="3949402"/>
            <a:ext cx="3197939"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Sistemas empresariales</a:t>
            </a:r>
            <a:endParaRPr lang="en-US" sz="1450" dirty="0"/>
          </a:p>
        </p:txBody>
      </p:sp>
      <p:sp>
        <p:nvSpPr>
          <p:cNvPr id="27" name="Text 25"/>
          <p:cNvSpPr/>
          <p:nvPr/>
        </p:nvSpPr>
        <p:spPr>
          <a:xfrm>
            <a:off x="8164407" y="4262239"/>
            <a:ext cx="3197939" cy="226219"/>
          </a:xfrm>
          <a:prstGeom prst="rect">
            <a:avLst/>
          </a:prstGeom>
          <a:noFill/>
          <a:ln/>
        </p:spPr>
        <p:txBody>
          <a:bodyPr wrap="none" lIns="0" tIns="0" rIns="0" bIns="0" rtlCol="0" anchor="t"/>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ERP, CRM, sistemas de facturación</a:t>
            </a:r>
            <a:endParaRPr lang="en-US" sz="1150" dirty="0"/>
          </a:p>
        </p:txBody>
      </p:sp>
      <p:sp>
        <p:nvSpPr>
          <p:cNvPr id="28" name="Text 26"/>
          <p:cNvSpPr/>
          <p:nvPr/>
        </p:nvSpPr>
        <p:spPr>
          <a:xfrm>
            <a:off x="884711" y="5183981"/>
            <a:ext cx="11255093" cy="226219"/>
          </a:xfrm>
          <a:prstGeom prst="rect">
            <a:avLst/>
          </a:prstGeom>
          <a:noFill/>
          <a:ln/>
        </p:spPr>
        <p:txBody>
          <a:bodyPr wrap="none" lIns="0" tIns="0" rIns="0" bIns="0" rtlCol="0" anchor="t"/>
          <a:lstStyle/>
          <a:p>
            <a:pPr algn="l" indent="0" marL="0">
              <a:lnSpc>
                <a:spcPct val="127000"/>
              </a:lnSpc>
              <a:buNone/>
            </a:pPr>
            <a:r>
              <a:rPr lang="en-US" sz="1150" b="1" dirty="0">
                <a:solidFill>
                  <a:srgbClr val="FFFFFF"/>
                </a:solidFill>
                <a:latin typeface="Manrope Bold" pitchFamily="34" charset="0"/>
                <a:ea typeface="Manrope Bold" pitchFamily="34" charset="-122"/>
                <a:cs typeface="Manrope Bold" pitchFamily="34" charset="-120"/>
              </a:rPr>
              <a:t>Fuente ≠ formato.</a:t>
            </a:r>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 Una API (fuente) puede devolver JSON (formato). Un sensor (fuente) puede generar CSV (formato).</a:t>
            </a:r>
            <a:endParaRPr lang="en-US" sz="1150" dirty="0"/>
          </a:p>
        </p:txBody>
      </p:sp>
      <p:sp>
        <p:nvSpPr>
          <p:cNvPr id="29" name="Shape 27"/>
          <p:cNvSpPr/>
          <p:nvPr/>
        </p:nvSpPr>
        <p:spPr>
          <a:xfrm>
            <a:off x="661475" y="5033268"/>
            <a:ext cx="19050" cy="527645"/>
          </a:xfrm>
          <a:prstGeom prst="roundRect">
            <a:avLst>
              <a:gd name="adj" fmla="val 49999"/>
            </a:avLst>
          </a:prstGeom>
          <a:solidFill>
            <a:srgbClr val="B499E9"/>
          </a:solidFill>
          <a:ln/>
        </p:spPr>
      </p:sp>
      <p:pic>
        <p:nvPicPr>
          <p:cNvPr id="30"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31"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32" name="Text 28"/>
          <p:cNvSpPr/>
          <p:nvPr/>
        </p:nvSpPr>
        <p:spPr>
          <a:xfrm>
            <a:off x="10893152" y="6300589"/>
            <a:ext cx="1100110"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005582"/>
            <a:ext cx="10868745" cy="386655"/>
          </a:xfrm>
          <a:prstGeom prst="rect">
            <a:avLst/>
          </a:prstGeom>
          <a:noFill/>
          <a:ln/>
        </p:spPr>
        <p:txBody>
          <a:bodyPr wrap="none" lIns="0" tIns="0" rIns="0" bIns="0" rtlCol="0" anchor="t"/>
          <a:lstStyle/>
          <a:p>
            <a:pPr algn="l" indent="0" marL="0">
              <a:lnSpc>
                <a:spcPct val="104000"/>
              </a:lnSpc>
              <a:buNone/>
            </a:pPr>
            <a:r>
              <a:rPr lang="en-US" sz="2400" spc="-24" kern="0" dirty="0">
                <a:solidFill>
                  <a:srgbClr val="FFFFFF"/>
                </a:solidFill>
                <a:latin typeface="Alexandria Medium" pitchFamily="34" charset="0"/>
                <a:ea typeface="Alexandria Medium" pitchFamily="34" charset="-122"/>
                <a:cs typeface="Alexandria Medium" pitchFamily="34" charset="-120"/>
              </a:rPr>
              <a:t>Archivos tabulares: CSV, TSV, Excel</a:t>
            </a:r>
            <a:endParaRPr lang="en-US" sz="2400" dirty="0"/>
          </a:p>
        </p:txBody>
      </p:sp>
      <p:sp>
        <p:nvSpPr>
          <p:cNvPr id="3" name="Text 1"/>
          <p:cNvSpPr/>
          <p:nvPr/>
        </p:nvSpPr>
        <p:spPr>
          <a:xfrm>
            <a:off x="661475" y="1753691"/>
            <a:ext cx="5245763" cy="241697"/>
          </a:xfrm>
          <a:prstGeom prst="rect">
            <a:avLst/>
          </a:prstGeom>
          <a:noFill/>
          <a:ln/>
        </p:spPr>
        <p:txBody>
          <a:bodyPr wrap="none" lIns="0" tIns="0" rIns="0" bIns="0" rtlCol="0" anchor="t"/>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Ejemplo: clientes.csv de ShopData</a:t>
            </a:r>
            <a:endParaRPr lang="en-US" sz="1500" dirty="0"/>
          </a:p>
        </p:txBody>
      </p:sp>
      <p:sp>
        <p:nvSpPr>
          <p:cNvPr id="4" name="Shape 2"/>
          <p:cNvSpPr/>
          <p:nvPr/>
        </p:nvSpPr>
        <p:spPr>
          <a:xfrm>
            <a:off x="661475" y="2158107"/>
            <a:ext cx="5245763" cy="1298972"/>
          </a:xfrm>
          <a:prstGeom prst="roundRect">
            <a:avLst>
              <a:gd name="adj" fmla="val 17860"/>
            </a:avLst>
          </a:prstGeom>
          <a:solidFill>
            <a:srgbClr val="583592"/>
          </a:solidFill>
          <a:ln/>
        </p:spPr>
      </p:sp>
      <p:sp>
        <p:nvSpPr>
          <p:cNvPr id="5" name="Text 3"/>
          <p:cNvSpPr/>
          <p:nvPr/>
        </p:nvSpPr>
        <p:spPr>
          <a:xfrm>
            <a:off x="847009" y="2312690"/>
            <a:ext cx="4874694" cy="989806"/>
          </a:xfrm>
          <a:prstGeom prst="rect">
            <a:avLst/>
          </a:prstGeom>
          <a:noFill/>
          <a:ln/>
        </p:spPr>
        <p:txBody>
          <a:bodyPr wrap="square" lIns="0" tIns="0" rIns="0" bIns="0" rtlCol="0" anchor="t">
            <a:normAutofit/>
          </a:bodyPr>
          <a:lstStyle/>
          <a:p>
            <a:pPr algn="l" indent="0" marL="0">
              <a:lnSpc>
                <a:spcPct val="133000"/>
              </a:lnSpc>
              <a:buNone/>
            </a:pPr>
            <a:r>
              <a:rPr lang="en-US" sz="1200" dirty="0">
                <a:solidFill>
                  <a:srgbClr val="E6EDF3"/>
                </a:solidFill>
                <a:latin typeface="Consolas" pitchFamily="34" charset="0"/>
                <a:ea typeface="Consolas" pitchFamily="34" charset="-122"/>
                <a:cs typeface="Consolas" pitchFamily="34" charset="-120"/>
              </a:rPr>
              <a:t>customer_id,ciudad,edad,gasto,canal</a:t>
            </a:r>
            <a:endParaRPr lang="en-US" sz="1200" dirty="0"/>
          </a:p>
          <a:p>
            <a:pPr algn="l" indent="0" marL="0">
              <a:lnSpc>
                <a:spcPct val="133000"/>
              </a:lnSpc>
              <a:buNone/>
            </a:pPr>
            <a:r>
              <a:rPr lang="en-US" sz="1200" dirty="0">
                <a:solidFill>
                  <a:srgbClr val="E6EDF3"/>
                </a:solidFill>
                <a:latin typeface="Consolas" pitchFamily="34" charset="0"/>
                <a:ea typeface="Consolas" pitchFamily="34" charset="-122"/>
                <a:cs typeface="Consolas" pitchFamily="34" charset="-120"/>
              </a:rPr>
              <a:t>C001,Barcelona,32,124.50,Web</a:t>
            </a:r>
            <a:endParaRPr lang="en-US" sz="1200" dirty="0"/>
          </a:p>
          <a:p>
            <a:pPr algn="l" indent="0" marL="0">
              <a:lnSpc>
                <a:spcPct val="133000"/>
              </a:lnSpc>
              <a:buNone/>
            </a:pPr>
            <a:r>
              <a:rPr lang="en-US" sz="1200" dirty="0">
                <a:solidFill>
                  <a:srgbClr val="E6EDF3"/>
                </a:solidFill>
                <a:latin typeface="Consolas" pitchFamily="34" charset="0"/>
                <a:ea typeface="Consolas" pitchFamily="34" charset="-122"/>
                <a:cs typeface="Consolas" pitchFamily="34" charset="-120"/>
              </a:rPr>
              <a:t>C002,Girona,27,89.20,App</a:t>
            </a:r>
            <a:endParaRPr lang="en-US" sz="1200" dirty="0"/>
          </a:p>
          <a:p>
            <a:pPr algn="l" indent="0" marL="0">
              <a:lnSpc>
                <a:spcPct val="133000"/>
              </a:lnSpc>
              <a:buNone/>
            </a:pPr>
            <a:r>
              <a:rPr lang="en-US" sz="1200" dirty="0">
                <a:solidFill>
                  <a:srgbClr val="E6EDF3"/>
                </a:solidFill>
                <a:latin typeface="Consolas" pitchFamily="34" charset="0"/>
                <a:ea typeface="Consolas" pitchFamily="34" charset="-122"/>
                <a:cs typeface="Consolas" pitchFamily="34" charset="-120"/>
              </a:rPr>
              <a:t>C003,Madrid,45,310.00,Web</a:t>
            </a:r>
            <a:endParaRPr lang="en-US" sz="1200" dirty="0"/>
          </a:p>
        </p:txBody>
      </p:sp>
      <p:sp>
        <p:nvSpPr>
          <p:cNvPr id="6" name="Text 4"/>
          <p:cNvSpPr/>
          <p:nvPr/>
        </p:nvSpPr>
        <p:spPr>
          <a:xfrm>
            <a:off x="661475" y="3619798"/>
            <a:ext cx="5245763" cy="241697"/>
          </a:xfrm>
          <a:prstGeom prst="rect">
            <a:avLst/>
          </a:prstGeom>
          <a:noFill/>
          <a:ln/>
        </p:spPr>
        <p:txBody>
          <a:bodyPr wrap="none" lIns="0" tIns="0" rIns="0" bIns="0" rtlCol="0" anchor="t"/>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Ventajas</a:t>
            </a:r>
            <a:endParaRPr lang="en-US" sz="1500" dirty="0"/>
          </a:p>
        </p:txBody>
      </p:sp>
      <p:sp>
        <p:nvSpPr>
          <p:cNvPr id="7" name="Text 5"/>
          <p:cNvSpPr/>
          <p:nvPr/>
        </p:nvSpPr>
        <p:spPr>
          <a:xfrm>
            <a:off x="661475" y="4006056"/>
            <a:ext cx="5245763" cy="819448"/>
          </a:xfrm>
          <a:prstGeom prst="rect">
            <a:avLst/>
          </a:prstGeom>
          <a:noFill/>
          <a:ln/>
        </p:spPr>
        <p:txBody>
          <a:bodyPr wrap="square" lIns="0" tIns="0" rIns="0" bIns="0" rtlCol="0" anchor="t">
            <a:normAutofit/>
          </a:bodyPr>
          <a:lstStyle/>
          <a:p>
            <a:pPr algn="l" marL="243840" indent="-243840">
              <a:lnSpc>
                <a:spcPct val="129000"/>
              </a:lnSpc>
              <a:buSzPct val="100000"/>
              <a:buChar char="•"/>
            </a:pPr>
            <a:r>
              <a:rPr lang="en-US" sz="1200" dirty="0">
                <a:solidFill>
                  <a:srgbClr val="FFFFFF"/>
                </a:solidFill>
                <a:latin typeface="Manrope" pitchFamily="34" charset="0"/>
                <a:ea typeface="Manrope" pitchFamily="34" charset="-122"/>
                <a:cs typeface="Manrope" pitchFamily="34" charset="-120"/>
              </a:rPr>
              <a:t>Sencillos de generar e intercambiar</a:t>
            </a:r>
            <a:endParaRPr lang="en-US" sz="1200" dirty="0"/>
          </a:p>
          <a:p>
            <a:pPr algn="l" marL="243840" indent="-243840">
              <a:lnSpc>
                <a:spcPct val="129000"/>
              </a:lnSpc>
              <a:buSzPct val="100000"/>
              <a:buChar char="•"/>
            </a:pPr>
            <a:r>
              <a:rPr lang="en-US" sz="1200" dirty="0">
                <a:solidFill>
                  <a:srgbClr val="FFFFFF"/>
                </a:solidFill>
                <a:latin typeface="Manrope" pitchFamily="34" charset="0"/>
                <a:ea typeface="Manrope" pitchFamily="34" charset="-122"/>
                <a:cs typeface="Manrope" pitchFamily="34" charset="-120"/>
              </a:rPr>
              <a:t>Interoperables entre sistemas</a:t>
            </a:r>
            <a:endParaRPr lang="en-US" sz="1200" dirty="0"/>
          </a:p>
          <a:p>
            <a:pPr algn="l" marL="243840" indent="-243840">
              <a:lnSpc>
                <a:spcPct val="129000"/>
              </a:lnSpc>
              <a:buSzPct val="100000"/>
              <a:buChar char="•"/>
            </a:pPr>
            <a:r>
              <a:rPr lang="en-US" sz="1200" dirty="0">
                <a:solidFill>
                  <a:srgbClr val="FFFFFF"/>
                </a:solidFill>
                <a:latin typeface="Manrope" pitchFamily="34" charset="0"/>
                <a:ea typeface="Manrope" pitchFamily="34" charset="-122"/>
                <a:cs typeface="Manrope" pitchFamily="34" charset="-120"/>
              </a:rPr>
              <a:t>Legibles directamente por humanos</a:t>
            </a:r>
            <a:endParaRPr lang="en-US" sz="1200" dirty="0"/>
          </a:p>
        </p:txBody>
      </p:sp>
      <p:sp>
        <p:nvSpPr>
          <p:cNvPr id="8" name="Text 6"/>
          <p:cNvSpPr/>
          <p:nvPr/>
        </p:nvSpPr>
        <p:spPr>
          <a:xfrm>
            <a:off x="6290807" y="1753691"/>
            <a:ext cx="5245763" cy="241697"/>
          </a:xfrm>
          <a:prstGeom prst="rect">
            <a:avLst/>
          </a:prstGeom>
          <a:noFill/>
          <a:ln/>
        </p:spPr>
        <p:txBody>
          <a:bodyPr wrap="none" lIns="0" tIns="0" rIns="0" bIns="0" rtlCol="0" anchor="t"/>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Limitaciones habituales</a:t>
            </a:r>
            <a:endParaRPr lang="en-US" sz="1500" dirty="0"/>
          </a:p>
        </p:txBody>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290807" y="2158107"/>
            <a:ext cx="2550553" cy="1693466"/>
          </a:xfrm>
          <a:prstGeom prst="rect">
            <a:avLst/>
          </a:prstGeom>
        </p:spPr>
      </p:pic>
      <p:sp>
        <p:nvSpPr>
          <p:cNvPr id="10" name="Text 7"/>
          <p:cNvSpPr/>
          <p:nvPr/>
        </p:nvSpPr>
        <p:spPr>
          <a:xfrm>
            <a:off x="6540634" y="2331740"/>
            <a:ext cx="2127098" cy="241697"/>
          </a:xfrm>
          <a:prstGeom prst="rect">
            <a:avLst/>
          </a:prstGeom>
          <a:noFill/>
          <a:ln/>
        </p:spPr>
        <p:txBody>
          <a:bodyPr wrap="none" lIns="0" tIns="0" rIns="0" bIns="0" rtlCol="0" anchor="t"/>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Tipos poco explícitos</a:t>
            </a:r>
            <a:endParaRPr lang="en-US" sz="1500" dirty="0"/>
          </a:p>
        </p:txBody>
      </p:sp>
      <p:sp>
        <p:nvSpPr>
          <p:cNvPr id="11" name="Text 8"/>
          <p:cNvSpPr/>
          <p:nvPr/>
        </p:nvSpPr>
        <p:spPr>
          <a:xfrm>
            <a:off x="6540634" y="2717998"/>
            <a:ext cx="2127098" cy="718245"/>
          </a:xfrm>
          <a:prstGeom prst="rect">
            <a:avLst/>
          </a:prstGeom>
          <a:noFill/>
          <a:ln/>
        </p:spPr>
        <p:txBody>
          <a:bodyPr wrap="square" lIns="0" tIns="0" rIns="0" bIns="0" rtlCol="0" anchor="t">
            <a:normAutofit/>
          </a:bodyPr>
          <a:lstStyle/>
          <a:p>
            <a:pPr algn="l" indent="0" marL="0">
              <a:lnSpc>
                <a:spcPct val="129000"/>
              </a:lnSpc>
              <a:buNone/>
            </a:pPr>
            <a:r>
              <a:rPr lang="en-US" sz="1200" dirty="0">
                <a:solidFill>
                  <a:srgbClr val="FFFFFF"/>
                </a:solidFill>
                <a:highlight>
                  <a:srgbClr val="583592"/>
                </a:highlight>
                <a:latin typeface="Consolas" pitchFamily="34" charset="0"/>
                <a:ea typeface="Consolas" pitchFamily="34" charset="-122"/>
                <a:cs typeface="Consolas" pitchFamily="34" charset="-120"/>
              </a:rPr>
              <a:t>"124.50"</a:t>
            </a:r>
            <a:pPr algn="l" indent="0" marL="0">
              <a:lnSpc>
                <a:spcPct val="129000"/>
              </a:lnSpc>
              <a:buNone/>
            </a:pPr>
            <a:r>
              <a:rPr lang="en-US" sz="1200" dirty="0">
                <a:solidFill>
                  <a:srgbClr val="FFFFFF"/>
                </a:solidFill>
                <a:latin typeface="Manrope" pitchFamily="34" charset="0"/>
                <a:ea typeface="Manrope" pitchFamily="34" charset="-122"/>
                <a:cs typeface="Manrope" pitchFamily="34" charset="-120"/>
              </a:rPr>
              <a:t> puede ser texto o número según el sistema que lo lea.</a:t>
            </a:r>
            <a:endParaRPr lang="en-US" sz="1200" dirty="0"/>
          </a:p>
        </p:txBody>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85918" y="2158107"/>
            <a:ext cx="2550652" cy="1693466"/>
          </a:xfrm>
          <a:prstGeom prst="rect">
            <a:avLst/>
          </a:prstGeom>
        </p:spPr>
      </p:pic>
      <p:sp>
        <p:nvSpPr>
          <p:cNvPr id="13" name="Text 9"/>
          <p:cNvSpPr/>
          <p:nvPr/>
        </p:nvSpPr>
        <p:spPr>
          <a:xfrm>
            <a:off x="9235745" y="2331740"/>
            <a:ext cx="2127197" cy="483394"/>
          </a:xfrm>
          <a:prstGeom prst="rect">
            <a:avLst/>
          </a:prstGeom>
          <a:noFill/>
          <a:ln/>
        </p:spPr>
        <p:txBody>
          <a:bodyPr wrap="square" lIns="0" tIns="0" rIns="0" bIns="0" rtlCol="0" anchor="t">
            <a:normAutofit/>
          </a:bodyPr>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Problemas de codificación</a:t>
            </a:r>
            <a:endParaRPr lang="en-US" sz="1500" dirty="0"/>
          </a:p>
        </p:txBody>
      </p:sp>
      <p:sp>
        <p:nvSpPr>
          <p:cNvPr id="14" name="Text 10"/>
          <p:cNvSpPr/>
          <p:nvPr/>
        </p:nvSpPr>
        <p:spPr>
          <a:xfrm>
            <a:off x="9235745" y="2959695"/>
            <a:ext cx="2127197" cy="718245"/>
          </a:xfrm>
          <a:prstGeom prst="rect">
            <a:avLst/>
          </a:prstGeom>
          <a:noFill/>
          <a:ln/>
        </p:spPr>
        <p:txBody>
          <a:bodyPr wrap="square" lIns="0" tIns="0" rIns="0" bIns="0" rtlCol="0" anchor="t">
            <a:normAutofit/>
          </a:bodyPr>
          <a:lstStyle/>
          <a:p>
            <a:pPr algn="l" indent="0" marL="0">
              <a:lnSpc>
                <a:spcPct val="129000"/>
              </a:lnSpc>
              <a:buNone/>
            </a:pPr>
            <a:r>
              <a:rPr lang="en-US" sz="1200" dirty="0">
                <a:solidFill>
                  <a:srgbClr val="FFFFFF"/>
                </a:solidFill>
                <a:latin typeface="Manrope" pitchFamily="34" charset="0"/>
                <a:ea typeface="Manrope" pitchFamily="34" charset="-122"/>
                <a:cs typeface="Manrope" pitchFamily="34" charset="-120"/>
              </a:rPr>
              <a:t>UTF-8 vs. Latin-1: los acentos y caracteres especiales pueden corromperse.</a:t>
            </a:r>
            <a:endParaRPr lang="en-US" sz="1200" dirty="0"/>
          </a:p>
        </p:txBody>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90807" y="3996134"/>
            <a:ext cx="2550553" cy="1693466"/>
          </a:xfrm>
          <a:prstGeom prst="rect">
            <a:avLst/>
          </a:prstGeom>
        </p:spPr>
      </p:pic>
      <p:sp>
        <p:nvSpPr>
          <p:cNvPr id="16" name="Text 11"/>
          <p:cNvSpPr/>
          <p:nvPr/>
        </p:nvSpPr>
        <p:spPr>
          <a:xfrm>
            <a:off x="6540634" y="4169767"/>
            <a:ext cx="2127098" cy="483394"/>
          </a:xfrm>
          <a:prstGeom prst="rect">
            <a:avLst/>
          </a:prstGeom>
          <a:noFill/>
          <a:ln/>
        </p:spPr>
        <p:txBody>
          <a:bodyPr wrap="square" lIns="0" tIns="0" rIns="0" bIns="0" rtlCol="0" anchor="t">
            <a:normAutofit/>
          </a:bodyPr>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Delimitadores variables</a:t>
            </a:r>
            <a:endParaRPr lang="en-US" sz="1500" dirty="0"/>
          </a:p>
        </p:txBody>
      </p:sp>
      <p:sp>
        <p:nvSpPr>
          <p:cNvPr id="17" name="Text 12"/>
          <p:cNvSpPr/>
          <p:nvPr/>
        </p:nvSpPr>
        <p:spPr>
          <a:xfrm>
            <a:off x="6540634" y="4797723"/>
            <a:ext cx="2127098" cy="718245"/>
          </a:xfrm>
          <a:prstGeom prst="rect">
            <a:avLst/>
          </a:prstGeom>
          <a:noFill/>
          <a:ln/>
        </p:spPr>
        <p:txBody>
          <a:bodyPr wrap="square" lIns="0" tIns="0" rIns="0" bIns="0" rtlCol="0" anchor="t">
            <a:normAutofit/>
          </a:bodyPr>
          <a:lstStyle/>
          <a:p>
            <a:pPr algn="l" indent="0" marL="0">
              <a:lnSpc>
                <a:spcPct val="129000"/>
              </a:lnSpc>
              <a:buNone/>
            </a:pPr>
            <a:r>
              <a:rPr lang="en-US" sz="1200" dirty="0">
                <a:solidFill>
                  <a:srgbClr val="FFFFFF"/>
                </a:solidFill>
                <a:latin typeface="Manrope" pitchFamily="34" charset="0"/>
                <a:ea typeface="Manrope" pitchFamily="34" charset="-122"/>
                <a:cs typeface="Manrope" pitchFamily="34" charset="-120"/>
              </a:rPr>
              <a:t>¿Coma, punto y coma, tabulador? Depende del origen del fichero.</a:t>
            </a:r>
            <a:endParaRPr lang="en-US" sz="1200" dirty="0"/>
          </a:p>
        </p:txBody>
      </p:sp>
      <p:pic>
        <p:nvPicPr>
          <p:cNvPr id="18"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985918" y="3996134"/>
            <a:ext cx="2550652" cy="1693466"/>
          </a:xfrm>
          <a:prstGeom prst="rect">
            <a:avLst/>
          </a:prstGeom>
        </p:spPr>
      </p:pic>
      <p:sp>
        <p:nvSpPr>
          <p:cNvPr id="19" name="Text 13"/>
          <p:cNvSpPr/>
          <p:nvPr/>
        </p:nvSpPr>
        <p:spPr>
          <a:xfrm>
            <a:off x="9235745" y="4169767"/>
            <a:ext cx="2127197" cy="241697"/>
          </a:xfrm>
          <a:prstGeom prst="rect">
            <a:avLst/>
          </a:prstGeom>
          <a:noFill/>
          <a:ln/>
        </p:spPr>
        <p:txBody>
          <a:bodyPr wrap="none" lIns="0" tIns="0" rIns="0" bIns="0" rtlCol="0" anchor="t"/>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Sin esquema robusto</a:t>
            </a:r>
            <a:endParaRPr lang="en-US" sz="1500" dirty="0"/>
          </a:p>
        </p:txBody>
      </p:sp>
      <p:sp>
        <p:nvSpPr>
          <p:cNvPr id="20" name="Text 14"/>
          <p:cNvSpPr/>
          <p:nvPr/>
        </p:nvSpPr>
        <p:spPr>
          <a:xfrm>
            <a:off x="9235745" y="4556026"/>
            <a:ext cx="2127197" cy="957659"/>
          </a:xfrm>
          <a:prstGeom prst="rect">
            <a:avLst/>
          </a:prstGeom>
          <a:noFill/>
          <a:ln/>
        </p:spPr>
        <p:txBody>
          <a:bodyPr wrap="square" lIns="0" tIns="0" rIns="0" bIns="0" rtlCol="0" anchor="t">
            <a:normAutofit/>
          </a:bodyPr>
          <a:lstStyle/>
          <a:p>
            <a:pPr algn="l" indent="0" marL="0">
              <a:lnSpc>
                <a:spcPct val="129000"/>
              </a:lnSpc>
              <a:buNone/>
            </a:pPr>
            <a:r>
              <a:rPr lang="en-US" sz="1200" dirty="0">
                <a:solidFill>
                  <a:srgbClr val="FFFFFF"/>
                </a:solidFill>
                <a:latin typeface="Manrope" pitchFamily="34" charset="0"/>
                <a:ea typeface="Manrope" pitchFamily="34" charset="-122"/>
                <a:cs typeface="Manrope" pitchFamily="34" charset="-120"/>
              </a:rPr>
              <a:t>No hay validación de tipos ni restricciones. Cualquier valor puede aparecer en cualquier columna.</a:t>
            </a:r>
            <a:endParaRPr lang="en-US" sz="1200" dirty="0"/>
          </a:p>
        </p:txBody>
      </p:sp>
      <p:pic>
        <p:nvPicPr>
          <p:cNvPr id="21" name="Image 4" descr="preencoded.png">    </p:cNvPr>
          <p:cNvPicPr>
            <a:picLocks noChangeAspect="1"/>
          </p:cNvPicPr>
          <p:nvPr/>
        </p:nvPicPr>
        <p:blipFill>
          <a:blip r:embed="rId9"/>
          <a:stretch>
            <a:fillRect/>
          </a:stretch>
        </p:blipFill>
        <p:spPr>
          <a:xfrm>
            <a:off x="198433" y="203597"/>
            <a:ext cx="676357" cy="568623"/>
          </a:xfrm>
          <a:prstGeom prst="rect">
            <a:avLst/>
          </a:prstGeom>
        </p:spPr>
      </p:pic>
      <p:pic>
        <p:nvPicPr>
          <p:cNvPr id="22" name="Image 5" descr="preencoded.png">    </p:cNvPr>
          <p:cNvPicPr>
            <a:picLocks noChangeAspect="1"/>
          </p:cNvPicPr>
          <p:nvPr/>
        </p:nvPicPr>
        <p:blipFill>
          <a:blip r:embed="rId10"/>
          <a:stretch>
            <a:fillRect/>
          </a:stretch>
        </p:blipFill>
        <p:spPr>
          <a:xfrm>
            <a:off x="11386357" y="268784"/>
            <a:ext cx="606906" cy="438249"/>
          </a:xfrm>
          <a:prstGeom prst="rect">
            <a:avLst/>
          </a:prstGeom>
        </p:spPr>
      </p:pic>
      <p:sp>
        <p:nvSpPr>
          <p:cNvPr id="23" name="Text 15"/>
          <p:cNvSpPr/>
          <p:nvPr/>
        </p:nvSpPr>
        <p:spPr>
          <a:xfrm>
            <a:off x="10888192" y="6300589"/>
            <a:ext cx="1105071"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978495"/>
            <a:ext cx="10868745" cy="351433"/>
          </a:xfrm>
          <a:prstGeom prst="rect">
            <a:avLst/>
          </a:prstGeom>
          <a:noFill/>
          <a:ln/>
        </p:spPr>
        <p:txBody>
          <a:bodyPr wrap="none" lIns="0" tIns="0" rIns="0" bIns="0" rtlCol="0" anchor="t"/>
          <a:lstStyle/>
          <a:p>
            <a:pPr algn="l" indent="0" marL="0">
              <a:lnSpc>
                <a:spcPct val="104000"/>
              </a:lnSpc>
              <a:buNone/>
            </a:pPr>
            <a:r>
              <a:rPr lang="en-US" sz="2200" spc="-22" kern="0" dirty="0">
                <a:solidFill>
                  <a:srgbClr val="FFFFFF"/>
                </a:solidFill>
                <a:latin typeface="Alexandria Medium" pitchFamily="34" charset="0"/>
                <a:ea typeface="Alexandria Medium" pitchFamily="34" charset="-122"/>
                <a:cs typeface="Alexandria Medium" pitchFamily="34" charset="-120"/>
              </a:rPr>
              <a:t>JSON y XML: datos semiestructurados</a:t>
            </a:r>
            <a:endParaRPr lang="en-US" sz="2200" dirty="0"/>
          </a:p>
        </p:txBody>
      </p:sp>
      <p:sp>
        <p:nvSpPr>
          <p:cNvPr id="3" name="Text 1"/>
          <p:cNvSpPr/>
          <p:nvPr/>
        </p:nvSpPr>
        <p:spPr>
          <a:xfrm>
            <a:off x="661475" y="1568847"/>
            <a:ext cx="11478330" cy="208062"/>
          </a:xfrm>
          <a:prstGeom prst="rect">
            <a:avLst/>
          </a:prstGeom>
          <a:noFill/>
          <a:ln/>
        </p:spPr>
        <p:txBody>
          <a:bodyPr wrap="none" lIns="0" tIns="0" rIns="0" bIns="0" rtlCol="0" anchor="t"/>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No son tablas rígidas, pero tienen organización interna basada en </a:t>
            </a:r>
            <a:pPr algn="l" indent="0" marL="0">
              <a:lnSpc>
                <a:spcPct val="123000"/>
              </a:lnSpc>
              <a:buNone/>
            </a:pPr>
            <a:r>
              <a:rPr lang="en-US" sz="1100" b="1" dirty="0">
                <a:solidFill>
                  <a:srgbClr val="FFFFFF"/>
                </a:solidFill>
                <a:latin typeface="Manrope Bold" pitchFamily="34" charset="0"/>
                <a:ea typeface="Manrope Bold" pitchFamily="34" charset="-122"/>
                <a:cs typeface="Manrope Bold" pitchFamily="34" charset="-120"/>
              </a:rPr>
              <a:t>clave → valor</a:t>
            </a:r>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 JSON es extremadamente frecuente en APIs y web.</a:t>
            </a:r>
            <a:endParaRPr lang="en-US" sz="1100" dirty="0"/>
          </a:p>
        </p:txBody>
      </p:sp>
      <p:sp>
        <p:nvSpPr>
          <p:cNvPr id="4" name="Text 2"/>
          <p:cNvSpPr/>
          <p:nvPr/>
        </p:nvSpPr>
        <p:spPr>
          <a:xfrm>
            <a:off x="661475" y="2030710"/>
            <a:ext cx="5375041"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Ejemplo JSON — Respuesta de la API de productos</a:t>
            </a:r>
            <a:endParaRPr lang="en-US" sz="1350" dirty="0"/>
          </a:p>
        </p:txBody>
      </p:sp>
      <p:sp>
        <p:nvSpPr>
          <p:cNvPr id="5" name="Shape 3"/>
          <p:cNvSpPr/>
          <p:nvPr/>
        </p:nvSpPr>
        <p:spPr>
          <a:xfrm>
            <a:off x="661475" y="2384623"/>
            <a:ext cx="5375041" cy="1405632"/>
          </a:xfrm>
          <a:prstGeom prst="roundRect">
            <a:avLst>
              <a:gd name="adj" fmla="val 15002"/>
            </a:avLst>
          </a:prstGeom>
          <a:solidFill>
            <a:srgbClr val="583592"/>
          </a:solidFill>
          <a:ln/>
        </p:spPr>
      </p:sp>
      <p:sp>
        <p:nvSpPr>
          <p:cNvPr id="6" name="Text 4"/>
          <p:cNvSpPr/>
          <p:nvPr/>
        </p:nvSpPr>
        <p:spPr>
          <a:xfrm>
            <a:off x="830143" y="2525117"/>
            <a:ext cx="5037706" cy="1124645"/>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a:p>
            <a:pPr algn="l" indent="0" marL="0">
              <a:lnSpc>
                <a:spcPct val="133000"/>
              </a:lnSpc>
              <a:buNone/>
            </a:pPr>
            <a:r>
              <a:rPr lang="en-US" sz="1100" dirty="0">
                <a:solidFill>
                  <a:srgbClr val="E6EDF3"/>
                </a:solidFill>
                <a:latin typeface="Consolas" pitchFamily="34" charset="0"/>
                <a:ea typeface="Consolas" pitchFamily="34" charset="-122"/>
                <a:cs typeface="Consolas" pitchFamily="34" charset="-120"/>
              </a:rPr>
              <a:t>  "product_id": "P102",</a:t>
            </a:r>
            <a:endParaRPr lang="en-US" sz="1100" dirty="0"/>
          </a:p>
          <a:p>
            <a:pPr algn="l" indent="0" marL="0">
              <a:lnSpc>
                <a:spcPct val="133000"/>
              </a:lnSpc>
              <a:buNone/>
            </a:pPr>
            <a:r>
              <a:rPr lang="en-US" sz="1100" dirty="0">
                <a:solidFill>
                  <a:srgbClr val="E6EDF3"/>
                </a:solidFill>
                <a:latin typeface="Consolas" pitchFamily="34" charset="0"/>
                <a:ea typeface="Consolas" pitchFamily="34" charset="-122"/>
                <a:cs typeface="Consolas" pitchFamily="34" charset="-120"/>
              </a:rPr>
              <a:t>  "name": "Teclado mecánico",</a:t>
            </a:r>
            <a:endParaRPr lang="en-US" sz="1100" dirty="0"/>
          </a:p>
          <a:p>
            <a:pPr algn="l" indent="0" marL="0">
              <a:lnSpc>
                <a:spcPct val="133000"/>
              </a:lnSpc>
              <a:buNone/>
            </a:pPr>
            <a:r>
              <a:rPr lang="en-US" sz="1100" dirty="0">
                <a:solidFill>
                  <a:srgbClr val="E6EDF3"/>
                </a:solidFill>
                <a:latin typeface="Consolas" pitchFamily="34" charset="0"/>
                <a:ea typeface="Consolas" pitchFamily="34" charset="-122"/>
                <a:cs typeface="Consolas" pitchFamily="34" charset="-120"/>
              </a:rPr>
              <a:t>  "category": "Periféricos",</a:t>
            </a:r>
            <a:endParaRPr lang="en-US" sz="1100" dirty="0"/>
          </a:p>
          <a:p>
            <a:pPr algn="l" indent="0" marL="0">
              <a:lnSpc>
                <a:spcPct val="133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p:txBody>
      </p:sp>
      <p:sp>
        <p:nvSpPr>
          <p:cNvPr id="7" name="Text 5"/>
          <p:cNvSpPr/>
          <p:nvPr/>
        </p:nvSpPr>
        <p:spPr>
          <a:xfrm>
            <a:off x="661475" y="3924598"/>
            <a:ext cx="5984626" cy="166489"/>
          </a:xfrm>
          <a:prstGeom prst="rect">
            <a:avLst/>
          </a:prstGeom>
          <a:noFill/>
          <a:ln/>
        </p:spPr>
        <p:txBody>
          <a:bodyPr wrap="none" lIns="0" tIns="0" rIns="0" bIns="0" rtlCol="0" anchor="t"/>
          <a:lstStyle/>
          <a:p>
            <a:pPr algn="l" indent="0" marL="0">
              <a:lnSpc>
                <a:spcPct val="123000"/>
              </a:lnSpc>
              <a:buNone/>
            </a:pPr>
            <a:r>
              <a:rPr lang="en-US" sz="850" dirty="0">
                <a:solidFill>
                  <a:srgbClr val="FFFFFF"/>
                </a:solidFill>
                <a:latin typeface="Manrope" pitchFamily="34" charset="0"/>
                <a:ea typeface="Manrope" pitchFamily="34" charset="-122"/>
                <a:cs typeface="Manrope" pitchFamily="34" charset="-120"/>
              </a:rPr>
              <a:t>Estructura: cada clave tiene un valor. Los valores pueden ser texto, número, booleano, lista u otro objeto.</a:t>
            </a:r>
            <a:endParaRPr lang="en-US" sz="850" dirty="0"/>
          </a:p>
        </p:txBody>
      </p:sp>
      <p:sp>
        <p:nvSpPr>
          <p:cNvPr id="8" name="Text 6"/>
          <p:cNvSpPr/>
          <p:nvPr/>
        </p:nvSpPr>
        <p:spPr>
          <a:xfrm>
            <a:off x="661475" y="4210546"/>
            <a:ext cx="5375041"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XML — Presente en sistemas empresariales</a:t>
            </a:r>
            <a:endParaRPr lang="en-US" sz="1350" dirty="0"/>
          </a:p>
        </p:txBody>
      </p:sp>
      <p:sp>
        <p:nvSpPr>
          <p:cNvPr id="9" name="Shape 7"/>
          <p:cNvSpPr/>
          <p:nvPr/>
        </p:nvSpPr>
        <p:spPr>
          <a:xfrm>
            <a:off x="661475" y="4564459"/>
            <a:ext cx="5375041" cy="1180703"/>
          </a:xfrm>
          <a:prstGeom prst="roundRect">
            <a:avLst>
              <a:gd name="adj" fmla="val 17860"/>
            </a:avLst>
          </a:prstGeom>
          <a:solidFill>
            <a:srgbClr val="583592"/>
          </a:solidFill>
          <a:ln/>
        </p:spPr>
      </p:sp>
      <p:sp>
        <p:nvSpPr>
          <p:cNvPr id="10" name="Text 8"/>
          <p:cNvSpPr/>
          <p:nvPr/>
        </p:nvSpPr>
        <p:spPr>
          <a:xfrm>
            <a:off x="830143" y="4704953"/>
            <a:ext cx="5037706" cy="899716"/>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E6EDF3"/>
                </a:solidFill>
                <a:latin typeface="Consolas" pitchFamily="34" charset="0"/>
                <a:ea typeface="Consolas" pitchFamily="34" charset="-122"/>
                <a:cs typeface="Consolas" pitchFamily="34" charset="-120"/>
              </a:rPr>
              <a:t>&lt;product&gt;</a:t>
            </a:r>
            <a:endParaRPr lang="en-US" sz="1100" dirty="0"/>
          </a:p>
          <a:p>
            <a:pPr algn="l" indent="0" marL="0">
              <a:lnSpc>
                <a:spcPct val="133000"/>
              </a:lnSpc>
              <a:buNone/>
            </a:pPr>
            <a:r>
              <a:rPr lang="en-US" sz="1100" dirty="0">
                <a:solidFill>
                  <a:srgbClr val="E6EDF3"/>
                </a:solidFill>
                <a:latin typeface="Consolas" pitchFamily="34" charset="0"/>
                <a:ea typeface="Consolas" pitchFamily="34" charset="-122"/>
                <a:cs typeface="Consolas" pitchFamily="34" charset="-120"/>
              </a:rPr>
              <a:t>  &lt;product_id&gt;P102&lt;/product_id&gt;</a:t>
            </a:r>
            <a:endParaRPr lang="en-US" sz="1100" dirty="0"/>
          </a:p>
          <a:p>
            <a:pPr algn="l" indent="0" marL="0">
              <a:lnSpc>
                <a:spcPct val="133000"/>
              </a:lnSpc>
              <a:buNone/>
            </a:pPr>
            <a:r>
              <a:rPr lang="en-US" sz="1100" dirty="0">
                <a:solidFill>
                  <a:srgbClr val="E6EDF3"/>
                </a:solidFill>
                <a:latin typeface="Consolas" pitchFamily="34" charset="0"/>
                <a:ea typeface="Consolas" pitchFamily="34" charset="-122"/>
                <a:cs typeface="Consolas" pitchFamily="34" charset="-120"/>
              </a:rPr>
              <a:t>  &lt;name&gt;Teclado mecánico&lt;/name&gt;</a:t>
            </a:r>
            <a:endParaRPr lang="en-US" sz="1100" dirty="0"/>
          </a:p>
          <a:p>
            <a:pPr algn="l" indent="0" marL="0">
              <a:lnSpc>
                <a:spcPct val="133000"/>
              </a:lnSpc>
              <a:buNone/>
            </a:pPr>
            <a:r>
              <a:rPr lang="en-US" sz="1100" dirty="0">
                <a:solidFill>
                  <a:srgbClr val="E6EDF3"/>
                </a:solidFill>
                <a:latin typeface="Consolas" pitchFamily="34" charset="0"/>
                <a:ea typeface="Consolas" pitchFamily="34" charset="-122"/>
                <a:cs typeface="Consolas" pitchFamily="34" charset="-120"/>
              </a:rPr>
              <a:t>&lt;/product&gt;</a:t>
            </a:r>
            <a:endParaRPr lang="en-US" sz="1100" dirty="0"/>
          </a:p>
        </p:txBody>
      </p:sp>
      <p:sp>
        <p:nvSpPr>
          <p:cNvPr id="11" name="Text 9"/>
          <p:cNvSpPr/>
          <p:nvPr/>
        </p:nvSpPr>
        <p:spPr>
          <a:xfrm>
            <a:off x="6385757" y="2030710"/>
            <a:ext cx="5150713"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¿Por qué JSON domina las APIs?</a:t>
            </a:r>
            <a:endParaRPr lang="en-US" sz="1350" dirty="0"/>
          </a:p>
        </p:txBody>
      </p:sp>
      <p:sp>
        <p:nvSpPr>
          <p:cNvPr id="12" name="Shape 10"/>
          <p:cNvSpPr/>
          <p:nvPr/>
        </p:nvSpPr>
        <p:spPr>
          <a:xfrm>
            <a:off x="6385757" y="2384623"/>
            <a:ext cx="2515628" cy="1048841"/>
          </a:xfrm>
          <a:prstGeom prst="roundRect">
            <a:avLst>
              <a:gd name="adj" fmla="val 20105"/>
            </a:avLst>
          </a:prstGeom>
          <a:solidFill>
            <a:srgbClr val="3F2077"/>
          </a:solidFill>
          <a:ln w="6350">
            <a:solidFill>
              <a:srgbClr val="4B3082"/>
            </a:solidFill>
            <a:prstDash val="solid"/>
          </a:ln>
        </p:spPr>
      </p:sp>
      <p:sp>
        <p:nvSpPr>
          <p:cNvPr id="13" name="Text 11"/>
          <p:cNvSpPr/>
          <p:nvPr/>
        </p:nvSpPr>
        <p:spPr>
          <a:xfrm>
            <a:off x="6532598" y="2531467"/>
            <a:ext cx="2221948"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Ligero</a:t>
            </a:r>
            <a:endParaRPr lang="en-US" sz="1350" dirty="0"/>
          </a:p>
        </p:txBody>
      </p:sp>
      <p:sp>
        <p:nvSpPr>
          <p:cNvPr id="14" name="Text 12"/>
          <p:cNvSpPr/>
          <p:nvPr/>
        </p:nvSpPr>
        <p:spPr>
          <a:xfrm>
            <a:off x="6532598" y="2870498"/>
            <a:ext cx="2221948" cy="41612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Menos verboso que XML. Menos bytes transferidos.</a:t>
            </a:r>
            <a:endParaRPr lang="en-US" sz="1100" dirty="0"/>
          </a:p>
        </p:txBody>
      </p:sp>
      <p:sp>
        <p:nvSpPr>
          <p:cNvPr id="15" name="Shape 13"/>
          <p:cNvSpPr/>
          <p:nvPr/>
        </p:nvSpPr>
        <p:spPr>
          <a:xfrm>
            <a:off x="9020842" y="2384623"/>
            <a:ext cx="2515628" cy="1048841"/>
          </a:xfrm>
          <a:prstGeom prst="roundRect">
            <a:avLst>
              <a:gd name="adj" fmla="val 20105"/>
            </a:avLst>
          </a:prstGeom>
          <a:solidFill>
            <a:srgbClr val="3F2077"/>
          </a:solidFill>
          <a:ln w="6350">
            <a:solidFill>
              <a:srgbClr val="4B3082"/>
            </a:solidFill>
            <a:prstDash val="solid"/>
          </a:ln>
        </p:spPr>
      </p:sp>
      <p:sp>
        <p:nvSpPr>
          <p:cNvPr id="16" name="Text 14"/>
          <p:cNvSpPr/>
          <p:nvPr/>
        </p:nvSpPr>
        <p:spPr>
          <a:xfrm>
            <a:off x="9167682" y="2531467"/>
            <a:ext cx="2221948"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Nativo en JavaScript</a:t>
            </a:r>
            <a:endParaRPr lang="en-US" sz="1350" dirty="0"/>
          </a:p>
        </p:txBody>
      </p:sp>
      <p:sp>
        <p:nvSpPr>
          <p:cNvPr id="17" name="Text 15"/>
          <p:cNvSpPr/>
          <p:nvPr/>
        </p:nvSpPr>
        <p:spPr>
          <a:xfrm>
            <a:off x="9167682" y="2870498"/>
            <a:ext cx="2221948" cy="41612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Compatible directamente con los navegadores y la web moderna.</a:t>
            </a:r>
            <a:endParaRPr lang="en-US" sz="1100" dirty="0"/>
          </a:p>
        </p:txBody>
      </p:sp>
      <p:sp>
        <p:nvSpPr>
          <p:cNvPr id="18" name="Shape 16"/>
          <p:cNvSpPr/>
          <p:nvPr/>
        </p:nvSpPr>
        <p:spPr>
          <a:xfrm>
            <a:off x="6385757" y="3552924"/>
            <a:ext cx="5150713" cy="840780"/>
          </a:xfrm>
          <a:prstGeom prst="roundRect">
            <a:avLst>
              <a:gd name="adj" fmla="val 25081"/>
            </a:avLst>
          </a:prstGeom>
          <a:solidFill>
            <a:srgbClr val="3F2077"/>
          </a:solidFill>
          <a:ln w="6350">
            <a:solidFill>
              <a:srgbClr val="4B3082"/>
            </a:solidFill>
            <a:prstDash val="solid"/>
          </a:ln>
        </p:spPr>
      </p:sp>
      <p:sp>
        <p:nvSpPr>
          <p:cNvPr id="19" name="Text 17"/>
          <p:cNvSpPr/>
          <p:nvPr/>
        </p:nvSpPr>
        <p:spPr>
          <a:xfrm>
            <a:off x="6532598" y="3699768"/>
            <a:ext cx="4857033"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Fácilmente parseable</a:t>
            </a:r>
            <a:endParaRPr lang="en-US" sz="1350" dirty="0"/>
          </a:p>
        </p:txBody>
      </p:sp>
      <p:sp>
        <p:nvSpPr>
          <p:cNvPr id="20" name="Text 18"/>
          <p:cNvSpPr/>
          <p:nvPr/>
        </p:nvSpPr>
        <p:spPr>
          <a:xfrm>
            <a:off x="6532598" y="4038798"/>
            <a:ext cx="4857033" cy="208062"/>
          </a:xfrm>
          <a:prstGeom prst="rect">
            <a:avLst/>
          </a:prstGeom>
          <a:noFill/>
          <a:ln/>
        </p:spPr>
        <p:txBody>
          <a:bodyPr wrap="none" lIns="0" tIns="0" rIns="0" bIns="0" rtlCol="0" anchor="t"/>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Todas las librerías modernas (incluido Pandas) lo leen de forma nativa.</a:t>
            </a:r>
            <a:endParaRPr lang="en-US" sz="1100" dirty="0"/>
          </a:p>
        </p:txBody>
      </p:sp>
      <p:sp>
        <p:nvSpPr>
          <p:cNvPr id="21" name="Text 19"/>
          <p:cNvSpPr/>
          <p:nvPr/>
        </p:nvSpPr>
        <p:spPr>
          <a:xfrm>
            <a:off x="6385757" y="4528046"/>
            <a:ext cx="5150713" cy="41612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XML sigue presente en integraciones bancarias, sistemas de salud y ERPs heredados.</a:t>
            </a:r>
            <a:endParaRPr lang="en-US" sz="1100" dirty="0"/>
          </a:p>
        </p:txBody>
      </p:sp>
      <p:pic>
        <p:nvPicPr>
          <p:cNvPr id="22"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23"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24" name="Text 20"/>
          <p:cNvSpPr/>
          <p:nvPr/>
        </p:nvSpPr>
        <p:spPr>
          <a:xfrm>
            <a:off x="10901884" y="6300589"/>
            <a:ext cx="1091379"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117699"/>
            <a:ext cx="10868745" cy="310059"/>
          </a:xfrm>
          <a:prstGeom prst="rect">
            <a:avLst/>
          </a:prstGeom>
          <a:noFill/>
          <a:ln/>
        </p:spPr>
        <p:txBody>
          <a:bodyPr wrap="none" lIns="0" tIns="0" rIns="0" bIns="0" rtlCol="0" anchor="t"/>
          <a:lstStyle/>
          <a:p>
            <a:pPr algn="l" indent="0" marL="0">
              <a:lnSpc>
                <a:spcPct val="104000"/>
              </a:lnSpc>
              <a:buNone/>
            </a:pPr>
            <a:r>
              <a:rPr lang="en-US" sz="1950" spc="-20" kern="0" dirty="0">
                <a:solidFill>
                  <a:srgbClr val="FFFFFF"/>
                </a:solidFill>
                <a:latin typeface="Alexandria Medium" pitchFamily="34" charset="0"/>
                <a:ea typeface="Alexandria Medium" pitchFamily="34" charset="-122"/>
                <a:cs typeface="Alexandria Medium" pitchFamily="34" charset="-120"/>
              </a:rPr>
              <a:t>Datos anidados: el reto del JSON complejo</a:t>
            </a:r>
            <a:endParaRPr lang="en-US" sz="1950" dirty="0"/>
          </a:p>
        </p:txBody>
      </p:sp>
      <p:sp>
        <p:nvSpPr>
          <p:cNvPr id="3" name="Text 1"/>
          <p:cNvSpPr/>
          <p:nvPr/>
        </p:nvSpPr>
        <p:spPr>
          <a:xfrm>
            <a:off x="661475" y="1660227"/>
            <a:ext cx="5283068" cy="193774"/>
          </a:xfrm>
          <a:prstGeom prst="rect">
            <a:avLst/>
          </a:prstGeom>
          <a:noFill/>
          <a:ln/>
        </p:spPr>
        <p:txBody>
          <a:bodyPr wrap="none" lIns="0" tIns="0" rIns="0" bIns="0" rtlCol="0" anchor="t"/>
          <a:lstStyle/>
          <a:p>
            <a:pPr algn="l" indent="0" marL="0">
              <a:lnSpc>
                <a:spcPct val="104000"/>
              </a:lnSpc>
              <a:buNone/>
            </a:pPr>
            <a:r>
              <a:rPr lang="en-US" sz="1200" spc="-12" kern="0" dirty="0">
                <a:solidFill>
                  <a:srgbClr val="FFFFFF"/>
                </a:solidFill>
                <a:latin typeface="Alexandria Medium" pitchFamily="34" charset="0"/>
                <a:ea typeface="Alexandria Medium" pitchFamily="34" charset="-122"/>
                <a:cs typeface="Alexandria Medium" pitchFamily="34" charset="-120"/>
              </a:rPr>
              <a:t>JSON plano → fácil</a:t>
            </a:r>
            <a:endParaRPr lang="en-US" sz="1200" dirty="0"/>
          </a:p>
        </p:txBody>
      </p:sp>
      <p:sp>
        <p:nvSpPr>
          <p:cNvPr id="4" name="Shape 2"/>
          <p:cNvSpPr/>
          <p:nvPr/>
        </p:nvSpPr>
        <p:spPr>
          <a:xfrm>
            <a:off x="661475" y="1958578"/>
            <a:ext cx="5283068" cy="644922"/>
          </a:xfrm>
          <a:prstGeom prst="roundRect">
            <a:avLst>
              <a:gd name="adj" fmla="val 28851"/>
            </a:avLst>
          </a:prstGeom>
          <a:solidFill>
            <a:srgbClr val="583592"/>
          </a:solidFill>
          <a:ln/>
        </p:spPr>
      </p:sp>
      <p:sp>
        <p:nvSpPr>
          <p:cNvPr id="5" name="Text 3"/>
          <p:cNvSpPr/>
          <p:nvPr/>
        </p:nvSpPr>
        <p:spPr>
          <a:xfrm>
            <a:off x="810299" y="2082602"/>
            <a:ext cx="4985419" cy="39687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6EDF3"/>
                </a:solidFill>
                <a:latin typeface="Consolas" pitchFamily="34" charset="0"/>
                <a:ea typeface="Consolas" pitchFamily="34" charset="-122"/>
                <a:cs typeface="Consolas" pitchFamily="34" charset="-120"/>
              </a:rPr>
              <a:t>{ "customer_id": "C102",</a:t>
            </a:r>
            <a:endParaRPr lang="en-US" sz="950" dirty="0"/>
          </a:p>
          <a:p>
            <a:pPr algn="l" indent="0" marL="0">
              <a:lnSpc>
                <a:spcPct val="133000"/>
              </a:lnSpc>
              <a:buNone/>
            </a:pPr>
            <a:r>
              <a:rPr lang="en-US" sz="950" dirty="0">
                <a:solidFill>
                  <a:srgbClr val="E6EDF3"/>
                </a:solidFill>
                <a:latin typeface="Consolas" pitchFamily="34" charset="0"/>
                <a:ea typeface="Consolas" pitchFamily="34" charset="-122"/>
                <a:cs typeface="Consolas" pitchFamily="34" charset="-120"/>
              </a:rPr>
              <a:t>  "ciudad": "Barcelona" }</a:t>
            </a:r>
            <a:endParaRPr lang="en-US" sz="950" dirty="0"/>
          </a:p>
        </p:txBody>
      </p:sp>
      <p:sp>
        <p:nvSpPr>
          <p:cNvPr id="6" name="Text 4"/>
          <p:cNvSpPr/>
          <p:nvPr/>
        </p:nvSpPr>
        <p:spPr>
          <a:xfrm>
            <a:off x="661475" y="2708077"/>
            <a:ext cx="5283068" cy="193774"/>
          </a:xfrm>
          <a:prstGeom prst="rect">
            <a:avLst/>
          </a:prstGeom>
          <a:noFill/>
          <a:ln/>
        </p:spPr>
        <p:txBody>
          <a:bodyPr wrap="none" lIns="0" tIns="0" rIns="0" bIns="0" rtlCol="0" anchor="t"/>
          <a:lstStyle/>
          <a:p>
            <a:pPr algn="l" indent="0" marL="0">
              <a:lnSpc>
                <a:spcPct val="104000"/>
              </a:lnSpc>
              <a:buNone/>
            </a:pPr>
            <a:r>
              <a:rPr lang="en-US" sz="1200" spc="-12" kern="0" dirty="0">
                <a:solidFill>
                  <a:srgbClr val="FFFFFF"/>
                </a:solidFill>
                <a:latin typeface="Alexandria Medium" pitchFamily="34" charset="0"/>
                <a:ea typeface="Alexandria Medium" pitchFamily="34" charset="-122"/>
                <a:cs typeface="Alexandria Medium" pitchFamily="34" charset="-120"/>
              </a:rPr>
              <a:t>JSON anidado → complejo</a:t>
            </a:r>
            <a:endParaRPr lang="en-US" sz="1200" dirty="0"/>
          </a:p>
        </p:txBody>
      </p:sp>
      <p:sp>
        <p:nvSpPr>
          <p:cNvPr id="7" name="Shape 5"/>
          <p:cNvSpPr/>
          <p:nvPr/>
        </p:nvSpPr>
        <p:spPr>
          <a:xfrm>
            <a:off x="661475" y="3006427"/>
            <a:ext cx="5283068" cy="2629297"/>
          </a:xfrm>
          <a:prstGeom prst="roundRect">
            <a:avLst>
              <a:gd name="adj" fmla="val 7077"/>
            </a:avLst>
          </a:prstGeom>
          <a:solidFill>
            <a:srgbClr val="583592"/>
          </a:solidFill>
          <a:ln/>
        </p:spPr>
      </p:sp>
      <p:sp>
        <p:nvSpPr>
          <p:cNvPr id="8" name="Text 6"/>
          <p:cNvSpPr/>
          <p:nvPr/>
        </p:nvSpPr>
        <p:spPr>
          <a:xfrm>
            <a:off x="810299" y="3130451"/>
            <a:ext cx="4985419" cy="2381250"/>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6EDF3"/>
                </a:solidFill>
                <a:latin typeface="Consolas" pitchFamily="34" charset="0"/>
                <a:ea typeface="Consolas" pitchFamily="34" charset="-122"/>
                <a:cs typeface="Consolas" pitchFamily="34" charset="-120"/>
              </a:rPr>
              <a:t>{</a:t>
            </a:r>
            <a:endParaRPr lang="en-US" sz="950" dirty="0"/>
          </a:p>
          <a:p>
            <a:pPr algn="l" indent="0" marL="0">
              <a:lnSpc>
                <a:spcPct val="133000"/>
              </a:lnSpc>
              <a:buNone/>
            </a:pPr>
            <a:r>
              <a:rPr lang="en-US" sz="950" dirty="0">
                <a:solidFill>
                  <a:srgbClr val="E6EDF3"/>
                </a:solidFill>
                <a:latin typeface="Consolas" pitchFamily="34" charset="0"/>
                <a:ea typeface="Consolas" pitchFamily="34" charset="-122"/>
                <a:cs typeface="Consolas" pitchFamily="34" charset="-120"/>
              </a:rPr>
              <a:t>  "customer_id": "C102",</a:t>
            </a:r>
            <a:endParaRPr lang="en-US" sz="950" dirty="0"/>
          </a:p>
          <a:p>
            <a:pPr algn="l" indent="0" marL="0">
              <a:lnSpc>
                <a:spcPct val="133000"/>
              </a:lnSpc>
              <a:buNone/>
            </a:pPr>
            <a:r>
              <a:rPr lang="en-US" sz="950" dirty="0">
                <a:solidFill>
                  <a:srgbClr val="E6EDF3"/>
                </a:solidFill>
                <a:latin typeface="Consolas" pitchFamily="34" charset="0"/>
                <a:ea typeface="Consolas" pitchFamily="34" charset="-122"/>
                <a:cs typeface="Consolas" pitchFamily="34" charset="-120"/>
              </a:rPr>
              <a:t>  "direccion": {</a:t>
            </a:r>
            <a:endParaRPr lang="en-US" sz="950" dirty="0"/>
          </a:p>
          <a:p>
            <a:pPr algn="l" indent="0" marL="0">
              <a:lnSpc>
                <a:spcPct val="133000"/>
              </a:lnSpc>
              <a:buNone/>
            </a:pPr>
            <a:r>
              <a:rPr lang="en-US" sz="950" dirty="0">
                <a:solidFill>
                  <a:srgbClr val="E6EDF3"/>
                </a:solidFill>
                <a:latin typeface="Consolas" pitchFamily="34" charset="0"/>
                <a:ea typeface="Consolas" pitchFamily="34" charset="-122"/>
                <a:cs typeface="Consolas" pitchFamily="34" charset="-120"/>
              </a:rPr>
              <a:t>    "calle": "Gran Via 45",</a:t>
            </a:r>
            <a:endParaRPr lang="en-US" sz="950" dirty="0"/>
          </a:p>
          <a:p>
            <a:pPr algn="l" indent="0" marL="0">
              <a:lnSpc>
                <a:spcPct val="133000"/>
              </a:lnSpc>
              <a:buNone/>
            </a:pPr>
            <a:r>
              <a:rPr lang="en-US" sz="950" dirty="0">
                <a:solidFill>
                  <a:srgbClr val="E6EDF3"/>
                </a:solidFill>
                <a:latin typeface="Consolas" pitchFamily="34" charset="0"/>
                <a:ea typeface="Consolas" pitchFamily="34" charset="-122"/>
                <a:cs typeface="Consolas" pitchFamily="34" charset="-120"/>
              </a:rPr>
              <a:t>    "cp": "08010"</a:t>
            </a:r>
            <a:endParaRPr lang="en-US" sz="950" dirty="0"/>
          </a:p>
          <a:p>
            <a:pPr algn="l" indent="0" marL="0">
              <a:lnSpc>
                <a:spcPct val="133000"/>
              </a:lnSpc>
              <a:buNone/>
            </a:pPr>
            <a:r>
              <a:rPr lang="en-US" sz="950" dirty="0">
                <a:solidFill>
                  <a:srgbClr val="E6EDF3"/>
                </a:solidFill>
                <a:latin typeface="Consolas" pitchFamily="34" charset="0"/>
                <a:ea typeface="Consolas" pitchFamily="34" charset="-122"/>
                <a:cs typeface="Consolas" pitchFamily="34" charset="-120"/>
              </a:rPr>
              <a:t>  },</a:t>
            </a:r>
            <a:endParaRPr lang="en-US" sz="950" dirty="0"/>
          </a:p>
          <a:p>
            <a:pPr algn="l" indent="0" marL="0">
              <a:lnSpc>
                <a:spcPct val="133000"/>
              </a:lnSpc>
              <a:buNone/>
            </a:pPr>
            <a:r>
              <a:rPr lang="en-US" sz="950" dirty="0">
                <a:solidFill>
                  <a:srgbClr val="E6EDF3"/>
                </a:solidFill>
                <a:latin typeface="Consolas" pitchFamily="34" charset="0"/>
                <a:ea typeface="Consolas" pitchFamily="34" charset="-122"/>
                <a:cs typeface="Consolas" pitchFamily="34" charset="-120"/>
              </a:rPr>
              <a:t>  "preferencias": ["electrónica", "gaming"],</a:t>
            </a:r>
            <a:endParaRPr lang="en-US" sz="950" dirty="0"/>
          </a:p>
          <a:p>
            <a:pPr algn="l" indent="0" marL="0">
              <a:lnSpc>
                <a:spcPct val="133000"/>
              </a:lnSpc>
              <a:buNone/>
            </a:pPr>
            <a:r>
              <a:rPr lang="en-US" sz="950" dirty="0">
                <a:solidFill>
                  <a:srgbClr val="E6EDF3"/>
                </a:solidFill>
                <a:latin typeface="Consolas" pitchFamily="34" charset="0"/>
                <a:ea typeface="Consolas" pitchFamily="34" charset="-122"/>
                <a:cs typeface="Consolas" pitchFamily="34" charset="-120"/>
              </a:rPr>
              <a:t>  "pedidos": [</a:t>
            </a:r>
            <a:endParaRPr lang="en-US" sz="950" dirty="0"/>
          </a:p>
          <a:p>
            <a:pPr algn="l" indent="0" marL="0">
              <a:lnSpc>
                <a:spcPct val="133000"/>
              </a:lnSpc>
              <a:buNone/>
            </a:pPr>
            <a:r>
              <a:rPr lang="en-US" sz="950" dirty="0">
                <a:solidFill>
                  <a:srgbClr val="E6EDF3"/>
                </a:solidFill>
                <a:latin typeface="Consolas" pitchFamily="34" charset="0"/>
                <a:ea typeface="Consolas" pitchFamily="34" charset="-122"/>
                <a:cs typeface="Consolas" pitchFamily="34" charset="-120"/>
              </a:rPr>
              <a:t>    { "order_id": "P001", "total": 89.50 },</a:t>
            </a:r>
            <a:endParaRPr lang="en-US" sz="950" dirty="0"/>
          </a:p>
          <a:p>
            <a:pPr algn="l" indent="0" marL="0">
              <a:lnSpc>
                <a:spcPct val="133000"/>
              </a:lnSpc>
              <a:buNone/>
            </a:pPr>
            <a:r>
              <a:rPr lang="en-US" sz="950" dirty="0">
                <a:solidFill>
                  <a:srgbClr val="E6EDF3"/>
                </a:solidFill>
                <a:latin typeface="Consolas" pitchFamily="34" charset="0"/>
                <a:ea typeface="Consolas" pitchFamily="34" charset="-122"/>
                <a:cs typeface="Consolas" pitchFamily="34" charset="-120"/>
              </a:rPr>
              <a:t>    { "order_id": "P002", "total": 234.00 }</a:t>
            </a:r>
            <a:endParaRPr lang="en-US" sz="950" dirty="0"/>
          </a:p>
          <a:p>
            <a:pPr algn="l" indent="0" marL="0">
              <a:lnSpc>
                <a:spcPct val="133000"/>
              </a:lnSpc>
              <a:buNone/>
            </a:pPr>
            <a:r>
              <a:rPr lang="en-US" sz="950" dirty="0">
                <a:solidFill>
                  <a:srgbClr val="E6EDF3"/>
                </a:solidFill>
                <a:latin typeface="Consolas" pitchFamily="34" charset="0"/>
                <a:ea typeface="Consolas" pitchFamily="34" charset="-122"/>
                <a:cs typeface="Consolas" pitchFamily="34" charset="-120"/>
              </a:rPr>
              <a:t>  ]</a:t>
            </a:r>
            <a:endParaRPr lang="en-US" sz="950" dirty="0"/>
          </a:p>
          <a:p>
            <a:pPr algn="l" indent="0" marL="0">
              <a:lnSpc>
                <a:spcPct val="133000"/>
              </a:lnSpc>
              <a:buNone/>
            </a:pPr>
            <a:r>
              <a:rPr lang="en-US" sz="950" dirty="0">
                <a:solidFill>
                  <a:srgbClr val="E6EDF3"/>
                </a:solidFill>
                <a:latin typeface="Consolas" pitchFamily="34" charset="0"/>
                <a:ea typeface="Consolas" pitchFamily="34" charset="-122"/>
                <a:cs typeface="Consolas" pitchFamily="34" charset="-120"/>
              </a:rPr>
              <a:t>}</a:t>
            </a:r>
            <a:endParaRPr lang="en-US" sz="950" dirty="0"/>
          </a:p>
        </p:txBody>
      </p:sp>
      <p:sp>
        <p:nvSpPr>
          <p:cNvPr id="9" name="Text 7"/>
          <p:cNvSpPr/>
          <p:nvPr/>
        </p:nvSpPr>
        <p:spPr>
          <a:xfrm>
            <a:off x="6253502" y="1660227"/>
            <a:ext cx="5283068" cy="193774"/>
          </a:xfrm>
          <a:prstGeom prst="rect">
            <a:avLst/>
          </a:prstGeom>
          <a:noFill/>
          <a:ln/>
        </p:spPr>
        <p:txBody>
          <a:bodyPr wrap="none" lIns="0" tIns="0" rIns="0" bIns="0" rtlCol="0" anchor="t"/>
          <a:lstStyle/>
          <a:p>
            <a:pPr algn="l" indent="0" marL="0">
              <a:lnSpc>
                <a:spcPct val="104000"/>
              </a:lnSpc>
              <a:buNone/>
            </a:pPr>
            <a:r>
              <a:rPr lang="en-US" sz="1200" spc="-12" kern="0" dirty="0">
                <a:solidFill>
                  <a:srgbClr val="FFFFFF"/>
                </a:solidFill>
                <a:latin typeface="Alexandria Medium" pitchFamily="34" charset="0"/>
                <a:ea typeface="Alexandria Medium" pitchFamily="34" charset="-122"/>
                <a:cs typeface="Alexandria Medium" pitchFamily="34" charset="-120"/>
              </a:rPr>
              <a:t>Estructuras que aparecen</a:t>
            </a:r>
            <a:endParaRPr lang="en-US" sz="1200" dirty="0"/>
          </a:p>
        </p:txBody>
      </p:sp>
      <p:sp>
        <p:nvSpPr>
          <p:cNvPr id="10" name="Shape 8"/>
          <p:cNvSpPr/>
          <p:nvPr/>
        </p:nvSpPr>
        <p:spPr>
          <a:xfrm>
            <a:off x="6253502" y="1958578"/>
            <a:ext cx="2595001" cy="1081088"/>
          </a:xfrm>
          <a:prstGeom prst="roundRect">
            <a:avLst>
              <a:gd name="adj" fmla="val 17211"/>
            </a:avLst>
          </a:prstGeom>
          <a:solidFill>
            <a:srgbClr val="4B2885"/>
          </a:solidFill>
          <a:ln w="12700">
            <a:solidFill>
              <a:srgbClr val="4B3082"/>
            </a:solidFill>
            <a:prstDash val="solid"/>
          </a:ln>
        </p:spPr>
      </p:sp>
      <p:sp>
        <p:nvSpPr>
          <p:cNvPr id="11" name="Text 9"/>
          <p:cNvSpPr/>
          <p:nvPr/>
        </p:nvSpPr>
        <p:spPr>
          <a:xfrm>
            <a:off x="6390222" y="2095302"/>
            <a:ext cx="2321561" cy="193774"/>
          </a:xfrm>
          <a:prstGeom prst="rect">
            <a:avLst/>
          </a:prstGeom>
          <a:noFill/>
          <a:ln/>
        </p:spPr>
        <p:txBody>
          <a:bodyPr wrap="none" lIns="0" tIns="0" rIns="0" bIns="0" rtlCol="0" anchor="t"/>
          <a:lstStyle/>
          <a:p>
            <a:pPr algn="l" indent="0" marL="0">
              <a:lnSpc>
                <a:spcPct val="104000"/>
              </a:lnSpc>
              <a:buNone/>
            </a:pPr>
            <a:r>
              <a:rPr lang="en-US" sz="1200" spc="-12" kern="0" dirty="0">
                <a:solidFill>
                  <a:srgbClr val="FFFFFF"/>
                </a:solidFill>
                <a:latin typeface="Alexandria Medium" pitchFamily="34" charset="0"/>
                <a:ea typeface="Alexandria Medium" pitchFamily="34" charset="-122"/>
                <a:cs typeface="Alexandria Medium" pitchFamily="34" charset="-120"/>
              </a:rPr>
              <a:t>Objeto anidado</a:t>
            </a:r>
            <a:endParaRPr lang="en-US" sz="1200" dirty="0"/>
          </a:p>
        </p:txBody>
      </p:sp>
      <p:sp>
        <p:nvSpPr>
          <p:cNvPr id="12" name="Text 10"/>
          <p:cNvSpPr/>
          <p:nvPr/>
        </p:nvSpPr>
        <p:spPr>
          <a:xfrm>
            <a:off x="6390222" y="2382044"/>
            <a:ext cx="2321561" cy="520898"/>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FFFFFF"/>
                </a:solidFill>
                <a:highlight>
                  <a:srgbClr val="583592"/>
                </a:highlight>
                <a:latin typeface="Consolas" pitchFamily="34" charset="0"/>
                <a:ea typeface="Consolas" pitchFamily="34" charset="-122"/>
                <a:cs typeface="Consolas" pitchFamily="34" charset="-120"/>
              </a:rPr>
              <a:t>direccion</a:t>
            </a:r>
            <a:pPr algn="l" indent="0" marL="0">
              <a:lnSpc>
                <a:spcPct val="117000"/>
              </a:lnSpc>
              <a:buNone/>
            </a:pPr>
            <a:r>
              <a:rPr lang="en-US" sz="950" dirty="0">
                <a:solidFill>
                  <a:srgbClr val="FFFFFF"/>
                </a:solidFill>
                <a:latin typeface="Manrope" pitchFamily="34" charset="0"/>
                <a:ea typeface="Manrope" pitchFamily="34" charset="-122"/>
                <a:cs typeface="Manrope" pitchFamily="34" charset="-120"/>
              </a:rPr>
              <a:t> es un objeto dentro de otro. Hay que "abrirlo" para acceder a sus campos.</a:t>
            </a:r>
            <a:endParaRPr lang="en-US" sz="950" dirty="0"/>
          </a:p>
        </p:txBody>
      </p:sp>
      <p:sp>
        <p:nvSpPr>
          <p:cNvPr id="13" name="Shape 11"/>
          <p:cNvSpPr/>
          <p:nvPr/>
        </p:nvSpPr>
        <p:spPr>
          <a:xfrm>
            <a:off x="8941469" y="1958578"/>
            <a:ext cx="2595101" cy="1081088"/>
          </a:xfrm>
          <a:prstGeom prst="roundRect">
            <a:avLst>
              <a:gd name="adj" fmla="val 17211"/>
            </a:avLst>
          </a:prstGeom>
          <a:solidFill>
            <a:srgbClr val="4B2885"/>
          </a:solidFill>
          <a:ln w="12700">
            <a:solidFill>
              <a:srgbClr val="4B3082"/>
            </a:solidFill>
            <a:prstDash val="solid"/>
          </a:ln>
        </p:spPr>
      </p:sp>
      <p:sp>
        <p:nvSpPr>
          <p:cNvPr id="14" name="Text 12"/>
          <p:cNvSpPr/>
          <p:nvPr/>
        </p:nvSpPr>
        <p:spPr>
          <a:xfrm>
            <a:off x="9078189" y="2095302"/>
            <a:ext cx="2321661" cy="193774"/>
          </a:xfrm>
          <a:prstGeom prst="rect">
            <a:avLst/>
          </a:prstGeom>
          <a:noFill/>
          <a:ln/>
        </p:spPr>
        <p:txBody>
          <a:bodyPr wrap="none" lIns="0" tIns="0" rIns="0" bIns="0" rtlCol="0" anchor="t"/>
          <a:lstStyle/>
          <a:p>
            <a:pPr algn="l" indent="0" marL="0">
              <a:lnSpc>
                <a:spcPct val="104000"/>
              </a:lnSpc>
              <a:buNone/>
            </a:pPr>
            <a:r>
              <a:rPr lang="en-US" sz="1200" spc="-12" kern="0" dirty="0">
                <a:solidFill>
                  <a:srgbClr val="FFFFFF"/>
                </a:solidFill>
                <a:latin typeface="Alexandria Medium" pitchFamily="34" charset="0"/>
                <a:ea typeface="Alexandria Medium" pitchFamily="34" charset="-122"/>
                <a:cs typeface="Alexandria Medium" pitchFamily="34" charset="-120"/>
              </a:rPr>
              <a:t>Lista de valores simples</a:t>
            </a:r>
            <a:endParaRPr lang="en-US" sz="1200" dirty="0"/>
          </a:p>
        </p:txBody>
      </p:sp>
      <p:sp>
        <p:nvSpPr>
          <p:cNvPr id="15" name="Text 13"/>
          <p:cNvSpPr/>
          <p:nvPr/>
        </p:nvSpPr>
        <p:spPr>
          <a:xfrm>
            <a:off x="9078189" y="2382044"/>
            <a:ext cx="2321661" cy="347266"/>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FFFFFF"/>
                </a:solidFill>
                <a:highlight>
                  <a:srgbClr val="583592"/>
                </a:highlight>
                <a:latin typeface="Consolas" pitchFamily="34" charset="0"/>
                <a:ea typeface="Consolas" pitchFamily="34" charset="-122"/>
                <a:cs typeface="Consolas" pitchFamily="34" charset="-120"/>
              </a:rPr>
              <a:t>preferencias</a:t>
            </a:r>
            <a:pPr algn="l" indent="0" marL="0">
              <a:lnSpc>
                <a:spcPct val="117000"/>
              </a:lnSpc>
              <a:buNone/>
            </a:pPr>
            <a:r>
              <a:rPr lang="en-US" sz="950" dirty="0">
                <a:solidFill>
                  <a:srgbClr val="FFFFFF"/>
                </a:solidFill>
                <a:latin typeface="Manrope" pitchFamily="34" charset="0"/>
                <a:ea typeface="Manrope" pitchFamily="34" charset="-122"/>
                <a:cs typeface="Manrope" pitchFamily="34" charset="-120"/>
              </a:rPr>
              <a:t> es un array de textos. ¿Una fila por valor o concatenar?</a:t>
            </a:r>
            <a:endParaRPr lang="en-US" sz="950" dirty="0"/>
          </a:p>
        </p:txBody>
      </p:sp>
      <p:sp>
        <p:nvSpPr>
          <p:cNvPr id="16" name="Shape 14"/>
          <p:cNvSpPr/>
          <p:nvPr/>
        </p:nvSpPr>
        <p:spPr>
          <a:xfrm>
            <a:off x="6253502" y="3132634"/>
            <a:ext cx="5283068" cy="733822"/>
          </a:xfrm>
          <a:prstGeom prst="roundRect">
            <a:avLst>
              <a:gd name="adj" fmla="val 25356"/>
            </a:avLst>
          </a:prstGeom>
          <a:solidFill>
            <a:srgbClr val="4B2885"/>
          </a:solidFill>
          <a:ln w="12700">
            <a:solidFill>
              <a:srgbClr val="4B3082"/>
            </a:solidFill>
            <a:prstDash val="solid"/>
          </a:ln>
        </p:spPr>
      </p:sp>
      <p:sp>
        <p:nvSpPr>
          <p:cNvPr id="17" name="Text 15"/>
          <p:cNvSpPr/>
          <p:nvPr/>
        </p:nvSpPr>
        <p:spPr>
          <a:xfrm>
            <a:off x="6390222" y="3269357"/>
            <a:ext cx="5009628" cy="193774"/>
          </a:xfrm>
          <a:prstGeom prst="rect">
            <a:avLst/>
          </a:prstGeom>
          <a:noFill/>
          <a:ln/>
        </p:spPr>
        <p:txBody>
          <a:bodyPr wrap="none" lIns="0" tIns="0" rIns="0" bIns="0" rtlCol="0" anchor="t"/>
          <a:lstStyle/>
          <a:p>
            <a:pPr algn="l" indent="0" marL="0">
              <a:lnSpc>
                <a:spcPct val="104000"/>
              </a:lnSpc>
              <a:buNone/>
            </a:pPr>
            <a:r>
              <a:rPr lang="en-US" sz="1200" spc="-12" kern="0" dirty="0">
                <a:solidFill>
                  <a:srgbClr val="FFFFFF"/>
                </a:solidFill>
                <a:latin typeface="Alexandria Medium" pitchFamily="34" charset="0"/>
                <a:ea typeface="Alexandria Medium" pitchFamily="34" charset="-122"/>
                <a:cs typeface="Alexandria Medium" pitchFamily="34" charset="-120"/>
              </a:rPr>
              <a:t>Lista de objetos</a:t>
            </a:r>
            <a:endParaRPr lang="en-US" sz="1200" dirty="0"/>
          </a:p>
        </p:txBody>
      </p:sp>
      <p:sp>
        <p:nvSpPr>
          <p:cNvPr id="18" name="Text 16"/>
          <p:cNvSpPr/>
          <p:nvPr/>
        </p:nvSpPr>
        <p:spPr>
          <a:xfrm>
            <a:off x="6390222" y="3556099"/>
            <a:ext cx="5009628" cy="173633"/>
          </a:xfrm>
          <a:prstGeom prst="rect">
            <a:avLst/>
          </a:prstGeom>
          <a:noFill/>
          <a:ln/>
        </p:spPr>
        <p:txBody>
          <a:bodyPr wrap="none" lIns="0" tIns="0" rIns="0" bIns="0" rtlCol="0" anchor="t"/>
          <a:lstStyle/>
          <a:p>
            <a:pPr algn="l" indent="0" marL="0">
              <a:lnSpc>
                <a:spcPct val="117000"/>
              </a:lnSpc>
              <a:buNone/>
            </a:pPr>
            <a:r>
              <a:rPr lang="en-US" sz="950" dirty="0">
                <a:solidFill>
                  <a:srgbClr val="FFFFFF"/>
                </a:solidFill>
                <a:highlight>
                  <a:srgbClr val="583592"/>
                </a:highlight>
                <a:latin typeface="Consolas" pitchFamily="34" charset="0"/>
                <a:ea typeface="Consolas" pitchFamily="34" charset="-122"/>
                <a:cs typeface="Consolas" pitchFamily="34" charset="-120"/>
              </a:rPr>
              <a:t>pedidos</a:t>
            </a:r>
            <a:pPr algn="l" indent="0" marL="0">
              <a:lnSpc>
                <a:spcPct val="117000"/>
              </a:lnSpc>
              <a:buNone/>
            </a:pPr>
            <a:r>
              <a:rPr lang="en-US" sz="950" dirty="0">
                <a:solidFill>
                  <a:srgbClr val="FFFFFF"/>
                </a:solidFill>
                <a:latin typeface="Manrope" pitchFamily="34" charset="0"/>
                <a:ea typeface="Manrope" pitchFamily="34" charset="-122"/>
                <a:cs typeface="Manrope" pitchFamily="34" charset="-120"/>
              </a:rPr>
              <a:t> es el caso más complejo: cada pedido debería ser su propia fila.</a:t>
            </a:r>
            <a:endParaRPr lang="en-US" sz="950" dirty="0"/>
          </a:p>
        </p:txBody>
      </p:sp>
      <p:sp>
        <p:nvSpPr>
          <p:cNvPr id="19" name="Text 17"/>
          <p:cNvSpPr/>
          <p:nvPr/>
        </p:nvSpPr>
        <p:spPr>
          <a:xfrm>
            <a:off x="6439533" y="4054673"/>
            <a:ext cx="5097037" cy="347266"/>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FFFFFF"/>
                </a:solidFill>
                <a:latin typeface="Manrope" pitchFamily="34" charset="0"/>
                <a:ea typeface="Manrope" pitchFamily="34" charset="-122"/>
                <a:cs typeface="Manrope" pitchFamily="34" charset="-120"/>
              </a:rPr>
              <a:t>¿Cómo convertimos una estructura jerárquica en datos analizables?</a:t>
            </a:r>
            <a:endParaRPr lang="en-US" sz="950" dirty="0"/>
          </a:p>
          <a:p>
            <a:pPr algn="l" indent="0" marL="0">
              <a:lnSpc>
                <a:spcPct val="117000"/>
              </a:lnSpc>
              <a:buNone/>
            </a:pPr>
            <a:r>
              <a:rPr lang="en-US" sz="950" b="1" dirty="0">
                <a:solidFill>
                  <a:srgbClr val="FFFFFF"/>
                </a:solidFill>
                <a:latin typeface="Manrope Bold" pitchFamily="34" charset="0"/>
                <a:ea typeface="Manrope Bold" pitchFamily="34" charset="-122"/>
                <a:cs typeface="Manrope Bold" pitchFamily="34" charset="-120"/>
              </a:rPr>
              <a:t>Flatten / normalización de JSON.</a:t>
            </a:r>
            <a:endParaRPr lang="en-US" sz="950" dirty="0"/>
          </a:p>
        </p:txBody>
      </p:sp>
      <p:sp>
        <p:nvSpPr>
          <p:cNvPr id="20" name="Shape 18"/>
          <p:cNvSpPr/>
          <p:nvPr/>
        </p:nvSpPr>
        <p:spPr>
          <a:xfrm>
            <a:off x="6253502" y="3971032"/>
            <a:ext cx="12700" cy="514548"/>
          </a:xfrm>
          <a:prstGeom prst="roundRect">
            <a:avLst>
              <a:gd name="adj" fmla="val 49999"/>
            </a:avLst>
          </a:prstGeom>
          <a:solidFill>
            <a:srgbClr val="B499E9"/>
          </a:solidFill>
          <a:ln/>
        </p:spPr>
      </p:sp>
      <p:pic>
        <p:nvPicPr>
          <p:cNvPr id="21"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22"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23" name="Text 19"/>
          <p:cNvSpPr/>
          <p:nvPr/>
        </p:nvSpPr>
        <p:spPr>
          <a:xfrm>
            <a:off x="10892855" y="6300589"/>
            <a:ext cx="1100408"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082675"/>
            <a:ext cx="10868745" cy="372170"/>
          </a:xfrm>
          <a:prstGeom prst="rect">
            <a:avLst/>
          </a:prstGeom>
          <a:noFill/>
          <a:ln/>
        </p:spPr>
        <p:txBody>
          <a:bodyPr wrap="none" lIns="0" tIns="0" rIns="0" bIns="0" rtlCol="0" anchor="t"/>
          <a:lstStyle/>
          <a:p>
            <a:pPr algn="l" indent="0" marL="0">
              <a:lnSpc>
                <a:spcPct val="104000"/>
              </a:lnSpc>
              <a:buNone/>
            </a:pPr>
            <a:r>
              <a:rPr lang="en-US" sz="2300" spc="-23" kern="0" dirty="0">
                <a:solidFill>
                  <a:srgbClr val="FFFFFF"/>
                </a:solidFill>
                <a:latin typeface="Alexandria Medium" pitchFamily="34" charset="0"/>
                <a:ea typeface="Alexandria Medium" pitchFamily="34" charset="-122"/>
                <a:cs typeface="Alexandria Medium" pitchFamily="34" charset="-120"/>
              </a:rPr>
              <a:t>Bases de datos como fuente</a:t>
            </a:r>
            <a:endParaRPr lang="en-US" sz="2300" dirty="0"/>
          </a:p>
        </p:txBody>
      </p:sp>
      <p:sp>
        <p:nvSpPr>
          <p:cNvPr id="3" name="Shape 1"/>
          <p:cNvSpPr/>
          <p:nvPr/>
        </p:nvSpPr>
        <p:spPr>
          <a:xfrm>
            <a:off x="554321" y="1655763"/>
            <a:ext cx="5467114" cy="4119563"/>
          </a:xfrm>
          <a:prstGeom prst="roundRect">
            <a:avLst>
              <a:gd name="adj" fmla="val 8672"/>
            </a:avLst>
          </a:prstGeom>
          <a:solidFill>
            <a:srgbClr val="324C85"/>
          </a:solidFill>
          <a:ln/>
        </p:spPr>
      </p:sp>
      <p:sp>
        <p:nvSpPr>
          <p:cNvPr id="4" name="Text 2"/>
          <p:cNvSpPr/>
          <p:nvPr/>
        </p:nvSpPr>
        <p:spPr>
          <a:xfrm>
            <a:off x="703146" y="1789708"/>
            <a:ext cx="5169465"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La fuente SQL de ShopData</a:t>
            </a:r>
            <a:endParaRPr lang="en-US" sz="1450" dirty="0"/>
          </a:p>
        </p:txBody>
      </p:sp>
      <p:sp>
        <p:nvSpPr>
          <p:cNvPr id="5" name="Text 3"/>
          <p:cNvSpPr/>
          <p:nvPr/>
        </p:nvSpPr>
        <p:spPr>
          <a:xfrm>
            <a:off x="703146" y="2156123"/>
            <a:ext cx="5169465" cy="452438"/>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La tabla de ventas vive en MySQL. No necesitamos extraer toda la base de datos.</a:t>
            </a:r>
            <a:endParaRPr lang="en-US" sz="1150" dirty="0"/>
          </a:p>
        </p:txBody>
      </p:sp>
      <p:sp>
        <p:nvSpPr>
          <p:cNvPr id="6" name="Shape 4"/>
          <p:cNvSpPr/>
          <p:nvPr/>
        </p:nvSpPr>
        <p:spPr>
          <a:xfrm>
            <a:off x="703146" y="2759273"/>
            <a:ext cx="5169465" cy="1250156"/>
          </a:xfrm>
          <a:prstGeom prst="roundRect">
            <a:avLst>
              <a:gd name="adj" fmla="val 17860"/>
            </a:avLst>
          </a:prstGeom>
          <a:solidFill>
            <a:srgbClr val="3F5992"/>
          </a:solidFill>
          <a:ln/>
        </p:spPr>
      </p:sp>
      <p:sp>
        <p:nvSpPr>
          <p:cNvPr id="7" name="Text 5"/>
          <p:cNvSpPr/>
          <p:nvPr/>
        </p:nvSpPr>
        <p:spPr>
          <a:xfrm>
            <a:off x="881735" y="2908102"/>
            <a:ext cx="4812287" cy="952500"/>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FF7B72"/>
                </a:solidFill>
                <a:latin typeface="Consolas" pitchFamily="34" charset="0"/>
                <a:ea typeface="Consolas" pitchFamily="34" charset="-122"/>
                <a:cs typeface="Consolas" pitchFamily="34" charset="-120"/>
              </a:rPr>
              <a:t>SELECT order_id, customer_id,</a:t>
            </a:r>
            <a:endParaRPr lang="en-US" sz="1150" dirty="0"/>
          </a:p>
          <a:p>
            <a:pPr algn="l" indent="0" marL="0">
              <a:lnSpc>
                <a:spcPct val="133000"/>
              </a:lnSpc>
              <a:buNone/>
            </a:pPr>
            <a:r>
              <a:rPr lang="en-US" sz="1150" dirty="0">
                <a:solidFill>
                  <a:srgbClr val="FF7B72"/>
                </a:solidFill>
                <a:latin typeface="Consolas" pitchFamily="34" charset="0"/>
                <a:ea typeface="Consolas" pitchFamily="34" charset="-122"/>
                <a:cs typeface="Consolas" pitchFamily="34" charset="-120"/>
              </a:rPr>
              <a:t>       product_id, total, fecha</a:t>
            </a:r>
            <a:endParaRPr lang="en-US" sz="1150" dirty="0"/>
          </a:p>
          <a:p>
            <a:pPr algn="l" indent="0" marL="0">
              <a:lnSpc>
                <a:spcPct val="133000"/>
              </a:lnSpc>
              <a:buNone/>
            </a:pPr>
            <a:r>
              <a:rPr lang="en-US" sz="1150" dirty="0">
                <a:solidFill>
                  <a:srgbClr val="FF7B72"/>
                </a:solidFill>
                <a:latin typeface="Consolas" pitchFamily="34" charset="0"/>
                <a:ea typeface="Consolas" pitchFamily="34" charset="-122"/>
                <a:cs typeface="Consolas" pitchFamily="34" charset="-120"/>
              </a:rPr>
              <a:t>FROM ventas</a:t>
            </a:r>
            <a:endParaRPr lang="en-US" sz="1150" dirty="0"/>
          </a:p>
          <a:p>
            <a:pPr algn="l" indent="0" marL="0">
              <a:lnSpc>
                <a:spcPct val="133000"/>
              </a:lnSpc>
              <a:buNone/>
            </a:pPr>
            <a:r>
              <a:rPr lang="en-US" sz="1150" dirty="0">
                <a:solidFill>
                  <a:srgbClr val="FF7B72"/>
                </a:solidFill>
                <a:latin typeface="Consolas" pitchFamily="34" charset="0"/>
                <a:ea typeface="Consolas" pitchFamily="34" charset="-122"/>
                <a:cs typeface="Consolas" pitchFamily="34" charset="-120"/>
              </a:rPr>
              <a:t>WHERE fecha &gt;= '2026-01-01';</a:t>
            </a:r>
            <a:endParaRPr lang="en-US" sz="1150" dirty="0"/>
          </a:p>
        </p:txBody>
      </p:sp>
      <p:sp>
        <p:nvSpPr>
          <p:cNvPr id="8" name="Text 6"/>
          <p:cNvSpPr/>
          <p:nvPr/>
        </p:nvSpPr>
        <p:spPr>
          <a:xfrm>
            <a:off x="703146" y="4160143"/>
            <a:ext cx="5779050" cy="226219"/>
          </a:xfrm>
          <a:prstGeom prst="rect">
            <a:avLst/>
          </a:prstGeom>
          <a:noFill/>
          <a:ln/>
        </p:spPr>
        <p:txBody>
          <a:bodyPr wrap="none" lIns="0" tIns="0" rIns="0" bIns="0" rtlCol="0" anchor="t"/>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Solo extraemos el periodo que necesitamos.</a:t>
            </a:r>
            <a:endParaRPr lang="en-US" sz="1150" dirty="0"/>
          </a:p>
        </p:txBody>
      </p:sp>
      <p:sp>
        <p:nvSpPr>
          <p:cNvPr id="9" name="Text 7"/>
          <p:cNvSpPr/>
          <p:nvPr/>
        </p:nvSpPr>
        <p:spPr>
          <a:xfrm>
            <a:off x="6283763" y="1789708"/>
            <a:ext cx="5252807"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Principio clave</a:t>
            </a:r>
            <a:endParaRPr lang="en-US" sz="1450" dirty="0"/>
          </a:p>
        </p:txBody>
      </p:sp>
      <p:sp>
        <p:nvSpPr>
          <p:cNvPr id="10" name="Text 8"/>
          <p:cNvSpPr/>
          <p:nvPr/>
        </p:nvSpPr>
        <p:spPr>
          <a:xfrm>
            <a:off x="6507000" y="2293441"/>
            <a:ext cx="5029570" cy="452438"/>
          </a:xfrm>
          <a:prstGeom prst="rect">
            <a:avLst/>
          </a:prstGeom>
          <a:noFill/>
          <a:ln/>
        </p:spPr>
        <p:txBody>
          <a:bodyPr wrap="square" lIns="0" tIns="0" rIns="0" bIns="0" rtlCol="0" anchor="t">
            <a:normAutofit/>
          </a:bodyPr>
          <a:lstStyle/>
          <a:p>
            <a:pPr algn="l" indent="0" marL="0">
              <a:lnSpc>
                <a:spcPct val="127000"/>
              </a:lnSpc>
              <a:buNone/>
            </a:pPr>
            <a:r>
              <a:rPr lang="en-US" sz="1150" b="1" dirty="0">
                <a:solidFill>
                  <a:srgbClr val="FFFFFF"/>
                </a:solidFill>
                <a:latin typeface="Manrope Bold" pitchFamily="34" charset="0"/>
                <a:ea typeface="Manrope Bold" pitchFamily="34" charset="-122"/>
                <a:cs typeface="Manrope Bold" pitchFamily="34" charset="-120"/>
              </a:rPr>
              <a:t>Filtrar en origen cuando sea posible</a:t>
            </a:r>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 reduce transferencia y procesamiento innecesarios.</a:t>
            </a:r>
            <a:endParaRPr lang="en-US" sz="1150" dirty="0"/>
          </a:p>
        </p:txBody>
      </p:sp>
      <p:sp>
        <p:nvSpPr>
          <p:cNvPr id="11" name="Shape 9"/>
          <p:cNvSpPr/>
          <p:nvPr/>
        </p:nvSpPr>
        <p:spPr>
          <a:xfrm>
            <a:off x="6283763" y="2172891"/>
            <a:ext cx="19050" cy="693539"/>
          </a:xfrm>
          <a:prstGeom prst="roundRect">
            <a:avLst>
              <a:gd name="adj" fmla="val 49999"/>
            </a:avLst>
          </a:prstGeom>
          <a:solidFill>
            <a:srgbClr val="B499E9"/>
          </a:solidFill>
          <a:ln/>
        </p:spPr>
      </p:sp>
      <p:sp>
        <p:nvSpPr>
          <p:cNvPr id="12" name="Text 10"/>
          <p:cNvSpPr/>
          <p:nvPr/>
        </p:nvSpPr>
        <p:spPr>
          <a:xfrm>
            <a:off x="6283763" y="3017143"/>
            <a:ext cx="5252807"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¿Qué no trabajaremos aquí?</a:t>
            </a:r>
            <a:endParaRPr lang="en-US" sz="1450" dirty="0"/>
          </a:p>
        </p:txBody>
      </p:sp>
      <p:sp>
        <p:nvSpPr>
          <p:cNvPr id="13" name="Text 11"/>
          <p:cNvSpPr/>
          <p:nvPr/>
        </p:nvSpPr>
        <p:spPr>
          <a:xfrm>
            <a:off x="6283763" y="3383558"/>
            <a:ext cx="5252807" cy="772319"/>
          </a:xfrm>
          <a:prstGeom prst="rect">
            <a:avLst/>
          </a:prstGeom>
          <a:noFill/>
          <a:ln/>
        </p:spPr>
        <p:txBody>
          <a:bodyPr wrap="square" lIns="0" tIns="0" rIns="0" bIns="0" rtlCol="0" anchor="t">
            <a:normAutofit/>
          </a:bodyPr>
          <a:lstStyle/>
          <a:p>
            <a:pPr algn="l" marL="233680" indent="-233680">
              <a:lnSpc>
                <a:spcPct val="127000"/>
              </a:lnSpc>
              <a:buSzPct val="100000"/>
              <a:buChar char="•"/>
            </a:pPr>
            <a:r>
              <a:rPr lang="en-US" sz="1150" dirty="0">
                <a:solidFill>
                  <a:srgbClr val="FFFFFF"/>
                </a:solidFill>
                <a:latin typeface="Manrope" pitchFamily="34" charset="0"/>
                <a:ea typeface="Manrope" pitchFamily="34" charset="-122"/>
                <a:cs typeface="Manrope" pitchFamily="34" charset="-120"/>
              </a:rPr>
              <a:t>Administración de MySQL</a:t>
            </a:r>
            <a:endParaRPr lang="en-US" sz="1150" dirty="0"/>
          </a:p>
          <a:p>
            <a:pPr algn="l" marL="233680" indent="-233680">
              <a:lnSpc>
                <a:spcPct val="127000"/>
              </a:lnSpc>
              <a:buSzPct val="100000"/>
              <a:buChar char="•"/>
            </a:pPr>
            <a:r>
              <a:rPr lang="en-US" sz="1150" dirty="0">
                <a:solidFill>
                  <a:srgbClr val="FFFFFF"/>
                </a:solidFill>
                <a:latin typeface="Manrope" pitchFamily="34" charset="0"/>
                <a:ea typeface="Manrope" pitchFamily="34" charset="-122"/>
                <a:cs typeface="Manrope" pitchFamily="34" charset="-120"/>
              </a:rPr>
              <a:t>Diseño de esquemas</a:t>
            </a:r>
            <a:endParaRPr lang="en-US" sz="1150" dirty="0"/>
          </a:p>
          <a:p>
            <a:pPr algn="l" marL="233680" indent="-233680">
              <a:lnSpc>
                <a:spcPct val="127000"/>
              </a:lnSpc>
              <a:buSzPct val="100000"/>
              <a:buChar char="•"/>
            </a:pPr>
            <a:r>
              <a:rPr lang="en-US" sz="1150" dirty="0">
                <a:solidFill>
                  <a:srgbClr val="FFFFFF"/>
                </a:solidFill>
                <a:latin typeface="Manrope" pitchFamily="34" charset="0"/>
                <a:ea typeface="Manrope" pitchFamily="34" charset="-122"/>
                <a:cs typeface="Manrope" pitchFamily="34" charset="-120"/>
              </a:rPr>
              <a:t>Índices y optimización de queries</a:t>
            </a:r>
            <a:endParaRPr lang="en-US" sz="1150" dirty="0"/>
          </a:p>
        </p:txBody>
      </p:sp>
      <p:sp>
        <p:nvSpPr>
          <p:cNvPr id="14" name="Text 12"/>
          <p:cNvSpPr/>
          <p:nvPr/>
        </p:nvSpPr>
        <p:spPr>
          <a:xfrm>
            <a:off x="6283763" y="4276427"/>
            <a:ext cx="5252807" cy="452438"/>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Estos temas pertenecen a otras unidades. Aquí la base de datos es simplemente </a:t>
            </a:r>
            <a:pPr algn="l" indent="0" marL="0">
              <a:lnSpc>
                <a:spcPct val="127000"/>
              </a:lnSpc>
              <a:buNone/>
            </a:pPr>
            <a:r>
              <a:rPr lang="en-US" sz="1150" b="1" dirty="0">
                <a:solidFill>
                  <a:srgbClr val="FFFFFF"/>
                </a:solidFill>
                <a:latin typeface="Manrope Bold" pitchFamily="34" charset="0"/>
                <a:ea typeface="Manrope Bold" pitchFamily="34" charset="-122"/>
                <a:cs typeface="Manrope Bold" pitchFamily="34" charset="-120"/>
              </a:rPr>
              <a:t>una fuente más</a:t>
            </a:r>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 del pipeline.</a:t>
            </a:r>
            <a:endParaRPr lang="en-US" sz="1150" dirty="0"/>
          </a:p>
        </p:txBody>
      </p:sp>
      <p:sp>
        <p:nvSpPr>
          <p:cNvPr id="15" name="Text 13"/>
          <p:cNvSpPr/>
          <p:nvPr/>
        </p:nvSpPr>
        <p:spPr>
          <a:xfrm>
            <a:off x="6283763" y="4862810"/>
            <a:ext cx="5252807"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Recordatorio de tipos de relación</a:t>
            </a:r>
            <a:endParaRPr lang="en-US" sz="1450" dirty="0"/>
          </a:p>
        </p:txBody>
      </p:sp>
      <p:sp>
        <p:nvSpPr>
          <p:cNvPr id="16" name="Text 14"/>
          <p:cNvSpPr/>
          <p:nvPr/>
        </p:nvSpPr>
        <p:spPr>
          <a:xfrm>
            <a:off x="6283763" y="5229225"/>
            <a:ext cx="5252807" cy="499269"/>
          </a:xfrm>
          <a:prstGeom prst="rect">
            <a:avLst/>
          </a:prstGeom>
          <a:noFill/>
          <a:ln/>
        </p:spPr>
        <p:txBody>
          <a:bodyPr wrap="square" lIns="0" tIns="0" rIns="0" bIns="0" rtlCol="0" anchor="t">
            <a:normAutofit/>
          </a:bodyPr>
          <a:lstStyle/>
          <a:p>
            <a:pPr algn="l" marL="233680" indent="-233680">
              <a:lnSpc>
                <a:spcPct val="127000"/>
              </a:lnSpc>
              <a:buSzPct val="100000"/>
              <a:buChar char="•"/>
            </a:pPr>
            <a:r>
              <a:rPr lang="en-US" sz="1150" dirty="0">
                <a:solidFill>
                  <a:srgbClr val="FFFFFF"/>
                </a:solidFill>
                <a:latin typeface="Manrope" pitchFamily="34" charset="0"/>
                <a:ea typeface="Manrope" pitchFamily="34" charset="-122"/>
                <a:cs typeface="Manrope" pitchFamily="34" charset="-120"/>
              </a:rPr>
              <a:t>Un cliente → muchos pedidos (1:N)</a:t>
            </a:r>
            <a:endParaRPr lang="en-US" sz="1150" dirty="0"/>
          </a:p>
          <a:p>
            <a:pPr algn="l" marL="233680" indent="-233680">
              <a:lnSpc>
                <a:spcPct val="127000"/>
              </a:lnSpc>
              <a:buSzPct val="100000"/>
              <a:buChar char="•"/>
            </a:pPr>
            <a:r>
              <a:rPr lang="en-US" sz="1150" dirty="0">
                <a:solidFill>
                  <a:srgbClr val="FFFFFF"/>
                </a:solidFill>
                <a:latin typeface="Manrope" pitchFamily="34" charset="0"/>
                <a:ea typeface="Manrope" pitchFamily="34" charset="-122"/>
                <a:cs typeface="Manrope" pitchFamily="34" charset="-120"/>
              </a:rPr>
              <a:t>Un pedido → muchos productos (N:M)</a:t>
            </a:r>
            <a:endParaRPr lang="en-US" sz="1150" dirty="0"/>
          </a:p>
        </p:txBody>
      </p:sp>
      <p:pic>
        <p:nvPicPr>
          <p:cNvPr id="17"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18"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19" name="Text 15"/>
          <p:cNvSpPr/>
          <p:nvPr/>
        </p:nvSpPr>
        <p:spPr>
          <a:xfrm>
            <a:off x="10888192" y="6300589"/>
            <a:ext cx="1105071"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1175544"/>
            <a:ext cx="10868745" cy="351433"/>
          </a:xfrm>
          <a:prstGeom prst="rect">
            <a:avLst/>
          </a:prstGeom>
          <a:noFill/>
          <a:ln/>
        </p:spPr>
        <p:txBody>
          <a:bodyPr wrap="none" lIns="0" tIns="0" rIns="0" bIns="0" rtlCol="0" anchor="t"/>
          <a:lstStyle/>
          <a:p>
            <a:pPr algn="l" indent="0" marL="0">
              <a:lnSpc>
                <a:spcPct val="104000"/>
              </a:lnSpc>
              <a:buNone/>
            </a:pPr>
            <a:r>
              <a:rPr lang="en-US" sz="2200" spc="-22" kern="0" dirty="0">
                <a:solidFill>
                  <a:srgbClr val="FFFFFF"/>
                </a:solidFill>
                <a:latin typeface="Alexandria Medium" pitchFamily="34" charset="0"/>
                <a:ea typeface="Alexandria Medium" pitchFamily="34" charset="-122"/>
                <a:cs typeface="Alexandria Medium" pitchFamily="34" charset="-120"/>
              </a:rPr>
              <a:t>APIs: cuando los datos están detrás de una interfaz</a:t>
            </a:r>
            <a:endParaRPr lang="en-US" sz="2200" dirty="0"/>
          </a:p>
        </p:txBody>
      </p:sp>
      <p:sp>
        <p:nvSpPr>
          <p:cNvPr id="3" name="Text 1"/>
          <p:cNvSpPr/>
          <p:nvPr/>
        </p:nvSpPr>
        <p:spPr>
          <a:xfrm>
            <a:off x="661475" y="1765895"/>
            <a:ext cx="11478330" cy="208062"/>
          </a:xfrm>
          <a:prstGeom prst="rect">
            <a:avLst/>
          </a:prstGeom>
          <a:noFill/>
          <a:ln/>
        </p:spPr>
        <p:txBody>
          <a:bodyPr wrap="none" lIns="0" tIns="0" rIns="0" bIns="0" rtlCol="0" anchor="t"/>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Una </a:t>
            </a:r>
            <a:pPr algn="l" indent="0" marL="0">
              <a:lnSpc>
                <a:spcPct val="123000"/>
              </a:lnSpc>
              <a:buNone/>
            </a:pPr>
            <a:r>
              <a:rPr lang="en-US" sz="1100" b="1" dirty="0">
                <a:solidFill>
                  <a:srgbClr val="FFFFFF"/>
                </a:solidFill>
                <a:latin typeface="Manrope Bold" pitchFamily="34" charset="0"/>
                <a:ea typeface="Manrope Bold" pitchFamily="34" charset="-122"/>
                <a:cs typeface="Manrope Bold" pitchFamily="34" charset="-120"/>
              </a:rPr>
              <a:t>API</a:t>
            </a:r>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 (Application Programming Interface) es una interfaz que permite que diferentes aplicaciones intercambien información siguiendo reglas definidas.</a:t>
            </a:r>
            <a:endParaRPr lang="en-US" sz="1100" dirty="0"/>
          </a:p>
        </p:txBody>
      </p:sp>
      <p:pic>
        <p:nvPicPr>
          <p:cNvPr id="4" name="Image 0" descr="preencoded.png">    </p:cNvPr>
          <p:cNvPicPr>
            <a:picLocks noChangeAspect="1"/>
          </p:cNvPicPr>
          <p:nvPr/>
        </p:nvPicPr>
        <p:blipFill>
          <a:blip r:embed="rId1"/>
          <a:stretch>
            <a:fillRect/>
          </a:stretch>
        </p:blipFill>
        <p:spPr>
          <a:xfrm>
            <a:off x="4065188" y="2108299"/>
            <a:ext cx="4061219" cy="2219226"/>
          </a:xfrm>
          <a:prstGeom prst="rect">
            <a:avLst/>
          </a:prstGeom>
        </p:spPr>
      </p:pic>
      <p:sp>
        <p:nvSpPr>
          <p:cNvPr id="5" name="Text 2"/>
          <p:cNvSpPr/>
          <p:nvPr/>
        </p:nvSpPr>
        <p:spPr>
          <a:xfrm>
            <a:off x="4600754" y="3148138"/>
            <a:ext cx="940999" cy="128030"/>
          </a:xfrm>
          <a:prstGeom prst="rect">
            <a:avLst/>
          </a:prstGeom>
          <a:noFill/>
          <a:ln/>
        </p:spPr>
        <p:txBody>
          <a:bodyPr wrap="none" lIns="0" tIns="0" rIns="0" bIns="0" rtlCol="0" anchor="t"/>
          <a:lstStyle/>
          <a:p>
            <a:pPr algn="ctr" indent="0" marL="0">
              <a:lnSpc>
                <a:spcPct val="104000"/>
              </a:lnSpc>
              <a:buNone/>
            </a:pPr>
            <a:r>
              <a:rPr lang="en-US" sz="800" spc="-8" kern="0" dirty="0">
                <a:solidFill>
                  <a:srgbClr val="FFFFFF"/>
                </a:solidFill>
                <a:latin typeface="Alexandria Medium" pitchFamily="34" charset="0"/>
                <a:ea typeface="Alexandria Medium" pitchFamily="34" charset="-122"/>
                <a:cs typeface="Alexandria Medium" pitchFamily="34" charset="-120"/>
              </a:rPr>
              <a:t>App A solicita</a:t>
            </a:r>
            <a:endParaRPr lang="en-US" sz="800" dirty="0"/>
          </a:p>
        </p:txBody>
      </p:sp>
      <p:sp>
        <p:nvSpPr>
          <p:cNvPr id="6" name="Text 3"/>
          <p:cNvSpPr/>
          <p:nvPr/>
        </p:nvSpPr>
        <p:spPr>
          <a:xfrm>
            <a:off x="6976938" y="3133699"/>
            <a:ext cx="941000" cy="128030"/>
          </a:xfrm>
          <a:prstGeom prst="rect">
            <a:avLst/>
          </a:prstGeom>
          <a:noFill/>
          <a:ln/>
        </p:spPr>
        <p:txBody>
          <a:bodyPr wrap="none" lIns="0" tIns="0" rIns="0" bIns="0" rtlCol="0" anchor="t"/>
          <a:lstStyle/>
          <a:p>
            <a:pPr algn="ctr" indent="0" marL="0">
              <a:lnSpc>
                <a:spcPct val="104000"/>
              </a:lnSpc>
              <a:buNone/>
            </a:pPr>
            <a:r>
              <a:rPr lang="en-US" sz="800" spc="-8" kern="0" dirty="0">
                <a:solidFill>
                  <a:srgbClr val="FFFFFF"/>
                </a:solidFill>
                <a:latin typeface="Alexandria Medium" pitchFamily="34" charset="0"/>
                <a:ea typeface="Alexandria Medium" pitchFamily="34" charset="-122"/>
                <a:cs typeface="Alexandria Medium" pitchFamily="34" charset="-120"/>
              </a:rPr>
              <a:t>API procesa</a:t>
            </a:r>
            <a:endParaRPr lang="en-US" sz="800" dirty="0"/>
          </a:p>
        </p:txBody>
      </p:sp>
      <p:sp>
        <p:nvSpPr>
          <p:cNvPr id="7" name="Text 4"/>
          <p:cNvSpPr/>
          <p:nvPr/>
        </p:nvSpPr>
        <p:spPr>
          <a:xfrm>
            <a:off x="5816158" y="3138323"/>
            <a:ext cx="941000" cy="128030"/>
          </a:xfrm>
          <a:prstGeom prst="rect">
            <a:avLst/>
          </a:prstGeom>
          <a:noFill/>
          <a:ln/>
        </p:spPr>
        <p:txBody>
          <a:bodyPr wrap="none" lIns="0" tIns="0" rIns="0" bIns="0" rtlCol="0" anchor="t"/>
          <a:lstStyle/>
          <a:p>
            <a:pPr algn="ctr" indent="0" marL="0">
              <a:lnSpc>
                <a:spcPct val="104000"/>
              </a:lnSpc>
              <a:buNone/>
            </a:pPr>
            <a:r>
              <a:rPr lang="en-US" sz="800" spc="-8" kern="0" dirty="0">
                <a:solidFill>
                  <a:srgbClr val="FFFFFF"/>
                </a:solidFill>
                <a:latin typeface="Alexandria Medium" pitchFamily="34" charset="0"/>
                <a:ea typeface="Alexandria Medium" pitchFamily="34" charset="-122"/>
                <a:cs typeface="Alexandria Medium" pitchFamily="34" charset="-120"/>
              </a:rPr>
              <a:t>App B recibe</a:t>
            </a:r>
            <a:endParaRPr lang="en-US" sz="800" dirty="0"/>
          </a:p>
        </p:txBody>
      </p:sp>
      <p:sp>
        <p:nvSpPr>
          <p:cNvPr id="8" name="Shape 5"/>
          <p:cNvSpPr/>
          <p:nvPr/>
        </p:nvSpPr>
        <p:spPr>
          <a:xfrm>
            <a:off x="661475" y="4461867"/>
            <a:ext cx="2078184" cy="1220589"/>
          </a:xfrm>
          <a:prstGeom prst="roundRect">
            <a:avLst>
              <a:gd name="adj" fmla="val 17276"/>
            </a:avLst>
          </a:prstGeom>
          <a:solidFill>
            <a:srgbClr val="3F2077"/>
          </a:solidFill>
          <a:ln w="6350">
            <a:solidFill>
              <a:srgbClr val="4B3082"/>
            </a:solidFill>
            <a:prstDash val="solid"/>
          </a:ln>
        </p:spPr>
      </p:sp>
      <p:sp>
        <p:nvSpPr>
          <p:cNvPr id="9" name="Text 6"/>
          <p:cNvSpPr/>
          <p:nvPr/>
        </p:nvSpPr>
        <p:spPr>
          <a:xfrm>
            <a:off x="808315" y="4608711"/>
            <a:ext cx="1784504"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Meteorología</a:t>
            </a:r>
            <a:endParaRPr lang="en-US" sz="1350" dirty="0"/>
          </a:p>
        </p:txBody>
      </p:sp>
      <p:sp>
        <p:nvSpPr>
          <p:cNvPr id="10" name="Text 7"/>
          <p:cNvSpPr/>
          <p:nvPr/>
        </p:nvSpPr>
        <p:spPr>
          <a:xfrm>
            <a:off x="808315" y="4899918"/>
            <a:ext cx="1784504" cy="41612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Temperatura, precipitación, viento por ubicación.</a:t>
            </a:r>
            <a:endParaRPr lang="en-US" sz="1100" dirty="0"/>
          </a:p>
        </p:txBody>
      </p:sp>
      <p:sp>
        <p:nvSpPr>
          <p:cNvPr id="11" name="Shape 8"/>
          <p:cNvSpPr/>
          <p:nvPr/>
        </p:nvSpPr>
        <p:spPr>
          <a:xfrm>
            <a:off x="2859115" y="4461867"/>
            <a:ext cx="2078184" cy="1220589"/>
          </a:xfrm>
          <a:prstGeom prst="roundRect">
            <a:avLst>
              <a:gd name="adj" fmla="val 17276"/>
            </a:avLst>
          </a:prstGeom>
          <a:solidFill>
            <a:srgbClr val="3F2077"/>
          </a:solidFill>
          <a:ln w="6350">
            <a:solidFill>
              <a:srgbClr val="4B3082"/>
            </a:solidFill>
            <a:prstDash val="solid"/>
          </a:ln>
        </p:spPr>
      </p:sp>
      <p:sp>
        <p:nvSpPr>
          <p:cNvPr id="12" name="Text 9"/>
          <p:cNvSpPr/>
          <p:nvPr/>
        </p:nvSpPr>
        <p:spPr>
          <a:xfrm>
            <a:off x="3005955" y="4608711"/>
            <a:ext cx="1784504"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Transporte y mapas</a:t>
            </a:r>
            <a:endParaRPr lang="en-US" sz="1350" dirty="0"/>
          </a:p>
        </p:txBody>
      </p:sp>
      <p:sp>
        <p:nvSpPr>
          <p:cNvPr id="13" name="Text 10"/>
          <p:cNvSpPr/>
          <p:nvPr/>
        </p:nvSpPr>
        <p:spPr>
          <a:xfrm>
            <a:off x="3005955" y="4899918"/>
            <a:ext cx="1784504" cy="624185"/>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Rutas, tráfico, localizaciones en tiempo real.</a:t>
            </a:r>
            <a:endParaRPr lang="en-US" sz="1100" dirty="0"/>
          </a:p>
        </p:txBody>
      </p:sp>
      <p:sp>
        <p:nvSpPr>
          <p:cNvPr id="14" name="Shape 11"/>
          <p:cNvSpPr/>
          <p:nvPr/>
        </p:nvSpPr>
        <p:spPr>
          <a:xfrm>
            <a:off x="5056756" y="4461867"/>
            <a:ext cx="2078184" cy="1220589"/>
          </a:xfrm>
          <a:prstGeom prst="roundRect">
            <a:avLst>
              <a:gd name="adj" fmla="val 17276"/>
            </a:avLst>
          </a:prstGeom>
          <a:solidFill>
            <a:srgbClr val="3F2077"/>
          </a:solidFill>
          <a:ln w="6350">
            <a:solidFill>
              <a:srgbClr val="4B3082"/>
            </a:solidFill>
            <a:prstDash val="solid"/>
          </a:ln>
        </p:spPr>
      </p:sp>
      <p:sp>
        <p:nvSpPr>
          <p:cNvPr id="15" name="Text 12"/>
          <p:cNvSpPr/>
          <p:nvPr/>
        </p:nvSpPr>
        <p:spPr>
          <a:xfrm>
            <a:off x="5203596" y="4608711"/>
            <a:ext cx="1784504" cy="439142"/>
          </a:xfrm>
          <a:prstGeom prst="rect">
            <a:avLst/>
          </a:prstGeom>
          <a:noFill/>
          <a:ln/>
        </p:spPr>
        <p:txBody>
          <a:bodyPr wrap="square" lIns="0" tIns="0" rIns="0" bIns="0" rtlCol="0" anchor="t">
            <a:normAutofit/>
          </a:bodyPr>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Comercio electrónico</a:t>
            </a:r>
            <a:endParaRPr lang="en-US" sz="1350" dirty="0"/>
          </a:p>
        </p:txBody>
      </p:sp>
      <p:sp>
        <p:nvSpPr>
          <p:cNvPr id="16" name="Text 13"/>
          <p:cNvSpPr/>
          <p:nvPr/>
        </p:nvSpPr>
        <p:spPr>
          <a:xfrm>
            <a:off x="5203596" y="5119489"/>
            <a:ext cx="1784504" cy="41612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Catálogos, precios, disponibilidad de stock.</a:t>
            </a:r>
            <a:endParaRPr lang="en-US" sz="1100" dirty="0"/>
          </a:p>
        </p:txBody>
      </p:sp>
      <p:sp>
        <p:nvSpPr>
          <p:cNvPr id="17" name="Shape 14"/>
          <p:cNvSpPr/>
          <p:nvPr/>
        </p:nvSpPr>
        <p:spPr>
          <a:xfrm>
            <a:off x="7254396" y="4461867"/>
            <a:ext cx="2078184" cy="1220589"/>
          </a:xfrm>
          <a:prstGeom prst="roundRect">
            <a:avLst>
              <a:gd name="adj" fmla="val 17276"/>
            </a:avLst>
          </a:prstGeom>
          <a:solidFill>
            <a:srgbClr val="3F2077"/>
          </a:solidFill>
          <a:ln w="6350">
            <a:solidFill>
              <a:srgbClr val="4B3082"/>
            </a:solidFill>
            <a:prstDash val="solid"/>
          </a:ln>
        </p:spPr>
      </p:sp>
      <p:sp>
        <p:nvSpPr>
          <p:cNvPr id="18" name="Text 15"/>
          <p:cNvSpPr/>
          <p:nvPr/>
        </p:nvSpPr>
        <p:spPr>
          <a:xfrm>
            <a:off x="7401236" y="4608711"/>
            <a:ext cx="1784504"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Datos públicos</a:t>
            </a:r>
            <a:endParaRPr lang="en-US" sz="1350" dirty="0"/>
          </a:p>
        </p:txBody>
      </p:sp>
      <p:sp>
        <p:nvSpPr>
          <p:cNvPr id="19" name="Text 16"/>
          <p:cNvSpPr/>
          <p:nvPr/>
        </p:nvSpPr>
        <p:spPr>
          <a:xfrm>
            <a:off x="7401236" y="4899918"/>
            <a:ext cx="1784504" cy="41612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INE, AEMET, Eurostat, portales open data.</a:t>
            </a:r>
            <a:endParaRPr lang="en-US" sz="1100" dirty="0"/>
          </a:p>
        </p:txBody>
      </p:sp>
      <p:sp>
        <p:nvSpPr>
          <p:cNvPr id="20" name="Shape 17"/>
          <p:cNvSpPr/>
          <p:nvPr/>
        </p:nvSpPr>
        <p:spPr>
          <a:xfrm>
            <a:off x="9452036" y="4461867"/>
            <a:ext cx="2078184" cy="1220589"/>
          </a:xfrm>
          <a:prstGeom prst="roundRect">
            <a:avLst>
              <a:gd name="adj" fmla="val 17276"/>
            </a:avLst>
          </a:prstGeom>
          <a:solidFill>
            <a:srgbClr val="3F2077"/>
          </a:solidFill>
          <a:ln w="6350">
            <a:solidFill>
              <a:srgbClr val="4B3082"/>
            </a:solidFill>
            <a:prstDash val="solid"/>
          </a:ln>
        </p:spPr>
      </p:sp>
      <p:sp>
        <p:nvSpPr>
          <p:cNvPr id="21" name="Text 18"/>
          <p:cNvSpPr/>
          <p:nvPr/>
        </p:nvSpPr>
        <p:spPr>
          <a:xfrm>
            <a:off x="9598876" y="4608711"/>
            <a:ext cx="1784504"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Servicios financieros</a:t>
            </a:r>
            <a:endParaRPr lang="en-US" sz="1350" dirty="0"/>
          </a:p>
        </p:txBody>
      </p:sp>
      <p:sp>
        <p:nvSpPr>
          <p:cNvPr id="22" name="Text 19"/>
          <p:cNvSpPr/>
          <p:nvPr/>
        </p:nvSpPr>
        <p:spPr>
          <a:xfrm>
            <a:off x="9598876" y="4899918"/>
            <a:ext cx="1784504" cy="624185"/>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Tipos de cambio, cotizaciones, transacciones.</a:t>
            </a:r>
            <a:endParaRPr lang="en-US" sz="1100" dirty="0"/>
          </a:p>
        </p:txBody>
      </p:sp>
      <p:pic>
        <p:nvPicPr>
          <p:cNvPr id="23" name="Image 1" descr="preencoded.png">    </p:cNvPr>
          <p:cNvPicPr>
            <a:picLocks noChangeAspect="1"/>
          </p:cNvPicPr>
          <p:nvPr/>
        </p:nvPicPr>
        <p:blipFill>
          <a:blip r:embed="rId2"/>
          <a:stretch>
            <a:fillRect/>
          </a:stretch>
        </p:blipFill>
        <p:spPr>
          <a:xfrm>
            <a:off x="198433" y="203597"/>
            <a:ext cx="676357" cy="568623"/>
          </a:xfrm>
          <a:prstGeom prst="rect">
            <a:avLst/>
          </a:prstGeom>
        </p:spPr>
      </p:pic>
      <p:pic>
        <p:nvPicPr>
          <p:cNvPr id="24" name="Image 2" descr="preencoded.png">    </p:cNvPr>
          <p:cNvPicPr>
            <a:picLocks noChangeAspect="1"/>
          </p:cNvPicPr>
          <p:nvPr/>
        </p:nvPicPr>
        <p:blipFill>
          <a:blip r:embed="rId3"/>
          <a:stretch>
            <a:fillRect/>
          </a:stretch>
        </p:blipFill>
        <p:spPr>
          <a:xfrm>
            <a:off x="11386357" y="268784"/>
            <a:ext cx="606906" cy="438249"/>
          </a:xfrm>
          <a:prstGeom prst="rect">
            <a:avLst/>
          </a:prstGeom>
        </p:spPr>
      </p:pic>
      <p:sp>
        <p:nvSpPr>
          <p:cNvPr id="25" name="Text 20"/>
          <p:cNvSpPr/>
          <p:nvPr/>
        </p:nvSpPr>
        <p:spPr>
          <a:xfrm>
            <a:off x="10844338" y="6300589"/>
            <a:ext cx="1148924"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1097558"/>
            <a:ext cx="10868745" cy="330696"/>
          </a:xfrm>
          <a:prstGeom prst="rect">
            <a:avLst/>
          </a:prstGeom>
          <a:noFill/>
          <a:ln/>
        </p:spPr>
        <p:txBody>
          <a:bodyPr wrap="none" lIns="0" tIns="0" rIns="0" bIns="0" rtlCol="0" anchor="t"/>
          <a:lstStyle/>
          <a:p>
            <a:pPr algn="l" indent="0" marL="0">
              <a:lnSpc>
                <a:spcPct val="104000"/>
              </a:lnSpc>
              <a:buNone/>
            </a:pPr>
            <a:r>
              <a:rPr lang="en-US" sz="2050" spc="-21" kern="0" dirty="0">
                <a:solidFill>
                  <a:srgbClr val="FFFFFF"/>
                </a:solidFill>
                <a:latin typeface="Alexandria Medium" pitchFamily="34" charset="0"/>
                <a:ea typeface="Alexandria Medium" pitchFamily="34" charset="-122"/>
                <a:cs typeface="Alexandria Medium" pitchFamily="34" charset="-120"/>
              </a:rPr>
              <a:t>¿Qué es una API REST?</a:t>
            </a:r>
            <a:endParaRPr lang="en-US" sz="2050" dirty="0"/>
          </a:p>
        </p:txBody>
      </p:sp>
      <p:sp>
        <p:nvSpPr>
          <p:cNvPr id="3" name="Text 1"/>
          <p:cNvSpPr/>
          <p:nvPr/>
        </p:nvSpPr>
        <p:spPr>
          <a:xfrm>
            <a:off x="661475" y="1639888"/>
            <a:ext cx="10868745" cy="3810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FFFFFF"/>
                </a:solidFill>
                <a:latin typeface="Manrope" pitchFamily="34" charset="0"/>
                <a:ea typeface="Manrope" pitchFamily="34" charset="-122"/>
                <a:cs typeface="Manrope" pitchFamily="34" charset="-120"/>
              </a:rPr>
              <a:t>REST (Representational State Transfer) es el estilo arquitectónico más extendido en APIs web. Se basa en </a:t>
            </a:r>
            <a:pPr algn="l" indent="0" marL="0">
              <a:lnSpc>
                <a:spcPct val="120000"/>
              </a:lnSpc>
              <a:buNone/>
            </a:pPr>
            <a:r>
              <a:rPr lang="en-US" sz="1000" b="1" dirty="0">
                <a:solidFill>
                  <a:srgbClr val="FFFFFF"/>
                </a:solidFill>
                <a:latin typeface="Manrope Bold" pitchFamily="34" charset="0"/>
                <a:ea typeface="Manrope Bold" pitchFamily="34" charset="-122"/>
                <a:cs typeface="Manrope Bold" pitchFamily="34" charset="-120"/>
              </a:rPr>
              <a:t>peticiones HTTP</a:t>
            </a:r>
            <a:pPr algn="l" indent="0" marL="0">
              <a:lnSpc>
                <a:spcPct val="120000"/>
              </a:lnSpc>
              <a:buNone/>
            </a:pPr>
            <a:r>
              <a:rPr lang="en-US" sz="1000" dirty="0">
                <a:solidFill>
                  <a:srgbClr val="FFFFFF"/>
                </a:solidFill>
                <a:latin typeface="Manrope" pitchFamily="34" charset="0"/>
                <a:ea typeface="Manrope" pitchFamily="34" charset="-122"/>
                <a:cs typeface="Manrope" pitchFamily="34" charset="-120"/>
              </a:rPr>
              <a:t> a </a:t>
            </a:r>
            <a:pPr algn="l" indent="0" marL="0">
              <a:lnSpc>
                <a:spcPct val="120000"/>
              </a:lnSpc>
              <a:buNone/>
            </a:pPr>
            <a:r>
              <a:rPr lang="en-US" sz="1000" b="1" dirty="0">
                <a:solidFill>
                  <a:srgbClr val="FFFFFF"/>
                </a:solidFill>
                <a:latin typeface="Manrope Bold" pitchFamily="34" charset="0"/>
                <a:ea typeface="Manrope Bold" pitchFamily="34" charset="-122"/>
                <a:cs typeface="Manrope Bold" pitchFamily="34" charset="-120"/>
              </a:rPr>
              <a:t>endpoints</a:t>
            </a:r>
            <a:pPr algn="l" indent="0" marL="0">
              <a:lnSpc>
                <a:spcPct val="120000"/>
              </a:lnSpc>
              <a:buNone/>
            </a:pPr>
            <a:r>
              <a:rPr lang="en-US" sz="1000" dirty="0">
                <a:solidFill>
                  <a:srgbClr val="FFFFFF"/>
                </a:solidFill>
                <a:latin typeface="Manrope" pitchFamily="34" charset="0"/>
                <a:ea typeface="Manrope" pitchFamily="34" charset="-122"/>
                <a:cs typeface="Manrope" pitchFamily="34" charset="-120"/>
              </a:rPr>
              <a:t> que devuelven datos, habitualmente en </a:t>
            </a:r>
            <a:pPr algn="l" indent="0" marL="0">
              <a:lnSpc>
                <a:spcPct val="120000"/>
              </a:lnSpc>
              <a:buNone/>
            </a:pPr>
            <a:r>
              <a:rPr lang="en-US" sz="1000" b="1" dirty="0">
                <a:solidFill>
                  <a:srgbClr val="FFFFFF"/>
                </a:solidFill>
                <a:latin typeface="Manrope Bold" pitchFamily="34" charset="0"/>
                <a:ea typeface="Manrope Bold" pitchFamily="34" charset="-122"/>
                <a:cs typeface="Manrope Bold" pitchFamily="34" charset="-120"/>
              </a:rPr>
              <a:t>JSON</a:t>
            </a:r>
            <a:pPr algn="l" indent="0" marL="0">
              <a:lnSpc>
                <a:spcPct val="120000"/>
              </a:lnSpc>
              <a:buNone/>
            </a:pPr>
            <a:r>
              <a:rPr lang="en-US" sz="1000" dirty="0">
                <a:solidFill>
                  <a:srgbClr val="FFFFFF"/>
                </a:solidFill>
                <a:latin typeface="Manrope" pitchFamily="34" charset="0"/>
                <a:ea typeface="Manrope" pitchFamily="34" charset="-122"/>
                <a:cs typeface="Manrope" pitchFamily="34" charset="-120"/>
              </a:rPr>
              <a:t>.</a:t>
            </a:r>
            <a:endParaRPr lang="en-US" sz="1000" dirty="0"/>
          </a:p>
        </p:txBody>
      </p:sp>
      <p:sp>
        <p:nvSpPr>
          <p:cNvPr id="4" name="Text 2"/>
          <p:cNvSpPr/>
          <p:nvPr/>
        </p:nvSpPr>
        <p:spPr>
          <a:xfrm>
            <a:off x="661475" y="2245717"/>
            <a:ext cx="5273047" cy="206673"/>
          </a:xfrm>
          <a:prstGeom prst="rect">
            <a:avLst/>
          </a:prstGeom>
          <a:noFill/>
          <a:ln/>
        </p:spPr>
        <p:txBody>
          <a:bodyPr wrap="none" lIns="0" tIns="0" rIns="0" bIns="0" rtlCol="0" anchor="t"/>
          <a:lstStyle/>
          <a:p>
            <a:pPr algn="l" indent="0" marL="0">
              <a:lnSpc>
                <a:spcPct val="104000"/>
              </a:lnSpc>
              <a:buNone/>
            </a:pPr>
            <a:r>
              <a:rPr lang="en-US" sz="1300" spc="-13" kern="0" dirty="0">
                <a:solidFill>
                  <a:srgbClr val="FFFFFF"/>
                </a:solidFill>
                <a:latin typeface="Alexandria Medium" pitchFamily="34" charset="0"/>
                <a:ea typeface="Alexandria Medium" pitchFamily="34" charset="-122"/>
                <a:cs typeface="Alexandria Medium" pitchFamily="34" charset="-120"/>
              </a:rPr>
              <a:t>Conceptos clave</a:t>
            </a:r>
            <a:endParaRPr lang="en-US" sz="1300" dirty="0"/>
          </a:p>
        </p:txBody>
      </p:sp>
      <p:sp>
        <p:nvSpPr>
          <p:cNvPr id="5" name="Shape 3"/>
          <p:cNvSpPr/>
          <p:nvPr/>
        </p:nvSpPr>
        <p:spPr>
          <a:xfrm>
            <a:off x="661475" y="2571452"/>
            <a:ext cx="2583592" cy="970657"/>
          </a:xfrm>
          <a:prstGeom prst="roundRect">
            <a:avLst>
              <a:gd name="adj" fmla="val 20447"/>
            </a:avLst>
          </a:prstGeom>
          <a:solidFill>
            <a:srgbClr val="3F2077"/>
          </a:solidFill>
          <a:ln w="6350">
            <a:solidFill>
              <a:srgbClr val="4B3082"/>
            </a:solidFill>
            <a:prstDash val="solid"/>
          </a:ln>
        </p:spPr>
      </p:sp>
      <p:sp>
        <p:nvSpPr>
          <p:cNvPr id="6" name="Text 4"/>
          <p:cNvSpPr/>
          <p:nvPr/>
        </p:nvSpPr>
        <p:spPr>
          <a:xfrm>
            <a:off x="800080" y="2710061"/>
            <a:ext cx="2306381" cy="206673"/>
          </a:xfrm>
          <a:prstGeom prst="rect">
            <a:avLst/>
          </a:prstGeom>
          <a:noFill/>
          <a:ln/>
        </p:spPr>
        <p:txBody>
          <a:bodyPr wrap="none" lIns="0" tIns="0" rIns="0" bIns="0" rtlCol="0" anchor="t"/>
          <a:lstStyle/>
          <a:p>
            <a:pPr algn="l" indent="0" marL="0">
              <a:lnSpc>
                <a:spcPct val="104000"/>
              </a:lnSpc>
              <a:buNone/>
            </a:pPr>
            <a:r>
              <a:rPr lang="en-US" sz="1300" spc="-13" kern="0" dirty="0">
                <a:solidFill>
                  <a:srgbClr val="FFFFFF"/>
                </a:solidFill>
                <a:latin typeface="Alexandria Medium" pitchFamily="34" charset="0"/>
                <a:ea typeface="Alexandria Medium" pitchFamily="34" charset="-122"/>
                <a:cs typeface="Alexandria Medium" pitchFamily="34" charset="-120"/>
              </a:rPr>
              <a:t>Endpoint</a:t>
            </a:r>
            <a:endParaRPr lang="en-US" sz="1300" dirty="0"/>
          </a:p>
        </p:txBody>
      </p:sp>
      <p:sp>
        <p:nvSpPr>
          <p:cNvPr id="7" name="Text 5"/>
          <p:cNvSpPr/>
          <p:nvPr/>
        </p:nvSpPr>
        <p:spPr>
          <a:xfrm>
            <a:off x="800080" y="3022501"/>
            <a:ext cx="2306381" cy="3810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FFFFFF"/>
                </a:solidFill>
                <a:latin typeface="Manrope" pitchFamily="34" charset="0"/>
                <a:ea typeface="Manrope" pitchFamily="34" charset="-122"/>
                <a:cs typeface="Manrope" pitchFamily="34" charset="-120"/>
              </a:rPr>
              <a:t>URL que identifica un recurso. Ejemplo: </a:t>
            </a:r>
            <a:pPr algn="l" indent="0" marL="0">
              <a:lnSpc>
                <a:spcPct val="120000"/>
              </a:lnSpc>
              <a:buNone/>
            </a:pPr>
            <a:r>
              <a:rPr lang="en-US" sz="1000" dirty="0">
                <a:solidFill>
                  <a:srgbClr val="FFFFFF"/>
                </a:solidFill>
                <a:highlight>
                  <a:srgbClr val="583592"/>
                </a:highlight>
                <a:latin typeface="Consolas" pitchFamily="34" charset="0"/>
                <a:ea typeface="Consolas" pitchFamily="34" charset="-122"/>
                <a:cs typeface="Consolas" pitchFamily="34" charset="-120"/>
              </a:rPr>
              <a:t>/products</a:t>
            </a:r>
            <a:pPr algn="l" indent="0" marL="0">
              <a:lnSpc>
                <a:spcPct val="120000"/>
              </a:lnSpc>
              <a:buNone/>
            </a:pPr>
            <a:r>
              <a:rPr lang="en-US" sz="1000" dirty="0">
                <a:solidFill>
                  <a:srgbClr val="FFFFFF"/>
                </a:solidFill>
                <a:latin typeface="Manrope" pitchFamily="34" charset="0"/>
                <a:ea typeface="Manrope" pitchFamily="34" charset="-122"/>
                <a:cs typeface="Manrope" pitchFamily="34" charset="-120"/>
              </a:rPr>
              <a:t>, </a:t>
            </a:r>
            <a:pPr algn="l" indent="0" marL="0">
              <a:lnSpc>
                <a:spcPct val="120000"/>
              </a:lnSpc>
              <a:buNone/>
            </a:pPr>
            <a:r>
              <a:rPr lang="en-US" sz="1000" dirty="0">
                <a:solidFill>
                  <a:srgbClr val="FFFFFF"/>
                </a:solidFill>
                <a:highlight>
                  <a:srgbClr val="583592"/>
                </a:highlight>
                <a:latin typeface="Consolas" pitchFamily="34" charset="0"/>
                <a:ea typeface="Consolas" pitchFamily="34" charset="-122"/>
                <a:cs typeface="Consolas" pitchFamily="34" charset="-120"/>
              </a:rPr>
              <a:t>/customers/C001</a:t>
            </a:r>
            <a:endParaRPr lang="en-US" sz="1000" dirty="0"/>
          </a:p>
        </p:txBody>
      </p:sp>
      <p:sp>
        <p:nvSpPr>
          <p:cNvPr id="8" name="Shape 6"/>
          <p:cNvSpPr/>
          <p:nvPr/>
        </p:nvSpPr>
        <p:spPr>
          <a:xfrm>
            <a:off x="3350831" y="2571452"/>
            <a:ext cx="2583691" cy="970657"/>
          </a:xfrm>
          <a:prstGeom prst="roundRect">
            <a:avLst>
              <a:gd name="adj" fmla="val 20447"/>
            </a:avLst>
          </a:prstGeom>
          <a:solidFill>
            <a:srgbClr val="3F2077"/>
          </a:solidFill>
          <a:ln w="6350">
            <a:solidFill>
              <a:srgbClr val="4B3082"/>
            </a:solidFill>
            <a:prstDash val="solid"/>
          </a:ln>
        </p:spPr>
      </p:sp>
      <p:sp>
        <p:nvSpPr>
          <p:cNvPr id="9" name="Text 7"/>
          <p:cNvSpPr/>
          <p:nvPr/>
        </p:nvSpPr>
        <p:spPr>
          <a:xfrm>
            <a:off x="3489436" y="2710061"/>
            <a:ext cx="2306481" cy="206673"/>
          </a:xfrm>
          <a:prstGeom prst="rect">
            <a:avLst/>
          </a:prstGeom>
          <a:noFill/>
          <a:ln/>
        </p:spPr>
        <p:txBody>
          <a:bodyPr wrap="none" lIns="0" tIns="0" rIns="0" bIns="0" rtlCol="0" anchor="t"/>
          <a:lstStyle/>
          <a:p>
            <a:pPr algn="l" indent="0" marL="0">
              <a:lnSpc>
                <a:spcPct val="104000"/>
              </a:lnSpc>
              <a:buNone/>
            </a:pPr>
            <a:r>
              <a:rPr lang="en-US" sz="1300" spc="-13" kern="0" dirty="0">
                <a:solidFill>
                  <a:srgbClr val="FFFFFF"/>
                </a:solidFill>
                <a:latin typeface="Alexandria Medium" pitchFamily="34" charset="0"/>
                <a:ea typeface="Alexandria Medium" pitchFamily="34" charset="-122"/>
                <a:cs typeface="Alexandria Medium" pitchFamily="34" charset="-120"/>
              </a:rPr>
              <a:t>Request</a:t>
            </a:r>
            <a:endParaRPr lang="en-US" sz="1300" dirty="0"/>
          </a:p>
        </p:txBody>
      </p:sp>
      <p:sp>
        <p:nvSpPr>
          <p:cNvPr id="10" name="Text 8"/>
          <p:cNvSpPr/>
          <p:nvPr/>
        </p:nvSpPr>
        <p:spPr>
          <a:xfrm>
            <a:off x="3489436" y="3022501"/>
            <a:ext cx="2306481" cy="3810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FFFFFF"/>
                </a:solidFill>
                <a:latin typeface="Manrope" pitchFamily="34" charset="0"/>
                <a:ea typeface="Manrope" pitchFamily="34" charset="-122"/>
                <a:cs typeface="Manrope" pitchFamily="34" charset="-120"/>
              </a:rPr>
              <a:t>Petición que el cliente envía al servidor especificando qué quiere.</a:t>
            </a:r>
            <a:endParaRPr lang="en-US" sz="1000" dirty="0"/>
          </a:p>
        </p:txBody>
      </p:sp>
      <p:sp>
        <p:nvSpPr>
          <p:cNvPr id="11" name="Shape 9"/>
          <p:cNvSpPr/>
          <p:nvPr/>
        </p:nvSpPr>
        <p:spPr>
          <a:xfrm>
            <a:off x="661475" y="3647877"/>
            <a:ext cx="5273047" cy="780157"/>
          </a:xfrm>
          <a:prstGeom prst="roundRect">
            <a:avLst>
              <a:gd name="adj" fmla="val 25440"/>
            </a:avLst>
          </a:prstGeom>
          <a:solidFill>
            <a:srgbClr val="3F2077"/>
          </a:solidFill>
          <a:ln w="6350">
            <a:solidFill>
              <a:srgbClr val="4B3082"/>
            </a:solidFill>
            <a:prstDash val="solid"/>
          </a:ln>
        </p:spPr>
      </p:sp>
      <p:sp>
        <p:nvSpPr>
          <p:cNvPr id="12" name="Text 10"/>
          <p:cNvSpPr/>
          <p:nvPr/>
        </p:nvSpPr>
        <p:spPr>
          <a:xfrm>
            <a:off x="800080" y="3786485"/>
            <a:ext cx="4995837" cy="206673"/>
          </a:xfrm>
          <a:prstGeom prst="rect">
            <a:avLst/>
          </a:prstGeom>
          <a:noFill/>
          <a:ln/>
        </p:spPr>
        <p:txBody>
          <a:bodyPr wrap="none" lIns="0" tIns="0" rIns="0" bIns="0" rtlCol="0" anchor="t"/>
          <a:lstStyle/>
          <a:p>
            <a:pPr algn="l" indent="0" marL="0">
              <a:lnSpc>
                <a:spcPct val="104000"/>
              </a:lnSpc>
              <a:buNone/>
            </a:pPr>
            <a:r>
              <a:rPr lang="en-US" sz="1300" spc="-13" kern="0" dirty="0">
                <a:solidFill>
                  <a:srgbClr val="FFFFFF"/>
                </a:solidFill>
                <a:latin typeface="Alexandria Medium" pitchFamily="34" charset="0"/>
                <a:ea typeface="Alexandria Medium" pitchFamily="34" charset="-122"/>
                <a:cs typeface="Alexandria Medium" pitchFamily="34" charset="-120"/>
              </a:rPr>
              <a:t>Response</a:t>
            </a:r>
            <a:endParaRPr lang="en-US" sz="1300" dirty="0"/>
          </a:p>
        </p:txBody>
      </p:sp>
      <p:sp>
        <p:nvSpPr>
          <p:cNvPr id="13" name="Text 11"/>
          <p:cNvSpPr/>
          <p:nvPr/>
        </p:nvSpPr>
        <p:spPr>
          <a:xfrm>
            <a:off x="800080" y="4098925"/>
            <a:ext cx="4995837" cy="190500"/>
          </a:xfrm>
          <a:prstGeom prst="rect">
            <a:avLst/>
          </a:prstGeom>
          <a:noFill/>
          <a:ln/>
        </p:spPr>
        <p:txBody>
          <a:bodyPr wrap="none" lIns="0" tIns="0" rIns="0" bIns="0" rtlCol="0" anchor="t"/>
          <a:lstStyle/>
          <a:p>
            <a:pPr algn="l" indent="0" marL="0">
              <a:lnSpc>
                <a:spcPct val="120000"/>
              </a:lnSpc>
              <a:buNone/>
            </a:pPr>
            <a:r>
              <a:rPr lang="en-US" sz="1000" dirty="0">
                <a:solidFill>
                  <a:srgbClr val="FFFFFF"/>
                </a:solidFill>
                <a:latin typeface="Manrope" pitchFamily="34" charset="0"/>
                <a:ea typeface="Manrope" pitchFamily="34" charset="-122"/>
                <a:cs typeface="Manrope" pitchFamily="34" charset="-120"/>
              </a:rPr>
              <a:t>Respuesta del servidor: datos + código de estado HTTP.</a:t>
            </a:r>
            <a:endParaRPr lang="en-US" sz="1000" dirty="0"/>
          </a:p>
        </p:txBody>
      </p:sp>
      <p:sp>
        <p:nvSpPr>
          <p:cNvPr id="14" name="Text 12"/>
          <p:cNvSpPr/>
          <p:nvPr/>
        </p:nvSpPr>
        <p:spPr>
          <a:xfrm>
            <a:off x="6263523" y="2245717"/>
            <a:ext cx="5273047" cy="206673"/>
          </a:xfrm>
          <a:prstGeom prst="rect">
            <a:avLst/>
          </a:prstGeom>
          <a:noFill/>
          <a:ln/>
        </p:spPr>
        <p:txBody>
          <a:bodyPr wrap="none" lIns="0" tIns="0" rIns="0" bIns="0" rtlCol="0" anchor="t"/>
          <a:lstStyle/>
          <a:p>
            <a:pPr algn="l" indent="0" marL="0">
              <a:lnSpc>
                <a:spcPct val="104000"/>
              </a:lnSpc>
              <a:buNone/>
            </a:pPr>
            <a:r>
              <a:rPr lang="en-US" sz="1300" spc="-13" kern="0" dirty="0">
                <a:solidFill>
                  <a:srgbClr val="FFFFFF"/>
                </a:solidFill>
                <a:latin typeface="Alexandria Medium" pitchFamily="34" charset="0"/>
                <a:ea typeface="Alexandria Medium" pitchFamily="34" charset="-122"/>
                <a:cs typeface="Alexandria Medium" pitchFamily="34" charset="-120"/>
              </a:rPr>
              <a:t>Ejemplo conceptual</a:t>
            </a:r>
            <a:endParaRPr lang="en-US" sz="1300" dirty="0"/>
          </a:p>
        </p:txBody>
      </p:sp>
      <p:sp>
        <p:nvSpPr>
          <p:cNvPr id="15" name="Shape 13"/>
          <p:cNvSpPr/>
          <p:nvPr/>
        </p:nvSpPr>
        <p:spPr>
          <a:xfrm>
            <a:off x="6263523" y="2571452"/>
            <a:ext cx="5273047" cy="2593578"/>
          </a:xfrm>
          <a:prstGeom prst="roundRect">
            <a:avLst>
              <a:gd name="adj" fmla="val 7652"/>
            </a:avLst>
          </a:prstGeom>
          <a:solidFill>
            <a:srgbClr val="583592"/>
          </a:solidFill>
          <a:ln/>
        </p:spPr>
      </p:sp>
      <p:sp>
        <p:nvSpPr>
          <p:cNvPr id="16" name="Text 14"/>
          <p:cNvSpPr/>
          <p:nvPr/>
        </p:nvSpPr>
        <p:spPr>
          <a:xfrm>
            <a:off x="6422269" y="2703711"/>
            <a:ext cx="4955555" cy="2329061"/>
          </a:xfrm>
          <a:prstGeom prst="rect">
            <a:avLst/>
          </a:prstGeom>
          <a:noFill/>
          <a:ln/>
        </p:spPr>
        <p:txBody>
          <a:bodyPr wrap="square" lIns="0" tIns="0" rIns="0" bIns="0" rtlCol="0" anchor="t">
            <a:normAutofit/>
          </a:bodyPr>
          <a:lstStyle/>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GET /products</a:t>
            </a:r>
            <a:endParaRPr lang="en-US" sz="1000" dirty="0"/>
          </a:p>
          <a:p>
            <a:pPr algn="l" indent="0" marL="0">
              <a:lnSpc>
                <a:spcPct val="133000"/>
              </a:lnSpc>
              <a:buNone/>
            </a:pP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 Respuesta JSON:</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  { "id": "P01",</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    "nombre": "Portátil X",</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    "precio": 899 },</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  { "id": "P02",</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    "nombre": "Ratón Y",</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    "precio": 29 }</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a:t>
            </a:r>
            <a:endParaRPr lang="en-US" sz="1000" dirty="0"/>
          </a:p>
        </p:txBody>
      </p:sp>
      <p:sp>
        <p:nvSpPr>
          <p:cNvPr id="17" name="Text 15"/>
          <p:cNvSpPr/>
          <p:nvPr/>
        </p:nvSpPr>
        <p:spPr>
          <a:xfrm>
            <a:off x="6263523" y="5284093"/>
            <a:ext cx="5273047" cy="3810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FFFFFF"/>
                </a:solidFill>
                <a:latin typeface="Manrope" pitchFamily="34" charset="0"/>
                <a:ea typeface="Manrope" pitchFamily="34" charset="-122"/>
                <a:cs typeface="Manrope" pitchFamily="34" charset="-120"/>
              </a:rPr>
              <a:t>El cliente hace una petición. El servidor responde con los datos solicitados en formato JSON.</a:t>
            </a:r>
            <a:endParaRPr lang="en-US" sz="1000" dirty="0"/>
          </a:p>
        </p:txBody>
      </p:sp>
      <p:pic>
        <p:nvPicPr>
          <p:cNvPr id="18"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19"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20" name="Text 16"/>
          <p:cNvSpPr/>
          <p:nvPr/>
        </p:nvSpPr>
        <p:spPr>
          <a:xfrm>
            <a:off x="10869737" y="6300589"/>
            <a:ext cx="1123525"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61475" y="1018778"/>
            <a:ext cx="10868745" cy="406995"/>
          </a:xfrm>
          <a:prstGeom prst="rect">
            <a:avLst/>
          </a:prstGeom>
          <a:noFill/>
          <a:ln/>
        </p:spPr>
        <p:txBody>
          <a:bodyPr wrap="none" lIns="0" tIns="0" rIns="0" bIns="0" rtlCol="0" anchor="t"/>
          <a:lstStyle/>
          <a:p>
            <a:pPr algn="l" indent="0" marL="0">
              <a:lnSpc>
                <a:spcPct val="104000"/>
              </a:lnSpc>
              <a:buNone/>
            </a:pPr>
            <a:r>
              <a:rPr lang="en-US" sz="2550" spc="-26" kern="0" dirty="0">
                <a:solidFill>
                  <a:srgbClr val="FFFFFF"/>
                </a:solidFill>
                <a:latin typeface="Alexandria Medium" pitchFamily="34" charset="0"/>
                <a:ea typeface="Alexandria Medium" pitchFamily="34" charset="-122"/>
                <a:cs typeface="Alexandria Medium" pitchFamily="34" charset="-120"/>
              </a:rPr>
              <a:t>Métodos HTTP</a:t>
            </a:r>
            <a:endParaRPr lang="en-US" sz="2550" dirty="0"/>
          </a:p>
        </p:txBody>
      </p:sp>
      <p:sp>
        <p:nvSpPr>
          <p:cNvPr id="3" name="Text 1"/>
          <p:cNvSpPr/>
          <p:nvPr/>
        </p:nvSpPr>
        <p:spPr>
          <a:xfrm>
            <a:off x="661475" y="1746250"/>
            <a:ext cx="11478330" cy="258465"/>
          </a:xfrm>
          <a:prstGeom prst="rect">
            <a:avLst/>
          </a:prstGeom>
          <a:noFill/>
          <a:ln/>
        </p:spPr>
        <p:txBody>
          <a:bodyPr wrap="none" lIns="0" tIns="0" rIns="0" bIns="0" rtlCol="0" anchor="t"/>
          <a:lstStyle/>
          <a:p>
            <a:pPr algn="l" indent="0" marL="0">
              <a:lnSpc>
                <a:spcPct val="132000"/>
              </a:lnSpc>
              <a:buNone/>
            </a:pPr>
            <a:r>
              <a:rPr lang="en-US" sz="1250" dirty="0">
                <a:solidFill>
                  <a:srgbClr val="FFFFFF"/>
                </a:solidFill>
                <a:latin typeface="Manrope" pitchFamily="34" charset="0"/>
                <a:ea typeface="Manrope" pitchFamily="34" charset="-122"/>
                <a:cs typeface="Manrope" pitchFamily="34" charset="-120"/>
              </a:rPr>
              <a:t>HTTP define qué </a:t>
            </a:r>
            <a:pPr algn="l" indent="0" marL="0">
              <a:lnSpc>
                <a:spcPct val="132000"/>
              </a:lnSpc>
              <a:buNone/>
            </a:pPr>
            <a:r>
              <a:rPr lang="en-US" sz="1250" b="1" dirty="0">
                <a:solidFill>
                  <a:srgbClr val="FFFFFF"/>
                </a:solidFill>
                <a:latin typeface="Manrope Bold" pitchFamily="34" charset="0"/>
                <a:ea typeface="Manrope Bold" pitchFamily="34" charset="-122"/>
                <a:cs typeface="Manrope Bold" pitchFamily="34" charset="-120"/>
              </a:rPr>
              <a:t>tipo de operación</a:t>
            </a:r>
            <a:pPr algn="l" indent="0" marL="0">
              <a:lnSpc>
                <a:spcPct val="132000"/>
              </a:lnSpc>
              <a:buNone/>
            </a:pPr>
            <a:r>
              <a:rPr lang="en-US" sz="1250" dirty="0">
                <a:solidFill>
                  <a:srgbClr val="FFFFFF"/>
                </a:solidFill>
                <a:latin typeface="Manrope" pitchFamily="34" charset="0"/>
                <a:ea typeface="Manrope" pitchFamily="34" charset="-122"/>
                <a:cs typeface="Manrope" pitchFamily="34" charset="-120"/>
              </a:rPr>
              <a:t> queremos realizar. Para extracción de datos, nos interesa principalmente </a:t>
            </a:r>
            <a:pPr algn="l" indent="0" marL="0">
              <a:lnSpc>
                <a:spcPct val="132000"/>
              </a:lnSpc>
              <a:buNone/>
            </a:pPr>
            <a:r>
              <a:rPr lang="en-US" sz="1250" b="1" dirty="0">
                <a:solidFill>
                  <a:srgbClr val="FFFFFF"/>
                </a:solidFill>
                <a:latin typeface="Manrope Bold" pitchFamily="34" charset="0"/>
                <a:ea typeface="Manrope Bold" pitchFamily="34" charset="-122"/>
                <a:cs typeface="Manrope Bold" pitchFamily="34" charset="-120"/>
              </a:rPr>
              <a:t>GET</a:t>
            </a:r>
            <a:pPr algn="l" indent="0" marL="0">
              <a:lnSpc>
                <a:spcPct val="132000"/>
              </a:lnSpc>
              <a:buNone/>
            </a:pPr>
            <a:r>
              <a:rPr lang="en-US" sz="1250" dirty="0">
                <a:solidFill>
                  <a:srgbClr val="FFFFFF"/>
                </a:solidFill>
                <a:latin typeface="Manrope" pitchFamily="34" charset="0"/>
                <a:ea typeface="Manrope" pitchFamily="34" charset="-122"/>
                <a:cs typeface="Manrope" pitchFamily="34" charset="-120"/>
              </a:rPr>
              <a:t>.</a:t>
            </a:r>
            <a:endParaRPr lang="en-US" sz="1250" dirty="0"/>
          </a:p>
        </p:txBody>
      </p:sp>
      <p:sp>
        <p:nvSpPr>
          <p:cNvPr id="4" name="Shape 2"/>
          <p:cNvSpPr/>
          <p:nvPr/>
        </p:nvSpPr>
        <p:spPr>
          <a:xfrm>
            <a:off x="661475" y="2184995"/>
            <a:ext cx="3516026" cy="1463973"/>
          </a:xfrm>
          <a:prstGeom prst="roundRect">
            <a:avLst>
              <a:gd name="adj" fmla="val 16681"/>
            </a:avLst>
          </a:prstGeom>
          <a:solidFill>
            <a:srgbClr val="3F2077"/>
          </a:solidFill>
          <a:ln w="6350">
            <a:solidFill>
              <a:srgbClr val="4B3082"/>
            </a:solidFill>
            <a:prstDash val="solid"/>
          </a:ln>
        </p:spPr>
      </p:sp>
      <p:sp>
        <p:nvSpPr>
          <p:cNvPr id="5" name="Text 3"/>
          <p:cNvSpPr/>
          <p:nvPr/>
        </p:nvSpPr>
        <p:spPr>
          <a:xfrm>
            <a:off x="830539" y="2354064"/>
            <a:ext cx="3177897" cy="254298"/>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GET</a:t>
            </a:r>
            <a:endParaRPr lang="en-US" sz="1600" dirty="0"/>
          </a:p>
        </p:txBody>
      </p:sp>
      <p:sp>
        <p:nvSpPr>
          <p:cNvPr id="6" name="Text 4"/>
          <p:cNvSpPr/>
          <p:nvPr/>
        </p:nvSpPr>
        <p:spPr>
          <a:xfrm>
            <a:off x="830539" y="2704505"/>
            <a:ext cx="3177897" cy="775395"/>
          </a:xfrm>
          <a:prstGeom prst="rect">
            <a:avLst/>
          </a:prstGeom>
          <a:noFill/>
          <a:ln/>
        </p:spPr>
        <p:txBody>
          <a:bodyPr wrap="square" lIns="0" tIns="0" rIns="0" bIns="0" rtlCol="0" anchor="t">
            <a:normAutofit/>
          </a:bodyPr>
          <a:lstStyle/>
          <a:p>
            <a:pPr algn="l" indent="0" marL="0">
              <a:lnSpc>
                <a:spcPct val="132000"/>
              </a:lnSpc>
              <a:buNone/>
            </a:pPr>
            <a:r>
              <a:rPr lang="en-US" sz="1250" b="1" dirty="0">
                <a:solidFill>
                  <a:srgbClr val="FFFFFF"/>
                </a:solidFill>
                <a:latin typeface="Manrope Bold" pitchFamily="34" charset="0"/>
                <a:ea typeface="Manrope Bold" pitchFamily="34" charset="-122"/>
                <a:cs typeface="Manrope Bold" pitchFamily="34" charset="-120"/>
              </a:rPr>
              <a:t>Obtener datos.</a:t>
            </a:r>
            <a:pPr algn="l" indent="0" marL="0">
              <a:lnSpc>
                <a:spcPct val="132000"/>
              </a:lnSpc>
              <a:buNone/>
            </a:pPr>
            <a:r>
              <a:rPr lang="en-US" sz="1250" dirty="0">
                <a:solidFill>
                  <a:srgbClr val="FFFFFF"/>
                </a:solidFill>
                <a:latin typeface="Manrope" pitchFamily="34" charset="0"/>
                <a:ea typeface="Manrope" pitchFamily="34" charset="-122"/>
                <a:cs typeface="Manrope" pitchFamily="34" charset="-120"/>
              </a:rPr>
              <a:t> No modifica nada en el servidor. Es el método que usaremos en ingesta.</a:t>
            </a:r>
            <a:endParaRPr lang="en-US" sz="1250" dirty="0"/>
          </a:p>
        </p:txBody>
      </p:sp>
      <p:sp>
        <p:nvSpPr>
          <p:cNvPr id="7" name="Shape 5"/>
          <p:cNvSpPr/>
          <p:nvPr/>
        </p:nvSpPr>
        <p:spPr>
          <a:xfrm>
            <a:off x="4337735" y="2184995"/>
            <a:ext cx="3516125" cy="1463973"/>
          </a:xfrm>
          <a:prstGeom prst="roundRect">
            <a:avLst>
              <a:gd name="adj" fmla="val 16681"/>
            </a:avLst>
          </a:prstGeom>
          <a:solidFill>
            <a:srgbClr val="3F2077"/>
          </a:solidFill>
          <a:ln w="6350">
            <a:solidFill>
              <a:srgbClr val="4B3082"/>
            </a:solidFill>
            <a:prstDash val="solid"/>
          </a:ln>
        </p:spPr>
      </p:sp>
      <p:sp>
        <p:nvSpPr>
          <p:cNvPr id="8" name="Text 6"/>
          <p:cNvSpPr/>
          <p:nvPr/>
        </p:nvSpPr>
        <p:spPr>
          <a:xfrm>
            <a:off x="4506800" y="2354064"/>
            <a:ext cx="3177996" cy="254298"/>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POST</a:t>
            </a:r>
            <a:endParaRPr lang="en-US" sz="1600" dirty="0"/>
          </a:p>
        </p:txBody>
      </p:sp>
      <p:sp>
        <p:nvSpPr>
          <p:cNvPr id="9" name="Text 7"/>
          <p:cNvSpPr/>
          <p:nvPr/>
        </p:nvSpPr>
        <p:spPr>
          <a:xfrm>
            <a:off x="4506800" y="2704505"/>
            <a:ext cx="3177996" cy="775395"/>
          </a:xfrm>
          <a:prstGeom prst="rect">
            <a:avLst/>
          </a:prstGeom>
          <a:noFill/>
          <a:ln/>
        </p:spPr>
        <p:txBody>
          <a:bodyPr wrap="square" lIns="0" tIns="0" rIns="0" bIns="0" rtlCol="0" anchor="t">
            <a:normAutofit/>
          </a:bodyPr>
          <a:lstStyle/>
          <a:p>
            <a:pPr algn="l" indent="0" marL="0">
              <a:lnSpc>
                <a:spcPct val="132000"/>
              </a:lnSpc>
              <a:buNone/>
            </a:pPr>
            <a:r>
              <a:rPr lang="en-US" sz="1250" b="1" dirty="0">
                <a:solidFill>
                  <a:srgbClr val="FFFFFF"/>
                </a:solidFill>
                <a:latin typeface="Manrope Bold" pitchFamily="34" charset="0"/>
                <a:ea typeface="Manrope Bold" pitchFamily="34" charset="-122"/>
                <a:cs typeface="Manrope Bold" pitchFamily="34" charset="-120"/>
              </a:rPr>
              <a:t>Crear o enviar datos.</a:t>
            </a:r>
            <a:pPr algn="l" indent="0" marL="0">
              <a:lnSpc>
                <a:spcPct val="132000"/>
              </a:lnSpc>
              <a:buNone/>
            </a:pPr>
            <a:r>
              <a:rPr lang="en-US" sz="1250" dirty="0">
                <a:solidFill>
                  <a:srgbClr val="FFFFFF"/>
                </a:solidFill>
                <a:latin typeface="Manrope" pitchFamily="34" charset="0"/>
                <a:ea typeface="Manrope" pitchFamily="34" charset="-122"/>
                <a:cs typeface="Manrope" pitchFamily="34" charset="-120"/>
              </a:rPr>
              <a:t> Envía información al servidor. Puede usarse en algunos tipos de consulta.</a:t>
            </a:r>
            <a:endParaRPr lang="en-US" sz="1250" dirty="0"/>
          </a:p>
        </p:txBody>
      </p:sp>
      <p:sp>
        <p:nvSpPr>
          <p:cNvPr id="10" name="Shape 8"/>
          <p:cNvSpPr/>
          <p:nvPr/>
        </p:nvSpPr>
        <p:spPr>
          <a:xfrm>
            <a:off x="8014095" y="2184995"/>
            <a:ext cx="3516125" cy="1463973"/>
          </a:xfrm>
          <a:prstGeom prst="roundRect">
            <a:avLst>
              <a:gd name="adj" fmla="val 16681"/>
            </a:avLst>
          </a:prstGeom>
          <a:solidFill>
            <a:srgbClr val="3F2077"/>
          </a:solidFill>
          <a:ln w="6350">
            <a:solidFill>
              <a:srgbClr val="4B3082"/>
            </a:solidFill>
            <a:prstDash val="solid"/>
          </a:ln>
        </p:spPr>
      </p:sp>
      <p:sp>
        <p:nvSpPr>
          <p:cNvPr id="11" name="Text 9"/>
          <p:cNvSpPr/>
          <p:nvPr/>
        </p:nvSpPr>
        <p:spPr>
          <a:xfrm>
            <a:off x="8183159" y="2354064"/>
            <a:ext cx="3177996" cy="254298"/>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PUT / PATCH</a:t>
            </a:r>
            <a:endParaRPr lang="en-US" sz="1600" dirty="0"/>
          </a:p>
        </p:txBody>
      </p:sp>
      <p:sp>
        <p:nvSpPr>
          <p:cNvPr id="12" name="Text 10"/>
          <p:cNvSpPr/>
          <p:nvPr/>
        </p:nvSpPr>
        <p:spPr>
          <a:xfrm>
            <a:off x="8183159" y="2704505"/>
            <a:ext cx="3177996" cy="775395"/>
          </a:xfrm>
          <a:prstGeom prst="rect">
            <a:avLst/>
          </a:prstGeom>
          <a:noFill/>
          <a:ln/>
        </p:spPr>
        <p:txBody>
          <a:bodyPr wrap="square" lIns="0" tIns="0" rIns="0" bIns="0" rtlCol="0" anchor="t">
            <a:normAutofit/>
          </a:bodyPr>
          <a:lstStyle/>
          <a:p>
            <a:pPr algn="l" indent="0" marL="0">
              <a:lnSpc>
                <a:spcPct val="132000"/>
              </a:lnSpc>
              <a:buNone/>
            </a:pPr>
            <a:r>
              <a:rPr lang="en-US" sz="1250" b="1" dirty="0">
                <a:solidFill>
                  <a:srgbClr val="FFFFFF"/>
                </a:solidFill>
                <a:latin typeface="Manrope Bold" pitchFamily="34" charset="0"/>
                <a:ea typeface="Manrope Bold" pitchFamily="34" charset="-122"/>
                <a:cs typeface="Manrope Bold" pitchFamily="34" charset="-120"/>
              </a:rPr>
              <a:t>Modificar datos existentes.</a:t>
            </a:r>
            <a:pPr algn="l" indent="0" marL="0">
              <a:lnSpc>
                <a:spcPct val="132000"/>
              </a:lnSpc>
              <a:buNone/>
            </a:pPr>
            <a:r>
              <a:rPr lang="en-US" sz="1250" dirty="0">
                <a:solidFill>
                  <a:srgbClr val="FFFFFF"/>
                </a:solidFill>
                <a:latin typeface="Manrope" pitchFamily="34" charset="0"/>
                <a:ea typeface="Manrope" pitchFamily="34" charset="-122"/>
                <a:cs typeface="Manrope" pitchFamily="34" charset="-120"/>
              </a:rPr>
              <a:t> PUT reemplaza el recurso completo; PATCH solo modifica campos.</a:t>
            </a:r>
            <a:endParaRPr lang="en-US" sz="1250" dirty="0"/>
          </a:p>
        </p:txBody>
      </p:sp>
      <p:sp>
        <p:nvSpPr>
          <p:cNvPr id="13" name="Shape 11"/>
          <p:cNvSpPr/>
          <p:nvPr/>
        </p:nvSpPr>
        <p:spPr>
          <a:xfrm>
            <a:off x="661475" y="3809206"/>
            <a:ext cx="10868745" cy="947043"/>
          </a:xfrm>
          <a:prstGeom prst="roundRect">
            <a:avLst>
              <a:gd name="adj" fmla="val 25787"/>
            </a:avLst>
          </a:prstGeom>
          <a:solidFill>
            <a:srgbClr val="3F2077"/>
          </a:solidFill>
          <a:ln w="6350">
            <a:solidFill>
              <a:srgbClr val="4B3082"/>
            </a:solidFill>
            <a:prstDash val="solid"/>
          </a:ln>
        </p:spPr>
      </p:sp>
      <p:sp>
        <p:nvSpPr>
          <p:cNvPr id="14" name="Text 12"/>
          <p:cNvSpPr/>
          <p:nvPr/>
        </p:nvSpPr>
        <p:spPr>
          <a:xfrm>
            <a:off x="830539" y="3978275"/>
            <a:ext cx="10530616" cy="254298"/>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DELETE</a:t>
            </a:r>
            <a:endParaRPr lang="en-US" sz="1600" dirty="0"/>
          </a:p>
        </p:txBody>
      </p:sp>
      <p:sp>
        <p:nvSpPr>
          <p:cNvPr id="15" name="Text 13"/>
          <p:cNvSpPr/>
          <p:nvPr/>
        </p:nvSpPr>
        <p:spPr>
          <a:xfrm>
            <a:off x="830539" y="4328716"/>
            <a:ext cx="10530616" cy="258465"/>
          </a:xfrm>
          <a:prstGeom prst="rect">
            <a:avLst/>
          </a:prstGeom>
          <a:noFill/>
          <a:ln/>
        </p:spPr>
        <p:txBody>
          <a:bodyPr wrap="none" lIns="0" tIns="0" rIns="0" bIns="0" rtlCol="0" anchor="t"/>
          <a:lstStyle/>
          <a:p>
            <a:pPr algn="l" indent="0" marL="0">
              <a:lnSpc>
                <a:spcPct val="132000"/>
              </a:lnSpc>
              <a:buNone/>
            </a:pPr>
            <a:r>
              <a:rPr lang="en-US" sz="1250" b="1" dirty="0">
                <a:solidFill>
                  <a:srgbClr val="FFFFFF"/>
                </a:solidFill>
                <a:latin typeface="Manrope Bold" pitchFamily="34" charset="0"/>
                <a:ea typeface="Manrope Bold" pitchFamily="34" charset="-122"/>
                <a:cs typeface="Manrope Bold" pitchFamily="34" charset="-120"/>
              </a:rPr>
              <a:t>Eliminar un recurso.</a:t>
            </a:r>
            <a:pPr algn="l" indent="0" marL="0">
              <a:lnSpc>
                <a:spcPct val="132000"/>
              </a:lnSpc>
              <a:buNone/>
            </a:pPr>
            <a:r>
              <a:rPr lang="en-US" sz="1250" dirty="0">
                <a:solidFill>
                  <a:srgbClr val="FFFFFF"/>
                </a:solidFill>
                <a:latin typeface="Manrope" pitchFamily="34" charset="0"/>
                <a:ea typeface="Manrope" pitchFamily="34" charset="-122"/>
                <a:cs typeface="Manrope" pitchFamily="34" charset="-120"/>
              </a:rPr>
              <a:t> Normalmente requiere autenticación y permisos especiales.</a:t>
            </a:r>
            <a:endParaRPr lang="en-US" sz="1250" dirty="0"/>
          </a:p>
        </p:txBody>
      </p:sp>
      <p:sp>
        <p:nvSpPr>
          <p:cNvPr id="16" name="Shape 14"/>
          <p:cNvSpPr/>
          <p:nvPr/>
        </p:nvSpPr>
        <p:spPr>
          <a:xfrm>
            <a:off x="661475" y="4936530"/>
            <a:ext cx="10868745" cy="902692"/>
          </a:xfrm>
          <a:prstGeom prst="roundRect">
            <a:avLst>
              <a:gd name="adj" fmla="val 27054"/>
            </a:avLst>
          </a:prstGeom>
          <a:solidFill>
            <a:srgbClr val="321769"/>
          </a:solidFill>
          <a:ln/>
        </p:spPr>
      </p:sp>
      <p:pic>
        <p:nvPicPr>
          <p:cNvPr id="17" name="Image 0" descr="preencoded.png">    </p:cNvPr>
          <p:cNvPicPr>
            <a:picLocks noChangeAspect="1"/>
          </p:cNvPicPr>
          <p:nvPr/>
        </p:nvPicPr>
        <p:blipFill>
          <a:blip r:embed="rId1"/>
          <a:stretch>
            <a:fillRect/>
          </a:stretch>
        </p:blipFill>
        <p:spPr>
          <a:xfrm>
            <a:off x="824190" y="5166519"/>
            <a:ext cx="203493" cy="162719"/>
          </a:xfrm>
          <a:prstGeom prst="rect">
            <a:avLst/>
          </a:prstGeom>
        </p:spPr>
      </p:pic>
      <p:sp>
        <p:nvSpPr>
          <p:cNvPr id="18" name="Text 15"/>
          <p:cNvSpPr/>
          <p:nvPr/>
        </p:nvSpPr>
        <p:spPr>
          <a:xfrm>
            <a:off x="1190397" y="5137448"/>
            <a:ext cx="10177109" cy="516930"/>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FFFFFF"/>
                </a:solidFill>
                <a:latin typeface="Manrope" pitchFamily="34" charset="0"/>
                <a:ea typeface="Manrope" pitchFamily="34" charset="-122"/>
                <a:cs typeface="Manrope" pitchFamily="34" charset="-120"/>
              </a:rPr>
              <a:t>En un pipeline de extracción de datos casi siempre usamos </a:t>
            </a:r>
            <a:pPr algn="l" indent="0" marL="0">
              <a:lnSpc>
                <a:spcPct val="132000"/>
              </a:lnSpc>
              <a:buNone/>
            </a:pPr>
            <a:r>
              <a:rPr lang="en-US" sz="1250" b="1" dirty="0">
                <a:solidFill>
                  <a:srgbClr val="FFFFFF"/>
                </a:solidFill>
                <a:latin typeface="Manrope Bold" pitchFamily="34" charset="0"/>
                <a:ea typeface="Manrope Bold" pitchFamily="34" charset="-122"/>
                <a:cs typeface="Manrope Bold" pitchFamily="34" charset="-120"/>
              </a:rPr>
              <a:t>GET</a:t>
            </a:r>
            <a:pPr algn="l" indent="0" marL="0">
              <a:lnSpc>
                <a:spcPct val="132000"/>
              </a:lnSpc>
              <a:buNone/>
            </a:pPr>
            <a:r>
              <a:rPr lang="en-US" sz="1250" dirty="0">
                <a:solidFill>
                  <a:srgbClr val="FFFFFF"/>
                </a:solidFill>
                <a:latin typeface="Manrope" pitchFamily="34" charset="0"/>
                <a:ea typeface="Manrope" pitchFamily="34" charset="-122"/>
                <a:cs typeface="Manrope" pitchFamily="34" charset="-120"/>
              </a:rPr>
              <a:t>. POST aparece ocasionalmente cuando la API exige enviar parámetros de búsqueda complejos en el cuerpo.</a:t>
            </a:r>
            <a:endParaRPr lang="en-US" sz="1250" dirty="0"/>
          </a:p>
        </p:txBody>
      </p:sp>
      <p:pic>
        <p:nvPicPr>
          <p:cNvPr id="19" name="Image 1" descr="preencoded.png">    </p:cNvPr>
          <p:cNvPicPr>
            <a:picLocks noChangeAspect="1"/>
          </p:cNvPicPr>
          <p:nvPr/>
        </p:nvPicPr>
        <p:blipFill>
          <a:blip r:embed="rId2"/>
          <a:stretch>
            <a:fillRect/>
          </a:stretch>
        </p:blipFill>
        <p:spPr>
          <a:xfrm>
            <a:off x="198433" y="203597"/>
            <a:ext cx="676357" cy="568623"/>
          </a:xfrm>
          <a:prstGeom prst="rect">
            <a:avLst/>
          </a:prstGeom>
        </p:spPr>
      </p:pic>
      <p:pic>
        <p:nvPicPr>
          <p:cNvPr id="20" name="Image 2" descr="preencoded.png">    </p:cNvPr>
          <p:cNvPicPr>
            <a:picLocks noChangeAspect="1"/>
          </p:cNvPicPr>
          <p:nvPr/>
        </p:nvPicPr>
        <p:blipFill>
          <a:blip r:embed="rId3"/>
          <a:stretch>
            <a:fillRect/>
          </a:stretch>
        </p:blipFill>
        <p:spPr>
          <a:xfrm>
            <a:off x="11386357" y="268784"/>
            <a:ext cx="606906" cy="438249"/>
          </a:xfrm>
          <a:prstGeom prst="rect">
            <a:avLst/>
          </a:prstGeom>
        </p:spPr>
      </p:pic>
      <p:sp>
        <p:nvSpPr>
          <p:cNvPr id="21" name="Text 16"/>
          <p:cNvSpPr/>
          <p:nvPr/>
        </p:nvSpPr>
        <p:spPr>
          <a:xfrm>
            <a:off x="10848902" y="6300589"/>
            <a:ext cx="1144360"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61475" y="1059061"/>
            <a:ext cx="10868745" cy="351433"/>
          </a:xfrm>
          <a:prstGeom prst="rect">
            <a:avLst/>
          </a:prstGeom>
          <a:noFill/>
          <a:ln/>
        </p:spPr>
        <p:txBody>
          <a:bodyPr wrap="none" lIns="0" tIns="0" rIns="0" bIns="0" rtlCol="0" anchor="t"/>
          <a:lstStyle/>
          <a:p>
            <a:pPr algn="l" indent="0" marL="0">
              <a:lnSpc>
                <a:spcPct val="104000"/>
              </a:lnSpc>
              <a:buNone/>
            </a:pPr>
            <a:r>
              <a:rPr lang="en-US" sz="2200" spc="-22" kern="0" dirty="0">
                <a:solidFill>
                  <a:srgbClr val="FFFFFF"/>
                </a:solidFill>
                <a:latin typeface="Alexandria Medium" pitchFamily="34" charset="0"/>
                <a:ea typeface="Alexandria Medium" pitchFamily="34" charset="-122"/>
                <a:cs typeface="Alexandria Medium" pitchFamily="34" charset="-120"/>
              </a:rPr>
              <a:t>Parámetros de una petición</a:t>
            </a:r>
            <a:endParaRPr lang="en-US" sz="2200" dirty="0"/>
          </a:p>
        </p:txBody>
      </p:sp>
      <p:sp>
        <p:nvSpPr>
          <p:cNvPr id="3" name="Text 1"/>
          <p:cNvSpPr/>
          <p:nvPr/>
        </p:nvSpPr>
        <p:spPr>
          <a:xfrm>
            <a:off x="661475" y="1649413"/>
            <a:ext cx="11478330" cy="208062"/>
          </a:xfrm>
          <a:prstGeom prst="rect">
            <a:avLst/>
          </a:prstGeom>
          <a:noFill/>
          <a:ln/>
        </p:spPr>
        <p:txBody>
          <a:bodyPr wrap="none" lIns="0" tIns="0" rIns="0" bIns="0" rtlCol="0" anchor="t"/>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Las APIs permiten </a:t>
            </a:r>
            <a:pPr algn="l" indent="0" marL="0">
              <a:lnSpc>
                <a:spcPct val="123000"/>
              </a:lnSpc>
              <a:buNone/>
            </a:pPr>
            <a:r>
              <a:rPr lang="en-US" sz="1100" b="1" dirty="0">
                <a:solidFill>
                  <a:srgbClr val="FFFFFF"/>
                </a:solidFill>
                <a:latin typeface="Manrope Bold" pitchFamily="34" charset="0"/>
                <a:ea typeface="Manrope Bold" pitchFamily="34" charset="-122"/>
                <a:cs typeface="Manrope Bold" pitchFamily="34" charset="-120"/>
              </a:rPr>
              <a:t>filtrar, ordenar y limitar</a:t>
            </a:r>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 los datos solicitados mediante parámetros en la URL.</a:t>
            </a:r>
            <a:endParaRPr lang="en-US" sz="1100" dirty="0"/>
          </a:p>
        </p:txBody>
      </p:sp>
      <p:sp>
        <p:nvSpPr>
          <p:cNvPr id="4" name="Text 2"/>
          <p:cNvSpPr/>
          <p:nvPr/>
        </p:nvSpPr>
        <p:spPr>
          <a:xfrm>
            <a:off x="661475" y="2111276"/>
            <a:ext cx="6832528"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Ejemplo con parámetros</a:t>
            </a:r>
            <a:endParaRPr lang="en-US" sz="1350" dirty="0"/>
          </a:p>
        </p:txBody>
      </p:sp>
      <p:sp>
        <p:nvSpPr>
          <p:cNvPr id="5" name="Shape 3"/>
          <p:cNvSpPr/>
          <p:nvPr/>
        </p:nvSpPr>
        <p:spPr>
          <a:xfrm>
            <a:off x="661475" y="2465189"/>
            <a:ext cx="6832528" cy="1630561"/>
          </a:xfrm>
          <a:prstGeom prst="roundRect">
            <a:avLst>
              <a:gd name="adj" fmla="val 12933"/>
            </a:avLst>
          </a:prstGeom>
          <a:solidFill>
            <a:srgbClr val="583592"/>
          </a:solidFill>
          <a:ln/>
        </p:spPr>
      </p:sp>
      <p:sp>
        <p:nvSpPr>
          <p:cNvPr id="6" name="Text 4"/>
          <p:cNvSpPr/>
          <p:nvPr/>
        </p:nvSpPr>
        <p:spPr>
          <a:xfrm>
            <a:off x="830143" y="2605683"/>
            <a:ext cx="6495193" cy="1349573"/>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E6EDF3"/>
                </a:solidFill>
                <a:latin typeface="Consolas" pitchFamily="34" charset="0"/>
                <a:ea typeface="Consolas" pitchFamily="34" charset="-122"/>
                <a:cs typeface="Consolas" pitchFamily="34" charset="-120"/>
              </a:rPr>
              <a:t>/products?category=laptop&amp;limit=100</a:t>
            </a:r>
            <a:endParaRPr lang="en-US" sz="1100" dirty="0"/>
          </a:p>
          <a:p>
            <a:pPr algn="l" indent="0" marL="0">
              <a:lnSpc>
                <a:spcPct val="133000"/>
              </a:lnSpc>
              <a:buNone/>
            </a:pPr>
            <a:endParaRPr lang="en-US" sz="1100" dirty="0"/>
          </a:p>
          <a:p>
            <a:pPr algn="l" indent="0" marL="0">
              <a:lnSpc>
                <a:spcPct val="133000"/>
              </a:lnSpc>
              <a:buNone/>
            </a:pPr>
            <a:r>
              <a:rPr lang="en-US" sz="1100" dirty="0">
                <a:solidFill>
                  <a:srgbClr val="E6EDF3"/>
                </a:solidFill>
                <a:latin typeface="Consolas" pitchFamily="34" charset="0"/>
                <a:ea typeface="Consolas" pitchFamily="34" charset="-122"/>
                <a:cs typeface="Consolas" pitchFamily="34" charset="-120"/>
              </a:rPr>
              <a:t>/orders?date_from=2026-01-01</a:t>
            </a:r>
            <a:endParaRPr lang="en-US" sz="1100" dirty="0"/>
          </a:p>
          <a:p>
            <a:pPr algn="l" indent="0" marL="0">
              <a:lnSpc>
                <a:spcPct val="133000"/>
              </a:lnSpc>
              <a:buNone/>
            </a:pPr>
            <a:r>
              <a:rPr lang="en-US" sz="1100" dirty="0">
                <a:solidFill>
                  <a:srgbClr val="E6EDF3"/>
                </a:solidFill>
                <a:latin typeface="Consolas" pitchFamily="34" charset="0"/>
                <a:ea typeface="Consolas" pitchFamily="34" charset="-122"/>
                <a:cs typeface="Consolas" pitchFamily="34" charset="-120"/>
              </a:rPr>
              <a:t>        &amp;date_to=2026-06-30</a:t>
            </a:r>
            <a:endParaRPr lang="en-US" sz="1100" dirty="0"/>
          </a:p>
          <a:p>
            <a:pPr algn="l" indent="0" marL="0">
              <a:lnSpc>
                <a:spcPct val="133000"/>
              </a:lnSpc>
              <a:buNone/>
            </a:pPr>
            <a:r>
              <a:rPr lang="en-US" sz="1100" dirty="0">
                <a:solidFill>
                  <a:srgbClr val="E6EDF3"/>
                </a:solidFill>
                <a:latin typeface="Consolas" pitchFamily="34" charset="0"/>
                <a:ea typeface="Consolas" pitchFamily="34" charset="-122"/>
                <a:cs typeface="Consolas" pitchFamily="34" charset="-120"/>
              </a:rPr>
              <a:t>        &amp;status=completed</a:t>
            </a:r>
            <a:endParaRPr lang="en-US" sz="1100" dirty="0"/>
          </a:p>
          <a:p>
            <a:pPr algn="l" indent="0" marL="0">
              <a:lnSpc>
                <a:spcPct val="133000"/>
              </a:lnSpc>
              <a:buNone/>
            </a:pPr>
            <a:r>
              <a:rPr lang="en-US" sz="1100" dirty="0">
                <a:solidFill>
                  <a:srgbClr val="E6EDF3"/>
                </a:solidFill>
                <a:latin typeface="Consolas" pitchFamily="34" charset="0"/>
                <a:ea typeface="Consolas" pitchFamily="34" charset="-122"/>
                <a:cs typeface="Consolas" pitchFamily="34" charset="-120"/>
              </a:rPr>
              <a:t>        &amp;sort=total_desc</a:t>
            </a:r>
            <a:endParaRPr lang="en-US" sz="1100" dirty="0"/>
          </a:p>
        </p:txBody>
      </p:sp>
      <p:sp>
        <p:nvSpPr>
          <p:cNvPr id="7" name="Text 5"/>
          <p:cNvSpPr/>
          <p:nvPr/>
        </p:nvSpPr>
        <p:spPr>
          <a:xfrm>
            <a:off x="661475" y="4230092"/>
            <a:ext cx="6832528"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Tipos de parámetros</a:t>
            </a:r>
            <a:endParaRPr lang="en-US" sz="1350" dirty="0"/>
          </a:p>
        </p:txBody>
      </p:sp>
      <p:sp>
        <p:nvSpPr>
          <p:cNvPr id="8" name="Shape 6"/>
          <p:cNvSpPr/>
          <p:nvPr/>
        </p:nvSpPr>
        <p:spPr>
          <a:xfrm>
            <a:off x="661475" y="4584005"/>
            <a:ext cx="2197839" cy="1080591"/>
          </a:xfrm>
          <a:prstGeom prst="roundRect">
            <a:avLst>
              <a:gd name="adj" fmla="val 19515"/>
            </a:avLst>
          </a:prstGeom>
          <a:solidFill>
            <a:srgbClr val="4B2885"/>
          </a:solidFill>
          <a:ln w="19050">
            <a:solidFill>
              <a:srgbClr val="4B3082"/>
            </a:solidFill>
            <a:prstDash val="solid"/>
          </a:ln>
        </p:spPr>
      </p:sp>
      <p:sp>
        <p:nvSpPr>
          <p:cNvPr id="9" name="Text 7"/>
          <p:cNvSpPr/>
          <p:nvPr/>
        </p:nvSpPr>
        <p:spPr>
          <a:xfrm>
            <a:off x="821015" y="4743549"/>
            <a:ext cx="1878759"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Filtros</a:t>
            </a:r>
            <a:endParaRPr lang="en-US" sz="1350" dirty="0"/>
          </a:p>
        </p:txBody>
      </p:sp>
      <p:sp>
        <p:nvSpPr>
          <p:cNvPr id="10" name="Text 8"/>
          <p:cNvSpPr/>
          <p:nvPr/>
        </p:nvSpPr>
        <p:spPr>
          <a:xfrm>
            <a:off x="821015" y="5082580"/>
            <a:ext cx="1878759" cy="42247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highlight>
                  <a:srgbClr val="583592"/>
                </a:highlight>
                <a:latin typeface="Consolas" pitchFamily="34" charset="0"/>
                <a:ea typeface="Consolas" pitchFamily="34" charset="-122"/>
                <a:cs typeface="Consolas" pitchFamily="34" charset="-120"/>
              </a:rPr>
              <a:t>category=laptop</a:t>
            </a:r>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 — solo portátiles</a:t>
            </a:r>
            <a:endParaRPr lang="en-US" sz="1100" dirty="0"/>
          </a:p>
        </p:txBody>
      </p:sp>
      <p:sp>
        <p:nvSpPr>
          <p:cNvPr id="11" name="Shape 9"/>
          <p:cNvSpPr/>
          <p:nvPr/>
        </p:nvSpPr>
        <p:spPr>
          <a:xfrm>
            <a:off x="2978770" y="4584005"/>
            <a:ext cx="2197839" cy="1080591"/>
          </a:xfrm>
          <a:prstGeom prst="roundRect">
            <a:avLst>
              <a:gd name="adj" fmla="val 19515"/>
            </a:avLst>
          </a:prstGeom>
          <a:solidFill>
            <a:srgbClr val="4B2885"/>
          </a:solidFill>
          <a:ln w="19050">
            <a:solidFill>
              <a:srgbClr val="4B3082"/>
            </a:solidFill>
            <a:prstDash val="solid"/>
          </a:ln>
        </p:spPr>
      </p:sp>
      <p:sp>
        <p:nvSpPr>
          <p:cNvPr id="12" name="Text 10"/>
          <p:cNvSpPr/>
          <p:nvPr/>
        </p:nvSpPr>
        <p:spPr>
          <a:xfrm>
            <a:off x="3138310" y="4743549"/>
            <a:ext cx="1878759"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Límite</a:t>
            </a:r>
            <a:endParaRPr lang="en-US" sz="1350" dirty="0"/>
          </a:p>
        </p:txBody>
      </p:sp>
      <p:sp>
        <p:nvSpPr>
          <p:cNvPr id="13" name="Text 11"/>
          <p:cNvSpPr/>
          <p:nvPr/>
        </p:nvSpPr>
        <p:spPr>
          <a:xfrm>
            <a:off x="3138310" y="5082580"/>
            <a:ext cx="1878759" cy="42247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highlight>
                  <a:srgbClr val="583592"/>
                </a:highlight>
                <a:latin typeface="Consolas" pitchFamily="34" charset="0"/>
                <a:ea typeface="Consolas" pitchFamily="34" charset="-122"/>
                <a:cs typeface="Consolas" pitchFamily="34" charset="-120"/>
              </a:rPr>
              <a:t>limit=100</a:t>
            </a:r>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 — máximo 100 resultados por petición</a:t>
            </a:r>
            <a:endParaRPr lang="en-US" sz="1100" dirty="0"/>
          </a:p>
        </p:txBody>
      </p:sp>
      <p:sp>
        <p:nvSpPr>
          <p:cNvPr id="14" name="Shape 12"/>
          <p:cNvSpPr/>
          <p:nvPr/>
        </p:nvSpPr>
        <p:spPr>
          <a:xfrm>
            <a:off x="5296065" y="4584005"/>
            <a:ext cx="2197839" cy="1080591"/>
          </a:xfrm>
          <a:prstGeom prst="roundRect">
            <a:avLst>
              <a:gd name="adj" fmla="val 19515"/>
            </a:avLst>
          </a:prstGeom>
          <a:solidFill>
            <a:srgbClr val="4B2885"/>
          </a:solidFill>
          <a:ln w="19050">
            <a:solidFill>
              <a:srgbClr val="4B3082"/>
            </a:solidFill>
            <a:prstDash val="solid"/>
          </a:ln>
        </p:spPr>
      </p:sp>
      <p:sp>
        <p:nvSpPr>
          <p:cNvPr id="15" name="Text 13"/>
          <p:cNvSpPr/>
          <p:nvPr/>
        </p:nvSpPr>
        <p:spPr>
          <a:xfrm>
            <a:off x="5455605" y="4743549"/>
            <a:ext cx="1878759"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Ordenación</a:t>
            </a:r>
            <a:endParaRPr lang="en-US" sz="1350" dirty="0"/>
          </a:p>
        </p:txBody>
      </p:sp>
      <p:sp>
        <p:nvSpPr>
          <p:cNvPr id="16" name="Text 14"/>
          <p:cNvSpPr/>
          <p:nvPr/>
        </p:nvSpPr>
        <p:spPr>
          <a:xfrm>
            <a:off x="5455605" y="5082580"/>
            <a:ext cx="1878759" cy="42247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highlight>
                  <a:srgbClr val="583592"/>
                </a:highlight>
                <a:latin typeface="Consolas" pitchFamily="34" charset="0"/>
                <a:ea typeface="Consolas" pitchFamily="34" charset="-122"/>
                <a:cs typeface="Consolas" pitchFamily="34" charset="-120"/>
              </a:rPr>
              <a:t>sort=total_desc</a:t>
            </a:r>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 — de mayor a menor importe</a:t>
            </a:r>
            <a:endParaRPr lang="en-US" sz="1100" dirty="0"/>
          </a:p>
        </p:txBody>
      </p:sp>
      <p:sp>
        <p:nvSpPr>
          <p:cNvPr id="17" name="Text 15"/>
          <p:cNvSpPr/>
          <p:nvPr/>
        </p:nvSpPr>
        <p:spPr>
          <a:xfrm>
            <a:off x="7843244" y="2111276"/>
            <a:ext cx="3693226"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¿Por qué es importante?</a:t>
            </a:r>
            <a:endParaRPr lang="en-US" sz="1350" dirty="0"/>
          </a:p>
        </p:txBody>
      </p:sp>
      <p:sp>
        <p:nvSpPr>
          <p:cNvPr id="18" name="Text 16"/>
          <p:cNvSpPr/>
          <p:nvPr/>
        </p:nvSpPr>
        <p:spPr>
          <a:xfrm>
            <a:off x="8054079" y="2572643"/>
            <a:ext cx="3482392" cy="41612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Solo solicitamos los datos que necesitamos. Menos transferencia, menos procesamiento, menos coste.</a:t>
            </a:r>
            <a:endParaRPr lang="en-US" sz="1100" dirty="0"/>
          </a:p>
        </p:txBody>
      </p:sp>
      <p:sp>
        <p:nvSpPr>
          <p:cNvPr id="19" name="Shape 17"/>
          <p:cNvSpPr/>
          <p:nvPr/>
        </p:nvSpPr>
        <p:spPr>
          <a:xfrm>
            <a:off x="7843244" y="2465189"/>
            <a:ext cx="19050" cy="631031"/>
          </a:xfrm>
          <a:prstGeom prst="roundRect">
            <a:avLst>
              <a:gd name="adj" fmla="val 49999"/>
            </a:avLst>
          </a:prstGeom>
          <a:solidFill>
            <a:srgbClr val="B499E9"/>
          </a:solidFill>
          <a:ln/>
        </p:spPr>
      </p:sp>
      <p:sp>
        <p:nvSpPr>
          <p:cNvPr id="20" name="Text 18"/>
          <p:cNvSpPr/>
          <p:nvPr/>
        </p:nvSpPr>
        <p:spPr>
          <a:xfrm>
            <a:off x="7843244" y="3230563"/>
            <a:ext cx="3693226" cy="1147763"/>
          </a:xfrm>
          <a:prstGeom prst="rect">
            <a:avLst/>
          </a:prstGeom>
          <a:noFill/>
          <a:ln/>
        </p:spPr>
        <p:txBody>
          <a:bodyPr wrap="square" lIns="0" tIns="0" rIns="0" bIns="0" rtlCol="0" anchor="t">
            <a:normAutofit/>
          </a:bodyPr>
          <a:lstStyle/>
          <a:p>
            <a:pPr algn="l" indent="0" marL="0">
              <a:lnSpc>
                <a:spcPct val="123000"/>
              </a:lnSpc>
              <a:spcAft>
                <a:spcPts val="800"/>
              </a:spcAft>
              <a:buNone/>
            </a:pPr>
            <a:r>
              <a:rPr lang="en-US" sz="1100" dirty="0">
                <a:solidFill>
                  <a:srgbClr val="FFFFFF"/>
                </a:solidFill>
                <a:latin typeface="Manrope" pitchFamily="34" charset="0"/>
                <a:ea typeface="Manrope" pitchFamily="34" charset="-122"/>
                <a:cs typeface="Manrope" pitchFamily="34" charset="-120"/>
              </a:rPr>
              <a:t>Aplicado a ShopData: en lugar de descargar el catálogo completo de 50.000 productos, solicitamos únicamente los de la categoría que necesitamos analizar.</a:t>
            </a:r>
            <a:endParaRPr lang="en-US" sz="1100" dirty="0"/>
          </a:p>
          <a:p>
            <a:pPr algn="l" indent="0" marL="0">
              <a:lnSpc>
                <a:spcPct val="123000"/>
              </a:lnSpc>
              <a:buNone/>
            </a:pPr>
            <a:r>
              <a:rPr lang="en-US" sz="1100" b="1" dirty="0">
                <a:solidFill>
                  <a:srgbClr val="FFFFFF"/>
                </a:solidFill>
                <a:latin typeface="Manrope Bold" pitchFamily="34" charset="0"/>
                <a:ea typeface="Manrope Bold" pitchFamily="34" charset="-122"/>
                <a:cs typeface="Manrope Bold" pitchFamily="34" charset="-120"/>
              </a:rPr>
              <a:t>Filtrar en la API</a:t>
            </a:r>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 es siempre mejor que descargar todo y filtrar después.</a:t>
            </a:r>
            <a:endParaRPr lang="en-US" sz="1100" dirty="0"/>
          </a:p>
        </p:txBody>
      </p:sp>
      <p:pic>
        <p:nvPicPr>
          <p:cNvPr id="21"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22"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23" name="Text 19"/>
          <p:cNvSpPr/>
          <p:nvPr/>
        </p:nvSpPr>
        <p:spPr>
          <a:xfrm>
            <a:off x="10850886" y="6300589"/>
            <a:ext cx="1142376"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61475" y="1158081"/>
            <a:ext cx="10868745" cy="351433"/>
          </a:xfrm>
          <a:prstGeom prst="rect">
            <a:avLst/>
          </a:prstGeom>
          <a:noFill/>
          <a:ln/>
        </p:spPr>
        <p:txBody>
          <a:bodyPr wrap="none" lIns="0" tIns="0" rIns="0" bIns="0" rtlCol="0" anchor="t"/>
          <a:lstStyle/>
          <a:p>
            <a:pPr algn="l" indent="0" marL="0">
              <a:lnSpc>
                <a:spcPct val="104000"/>
              </a:lnSpc>
              <a:buNone/>
            </a:pPr>
            <a:r>
              <a:rPr lang="en-US" sz="2200" spc="-22" kern="0" dirty="0">
                <a:solidFill>
                  <a:srgbClr val="FFFFFF"/>
                </a:solidFill>
                <a:latin typeface="Alexandria Medium" pitchFamily="34" charset="0"/>
                <a:ea typeface="Alexandria Medium" pitchFamily="34" charset="-122"/>
                <a:cs typeface="Alexandria Medium" pitchFamily="34" charset="-120"/>
              </a:rPr>
              <a:t>Respuestas y códigos HTTP</a:t>
            </a:r>
            <a:endParaRPr lang="en-US" sz="2200" dirty="0"/>
          </a:p>
        </p:txBody>
      </p:sp>
      <p:sp>
        <p:nvSpPr>
          <p:cNvPr id="3" name="Text 1"/>
          <p:cNvSpPr/>
          <p:nvPr/>
        </p:nvSpPr>
        <p:spPr>
          <a:xfrm>
            <a:off x="661475" y="1748433"/>
            <a:ext cx="11478330" cy="208062"/>
          </a:xfrm>
          <a:prstGeom prst="rect">
            <a:avLst/>
          </a:prstGeom>
          <a:noFill/>
          <a:ln/>
        </p:spPr>
        <p:txBody>
          <a:bodyPr wrap="none" lIns="0" tIns="0" rIns="0" bIns="0" rtlCol="0" anchor="t"/>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Cada respuesta de una API incluye un </a:t>
            </a:r>
            <a:pPr algn="l" indent="0" marL="0">
              <a:lnSpc>
                <a:spcPct val="123000"/>
              </a:lnSpc>
              <a:buNone/>
            </a:pPr>
            <a:r>
              <a:rPr lang="en-US" sz="1100" b="1" dirty="0">
                <a:solidFill>
                  <a:srgbClr val="FFFFFF"/>
                </a:solidFill>
                <a:latin typeface="Manrope Bold" pitchFamily="34" charset="0"/>
                <a:ea typeface="Manrope Bold" pitchFamily="34" charset="-122"/>
                <a:cs typeface="Manrope Bold" pitchFamily="34" charset="-120"/>
              </a:rPr>
              <a:t>código de estado HTTP</a:t>
            </a:r>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 que indica si la petición tuvo éxito o qué tipo de error ocurrió.</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1475" y="2090837"/>
          <a:ext cx="9143771" cy="914400"/>
        </p:xfrm>
        <a:graphic>
          <a:graphicData uri="http://schemas.openxmlformats.org/drawingml/2006/table">
            <a:tbl>
              <a:tblPr/>
              <a:tblGrid>
                <a:gridCol w="1630312"/>
                <a:gridCol w="2717186"/>
                <a:gridCol w="6521247"/>
              </a:tblGrid>
              <a:tr h="367199">
                <a:tc>
                  <a:txBody>
                    <a:bodyPr/>
                    <a:lstStyle/>
                    <a:p>
                      <a:pPr indent="0" marL="0">
                        <a:buNone/>
                      </a:pPr>
                      <a:r>
                        <a:rPr lang="en-US" sz="1100" b="1" dirty="0">
                          <a:solidFill>
                            <a:srgbClr val="FFFFFF"/>
                          </a:solidFill>
                          <a:latin typeface="Manrope" pitchFamily="34" charset="0"/>
                          <a:ea typeface="Manrope" pitchFamily="34" charset="-122"/>
                          <a:cs typeface="Manrope" pitchFamily="34" charset="-120"/>
                        </a:rPr>
                        <a:t>Código</a:t>
                      </a:r>
                      <a:endParaRPr lang="en-US" sz="1100" dirty="0">
                        <a:latin typeface="Manrope" charset="0"/>
                        <a:ea typeface="Manrope" charset="0"/>
                        <a:cs typeface="Manrope" charset="0"/>
                      </a:endParaRPr>
                    </a:p>
                  </a:txBody>
                  <a:tcPr marL="140582" marR="14058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c>
                  <a:txBody>
                    <a:bodyPr/>
                    <a:lstStyle/>
                    <a:p>
                      <a:pPr indent="0" marL="0">
                        <a:buNone/>
                      </a:pPr>
                      <a:r>
                        <a:rPr lang="en-US" sz="1100" b="1" dirty="0">
                          <a:solidFill>
                            <a:srgbClr val="FFFFFF"/>
                          </a:solidFill>
                          <a:latin typeface="Manrope" pitchFamily="34" charset="0"/>
                          <a:ea typeface="Manrope" pitchFamily="34" charset="-122"/>
                          <a:cs typeface="Manrope" pitchFamily="34" charset="-120"/>
                        </a:rPr>
                        <a:t>Significado</a:t>
                      </a:r>
                      <a:endParaRPr lang="en-US" sz="1100" dirty="0">
                        <a:latin typeface="Manrope" charset="0"/>
                        <a:ea typeface="Manrope" charset="0"/>
                        <a:cs typeface="Manrope" charset="0"/>
                      </a:endParaRPr>
                    </a:p>
                  </a:txBody>
                  <a:tcPr marL="140582" marR="14058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c>
                  <a:txBody>
                    <a:bodyPr/>
                    <a:lstStyle/>
                    <a:p>
                      <a:pPr indent="0" marL="0">
                        <a:buNone/>
                      </a:pPr>
                      <a:r>
                        <a:rPr lang="en-US" sz="1100" b="1" dirty="0">
                          <a:solidFill>
                            <a:srgbClr val="FFFFFF"/>
                          </a:solidFill>
                          <a:latin typeface="Manrope" pitchFamily="34" charset="0"/>
                          <a:ea typeface="Manrope" pitchFamily="34" charset="-122"/>
                          <a:cs typeface="Manrope" pitchFamily="34" charset="-120"/>
                        </a:rPr>
                        <a:t>¿Qué hacer en el pipeline?</a:t>
                      </a:r>
                      <a:endParaRPr lang="en-US" sz="1100" dirty="0">
                        <a:latin typeface="Manrope" charset="0"/>
                        <a:ea typeface="Manrope" charset="0"/>
                        <a:cs typeface="Manrope" charset="0"/>
                      </a:endParaRPr>
                    </a:p>
                  </a:txBody>
                  <a:tcPr marL="140582" marR="14058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r>
              <a:tr h="370374">
                <a:tc>
                  <a:txBody>
                    <a:bodyPr/>
                    <a:lstStyle/>
                    <a:p>
                      <a:pPr indent="0" marL="0">
                        <a:buNone/>
                      </a:pPr>
                      <a:r>
                        <a:rPr lang="en-US" sz="1100" b="1" dirty="0">
                          <a:solidFill>
                            <a:srgbClr val="FFFFFF"/>
                          </a:solidFill>
                          <a:latin typeface="Manrope" pitchFamily="34" charset="0"/>
                          <a:ea typeface="Manrope" pitchFamily="34" charset="-122"/>
                          <a:cs typeface="Manrope" pitchFamily="34" charset="-120"/>
                        </a:rPr>
                        <a:t>200</a:t>
                      </a:r>
                      <a:endParaRPr lang="en-US" sz="1100" dirty="0">
                        <a:latin typeface="Manrope" charset="0"/>
                        <a:ea typeface="Manrope" charset="0"/>
                        <a:cs typeface="Manrope" charset="0"/>
                      </a:endParaRPr>
                    </a:p>
                  </a:txBody>
                  <a:tcPr marL="140582" marR="14058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00" dirty="0">
                          <a:solidFill>
                            <a:srgbClr val="FFFFFF"/>
                          </a:solidFill>
                          <a:latin typeface="Manrope" pitchFamily="34" charset="0"/>
                          <a:ea typeface="Manrope" pitchFamily="34" charset="-122"/>
                          <a:cs typeface="Manrope" pitchFamily="34" charset="-120"/>
                        </a:rPr>
                        <a:t>OK — Éxito</a:t>
                      </a:r>
                      <a:endParaRPr lang="en-US" sz="1100" dirty="0">
                        <a:latin typeface="Manrope" charset="0"/>
                        <a:ea typeface="Manrope" charset="0"/>
                        <a:cs typeface="Manrope" charset="0"/>
                      </a:endParaRPr>
                    </a:p>
                  </a:txBody>
                  <a:tcPr marL="140582" marR="14058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00" dirty="0">
                          <a:solidFill>
                            <a:srgbClr val="FFFFFF"/>
                          </a:solidFill>
                          <a:latin typeface="Manrope" pitchFamily="34" charset="0"/>
                          <a:ea typeface="Manrope" pitchFamily="34" charset="-122"/>
                          <a:cs typeface="Manrope" pitchFamily="34" charset="-120"/>
                        </a:rPr>
                        <a:t>Procesar la respuesta normalmente.</a:t>
                      </a:r>
                      <a:endParaRPr lang="en-US" sz="1100" dirty="0">
                        <a:latin typeface="Manrope" charset="0"/>
                        <a:ea typeface="Manrope" charset="0"/>
                        <a:cs typeface="Manrope" charset="0"/>
                      </a:endParaRPr>
                    </a:p>
                  </a:txBody>
                  <a:tcPr marL="140582" marR="14058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370374">
                <a:tc>
                  <a:txBody>
                    <a:bodyPr/>
                    <a:lstStyle/>
                    <a:p>
                      <a:pPr indent="0" marL="0">
                        <a:buNone/>
                      </a:pPr>
                      <a:r>
                        <a:rPr lang="en-US" sz="1100" b="1" dirty="0">
                          <a:solidFill>
                            <a:srgbClr val="FFFFFF"/>
                          </a:solidFill>
                          <a:latin typeface="Manrope" pitchFamily="34" charset="0"/>
                          <a:ea typeface="Manrope" pitchFamily="34" charset="-122"/>
                          <a:cs typeface="Manrope" pitchFamily="34" charset="-120"/>
                        </a:rPr>
                        <a:t>400</a:t>
                      </a:r>
                      <a:endParaRPr lang="en-US" sz="1100" dirty="0">
                        <a:latin typeface="Manrope" charset="0"/>
                        <a:ea typeface="Manrope" charset="0"/>
                        <a:cs typeface="Manrope" charset="0"/>
                      </a:endParaRPr>
                    </a:p>
                  </a:txBody>
                  <a:tcPr marL="140582" marR="14058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00" dirty="0">
                          <a:solidFill>
                            <a:srgbClr val="FFFFFF"/>
                          </a:solidFill>
                          <a:latin typeface="Manrope" pitchFamily="34" charset="0"/>
                          <a:ea typeface="Manrope" pitchFamily="34" charset="-122"/>
                          <a:cs typeface="Manrope" pitchFamily="34" charset="-120"/>
                        </a:rPr>
                        <a:t>Bad Request</a:t>
                      </a:r>
                      <a:endParaRPr lang="en-US" sz="1100" dirty="0">
                        <a:latin typeface="Manrope" charset="0"/>
                        <a:ea typeface="Manrope" charset="0"/>
                        <a:cs typeface="Manrope" charset="0"/>
                      </a:endParaRPr>
                    </a:p>
                  </a:txBody>
                  <a:tcPr marL="140582" marR="14058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00" dirty="0">
                          <a:solidFill>
                            <a:srgbClr val="FFFFFF"/>
                          </a:solidFill>
                          <a:latin typeface="Manrope" pitchFamily="34" charset="0"/>
                          <a:ea typeface="Manrope" pitchFamily="34" charset="-122"/>
                          <a:cs typeface="Manrope" pitchFamily="34" charset="-120"/>
                        </a:rPr>
                        <a:t>Error en los parámetros enviados. Revisar la petición.</a:t>
                      </a:r>
                      <a:endParaRPr lang="en-US" sz="1100" dirty="0">
                        <a:latin typeface="Manrope" charset="0"/>
                        <a:ea typeface="Manrope" charset="0"/>
                        <a:cs typeface="Manrope" charset="0"/>
                      </a:endParaRPr>
                    </a:p>
                  </a:txBody>
                  <a:tcPr marL="140582" marR="14058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370374">
                <a:tc>
                  <a:txBody>
                    <a:bodyPr/>
                    <a:lstStyle/>
                    <a:p>
                      <a:pPr indent="0" marL="0">
                        <a:buNone/>
                      </a:pPr>
                      <a:r>
                        <a:rPr lang="en-US" sz="1100" b="1" dirty="0">
                          <a:solidFill>
                            <a:srgbClr val="FFFFFF"/>
                          </a:solidFill>
                          <a:latin typeface="Manrope" pitchFamily="34" charset="0"/>
                          <a:ea typeface="Manrope" pitchFamily="34" charset="-122"/>
                          <a:cs typeface="Manrope" pitchFamily="34" charset="-120"/>
                        </a:rPr>
                        <a:t>401</a:t>
                      </a:r>
                      <a:endParaRPr lang="en-US" sz="1100" dirty="0">
                        <a:latin typeface="Manrope" charset="0"/>
                        <a:ea typeface="Manrope" charset="0"/>
                        <a:cs typeface="Manrope" charset="0"/>
                      </a:endParaRPr>
                    </a:p>
                  </a:txBody>
                  <a:tcPr marL="140582" marR="14058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00" dirty="0">
                          <a:solidFill>
                            <a:srgbClr val="FFFFFF"/>
                          </a:solidFill>
                          <a:latin typeface="Manrope" pitchFamily="34" charset="0"/>
                          <a:ea typeface="Manrope" pitchFamily="34" charset="-122"/>
                          <a:cs typeface="Manrope" pitchFamily="34" charset="-120"/>
                        </a:rPr>
                        <a:t>Unauthorized</a:t>
                      </a:r>
                      <a:endParaRPr lang="en-US" sz="1100" dirty="0">
                        <a:latin typeface="Manrope" charset="0"/>
                        <a:ea typeface="Manrope" charset="0"/>
                        <a:cs typeface="Manrope" charset="0"/>
                      </a:endParaRPr>
                    </a:p>
                  </a:txBody>
                  <a:tcPr marL="140582" marR="14058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00" dirty="0">
                          <a:solidFill>
                            <a:srgbClr val="FFFFFF"/>
                          </a:solidFill>
                          <a:latin typeface="Manrope" pitchFamily="34" charset="0"/>
                          <a:ea typeface="Manrope" pitchFamily="34" charset="-122"/>
                          <a:cs typeface="Manrope" pitchFamily="34" charset="-120"/>
                        </a:rPr>
                        <a:t>Falta autenticación. Revisar API key o token.</a:t>
                      </a:r>
                      <a:endParaRPr lang="en-US" sz="1100" dirty="0">
                        <a:latin typeface="Manrope" charset="0"/>
                        <a:ea typeface="Manrope" charset="0"/>
                        <a:cs typeface="Manrope" charset="0"/>
                      </a:endParaRPr>
                    </a:p>
                  </a:txBody>
                  <a:tcPr marL="140582" marR="14058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370374">
                <a:tc>
                  <a:txBody>
                    <a:bodyPr/>
                    <a:lstStyle/>
                    <a:p>
                      <a:pPr indent="0" marL="0">
                        <a:buNone/>
                      </a:pPr>
                      <a:r>
                        <a:rPr lang="en-US" sz="1100" b="1" dirty="0">
                          <a:solidFill>
                            <a:srgbClr val="FFFFFF"/>
                          </a:solidFill>
                          <a:latin typeface="Manrope" pitchFamily="34" charset="0"/>
                          <a:ea typeface="Manrope" pitchFamily="34" charset="-122"/>
                          <a:cs typeface="Manrope" pitchFamily="34" charset="-120"/>
                        </a:rPr>
                        <a:t>403</a:t>
                      </a:r>
                      <a:endParaRPr lang="en-US" sz="1100" dirty="0">
                        <a:latin typeface="Manrope" charset="0"/>
                        <a:ea typeface="Manrope" charset="0"/>
                        <a:cs typeface="Manrope" charset="0"/>
                      </a:endParaRPr>
                    </a:p>
                  </a:txBody>
                  <a:tcPr marL="140582" marR="14058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00" dirty="0">
                          <a:solidFill>
                            <a:srgbClr val="FFFFFF"/>
                          </a:solidFill>
                          <a:latin typeface="Manrope" pitchFamily="34" charset="0"/>
                          <a:ea typeface="Manrope" pitchFamily="34" charset="-122"/>
                          <a:cs typeface="Manrope" pitchFamily="34" charset="-120"/>
                        </a:rPr>
                        <a:t>Forbidden</a:t>
                      </a:r>
                      <a:endParaRPr lang="en-US" sz="1100" dirty="0">
                        <a:latin typeface="Manrope" charset="0"/>
                        <a:ea typeface="Manrope" charset="0"/>
                        <a:cs typeface="Manrope" charset="0"/>
                      </a:endParaRPr>
                    </a:p>
                  </a:txBody>
                  <a:tcPr marL="140582" marR="14058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00" dirty="0">
                          <a:solidFill>
                            <a:srgbClr val="FFFFFF"/>
                          </a:solidFill>
                          <a:latin typeface="Manrope" pitchFamily="34" charset="0"/>
                          <a:ea typeface="Manrope" pitchFamily="34" charset="-122"/>
                          <a:cs typeface="Manrope" pitchFamily="34" charset="-120"/>
                        </a:rPr>
                        <a:t>Sin permisos para este recurso aunque estés autenticado.</a:t>
                      </a:r>
                      <a:endParaRPr lang="en-US" sz="1100" dirty="0">
                        <a:latin typeface="Manrope" charset="0"/>
                        <a:ea typeface="Manrope" charset="0"/>
                        <a:cs typeface="Manrope" charset="0"/>
                      </a:endParaRPr>
                    </a:p>
                  </a:txBody>
                  <a:tcPr marL="140582" marR="14058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370374">
                <a:tc>
                  <a:txBody>
                    <a:bodyPr/>
                    <a:lstStyle/>
                    <a:p>
                      <a:pPr indent="0" marL="0">
                        <a:buNone/>
                      </a:pPr>
                      <a:r>
                        <a:rPr lang="en-US" sz="1100" b="1" dirty="0">
                          <a:solidFill>
                            <a:srgbClr val="FFFFFF"/>
                          </a:solidFill>
                          <a:latin typeface="Manrope" pitchFamily="34" charset="0"/>
                          <a:ea typeface="Manrope" pitchFamily="34" charset="-122"/>
                          <a:cs typeface="Manrope" pitchFamily="34" charset="-120"/>
                        </a:rPr>
                        <a:t>404</a:t>
                      </a:r>
                      <a:endParaRPr lang="en-US" sz="1100" dirty="0">
                        <a:latin typeface="Manrope" charset="0"/>
                        <a:ea typeface="Manrope" charset="0"/>
                        <a:cs typeface="Manrope" charset="0"/>
                      </a:endParaRPr>
                    </a:p>
                  </a:txBody>
                  <a:tcPr marL="140582" marR="14058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00" dirty="0">
                          <a:solidFill>
                            <a:srgbClr val="FFFFFF"/>
                          </a:solidFill>
                          <a:latin typeface="Manrope" pitchFamily="34" charset="0"/>
                          <a:ea typeface="Manrope" pitchFamily="34" charset="-122"/>
                          <a:cs typeface="Manrope" pitchFamily="34" charset="-120"/>
                        </a:rPr>
                        <a:t>Not Found</a:t>
                      </a:r>
                      <a:endParaRPr lang="en-US" sz="1100" dirty="0">
                        <a:latin typeface="Manrope" charset="0"/>
                        <a:ea typeface="Manrope" charset="0"/>
                        <a:cs typeface="Manrope" charset="0"/>
                      </a:endParaRPr>
                    </a:p>
                  </a:txBody>
                  <a:tcPr marL="140582" marR="14058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00" dirty="0">
                          <a:solidFill>
                            <a:srgbClr val="FFFFFF"/>
                          </a:solidFill>
                          <a:latin typeface="Manrope" pitchFamily="34" charset="0"/>
                          <a:ea typeface="Manrope" pitchFamily="34" charset="-122"/>
                          <a:cs typeface="Manrope" pitchFamily="34" charset="-120"/>
                        </a:rPr>
                        <a:t>El endpoint o recurso no existe. Revisar la URL.</a:t>
                      </a:r>
                      <a:endParaRPr lang="en-US" sz="1100" dirty="0">
                        <a:latin typeface="Manrope" charset="0"/>
                        <a:ea typeface="Manrope" charset="0"/>
                        <a:cs typeface="Manrope" charset="0"/>
                      </a:endParaRPr>
                    </a:p>
                  </a:txBody>
                  <a:tcPr marL="140582" marR="14058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370374">
                <a:tc>
                  <a:txBody>
                    <a:bodyPr/>
                    <a:lstStyle/>
                    <a:p>
                      <a:pPr indent="0" marL="0">
                        <a:buNone/>
                      </a:pPr>
                      <a:r>
                        <a:rPr lang="en-US" sz="1100" b="1" dirty="0">
                          <a:solidFill>
                            <a:srgbClr val="FFFFFF"/>
                          </a:solidFill>
                          <a:latin typeface="Manrope" pitchFamily="34" charset="0"/>
                          <a:ea typeface="Manrope" pitchFamily="34" charset="-122"/>
                          <a:cs typeface="Manrope" pitchFamily="34" charset="-120"/>
                        </a:rPr>
                        <a:t>429</a:t>
                      </a:r>
                      <a:endParaRPr lang="en-US" sz="1100" dirty="0">
                        <a:latin typeface="Manrope" charset="0"/>
                        <a:ea typeface="Manrope" charset="0"/>
                        <a:cs typeface="Manrope" charset="0"/>
                      </a:endParaRPr>
                    </a:p>
                  </a:txBody>
                  <a:tcPr marL="140582" marR="14058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00" dirty="0">
                          <a:solidFill>
                            <a:srgbClr val="FFFFFF"/>
                          </a:solidFill>
                          <a:latin typeface="Manrope" pitchFamily="34" charset="0"/>
                          <a:ea typeface="Manrope" pitchFamily="34" charset="-122"/>
                          <a:cs typeface="Manrope" pitchFamily="34" charset="-120"/>
                        </a:rPr>
                        <a:t>Too Many Requests</a:t>
                      </a:r>
                      <a:endParaRPr lang="en-US" sz="1100" dirty="0">
                        <a:latin typeface="Manrope" charset="0"/>
                        <a:ea typeface="Manrope" charset="0"/>
                        <a:cs typeface="Manrope" charset="0"/>
                      </a:endParaRPr>
                    </a:p>
                  </a:txBody>
                  <a:tcPr marL="140582" marR="14058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00" dirty="0">
                          <a:solidFill>
                            <a:srgbClr val="FFFFFF"/>
                          </a:solidFill>
                          <a:latin typeface="Manrope" pitchFamily="34" charset="0"/>
                          <a:ea typeface="Manrope" pitchFamily="34" charset="-122"/>
                          <a:cs typeface="Manrope" pitchFamily="34" charset="-120"/>
                        </a:rPr>
                        <a:t>Se ha superado el límite de peticiones. Esperar y reintentar.</a:t>
                      </a:r>
                      <a:endParaRPr lang="en-US" sz="1100" dirty="0">
                        <a:latin typeface="Manrope" charset="0"/>
                        <a:ea typeface="Manrope" charset="0"/>
                        <a:cs typeface="Manrope" charset="0"/>
                      </a:endParaRPr>
                    </a:p>
                  </a:txBody>
                  <a:tcPr marL="140582" marR="14058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367199">
                <a:tc>
                  <a:txBody>
                    <a:bodyPr/>
                    <a:lstStyle/>
                    <a:p>
                      <a:pPr indent="0" marL="0">
                        <a:buNone/>
                      </a:pPr>
                      <a:r>
                        <a:rPr lang="en-US" sz="1100" b="1" dirty="0">
                          <a:solidFill>
                            <a:srgbClr val="FFFFFF"/>
                          </a:solidFill>
                          <a:latin typeface="Manrope" pitchFamily="34" charset="0"/>
                          <a:ea typeface="Manrope" pitchFamily="34" charset="-122"/>
                          <a:cs typeface="Manrope" pitchFamily="34" charset="-120"/>
                        </a:rPr>
                        <a:t>500</a:t>
                      </a:r>
                      <a:endParaRPr lang="en-US" sz="1100" dirty="0">
                        <a:latin typeface="Manrope" charset="0"/>
                        <a:ea typeface="Manrope" charset="0"/>
                        <a:cs typeface="Manrope" charset="0"/>
                      </a:endParaRPr>
                    </a:p>
                  </a:txBody>
                  <a:tcPr marL="140582" marR="14058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00" dirty="0">
                          <a:solidFill>
                            <a:srgbClr val="FFFFFF"/>
                          </a:solidFill>
                          <a:latin typeface="Manrope" pitchFamily="34" charset="0"/>
                          <a:ea typeface="Manrope" pitchFamily="34" charset="-122"/>
                          <a:cs typeface="Manrope" pitchFamily="34" charset="-120"/>
                        </a:rPr>
                        <a:t>Server Error</a:t>
                      </a:r>
                      <a:endParaRPr lang="en-US" sz="1100" dirty="0">
                        <a:latin typeface="Manrope" charset="0"/>
                        <a:ea typeface="Manrope" charset="0"/>
                        <a:cs typeface="Manrope" charset="0"/>
                      </a:endParaRPr>
                    </a:p>
                  </a:txBody>
                  <a:tcPr marL="140582" marR="14058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00" dirty="0">
                          <a:solidFill>
                            <a:srgbClr val="FFFFFF"/>
                          </a:solidFill>
                          <a:latin typeface="Manrope" pitchFamily="34" charset="0"/>
                          <a:ea typeface="Manrope" pitchFamily="34" charset="-122"/>
                          <a:cs typeface="Manrope" pitchFamily="34" charset="-120"/>
                        </a:rPr>
                        <a:t>Error en el servidor. Registrar el error y reintentar más tarde.</a:t>
                      </a:r>
                      <a:endParaRPr lang="en-US" sz="1100" dirty="0">
                        <a:latin typeface="Manrope" charset="0"/>
                        <a:ea typeface="Manrope" charset="0"/>
                        <a:cs typeface="Manrope" charset="0"/>
                      </a:endParaRPr>
                    </a:p>
                  </a:txBody>
                  <a:tcPr marL="140582" marR="14058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bl>
          </a:graphicData>
        </a:graphic>
      </p:graphicFrame>
      <p:sp>
        <p:nvSpPr>
          <p:cNvPr id="5" name="Shape 2"/>
          <p:cNvSpPr/>
          <p:nvPr/>
        </p:nvSpPr>
        <p:spPr>
          <a:xfrm>
            <a:off x="661475" y="5194598"/>
            <a:ext cx="10868745" cy="505222"/>
          </a:xfrm>
          <a:prstGeom prst="roundRect">
            <a:avLst>
              <a:gd name="adj" fmla="val 41739"/>
            </a:avLst>
          </a:prstGeom>
          <a:solidFill>
            <a:srgbClr val="321769"/>
          </a:solidFill>
          <a:ln/>
        </p:spPr>
      </p:sp>
      <p:pic>
        <p:nvPicPr>
          <p:cNvPr id="6" name="Image 0" descr="preencoded.png">    </p:cNvPr>
          <p:cNvPicPr>
            <a:picLocks noChangeAspect="1"/>
          </p:cNvPicPr>
          <p:nvPr/>
        </p:nvPicPr>
        <p:blipFill>
          <a:blip r:embed="rId1"/>
          <a:stretch>
            <a:fillRect/>
          </a:stretch>
        </p:blipFill>
        <p:spPr>
          <a:xfrm>
            <a:off x="801965" y="5365948"/>
            <a:ext cx="175712" cy="140494"/>
          </a:xfrm>
          <a:prstGeom prst="rect">
            <a:avLst/>
          </a:prstGeom>
        </p:spPr>
      </p:pic>
      <p:sp>
        <p:nvSpPr>
          <p:cNvPr id="7" name="Text 3"/>
          <p:cNvSpPr/>
          <p:nvPr/>
        </p:nvSpPr>
        <p:spPr>
          <a:xfrm>
            <a:off x="1118167" y="5349180"/>
            <a:ext cx="10881147" cy="208062"/>
          </a:xfrm>
          <a:prstGeom prst="rect">
            <a:avLst/>
          </a:prstGeom>
          <a:noFill/>
          <a:ln/>
        </p:spPr>
        <p:txBody>
          <a:bodyPr wrap="none" lIns="0" tIns="0" rIns="0" bIns="0" rtlCol="0" anchor="t"/>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El código </a:t>
            </a:r>
            <a:pPr algn="l" indent="0" marL="0">
              <a:lnSpc>
                <a:spcPct val="123000"/>
              </a:lnSpc>
              <a:buNone/>
            </a:pPr>
            <a:r>
              <a:rPr lang="en-US" sz="1100" b="1" dirty="0">
                <a:solidFill>
                  <a:srgbClr val="FFFFFF"/>
                </a:solidFill>
                <a:latin typeface="Manrope Bold" pitchFamily="34" charset="0"/>
                <a:ea typeface="Manrope Bold" pitchFamily="34" charset="-122"/>
                <a:cs typeface="Manrope Bold" pitchFamily="34" charset="-120"/>
              </a:rPr>
              <a:t>429 Too Many Requests</a:t>
            </a:r>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 es especialmente relevante en pipelines automáticos: indica que hemos superado el </a:t>
            </a:r>
            <a:pPr algn="l" indent="0" marL="0">
              <a:lnSpc>
                <a:spcPct val="123000"/>
              </a:lnSpc>
              <a:buNone/>
            </a:pPr>
            <a:r>
              <a:rPr lang="en-US" sz="1100" i="1" dirty="0">
                <a:solidFill>
                  <a:srgbClr val="FFFFFF"/>
                </a:solidFill>
                <a:latin typeface="Manrope" pitchFamily="34" charset="0"/>
                <a:ea typeface="Manrope" pitchFamily="34" charset="-122"/>
                <a:cs typeface="Manrope" pitchFamily="34" charset="-120"/>
              </a:rPr>
              <a:t>rate limit</a:t>
            </a:r>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 de la API.</a:t>
            </a:r>
            <a:endParaRPr lang="en-US" sz="1100" dirty="0"/>
          </a:p>
        </p:txBody>
      </p:sp>
      <p:pic>
        <p:nvPicPr>
          <p:cNvPr id="8" name="Image 1" descr="preencoded.png">    </p:cNvPr>
          <p:cNvPicPr>
            <a:picLocks noChangeAspect="1"/>
          </p:cNvPicPr>
          <p:nvPr/>
        </p:nvPicPr>
        <p:blipFill>
          <a:blip r:embed="rId2"/>
          <a:stretch>
            <a:fillRect/>
          </a:stretch>
        </p:blipFill>
        <p:spPr>
          <a:xfrm>
            <a:off x="198433" y="203597"/>
            <a:ext cx="676357" cy="568623"/>
          </a:xfrm>
          <a:prstGeom prst="rect">
            <a:avLst/>
          </a:prstGeom>
        </p:spPr>
      </p:pic>
      <p:pic>
        <p:nvPicPr>
          <p:cNvPr id="9" name="Image 2" descr="preencoded.png">    </p:cNvPr>
          <p:cNvPicPr>
            <a:picLocks noChangeAspect="1"/>
          </p:cNvPicPr>
          <p:nvPr/>
        </p:nvPicPr>
        <p:blipFill>
          <a:blip r:embed="rId3"/>
          <a:stretch>
            <a:fillRect/>
          </a:stretch>
        </p:blipFill>
        <p:spPr>
          <a:xfrm>
            <a:off x="11386357" y="268784"/>
            <a:ext cx="606906" cy="438249"/>
          </a:xfrm>
          <a:prstGeom prst="rect">
            <a:avLst/>
          </a:prstGeom>
        </p:spPr>
      </p:pic>
      <p:sp>
        <p:nvSpPr>
          <p:cNvPr id="10" name="Text 4"/>
          <p:cNvSpPr/>
          <p:nvPr/>
        </p:nvSpPr>
        <p:spPr>
          <a:xfrm>
            <a:off x="10846620" y="6300589"/>
            <a:ext cx="1146642"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61475" y="998934"/>
            <a:ext cx="10868745" cy="366316"/>
          </a:xfrm>
          <a:prstGeom prst="rect">
            <a:avLst/>
          </a:prstGeom>
          <a:noFill/>
          <a:ln/>
        </p:spPr>
        <p:txBody>
          <a:bodyPr wrap="none" lIns="0" tIns="0" rIns="0" bIns="0" rtlCol="0" anchor="t"/>
          <a:lstStyle/>
          <a:p>
            <a:pPr algn="l" indent="0" marL="0">
              <a:lnSpc>
                <a:spcPct val="104000"/>
              </a:lnSpc>
              <a:buNone/>
            </a:pPr>
            <a:r>
              <a:rPr lang="en-US" sz="2300" spc="-23" kern="0" dirty="0">
                <a:solidFill>
                  <a:srgbClr val="FFFFFF"/>
                </a:solidFill>
                <a:latin typeface="Alexandria Medium" pitchFamily="34" charset="0"/>
                <a:ea typeface="Alexandria Medium" pitchFamily="34" charset="-122"/>
                <a:cs typeface="Alexandria Medium" pitchFamily="34" charset="-120"/>
              </a:rPr>
              <a:t>API desde Python</a:t>
            </a:r>
            <a:endParaRPr lang="en-US" sz="2300" dirty="0"/>
          </a:p>
        </p:txBody>
      </p:sp>
      <p:sp>
        <p:nvSpPr>
          <p:cNvPr id="3" name="Text 1"/>
          <p:cNvSpPr/>
          <p:nvPr/>
        </p:nvSpPr>
        <p:spPr>
          <a:xfrm>
            <a:off x="661475" y="1624806"/>
            <a:ext cx="11478330" cy="221059"/>
          </a:xfrm>
          <a:prstGeom prst="rect">
            <a:avLst/>
          </a:prstGeom>
          <a:noFill/>
          <a:ln/>
        </p:spPr>
        <p:txBody>
          <a:bodyPr wrap="none" lIns="0" tIns="0" rIns="0" bIns="0" rtlCol="0" anchor="t"/>
          <a:lstStyle/>
          <a:p>
            <a:pPr algn="l" indent="0" marL="0">
              <a:lnSpc>
                <a:spcPct val="126000"/>
              </a:lnSpc>
              <a:buNone/>
            </a:pPr>
            <a:r>
              <a:rPr lang="en-US" sz="1150" dirty="0">
                <a:solidFill>
                  <a:srgbClr val="FFFFFF"/>
                </a:solidFill>
                <a:latin typeface="Manrope" pitchFamily="34" charset="0"/>
                <a:ea typeface="Manrope" pitchFamily="34" charset="-122"/>
                <a:cs typeface="Manrope" pitchFamily="34" charset="-120"/>
              </a:rPr>
              <a:t>El flujo básico: </a:t>
            </a:r>
            <a:pPr algn="l" indent="0" marL="0">
              <a:lnSpc>
                <a:spcPct val="126000"/>
              </a:lnSpc>
              <a:buNone/>
            </a:pPr>
            <a:r>
              <a:rPr lang="en-US" sz="1150" b="1" dirty="0">
                <a:solidFill>
                  <a:srgbClr val="FFFFFF"/>
                </a:solidFill>
                <a:latin typeface="Manrope Bold" pitchFamily="34" charset="0"/>
                <a:ea typeface="Manrope Bold" pitchFamily="34" charset="-122"/>
                <a:cs typeface="Manrope Bold" pitchFamily="34" charset="-120"/>
              </a:rPr>
              <a:t>API → JSON → Python → DataFrame</a:t>
            </a:r>
            <a:endParaRPr lang="en-US" sz="1150" dirty="0"/>
          </a:p>
        </p:txBody>
      </p:sp>
      <p:sp>
        <p:nvSpPr>
          <p:cNvPr id="4" name="Text 2"/>
          <p:cNvSpPr/>
          <p:nvPr/>
        </p:nvSpPr>
        <p:spPr>
          <a:xfrm>
            <a:off x="661475" y="2121595"/>
            <a:ext cx="5255684" cy="228898"/>
          </a:xfrm>
          <a:prstGeom prst="rect">
            <a:avLst/>
          </a:prstGeom>
          <a:noFill/>
          <a:ln/>
        </p:spPr>
        <p:txBody>
          <a:bodyPr wrap="none" lIns="0" tIns="0" rIns="0" bIns="0" rtlCol="0" anchor="t"/>
          <a:lstStyle/>
          <a:p>
            <a:pPr algn="l" indent="0" marL="0">
              <a:lnSpc>
                <a:spcPct val="104000"/>
              </a:lnSpc>
              <a:buNone/>
            </a:pPr>
            <a:r>
              <a:rPr lang="en-US" sz="1400" spc="-14" kern="0" dirty="0">
                <a:solidFill>
                  <a:srgbClr val="FFFFFF"/>
                </a:solidFill>
                <a:latin typeface="Alexandria Medium" pitchFamily="34" charset="0"/>
                <a:ea typeface="Alexandria Medium" pitchFamily="34" charset="-122"/>
                <a:cs typeface="Alexandria Medium" pitchFamily="34" charset="-120"/>
              </a:rPr>
              <a:t>Paso 1 — Hacer la petición</a:t>
            </a:r>
            <a:endParaRPr lang="en-US" sz="1400" dirty="0"/>
          </a:p>
        </p:txBody>
      </p:sp>
      <p:sp>
        <p:nvSpPr>
          <p:cNvPr id="5" name="Shape 3"/>
          <p:cNvSpPr/>
          <p:nvPr/>
        </p:nvSpPr>
        <p:spPr>
          <a:xfrm>
            <a:off x="661475" y="2496443"/>
            <a:ext cx="5255684" cy="1934071"/>
          </a:xfrm>
          <a:prstGeom prst="roundRect">
            <a:avLst>
              <a:gd name="adj" fmla="val 11364"/>
            </a:avLst>
          </a:prstGeom>
          <a:solidFill>
            <a:srgbClr val="583592"/>
          </a:solidFill>
          <a:ln/>
        </p:spPr>
      </p:sp>
      <p:sp>
        <p:nvSpPr>
          <p:cNvPr id="6" name="Text 4"/>
          <p:cNvSpPr/>
          <p:nvPr/>
        </p:nvSpPr>
        <p:spPr>
          <a:xfrm>
            <a:off x="837286" y="2642890"/>
            <a:ext cx="4904062" cy="1641177"/>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E6EDF3"/>
                </a:solidFill>
                <a:latin typeface="Consolas" pitchFamily="34" charset="0"/>
                <a:ea typeface="Consolas" pitchFamily="34" charset="-122"/>
                <a:cs typeface="Consolas" pitchFamily="34" charset="-120"/>
              </a:rPr>
              <a:t>import requests</a:t>
            </a:r>
            <a:endParaRPr lang="en-US" sz="1150" dirty="0"/>
          </a:p>
          <a:p>
            <a:pPr algn="l" indent="0" marL="0">
              <a:lnSpc>
                <a:spcPct val="133000"/>
              </a:lnSpc>
              <a:buNone/>
            </a:pPr>
            <a:endParaRPr lang="en-US" sz="1150" dirty="0"/>
          </a:p>
          <a:p>
            <a:pPr algn="l" indent="0" marL="0">
              <a:lnSpc>
                <a:spcPct val="133000"/>
              </a:lnSpc>
              <a:buNone/>
            </a:pPr>
            <a:r>
              <a:rPr lang="en-US" sz="1150" dirty="0">
                <a:solidFill>
                  <a:srgbClr val="E6EDF3"/>
                </a:solidFill>
                <a:latin typeface="Consolas" pitchFamily="34" charset="0"/>
                <a:ea typeface="Consolas" pitchFamily="34" charset="-122"/>
                <a:cs typeface="Consolas" pitchFamily="34" charset="-120"/>
              </a:rPr>
              <a:t>url = "https://api.shopdata.com/products"</a:t>
            </a:r>
            <a:endParaRPr lang="en-US" sz="1150" dirty="0"/>
          </a:p>
          <a:p>
            <a:pPr algn="l" indent="0" marL="0">
              <a:lnSpc>
                <a:spcPct val="133000"/>
              </a:lnSpc>
              <a:buNone/>
            </a:pPr>
            <a:r>
              <a:rPr lang="en-US" sz="1150" dirty="0">
                <a:solidFill>
                  <a:srgbClr val="E6EDF3"/>
                </a:solidFill>
                <a:latin typeface="Consolas" pitchFamily="34" charset="0"/>
                <a:ea typeface="Consolas" pitchFamily="34" charset="-122"/>
                <a:cs typeface="Consolas" pitchFamily="34" charset="-120"/>
              </a:rPr>
              <a:t>response = requests.get(url)</a:t>
            </a:r>
            <a:endParaRPr lang="en-US" sz="1150" dirty="0"/>
          </a:p>
          <a:p>
            <a:pPr algn="l" indent="0" marL="0">
              <a:lnSpc>
                <a:spcPct val="133000"/>
              </a:lnSpc>
              <a:buNone/>
            </a:pPr>
            <a:endParaRPr lang="en-US" sz="1150" dirty="0"/>
          </a:p>
          <a:p>
            <a:pPr algn="l" indent="0" marL="0">
              <a:lnSpc>
                <a:spcPct val="133000"/>
              </a:lnSpc>
              <a:buNone/>
            </a:pPr>
            <a:r>
              <a:rPr lang="en-US" sz="1150" dirty="0">
                <a:solidFill>
                  <a:srgbClr val="E6EDF3"/>
                </a:solidFill>
                <a:latin typeface="Consolas" pitchFamily="34" charset="0"/>
                <a:ea typeface="Consolas" pitchFamily="34" charset="-122"/>
                <a:cs typeface="Consolas" pitchFamily="34" charset="-120"/>
              </a:rPr>
              <a:t># Verificar que fue bien</a:t>
            </a:r>
            <a:endParaRPr lang="en-US" sz="1150" dirty="0"/>
          </a:p>
          <a:p>
            <a:pPr algn="l" indent="0" marL="0">
              <a:lnSpc>
                <a:spcPct val="133000"/>
              </a:lnSpc>
              <a:buNone/>
            </a:pPr>
            <a:r>
              <a:rPr lang="en-US" sz="1150" dirty="0">
                <a:solidFill>
                  <a:srgbClr val="E6EDF3"/>
                </a:solidFill>
                <a:latin typeface="Consolas" pitchFamily="34" charset="0"/>
                <a:ea typeface="Consolas" pitchFamily="34" charset="-122"/>
                <a:cs typeface="Consolas" pitchFamily="34" charset="-120"/>
              </a:rPr>
              <a:t>print(response.status_code)  # 200</a:t>
            </a:r>
            <a:endParaRPr lang="en-US" sz="1150" dirty="0"/>
          </a:p>
        </p:txBody>
      </p:sp>
      <p:sp>
        <p:nvSpPr>
          <p:cNvPr id="7" name="Text 5"/>
          <p:cNvSpPr/>
          <p:nvPr/>
        </p:nvSpPr>
        <p:spPr>
          <a:xfrm>
            <a:off x="661475" y="4576465"/>
            <a:ext cx="5255684" cy="228898"/>
          </a:xfrm>
          <a:prstGeom prst="rect">
            <a:avLst/>
          </a:prstGeom>
          <a:noFill/>
          <a:ln/>
        </p:spPr>
        <p:txBody>
          <a:bodyPr wrap="none" lIns="0" tIns="0" rIns="0" bIns="0" rtlCol="0" anchor="t"/>
          <a:lstStyle/>
          <a:p>
            <a:pPr algn="l" indent="0" marL="0">
              <a:lnSpc>
                <a:spcPct val="104000"/>
              </a:lnSpc>
              <a:buNone/>
            </a:pPr>
            <a:r>
              <a:rPr lang="en-US" sz="1400" spc="-14" kern="0" dirty="0">
                <a:solidFill>
                  <a:srgbClr val="FFFFFF"/>
                </a:solidFill>
                <a:latin typeface="Alexandria Medium" pitchFamily="34" charset="0"/>
                <a:ea typeface="Alexandria Medium" pitchFamily="34" charset="-122"/>
                <a:cs typeface="Alexandria Medium" pitchFamily="34" charset="-120"/>
              </a:rPr>
              <a:t>Paso 2 — Obtener los datos JSON</a:t>
            </a:r>
            <a:endParaRPr lang="en-US" sz="1400" dirty="0"/>
          </a:p>
        </p:txBody>
      </p:sp>
      <p:sp>
        <p:nvSpPr>
          <p:cNvPr id="8" name="Shape 6"/>
          <p:cNvSpPr/>
          <p:nvPr/>
        </p:nvSpPr>
        <p:spPr>
          <a:xfrm>
            <a:off x="661475" y="4951313"/>
            <a:ext cx="5255684" cy="761802"/>
          </a:xfrm>
          <a:prstGeom prst="roundRect">
            <a:avLst>
              <a:gd name="adj" fmla="val 28851"/>
            </a:avLst>
          </a:prstGeom>
          <a:solidFill>
            <a:srgbClr val="583592"/>
          </a:solidFill>
          <a:ln/>
        </p:spPr>
      </p:sp>
      <p:sp>
        <p:nvSpPr>
          <p:cNvPr id="9" name="Text 7"/>
          <p:cNvSpPr/>
          <p:nvPr/>
        </p:nvSpPr>
        <p:spPr>
          <a:xfrm>
            <a:off x="837286" y="5097760"/>
            <a:ext cx="4904062" cy="468908"/>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E6EDF3"/>
                </a:solidFill>
                <a:latin typeface="Consolas" pitchFamily="34" charset="0"/>
                <a:ea typeface="Consolas" pitchFamily="34" charset="-122"/>
                <a:cs typeface="Consolas" pitchFamily="34" charset="-120"/>
              </a:rPr>
              <a:t>data = response.json()</a:t>
            </a:r>
            <a:endParaRPr lang="en-US" sz="1150" dirty="0"/>
          </a:p>
          <a:p>
            <a:pPr algn="l" indent="0" marL="0">
              <a:lnSpc>
                <a:spcPct val="133000"/>
              </a:lnSpc>
              <a:buNone/>
            </a:pPr>
            <a:r>
              <a:rPr lang="en-US" sz="1150" dirty="0">
                <a:solidFill>
                  <a:srgbClr val="E6EDF3"/>
                </a:solidFill>
                <a:latin typeface="Consolas" pitchFamily="34" charset="0"/>
                <a:ea typeface="Consolas" pitchFamily="34" charset="-122"/>
                <a:cs typeface="Consolas" pitchFamily="34" charset="-120"/>
              </a:rPr>
              <a:t># data es ahora una lista de dicts Python</a:t>
            </a:r>
            <a:endParaRPr lang="en-US" sz="1150" dirty="0"/>
          </a:p>
        </p:txBody>
      </p:sp>
      <p:sp>
        <p:nvSpPr>
          <p:cNvPr id="10" name="Text 8"/>
          <p:cNvSpPr/>
          <p:nvPr/>
        </p:nvSpPr>
        <p:spPr>
          <a:xfrm>
            <a:off x="6280886" y="2121595"/>
            <a:ext cx="5255684" cy="228898"/>
          </a:xfrm>
          <a:prstGeom prst="rect">
            <a:avLst/>
          </a:prstGeom>
          <a:noFill/>
          <a:ln/>
        </p:spPr>
        <p:txBody>
          <a:bodyPr wrap="none" lIns="0" tIns="0" rIns="0" bIns="0" rtlCol="0" anchor="t"/>
          <a:lstStyle/>
          <a:p>
            <a:pPr algn="l" indent="0" marL="0">
              <a:lnSpc>
                <a:spcPct val="104000"/>
              </a:lnSpc>
              <a:buNone/>
            </a:pPr>
            <a:r>
              <a:rPr lang="en-US" sz="1400" spc="-14" kern="0" dirty="0">
                <a:solidFill>
                  <a:srgbClr val="FFFFFF"/>
                </a:solidFill>
                <a:latin typeface="Alexandria Medium" pitchFamily="34" charset="0"/>
                <a:ea typeface="Alexandria Medium" pitchFamily="34" charset="-122"/>
                <a:cs typeface="Alexandria Medium" pitchFamily="34" charset="-120"/>
              </a:rPr>
              <a:t>Paso 3 — Convertir a DataFrame</a:t>
            </a:r>
            <a:endParaRPr lang="en-US" sz="1400" dirty="0"/>
          </a:p>
        </p:txBody>
      </p:sp>
      <p:sp>
        <p:nvSpPr>
          <p:cNvPr id="11" name="Shape 9"/>
          <p:cNvSpPr/>
          <p:nvPr/>
        </p:nvSpPr>
        <p:spPr>
          <a:xfrm>
            <a:off x="6280886" y="2496443"/>
            <a:ext cx="5255684" cy="2168525"/>
          </a:xfrm>
          <a:prstGeom prst="roundRect">
            <a:avLst>
              <a:gd name="adj" fmla="val 10135"/>
            </a:avLst>
          </a:prstGeom>
          <a:solidFill>
            <a:srgbClr val="583592"/>
          </a:solidFill>
          <a:ln/>
        </p:spPr>
      </p:sp>
      <p:sp>
        <p:nvSpPr>
          <p:cNvPr id="12" name="Text 10"/>
          <p:cNvSpPr/>
          <p:nvPr/>
        </p:nvSpPr>
        <p:spPr>
          <a:xfrm>
            <a:off x="6456697" y="2642890"/>
            <a:ext cx="4904062" cy="1875631"/>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FF7B72"/>
                </a:solidFill>
                <a:latin typeface="Consolas" pitchFamily="34" charset="0"/>
                <a:ea typeface="Consolas" pitchFamily="34" charset="-122"/>
                <a:cs typeface="Consolas" pitchFamily="34" charset="-120"/>
              </a:rPr>
              <a:t>import pandas as pd</a:t>
            </a:r>
            <a:endParaRPr lang="en-US" sz="1150" dirty="0"/>
          </a:p>
          <a:p>
            <a:pPr algn="l" indent="0" marL="0">
              <a:lnSpc>
                <a:spcPct val="133000"/>
              </a:lnSpc>
              <a:buNone/>
            </a:pPr>
            <a:endParaRPr lang="en-US" sz="1150" dirty="0"/>
          </a:p>
          <a:p>
            <a:pPr algn="l" indent="0" marL="0">
              <a:lnSpc>
                <a:spcPct val="133000"/>
              </a:lnSpc>
              <a:buNone/>
            </a:pPr>
            <a:r>
              <a:rPr lang="en-US" sz="1150" dirty="0">
                <a:solidFill>
                  <a:srgbClr val="FF7B72"/>
                </a:solidFill>
                <a:latin typeface="Consolas" pitchFamily="34" charset="0"/>
                <a:ea typeface="Consolas" pitchFamily="34" charset="-122"/>
                <a:cs typeface="Consolas" pitchFamily="34" charset="-120"/>
              </a:rPr>
              <a:t>df = pd.DataFrame(data)</a:t>
            </a:r>
            <a:endParaRPr lang="en-US" sz="1150" dirty="0"/>
          </a:p>
          <a:p>
            <a:pPr algn="l" indent="0" marL="0">
              <a:lnSpc>
                <a:spcPct val="133000"/>
              </a:lnSpc>
              <a:buNone/>
            </a:pPr>
            <a:r>
              <a:rPr lang="en-US" sz="1150" dirty="0">
                <a:solidFill>
                  <a:srgbClr val="FF7B72"/>
                </a:solidFill>
                <a:latin typeface="Consolas" pitchFamily="34" charset="0"/>
                <a:ea typeface="Consolas" pitchFamily="34" charset="-122"/>
                <a:cs typeface="Consolas" pitchFamily="34" charset="-120"/>
              </a:rPr>
              <a:t>print(df.head())</a:t>
            </a:r>
            <a:endParaRPr lang="en-US" sz="1150" dirty="0"/>
          </a:p>
          <a:p>
            <a:pPr algn="l" indent="0" marL="0">
              <a:lnSpc>
                <a:spcPct val="133000"/>
              </a:lnSpc>
              <a:buNone/>
            </a:pPr>
            <a:endParaRPr lang="en-US" sz="1150" dirty="0"/>
          </a:p>
          <a:p>
            <a:pPr algn="l" indent="0" marL="0">
              <a:lnSpc>
                <a:spcPct val="133000"/>
              </a:lnSpc>
              <a:buNone/>
            </a:pPr>
            <a:r>
              <a:rPr lang="en-US" sz="1150" dirty="0">
                <a:solidFill>
                  <a:srgbClr val="FF7B72"/>
                </a:solidFill>
                <a:latin typeface="Consolas" pitchFamily="34" charset="0"/>
                <a:ea typeface="Consolas" pitchFamily="34" charset="-122"/>
                <a:cs typeface="Consolas" pitchFamily="34" charset="-120"/>
              </a:rPr>
              <a:t>#    id     nombre   precio</a:t>
            </a:r>
            <a:endParaRPr lang="en-US" sz="1150" dirty="0"/>
          </a:p>
          <a:p>
            <a:pPr algn="l" indent="0" marL="0">
              <a:lnSpc>
                <a:spcPct val="133000"/>
              </a:lnSpc>
              <a:buNone/>
            </a:pPr>
            <a:r>
              <a:rPr lang="en-US" sz="1150" dirty="0">
                <a:solidFill>
                  <a:srgbClr val="FF7B72"/>
                </a:solidFill>
                <a:latin typeface="Consolas" pitchFamily="34" charset="0"/>
                <a:ea typeface="Consolas" pitchFamily="34" charset="-122"/>
                <a:cs typeface="Consolas" pitchFamily="34" charset="-120"/>
              </a:rPr>
              <a:t># 0  P01  Portátil X   899</a:t>
            </a:r>
            <a:endParaRPr lang="en-US" sz="1150" dirty="0"/>
          </a:p>
          <a:p>
            <a:pPr algn="l" indent="0" marL="0">
              <a:lnSpc>
                <a:spcPct val="133000"/>
              </a:lnSpc>
              <a:buNone/>
            </a:pPr>
            <a:r>
              <a:rPr lang="en-US" sz="1150" dirty="0">
                <a:solidFill>
                  <a:srgbClr val="FF7B72"/>
                </a:solidFill>
                <a:latin typeface="Consolas" pitchFamily="34" charset="0"/>
                <a:ea typeface="Consolas" pitchFamily="34" charset="-122"/>
                <a:cs typeface="Consolas" pitchFamily="34" charset="-120"/>
              </a:rPr>
              <a:t># 1  P02  Ratón Y       29</a:t>
            </a:r>
            <a:endParaRPr lang="en-US" sz="1150" dirty="0"/>
          </a:p>
        </p:txBody>
      </p:sp>
      <p:pic>
        <p:nvPicPr>
          <p:cNvPr id="13"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14"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15" name="Text 11"/>
          <p:cNvSpPr/>
          <p:nvPr/>
        </p:nvSpPr>
        <p:spPr>
          <a:xfrm>
            <a:off x="10848009" y="6300589"/>
            <a:ext cx="1145253"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61475" y="1030486"/>
            <a:ext cx="10868745" cy="392708"/>
          </a:xfrm>
          <a:prstGeom prst="rect">
            <a:avLst/>
          </a:prstGeom>
          <a:noFill/>
          <a:ln/>
        </p:spPr>
        <p:txBody>
          <a:bodyPr wrap="none" lIns="0" tIns="0" rIns="0" bIns="0" rtlCol="0" anchor="t"/>
          <a:lstStyle/>
          <a:p>
            <a:pPr algn="l" indent="0" marL="0">
              <a:lnSpc>
                <a:spcPct val="104000"/>
              </a:lnSpc>
              <a:buNone/>
            </a:pPr>
            <a:r>
              <a:rPr lang="en-US" sz="2450" spc="-25" kern="0" dirty="0">
                <a:solidFill>
                  <a:srgbClr val="FFFFFF"/>
                </a:solidFill>
                <a:latin typeface="Alexandria Medium" pitchFamily="34" charset="0"/>
                <a:ea typeface="Alexandria Medium" pitchFamily="34" charset="-122"/>
                <a:cs typeface="Alexandria Medium" pitchFamily="34" charset="-120"/>
              </a:rPr>
              <a:t>APIs reales: no todo es tan sencillo</a:t>
            </a:r>
            <a:endParaRPr lang="en-US" sz="2450" dirty="0"/>
          </a:p>
        </p:txBody>
      </p:sp>
      <p:sp>
        <p:nvSpPr>
          <p:cNvPr id="3" name="Text 1"/>
          <p:cNvSpPr/>
          <p:nvPr/>
        </p:nvSpPr>
        <p:spPr>
          <a:xfrm>
            <a:off x="661475" y="1721644"/>
            <a:ext cx="11478330" cy="245170"/>
          </a:xfrm>
          <a:prstGeom prst="rect">
            <a:avLst/>
          </a:prstGeom>
          <a:noFill/>
          <a:ln/>
        </p:spPr>
        <p:txBody>
          <a:bodyPr wrap="none" lIns="0" tIns="0" rIns="0" bIns="0" rtlCol="0" anchor="t"/>
          <a:lstStyle/>
          <a:p>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El ejemplo anterior funciona en una API ideal. En producción aparecen complejidades que deben gestionarse.</a:t>
            </a:r>
            <a:endParaRPr lang="en-US" sz="1200" dirty="0"/>
          </a:p>
        </p:txBody>
      </p:sp>
      <p:sp>
        <p:nvSpPr>
          <p:cNvPr id="4" name="Shape 2"/>
          <p:cNvSpPr/>
          <p:nvPr/>
        </p:nvSpPr>
        <p:spPr>
          <a:xfrm>
            <a:off x="661475" y="2134691"/>
            <a:ext cx="3523368" cy="1397397"/>
          </a:xfrm>
          <a:prstGeom prst="roundRect">
            <a:avLst>
              <a:gd name="adj" fmla="val 16866"/>
            </a:avLst>
          </a:prstGeom>
          <a:solidFill>
            <a:srgbClr val="3F2077"/>
          </a:solidFill>
          <a:ln w="6350">
            <a:solidFill>
              <a:srgbClr val="4B3082"/>
            </a:solidFill>
            <a:prstDash val="solid"/>
          </a:ln>
        </p:spPr>
      </p:sp>
      <p:sp>
        <p:nvSpPr>
          <p:cNvPr id="5" name="Text 3"/>
          <p:cNvSpPr/>
          <p:nvPr/>
        </p:nvSpPr>
        <p:spPr>
          <a:xfrm>
            <a:off x="824884" y="2298105"/>
            <a:ext cx="3196550" cy="245566"/>
          </a:xfrm>
          <a:prstGeom prst="rect">
            <a:avLst/>
          </a:prstGeom>
          <a:noFill/>
          <a:ln/>
        </p:spPr>
        <p:txBody>
          <a:bodyPr wrap="none" lIns="0" tIns="0" rIns="0" bIns="0" rtlCol="0" anchor="t"/>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Autenticación</a:t>
            </a:r>
            <a:endParaRPr lang="en-US" sz="1500" dirty="0"/>
          </a:p>
        </p:txBody>
      </p:sp>
      <p:sp>
        <p:nvSpPr>
          <p:cNvPr id="6" name="Text 4"/>
          <p:cNvSpPr/>
          <p:nvPr/>
        </p:nvSpPr>
        <p:spPr>
          <a:xfrm>
            <a:off x="824884" y="2633166"/>
            <a:ext cx="3196550" cy="49033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API Keys, tokens OAuth, Basic Auth. Sin la credencial correcta no hay acceso.</a:t>
            </a:r>
            <a:endParaRPr lang="en-US" sz="1200" dirty="0"/>
          </a:p>
        </p:txBody>
      </p:sp>
      <p:sp>
        <p:nvSpPr>
          <p:cNvPr id="7" name="Shape 5"/>
          <p:cNvSpPr/>
          <p:nvPr/>
        </p:nvSpPr>
        <p:spPr>
          <a:xfrm>
            <a:off x="4334064" y="2134691"/>
            <a:ext cx="3523467" cy="1397397"/>
          </a:xfrm>
          <a:prstGeom prst="roundRect">
            <a:avLst>
              <a:gd name="adj" fmla="val 16866"/>
            </a:avLst>
          </a:prstGeom>
          <a:solidFill>
            <a:srgbClr val="3F2077"/>
          </a:solidFill>
          <a:ln w="6350">
            <a:solidFill>
              <a:srgbClr val="4B3082"/>
            </a:solidFill>
            <a:prstDash val="solid"/>
          </a:ln>
        </p:spPr>
      </p:sp>
      <p:sp>
        <p:nvSpPr>
          <p:cNvPr id="8" name="Text 6"/>
          <p:cNvSpPr/>
          <p:nvPr/>
        </p:nvSpPr>
        <p:spPr>
          <a:xfrm>
            <a:off x="4497473" y="2298105"/>
            <a:ext cx="3196649" cy="245566"/>
          </a:xfrm>
          <a:prstGeom prst="rect">
            <a:avLst/>
          </a:prstGeom>
          <a:noFill/>
          <a:ln/>
        </p:spPr>
        <p:txBody>
          <a:bodyPr wrap="none" lIns="0" tIns="0" rIns="0" bIns="0" rtlCol="0" anchor="t"/>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Rate limits</a:t>
            </a:r>
            <a:endParaRPr lang="en-US" sz="1500" dirty="0"/>
          </a:p>
        </p:txBody>
      </p:sp>
      <p:sp>
        <p:nvSpPr>
          <p:cNvPr id="9" name="Text 7"/>
          <p:cNvSpPr/>
          <p:nvPr/>
        </p:nvSpPr>
        <p:spPr>
          <a:xfrm>
            <a:off x="4497473" y="2633166"/>
            <a:ext cx="3196649" cy="49033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Número máximo de peticiones por segundo, minuto o día. Superarlos genera errores 429.</a:t>
            </a:r>
            <a:endParaRPr lang="en-US" sz="1200" dirty="0"/>
          </a:p>
        </p:txBody>
      </p:sp>
      <p:sp>
        <p:nvSpPr>
          <p:cNvPr id="10" name="Shape 8"/>
          <p:cNvSpPr/>
          <p:nvPr/>
        </p:nvSpPr>
        <p:spPr>
          <a:xfrm>
            <a:off x="8006753" y="2134691"/>
            <a:ext cx="3523368" cy="1397397"/>
          </a:xfrm>
          <a:prstGeom prst="roundRect">
            <a:avLst>
              <a:gd name="adj" fmla="val 16866"/>
            </a:avLst>
          </a:prstGeom>
          <a:solidFill>
            <a:srgbClr val="3F2077"/>
          </a:solidFill>
          <a:ln w="6350">
            <a:solidFill>
              <a:srgbClr val="4B3082"/>
            </a:solidFill>
            <a:prstDash val="solid"/>
          </a:ln>
        </p:spPr>
      </p:sp>
      <p:sp>
        <p:nvSpPr>
          <p:cNvPr id="11" name="Text 9"/>
          <p:cNvSpPr/>
          <p:nvPr/>
        </p:nvSpPr>
        <p:spPr>
          <a:xfrm>
            <a:off x="8170162" y="2298105"/>
            <a:ext cx="3196550" cy="245566"/>
          </a:xfrm>
          <a:prstGeom prst="rect">
            <a:avLst/>
          </a:prstGeom>
          <a:noFill/>
          <a:ln/>
        </p:spPr>
        <p:txBody>
          <a:bodyPr wrap="none" lIns="0" tIns="0" rIns="0" bIns="0" rtlCol="0" anchor="t"/>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Paginación</a:t>
            </a:r>
            <a:endParaRPr lang="en-US" sz="1500" dirty="0"/>
          </a:p>
        </p:txBody>
      </p:sp>
      <p:sp>
        <p:nvSpPr>
          <p:cNvPr id="12" name="Text 10"/>
          <p:cNvSpPr/>
          <p:nvPr/>
        </p:nvSpPr>
        <p:spPr>
          <a:xfrm>
            <a:off x="8170162" y="2633166"/>
            <a:ext cx="3196550" cy="73550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La API devuelve solo N registros por respuesta. Hay que iterar para obtener todos.</a:t>
            </a:r>
            <a:endParaRPr lang="en-US" sz="1200" dirty="0"/>
          </a:p>
        </p:txBody>
      </p:sp>
      <p:sp>
        <p:nvSpPr>
          <p:cNvPr id="13" name="Shape 11"/>
          <p:cNvSpPr/>
          <p:nvPr/>
        </p:nvSpPr>
        <p:spPr>
          <a:xfrm>
            <a:off x="661475" y="3681313"/>
            <a:ext cx="3523368" cy="1397397"/>
          </a:xfrm>
          <a:prstGeom prst="roundRect">
            <a:avLst>
              <a:gd name="adj" fmla="val 16866"/>
            </a:avLst>
          </a:prstGeom>
          <a:solidFill>
            <a:srgbClr val="3F2077"/>
          </a:solidFill>
          <a:ln w="6350">
            <a:solidFill>
              <a:srgbClr val="4B3082"/>
            </a:solidFill>
            <a:prstDash val="solid"/>
          </a:ln>
        </p:spPr>
      </p:sp>
      <p:sp>
        <p:nvSpPr>
          <p:cNvPr id="14" name="Text 12"/>
          <p:cNvSpPr/>
          <p:nvPr/>
        </p:nvSpPr>
        <p:spPr>
          <a:xfrm>
            <a:off x="824884" y="3844727"/>
            <a:ext cx="3196550" cy="245566"/>
          </a:xfrm>
          <a:prstGeom prst="rect">
            <a:avLst/>
          </a:prstGeom>
          <a:noFill/>
          <a:ln/>
        </p:spPr>
        <p:txBody>
          <a:bodyPr wrap="none" lIns="0" tIns="0" rIns="0" bIns="0" rtlCol="0" anchor="t"/>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Respuestas incompletas</a:t>
            </a:r>
            <a:endParaRPr lang="en-US" sz="1500" dirty="0"/>
          </a:p>
        </p:txBody>
      </p:sp>
      <p:sp>
        <p:nvSpPr>
          <p:cNvPr id="15" name="Text 13"/>
          <p:cNvSpPr/>
          <p:nvPr/>
        </p:nvSpPr>
        <p:spPr>
          <a:xfrm>
            <a:off x="824884" y="4179788"/>
            <a:ext cx="3196550" cy="49033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Campos que faltan, nulos inesperados, listas vacías donde se esperaban datos.</a:t>
            </a:r>
            <a:endParaRPr lang="en-US" sz="1200" dirty="0"/>
          </a:p>
        </p:txBody>
      </p:sp>
      <p:sp>
        <p:nvSpPr>
          <p:cNvPr id="16" name="Shape 14"/>
          <p:cNvSpPr/>
          <p:nvPr/>
        </p:nvSpPr>
        <p:spPr>
          <a:xfrm>
            <a:off x="4334064" y="3681313"/>
            <a:ext cx="3523467" cy="1397397"/>
          </a:xfrm>
          <a:prstGeom prst="roundRect">
            <a:avLst>
              <a:gd name="adj" fmla="val 16866"/>
            </a:avLst>
          </a:prstGeom>
          <a:solidFill>
            <a:srgbClr val="3F2077"/>
          </a:solidFill>
          <a:ln w="6350">
            <a:solidFill>
              <a:srgbClr val="4B3082"/>
            </a:solidFill>
            <a:prstDash val="solid"/>
          </a:ln>
        </p:spPr>
      </p:sp>
      <p:sp>
        <p:nvSpPr>
          <p:cNvPr id="17" name="Text 15"/>
          <p:cNvSpPr/>
          <p:nvPr/>
        </p:nvSpPr>
        <p:spPr>
          <a:xfrm>
            <a:off x="4497473" y="3844727"/>
            <a:ext cx="3196649" cy="245566"/>
          </a:xfrm>
          <a:prstGeom prst="rect">
            <a:avLst/>
          </a:prstGeom>
          <a:noFill/>
          <a:ln/>
        </p:spPr>
        <p:txBody>
          <a:bodyPr wrap="none" lIns="0" tIns="0" rIns="0" bIns="0" rtlCol="0" anchor="t"/>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Cambios de versión</a:t>
            </a:r>
            <a:endParaRPr lang="en-US" sz="1500" dirty="0"/>
          </a:p>
        </p:txBody>
      </p:sp>
      <p:sp>
        <p:nvSpPr>
          <p:cNvPr id="18" name="Text 16"/>
          <p:cNvSpPr/>
          <p:nvPr/>
        </p:nvSpPr>
        <p:spPr>
          <a:xfrm>
            <a:off x="4497473" y="4179788"/>
            <a:ext cx="3196649" cy="73550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La API puede cambiar su estructura. Un pipeline que funcionaba ayer puede romperse hoy.</a:t>
            </a:r>
            <a:endParaRPr lang="en-US" sz="1200" dirty="0"/>
          </a:p>
        </p:txBody>
      </p:sp>
      <p:sp>
        <p:nvSpPr>
          <p:cNvPr id="19" name="Shape 17"/>
          <p:cNvSpPr/>
          <p:nvPr/>
        </p:nvSpPr>
        <p:spPr>
          <a:xfrm>
            <a:off x="8006753" y="3681313"/>
            <a:ext cx="3523368" cy="1397397"/>
          </a:xfrm>
          <a:prstGeom prst="roundRect">
            <a:avLst>
              <a:gd name="adj" fmla="val 16866"/>
            </a:avLst>
          </a:prstGeom>
          <a:solidFill>
            <a:srgbClr val="3F2077"/>
          </a:solidFill>
          <a:ln w="6350">
            <a:solidFill>
              <a:srgbClr val="4B3082"/>
            </a:solidFill>
            <a:prstDash val="solid"/>
          </a:ln>
        </p:spPr>
      </p:sp>
      <p:sp>
        <p:nvSpPr>
          <p:cNvPr id="20" name="Text 18"/>
          <p:cNvSpPr/>
          <p:nvPr/>
        </p:nvSpPr>
        <p:spPr>
          <a:xfrm>
            <a:off x="8170162" y="3844727"/>
            <a:ext cx="3196550" cy="245566"/>
          </a:xfrm>
          <a:prstGeom prst="rect">
            <a:avLst/>
          </a:prstGeom>
          <a:noFill/>
          <a:ln/>
        </p:spPr>
        <p:txBody>
          <a:bodyPr wrap="none" lIns="0" tIns="0" rIns="0" bIns="0" rtlCol="0" anchor="t"/>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Errores transitorios</a:t>
            </a:r>
            <a:endParaRPr lang="en-US" sz="1500" dirty="0"/>
          </a:p>
        </p:txBody>
      </p:sp>
      <p:sp>
        <p:nvSpPr>
          <p:cNvPr id="21" name="Text 19"/>
          <p:cNvSpPr/>
          <p:nvPr/>
        </p:nvSpPr>
        <p:spPr>
          <a:xfrm>
            <a:off x="8170162" y="4179788"/>
            <a:ext cx="3196550" cy="49033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Caídas temporales, timeouts, errores 500. Un pipeline robusto debe reintentar.</a:t>
            </a:r>
            <a:endParaRPr lang="en-US" sz="1200" dirty="0"/>
          </a:p>
        </p:txBody>
      </p:sp>
      <p:sp>
        <p:nvSpPr>
          <p:cNvPr id="22" name="Text 20"/>
          <p:cNvSpPr/>
          <p:nvPr/>
        </p:nvSpPr>
        <p:spPr>
          <a:xfrm>
            <a:off x="897113" y="5414466"/>
            <a:ext cx="11242691" cy="245170"/>
          </a:xfrm>
          <a:prstGeom prst="rect">
            <a:avLst/>
          </a:prstGeom>
          <a:noFill/>
          <a:ln/>
        </p:spPr>
        <p:txBody>
          <a:bodyPr wrap="none" lIns="0" tIns="0" rIns="0" bIns="0" rtlCol="0" anchor="t"/>
          <a:lstStyle/>
          <a:p>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Una extracción robusta necesita gestionar todas estas situaciones. El código de producción es mucho más que </a:t>
            </a:r>
            <a:pPr algn="l" indent="0" marL="0">
              <a:lnSpc>
                <a:spcPct val="130000"/>
              </a:lnSpc>
              <a:buNone/>
            </a:pPr>
            <a:r>
              <a:rPr lang="en-US" sz="1200" dirty="0">
                <a:solidFill>
                  <a:srgbClr val="FFFFFF"/>
                </a:solidFill>
                <a:highlight>
                  <a:srgbClr val="583592"/>
                </a:highlight>
                <a:latin typeface="Consolas" pitchFamily="34" charset="0"/>
                <a:ea typeface="Consolas" pitchFamily="34" charset="-122"/>
                <a:cs typeface="Consolas" pitchFamily="34" charset="-120"/>
              </a:rPr>
              <a:t>requests.get(url)</a:t>
            </a:r>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a:t>
            </a:r>
            <a:endParaRPr lang="en-US" sz="1200" dirty="0"/>
          </a:p>
        </p:txBody>
      </p:sp>
      <p:sp>
        <p:nvSpPr>
          <p:cNvPr id="23" name="Shape 21"/>
          <p:cNvSpPr/>
          <p:nvPr/>
        </p:nvSpPr>
        <p:spPr>
          <a:xfrm>
            <a:off x="661475" y="5246588"/>
            <a:ext cx="19050" cy="580926"/>
          </a:xfrm>
          <a:prstGeom prst="roundRect">
            <a:avLst>
              <a:gd name="adj" fmla="val 49999"/>
            </a:avLst>
          </a:prstGeom>
          <a:solidFill>
            <a:srgbClr val="B499E9"/>
          </a:solidFill>
          <a:ln/>
        </p:spPr>
      </p:sp>
      <p:pic>
        <p:nvPicPr>
          <p:cNvPr id="24"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25"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26" name="Text 22"/>
          <p:cNvSpPr/>
          <p:nvPr/>
        </p:nvSpPr>
        <p:spPr>
          <a:xfrm>
            <a:off x="10843048" y="6300589"/>
            <a:ext cx="1150214"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61475" y="1016496"/>
            <a:ext cx="10868745" cy="325537"/>
          </a:xfrm>
          <a:prstGeom prst="rect">
            <a:avLst/>
          </a:prstGeom>
          <a:noFill/>
          <a:ln/>
        </p:spPr>
        <p:txBody>
          <a:bodyPr wrap="none" lIns="0" tIns="0" rIns="0" bIns="0" rtlCol="0" anchor="t"/>
          <a:lstStyle/>
          <a:p>
            <a:pPr algn="l" indent="0" marL="0">
              <a:lnSpc>
                <a:spcPct val="104000"/>
              </a:lnSpc>
              <a:buNone/>
            </a:pPr>
            <a:r>
              <a:rPr lang="en-US" sz="2050" spc="-21" kern="0" dirty="0">
                <a:solidFill>
                  <a:srgbClr val="FFFFFF"/>
                </a:solidFill>
                <a:latin typeface="Alexandria Medium" pitchFamily="34" charset="0"/>
                <a:ea typeface="Alexandria Medium" pitchFamily="34" charset="-122"/>
                <a:cs typeface="Alexandria Medium" pitchFamily="34" charset="-120"/>
              </a:rPr>
              <a:t>Paginación</a:t>
            </a:r>
            <a:endParaRPr lang="en-US" sz="2050" dirty="0"/>
          </a:p>
        </p:txBody>
      </p:sp>
      <p:sp>
        <p:nvSpPr>
          <p:cNvPr id="3" name="Text 1"/>
          <p:cNvSpPr/>
          <p:nvPr/>
        </p:nvSpPr>
        <p:spPr>
          <a:xfrm>
            <a:off x="661475" y="1547118"/>
            <a:ext cx="11478330" cy="186234"/>
          </a:xfrm>
          <a:prstGeom prst="rect">
            <a:avLst/>
          </a:prstGeom>
          <a:noFill/>
          <a:ln/>
        </p:spPr>
        <p:txBody>
          <a:bodyPr wrap="none" lIns="0" tIns="0" rIns="0" bIns="0" rtlCol="0" anchor="t"/>
          <a:lstStyle/>
          <a:p>
            <a:pPr algn="l" indent="0" marL="0">
              <a:lnSpc>
                <a:spcPct val="119000"/>
              </a:lnSpc>
              <a:buNone/>
            </a:pPr>
            <a:r>
              <a:rPr lang="en-US" sz="1000" dirty="0">
                <a:solidFill>
                  <a:srgbClr val="FFFFFF"/>
                </a:solidFill>
                <a:latin typeface="Manrope" pitchFamily="34" charset="0"/>
                <a:ea typeface="Manrope" pitchFamily="34" charset="-122"/>
                <a:cs typeface="Manrope" pitchFamily="34" charset="-120"/>
              </a:rPr>
              <a:t>Una API raramente devuelve todos los registros en una sola respuesta. Necesitamos automatizar múltiples peticiones.</a:t>
            </a:r>
            <a:endParaRPr lang="en-US" sz="1000" dirty="0"/>
          </a:p>
        </p:txBody>
      </p:sp>
      <p:sp>
        <p:nvSpPr>
          <p:cNvPr id="4" name="Text 2"/>
          <p:cNvSpPr/>
          <p:nvPr/>
        </p:nvSpPr>
        <p:spPr>
          <a:xfrm>
            <a:off x="661475" y="1951236"/>
            <a:ext cx="5163611" cy="203498"/>
          </a:xfrm>
          <a:prstGeom prst="rect">
            <a:avLst/>
          </a:prstGeom>
          <a:noFill/>
          <a:ln/>
        </p:spPr>
        <p:txBody>
          <a:bodyPr wrap="none" lIns="0" tIns="0" rIns="0" bIns="0" rtlCol="0" anchor="t"/>
          <a:lstStyle/>
          <a:p>
            <a:pPr algn="l" indent="0" marL="0">
              <a:lnSpc>
                <a:spcPct val="104000"/>
              </a:lnSpc>
              <a:buNone/>
            </a:pPr>
            <a:r>
              <a:rPr lang="en-US" sz="1250" spc="-13" kern="0" dirty="0">
                <a:solidFill>
                  <a:srgbClr val="FFFFFF"/>
                </a:solidFill>
                <a:latin typeface="Alexandria Medium" pitchFamily="34" charset="0"/>
                <a:ea typeface="Alexandria Medium" pitchFamily="34" charset="-122"/>
                <a:cs typeface="Alexandria Medium" pitchFamily="34" charset="-120"/>
              </a:rPr>
              <a:t>El problema</a:t>
            </a:r>
            <a:endParaRPr lang="en-US" sz="1250" dirty="0"/>
          </a:p>
        </p:txBody>
      </p:sp>
      <p:sp>
        <p:nvSpPr>
          <p:cNvPr id="5" name="Text 3"/>
          <p:cNvSpPr/>
          <p:nvPr/>
        </p:nvSpPr>
        <p:spPr>
          <a:xfrm>
            <a:off x="856832" y="2362398"/>
            <a:ext cx="4968255" cy="372467"/>
          </a:xfrm>
          <a:prstGeom prst="rect">
            <a:avLst/>
          </a:prstGeom>
          <a:noFill/>
          <a:ln/>
        </p:spPr>
        <p:txBody>
          <a:bodyPr wrap="square" lIns="0" tIns="0" rIns="0" bIns="0" rtlCol="0" anchor="t">
            <a:normAutofit/>
          </a:bodyPr>
          <a:lstStyle/>
          <a:p>
            <a:pPr algn="l" indent="0" marL="0">
              <a:lnSpc>
                <a:spcPct val="119000"/>
              </a:lnSpc>
              <a:buNone/>
            </a:pPr>
            <a:r>
              <a:rPr lang="en-US" sz="1000" dirty="0">
                <a:solidFill>
                  <a:srgbClr val="FFFFFF"/>
                </a:solidFill>
                <a:latin typeface="Manrope" pitchFamily="34" charset="0"/>
                <a:ea typeface="Manrope" pitchFamily="34" charset="-122"/>
                <a:cs typeface="Manrope" pitchFamily="34" charset="-120"/>
              </a:rPr>
              <a:t>La API de productos de ShopData devuelve </a:t>
            </a:r>
            <a:pPr algn="l" indent="0" marL="0">
              <a:lnSpc>
                <a:spcPct val="119000"/>
              </a:lnSpc>
              <a:buNone/>
            </a:pPr>
            <a:r>
              <a:rPr lang="en-US" sz="1000" b="1" dirty="0">
                <a:solidFill>
                  <a:srgbClr val="FFFFFF"/>
                </a:solidFill>
                <a:latin typeface="Manrope Bold" pitchFamily="34" charset="0"/>
                <a:ea typeface="Manrope Bold" pitchFamily="34" charset="-122"/>
                <a:cs typeface="Manrope Bold" pitchFamily="34" charset="-120"/>
              </a:rPr>
              <a:t>100 registros por petición</a:t>
            </a:r>
            <a:pPr algn="l" indent="0" marL="0">
              <a:lnSpc>
                <a:spcPct val="119000"/>
              </a:lnSpc>
              <a:buNone/>
            </a:pPr>
            <a:r>
              <a:rPr lang="en-US" sz="1000" dirty="0">
                <a:solidFill>
                  <a:srgbClr val="FFFFFF"/>
                </a:solidFill>
                <a:latin typeface="Manrope" pitchFamily="34" charset="0"/>
                <a:ea typeface="Manrope" pitchFamily="34" charset="-122"/>
                <a:cs typeface="Manrope" pitchFamily="34" charset="-120"/>
              </a:rPr>
              <a:t>, pero el catálogo tiene </a:t>
            </a:r>
            <a:pPr algn="l" indent="0" marL="0">
              <a:lnSpc>
                <a:spcPct val="119000"/>
              </a:lnSpc>
              <a:buNone/>
            </a:pPr>
            <a:r>
              <a:rPr lang="en-US" sz="1000" b="1" dirty="0">
                <a:solidFill>
                  <a:srgbClr val="FFFFFF"/>
                </a:solidFill>
                <a:latin typeface="Manrope Bold" pitchFamily="34" charset="0"/>
                <a:ea typeface="Manrope Bold" pitchFamily="34" charset="-122"/>
                <a:cs typeface="Manrope Bold" pitchFamily="34" charset="-120"/>
              </a:rPr>
              <a:t>25.000 productos</a:t>
            </a:r>
            <a:pPr algn="l" indent="0" marL="0">
              <a:lnSpc>
                <a:spcPct val="119000"/>
              </a:lnSpc>
              <a:buNone/>
            </a:pPr>
            <a:r>
              <a:rPr lang="en-US" sz="1000" dirty="0">
                <a:solidFill>
                  <a:srgbClr val="FFFFFF"/>
                </a:solidFill>
                <a:latin typeface="Manrope" pitchFamily="34" charset="0"/>
                <a:ea typeface="Manrope" pitchFamily="34" charset="-122"/>
                <a:cs typeface="Manrope" pitchFamily="34" charset="-120"/>
              </a:rPr>
              <a:t>.</a:t>
            </a:r>
            <a:endParaRPr lang="en-US" sz="1000" dirty="0"/>
          </a:p>
        </p:txBody>
      </p:sp>
      <p:sp>
        <p:nvSpPr>
          <p:cNvPr id="6" name="Shape 4"/>
          <p:cNvSpPr/>
          <p:nvPr/>
        </p:nvSpPr>
        <p:spPr>
          <a:xfrm>
            <a:off x="661475" y="2270125"/>
            <a:ext cx="19050" cy="557014"/>
          </a:xfrm>
          <a:prstGeom prst="roundRect">
            <a:avLst>
              <a:gd name="adj" fmla="val 49999"/>
            </a:avLst>
          </a:prstGeom>
          <a:solidFill>
            <a:srgbClr val="B499E9"/>
          </a:solidFill>
          <a:ln/>
        </p:spPr>
      </p:sp>
      <p:pic>
        <p:nvPicPr>
          <p:cNvPr id="7" name="Image 0" descr="preencoded.png">    </p:cNvPr>
          <p:cNvPicPr>
            <a:picLocks noChangeAspect="1"/>
          </p:cNvPicPr>
          <p:nvPr/>
        </p:nvPicPr>
        <p:blipFill>
          <a:blip r:embed="rId1"/>
          <a:stretch>
            <a:fillRect/>
          </a:stretch>
        </p:blipFill>
        <p:spPr>
          <a:xfrm>
            <a:off x="1177796" y="2942530"/>
            <a:ext cx="4130869" cy="1812032"/>
          </a:xfrm>
          <a:prstGeom prst="rect">
            <a:avLst/>
          </a:prstGeom>
        </p:spPr>
      </p:pic>
      <p:sp>
        <p:nvSpPr>
          <p:cNvPr id="8" name="Text 5"/>
          <p:cNvSpPr/>
          <p:nvPr/>
        </p:nvSpPr>
        <p:spPr>
          <a:xfrm>
            <a:off x="2429697" y="4288466"/>
            <a:ext cx="624313" cy="111787"/>
          </a:xfrm>
          <a:prstGeom prst="rect">
            <a:avLst/>
          </a:prstGeom>
          <a:noFill/>
          <a:ln/>
        </p:spPr>
        <p:txBody>
          <a:bodyPr wrap="none" lIns="0" tIns="0" rIns="0" bIns="0" rtlCol="0" anchor="t"/>
          <a:lstStyle/>
          <a:p>
            <a:pPr algn="ctr" indent="0" marL="0">
              <a:lnSpc>
                <a:spcPct val="104000"/>
              </a:lnSpc>
              <a:buNone/>
            </a:pPr>
            <a:r>
              <a:rPr lang="en-US" sz="700" spc="-7" kern="0" dirty="0">
                <a:solidFill>
                  <a:srgbClr val="FFFFFF"/>
                </a:solidFill>
                <a:latin typeface="Alexandria Medium" pitchFamily="34" charset="0"/>
                <a:ea typeface="Alexandria Medium" pitchFamily="34" charset="-122"/>
                <a:cs typeface="Alexandria Medium" pitchFamily="34" charset="-120"/>
              </a:rPr>
              <a:t>Página 2</a:t>
            </a:r>
            <a:endParaRPr lang="en-US" sz="700" dirty="0"/>
          </a:p>
        </p:txBody>
      </p:sp>
      <p:sp>
        <p:nvSpPr>
          <p:cNvPr id="9" name="Text 6"/>
          <p:cNvSpPr/>
          <p:nvPr/>
        </p:nvSpPr>
        <p:spPr>
          <a:xfrm>
            <a:off x="2429697" y="4432050"/>
            <a:ext cx="624313" cy="159855"/>
          </a:xfrm>
          <a:prstGeom prst="rect">
            <a:avLst/>
          </a:prstGeom>
          <a:noFill/>
          <a:ln/>
        </p:spPr>
        <p:txBody>
          <a:bodyPr wrap="square" lIns="0" tIns="0" rIns="0" bIns="0" rtlCol="0" anchor="t">
            <a:normAutofit/>
          </a:bodyPr>
          <a:lstStyle/>
          <a:p>
            <a:pPr algn="ctr" indent="0" marL="0">
              <a:lnSpc>
                <a:spcPct val="93000"/>
              </a:lnSpc>
              <a:buNone/>
            </a:pPr>
            <a:r>
              <a:rPr lang="en-US" sz="550" dirty="0">
                <a:solidFill>
                  <a:srgbClr val="FFFFFF"/>
                </a:solidFill>
                <a:latin typeface="Manrope" pitchFamily="34" charset="0"/>
                <a:ea typeface="Manrope" pitchFamily="34" charset="-122"/>
                <a:cs typeface="Manrope" pitchFamily="34" charset="-120"/>
              </a:rPr>
              <a:t>Devuelve registros 101-200</a:t>
            </a:r>
            <a:endParaRPr lang="en-US" sz="550" dirty="0"/>
          </a:p>
        </p:txBody>
      </p:sp>
      <p:sp>
        <p:nvSpPr>
          <p:cNvPr id="10" name="Text 7"/>
          <p:cNvSpPr/>
          <p:nvPr/>
        </p:nvSpPr>
        <p:spPr>
          <a:xfrm>
            <a:off x="4412990" y="4176680"/>
            <a:ext cx="624313" cy="223573"/>
          </a:xfrm>
          <a:prstGeom prst="rect">
            <a:avLst/>
          </a:prstGeom>
          <a:noFill/>
          <a:ln/>
        </p:spPr>
        <p:txBody>
          <a:bodyPr wrap="square" lIns="0" tIns="0" rIns="0" bIns="0" rtlCol="0" anchor="t">
            <a:normAutofit/>
          </a:bodyPr>
          <a:lstStyle/>
          <a:p>
            <a:pPr algn="ctr" indent="0" marL="0">
              <a:lnSpc>
                <a:spcPct val="104000"/>
              </a:lnSpc>
              <a:buNone/>
            </a:pPr>
            <a:r>
              <a:rPr lang="en-US" sz="700" spc="-7" kern="0" dirty="0">
                <a:solidFill>
                  <a:srgbClr val="FFFFFF"/>
                </a:solidFill>
                <a:latin typeface="Alexandria Medium" pitchFamily="34" charset="0"/>
                <a:ea typeface="Alexandria Medium" pitchFamily="34" charset="-122"/>
                <a:cs typeface="Alexandria Medium" pitchFamily="34" charset="-120"/>
              </a:rPr>
              <a:t>Última página</a:t>
            </a:r>
            <a:endParaRPr lang="en-US" sz="700" dirty="0"/>
          </a:p>
        </p:txBody>
      </p:sp>
      <p:sp>
        <p:nvSpPr>
          <p:cNvPr id="11" name="Text 8"/>
          <p:cNvSpPr/>
          <p:nvPr/>
        </p:nvSpPr>
        <p:spPr>
          <a:xfrm>
            <a:off x="4412990" y="4432050"/>
            <a:ext cx="624313" cy="159855"/>
          </a:xfrm>
          <a:prstGeom prst="rect">
            <a:avLst/>
          </a:prstGeom>
          <a:noFill/>
          <a:ln/>
        </p:spPr>
        <p:txBody>
          <a:bodyPr wrap="square" lIns="0" tIns="0" rIns="0" bIns="0" rtlCol="0" anchor="t">
            <a:normAutofit/>
          </a:bodyPr>
          <a:lstStyle/>
          <a:p>
            <a:pPr algn="ctr" indent="0" marL="0">
              <a:lnSpc>
                <a:spcPct val="93000"/>
              </a:lnSpc>
              <a:buNone/>
            </a:pPr>
            <a:r>
              <a:rPr lang="en-US" sz="550" dirty="0">
                <a:solidFill>
                  <a:srgbClr val="FFFFFF"/>
                </a:solidFill>
                <a:latin typeface="Manrope" pitchFamily="34" charset="0"/>
                <a:ea typeface="Manrope" pitchFamily="34" charset="-122"/>
                <a:cs typeface="Manrope" pitchFamily="34" charset="-120"/>
              </a:rPr>
              <a:t>Respuesta vacía indica fin</a:t>
            </a:r>
            <a:endParaRPr lang="en-US" sz="550" dirty="0"/>
          </a:p>
        </p:txBody>
      </p:sp>
      <p:sp>
        <p:nvSpPr>
          <p:cNvPr id="12" name="Text 9"/>
          <p:cNvSpPr/>
          <p:nvPr/>
        </p:nvSpPr>
        <p:spPr>
          <a:xfrm>
            <a:off x="1459910" y="3105391"/>
            <a:ext cx="624313" cy="111787"/>
          </a:xfrm>
          <a:prstGeom prst="rect">
            <a:avLst/>
          </a:prstGeom>
          <a:noFill/>
          <a:ln/>
        </p:spPr>
        <p:txBody>
          <a:bodyPr wrap="none" lIns="0" tIns="0" rIns="0" bIns="0" rtlCol="0" anchor="t"/>
          <a:lstStyle/>
          <a:p>
            <a:pPr algn="ctr" indent="0" marL="0">
              <a:lnSpc>
                <a:spcPct val="104000"/>
              </a:lnSpc>
              <a:buNone/>
            </a:pPr>
            <a:r>
              <a:rPr lang="en-US" sz="700" spc="-7" kern="0" dirty="0">
                <a:solidFill>
                  <a:srgbClr val="FFFFFF"/>
                </a:solidFill>
                <a:latin typeface="Alexandria Medium" pitchFamily="34" charset="0"/>
                <a:ea typeface="Alexandria Medium" pitchFamily="34" charset="-122"/>
                <a:cs typeface="Alexandria Medium" pitchFamily="34" charset="-120"/>
              </a:rPr>
              <a:t>Página 1</a:t>
            </a:r>
            <a:endParaRPr lang="en-US" sz="700" dirty="0"/>
          </a:p>
        </p:txBody>
      </p:sp>
      <p:sp>
        <p:nvSpPr>
          <p:cNvPr id="13" name="Text 10"/>
          <p:cNvSpPr/>
          <p:nvPr/>
        </p:nvSpPr>
        <p:spPr>
          <a:xfrm>
            <a:off x="1459910" y="3248975"/>
            <a:ext cx="624313" cy="159855"/>
          </a:xfrm>
          <a:prstGeom prst="rect">
            <a:avLst/>
          </a:prstGeom>
          <a:noFill/>
          <a:ln/>
        </p:spPr>
        <p:txBody>
          <a:bodyPr wrap="square" lIns="0" tIns="0" rIns="0" bIns="0" rtlCol="0" anchor="t">
            <a:normAutofit/>
          </a:bodyPr>
          <a:lstStyle/>
          <a:p>
            <a:pPr algn="ctr" indent="0" marL="0">
              <a:lnSpc>
                <a:spcPct val="93000"/>
              </a:lnSpc>
              <a:buNone/>
            </a:pPr>
            <a:r>
              <a:rPr lang="en-US" sz="550" dirty="0">
                <a:solidFill>
                  <a:srgbClr val="FFFFFF"/>
                </a:solidFill>
                <a:latin typeface="Manrope" pitchFamily="34" charset="0"/>
                <a:ea typeface="Manrope" pitchFamily="34" charset="-122"/>
                <a:cs typeface="Manrope" pitchFamily="34" charset="-120"/>
              </a:rPr>
              <a:t>Devuelve registros 1-100</a:t>
            </a:r>
            <a:endParaRPr lang="en-US" sz="550" dirty="0"/>
          </a:p>
        </p:txBody>
      </p:sp>
      <p:sp>
        <p:nvSpPr>
          <p:cNvPr id="14" name="Text 11"/>
          <p:cNvSpPr/>
          <p:nvPr/>
        </p:nvSpPr>
        <p:spPr>
          <a:xfrm>
            <a:off x="3435254" y="3105391"/>
            <a:ext cx="624313" cy="111787"/>
          </a:xfrm>
          <a:prstGeom prst="rect">
            <a:avLst/>
          </a:prstGeom>
          <a:noFill/>
          <a:ln/>
        </p:spPr>
        <p:txBody>
          <a:bodyPr wrap="none" lIns="0" tIns="0" rIns="0" bIns="0" rtlCol="0" anchor="t"/>
          <a:lstStyle/>
          <a:p>
            <a:pPr algn="ctr" indent="0" marL="0">
              <a:lnSpc>
                <a:spcPct val="104000"/>
              </a:lnSpc>
              <a:buNone/>
            </a:pPr>
            <a:r>
              <a:rPr lang="en-US" sz="700" spc="-7" kern="0" dirty="0">
                <a:solidFill>
                  <a:srgbClr val="FFFFFF"/>
                </a:solidFill>
                <a:latin typeface="Alexandria Medium" pitchFamily="34" charset="0"/>
                <a:ea typeface="Alexandria Medium" pitchFamily="34" charset="-122"/>
                <a:cs typeface="Alexandria Medium" pitchFamily="34" charset="-120"/>
              </a:rPr>
              <a:t>Página 3</a:t>
            </a:r>
            <a:endParaRPr lang="en-US" sz="700" dirty="0"/>
          </a:p>
        </p:txBody>
      </p:sp>
      <p:sp>
        <p:nvSpPr>
          <p:cNvPr id="15" name="Text 12"/>
          <p:cNvSpPr/>
          <p:nvPr/>
        </p:nvSpPr>
        <p:spPr>
          <a:xfrm>
            <a:off x="3435254" y="3248975"/>
            <a:ext cx="624313" cy="159855"/>
          </a:xfrm>
          <a:prstGeom prst="rect">
            <a:avLst/>
          </a:prstGeom>
          <a:noFill/>
          <a:ln/>
        </p:spPr>
        <p:txBody>
          <a:bodyPr wrap="square" lIns="0" tIns="0" rIns="0" bIns="0" rtlCol="0" anchor="t">
            <a:normAutofit/>
          </a:bodyPr>
          <a:lstStyle/>
          <a:p>
            <a:pPr algn="ctr" indent="0" marL="0">
              <a:lnSpc>
                <a:spcPct val="93000"/>
              </a:lnSpc>
              <a:buNone/>
            </a:pPr>
            <a:r>
              <a:rPr lang="en-US" sz="550" dirty="0">
                <a:solidFill>
                  <a:srgbClr val="FFFFFF"/>
                </a:solidFill>
                <a:latin typeface="Manrope" pitchFamily="34" charset="0"/>
                <a:ea typeface="Manrope" pitchFamily="34" charset="-122"/>
                <a:cs typeface="Manrope" pitchFamily="34" charset="-120"/>
              </a:rPr>
              <a:t>Continúa con lotes siguientes</a:t>
            </a:r>
            <a:endParaRPr lang="en-US" sz="550" dirty="0"/>
          </a:p>
        </p:txBody>
      </p:sp>
      <p:sp>
        <p:nvSpPr>
          <p:cNvPr id="16" name="Text 13"/>
          <p:cNvSpPr/>
          <p:nvPr/>
        </p:nvSpPr>
        <p:spPr>
          <a:xfrm>
            <a:off x="661475" y="4869954"/>
            <a:ext cx="5773196" cy="186234"/>
          </a:xfrm>
          <a:prstGeom prst="rect">
            <a:avLst/>
          </a:prstGeom>
          <a:noFill/>
          <a:ln/>
        </p:spPr>
        <p:txBody>
          <a:bodyPr wrap="none" lIns="0" tIns="0" rIns="0" bIns="0" rtlCol="0" anchor="t"/>
          <a:lstStyle/>
          <a:p>
            <a:pPr algn="l" indent="0" marL="0">
              <a:lnSpc>
                <a:spcPct val="119000"/>
              </a:lnSpc>
              <a:buNone/>
            </a:pPr>
            <a:r>
              <a:rPr lang="en-US" sz="1000" dirty="0">
                <a:solidFill>
                  <a:srgbClr val="FFFFFF"/>
                </a:solidFill>
                <a:latin typeface="Manrope" pitchFamily="34" charset="0"/>
                <a:ea typeface="Manrope" pitchFamily="34" charset="-122"/>
                <a:cs typeface="Manrope" pitchFamily="34" charset="-120"/>
              </a:rPr>
              <a:t>Sin automatización, obtendríamos solo los primeros 100 registros y no lo sabríamos.</a:t>
            </a:r>
            <a:endParaRPr lang="en-US" sz="1000" dirty="0"/>
          </a:p>
        </p:txBody>
      </p:sp>
      <p:sp>
        <p:nvSpPr>
          <p:cNvPr id="17" name="Text 14"/>
          <p:cNvSpPr/>
          <p:nvPr/>
        </p:nvSpPr>
        <p:spPr>
          <a:xfrm>
            <a:off x="6149127" y="1951236"/>
            <a:ext cx="5387344" cy="203498"/>
          </a:xfrm>
          <a:prstGeom prst="rect">
            <a:avLst/>
          </a:prstGeom>
          <a:noFill/>
          <a:ln/>
        </p:spPr>
        <p:txBody>
          <a:bodyPr wrap="none" lIns="0" tIns="0" rIns="0" bIns="0" rtlCol="0" anchor="t"/>
          <a:lstStyle/>
          <a:p>
            <a:pPr algn="l" indent="0" marL="0">
              <a:lnSpc>
                <a:spcPct val="104000"/>
              </a:lnSpc>
              <a:buNone/>
            </a:pPr>
            <a:r>
              <a:rPr lang="en-US" sz="1250" spc="-13" kern="0" dirty="0">
                <a:solidFill>
                  <a:srgbClr val="FFFFFF"/>
                </a:solidFill>
                <a:latin typeface="Alexandria Medium" pitchFamily="34" charset="0"/>
                <a:ea typeface="Alexandria Medium" pitchFamily="34" charset="-122"/>
                <a:cs typeface="Alexandria Medium" pitchFamily="34" charset="-120"/>
              </a:rPr>
              <a:t>Solución: bucle de paginación</a:t>
            </a:r>
            <a:endParaRPr lang="en-US" sz="1250" dirty="0"/>
          </a:p>
        </p:txBody>
      </p:sp>
      <p:sp>
        <p:nvSpPr>
          <p:cNvPr id="18" name="Shape 15"/>
          <p:cNvSpPr/>
          <p:nvPr/>
        </p:nvSpPr>
        <p:spPr>
          <a:xfrm>
            <a:off x="6149127" y="2270125"/>
            <a:ext cx="5387344" cy="3177381"/>
          </a:xfrm>
          <a:prstGeom prst="roundRect">
            <a:avLst>
              <a:gd name="adj" fmla="val 6149"/>
            </a:avLst>
          </a:prstGeom>
          <a:solidFill>
            <a:srgbClr val="583592"/>
          </a:solidFill>
          <a:ln/>
        </p:spPr>
      </p:sp>
      <p:sp>
        <p:nvSpPr>
          <p:cNvPr id="19" name="Text 16"/>
          <p:cNvSpPr/>
          <p:nvPr/>
        </p:nvSpPr>
        <p:spPr>
          <a:xfrm>
            <a:off x="6305392" y="2400300"/>
            <a:ext cx="5074813" cy="2917031"/>
          </a:xfrm>
          <a:prstGeom prst="rect">
            <a:avLst/>
          </a:prstGeom>
          <a:noFill/>
          <a:ln/>
        </p:spPr>
        <p:txBody>
          <a:bodyPr wrap="square" lIns="0" tIns="0" rIns="0" bIns="0" rtlCol="0" anchor="t">
            <a:normAutofit/>
          </a:bodyPr>
          <a:lstStyle/>
          <a:p>
            <a:pPr algn="l" indent="0" marL="0">
              <a:lnSpc>
                <a:spcPct val="133000"/>
              </a:lnSpc>
              <a:buNone/>
            </a:pPr>
            <a:r>
              <a:rPr lang="en-US" sz="1000" dirty="0">
                <a:solidFill>
                  <a:srgbClr val="FF7B72"/>
                </a:solidFill>
                <a:latin typeface="Consolas" pitchFamily="34" charset="0"/>
                <a:ea typeface="Consolas" pitchFamily="34" charset="-122"/>
                <a:cs typeface="Consolas" pitchFamily="34" charset="-120"/>
              </a:rPr>
              <a:t>import requests</a:t>
            </a:r>
            <a:endParaRPr lang="en-US" sz="1000" dirty="0"/>
          </a:p>
          <a:p>
            <a:pPr algn="l" indent="0" marL="0">
              <a:lnSpc>
                <a:spcPct val="133000"/>
              </a:lnSpc>
              <a:buNone/>
            </a:pPr>
            <a:r>
              <a:rPr lang="en-US" sz="1000" dirty="0">
                <a:solidFill>
                  <a:srgbClr val="FF7B72"/>
                </a:solidFill>
                <a:latin typeface="Consolas" pitchFamily="34" charset="0"/>
                <a:ea typeface="Consolas" pitchFamily="34" charset="-122"/>
                <a:cs typeface="Consolas" pitchFamily="34" charset="-120"/>
              </a:rPr>
              <a:t>all_products = []</a:t>
            </a:r>
            <a:endParaRPr lang="en-US" sz="1000" dirty="0"/>
          </a:p>
          <a:p>
            <a:pPr algn="l" indent="0" marL="0">
              <a:lnSpc>
                <a:spcPct val="133000"/>
              </a:lnSpc>
              <a:buNone/>
            </a:pPr>
            <a:r>
              <a:rPr lang="en-US" sz="1000" dirty="0">
                <a:solidFill>
                  <a:srgbClr val="FF7B72"/>
                </a:solidFill>
                <a:latin typeface="Consolas" pitchFamily="34" charset="0"/>
                <a:ea typeface="Consolas" pitchFamily="34" charset="-122"/>
                <a:cs typeface="Consolas" pitchFamily="34" charset="-120"/>
              </a:rPr>
              <a:t>page = 1</a:t>
            </a:r>
            <a:endParaRPr lang="en-US" sz="1000" dirty="0"/>
          </a:p>
          <a:p>
            <a:pPr algn="l" indent="0" marL="0">
              <a:lnSpc>
                <a:spcPct val="133000"/>
              </a:lnSpc>
              <a:buNone/>
            </a:pPr>
            <a:r>
              <a:rPr lang="en-US" sz="1000" dirty="0">
                <a:solidFill>
                  <a:srgbClr val="FF7B72"/>
                </a:solidFill>
                <a:latin typeface="Consolas" pitchFamily="34" charset="0"/>
                <a:ea typeface="Consolas" pitchFamily="34" charset="-122"/>
                <a:cs typeface="Consolas" pitchFamily="34" charset="-120"/>
              </a:rPr>
              <a:t>while True:</a:t>
            </a:r>
            <a:endParaRPr lang="en-US" sz="1000" dirty="0"/>
          </a:p>
          <a:p>
            <a:pPr algn="l" indent="0" marL="0">
              <a:lnSpc>
                <a:spcPct val="133000"/>
              </a:lnSpc>
              <a:buNone/>
            </a:pPr>
            <a:r>
              <a:rPr lang="en-US" sz="1000" dirty="0">
                <a:solidFill>
                  <a:srgbClr val="FF7B72"/>
                </a:solidFill>
                <a:latin typeface="Consolas" pitchFamily="34" charset="0"/>
                <a:ea typeface="Consolas" pitchFamily="34" charset="-122"/>
                <a:cs typeface="Consolas" pitchFamily="34" charset="-120"/>
              </a:rPr>
              <a:t>    response = requests.get(</a:t>
            </a:r>
            <a:endParaRPr lang="en-US" sz="1000" dirty="0"/>
          </a:p>
          <a:p>
            <a:pPr algn="l" indent="0" marL="0">
              <a:lnSpc>
                <a:spcPct val="133000"/>
              </a:lnSpc>
              <a:buNone/>
            </a:pPr>
            <a:r>
              <a:rPr lang="en-US" sz="1000" dirty="0">
                <a:solidFill>
                  <a:srgbClr val="FF7B72"/>
                </a:solidFill>
                <a:latin typeface="Consolas" pitchFamily="34" charset="0"/>
                <a:ea typeface="Consolas" pitchFamily="34" charset="-122"/>
                <a:cs typeface="Consolas" pitchFamily="34" charset="-120"/>
              </a:rPr>
              <a:t>        "https://api.shopdata.com/products",</a:t>
            </a:r>
            <a:endParaRPr lang="en-US" sz="1000" dirty="0"/>
          </a:p>
          <a:p>
            <a:pPr algn="l" indent="0" marL="0">
              <a:lnSpc>
                <a:spcPct val="133000"/>
              </a:lnSpc>
              <a:buNone/>
            </a:pPr>
            <a:r>
              <a:rPr lang="en-US" sz="1000" dirty="0">
                <a:solidFill>
                  <a:srgbClr val="FF7B72"/>
                </a:solidFill>
                <a:latin typeface="Consolas" pitchFamily="34" charset="0"/>
                <a:ea typeface="Consolas" pitchFamily="34" charset="-122"/>
                <a:cs typeface="Consolas" pitchFamily="34" charset="-120"/>
              </a:rPr>
              <a:t>        params={"page": page, "limit": 100}</a:t>
            </a:r>
            <a:endParaRPr lang="en-US" sz="1000" dirty="0"/>
          </a:p>
          <a:p>
            <a:pPr algn="l" indent="0" marL="0">
              <a:lnSpc>
                <a:spcPct val="133000"/>
              </a:lnSpc>
              <a:buNone/>
            </a:pPr>
            <a:r>
              <a:rPr lang="en-US" sz="1000" dirty="0">
                <a:solidFill>
                  <a:srgbClr val="FF7B72"/>
                </a:solidFill>
                <a:latin typeface="Consolas" pitchFamily="34" charset="0"/>
                <a:ea typeface="Consolas" pitchFamily="34" charset="-122"/>
                <a:cs typeface="Consolas" pitchFamily="34" charset="-120"/>
              </a:rPr>
              <a:t>    )</a:t>
            </a:r>
            <a:endParaRPr lang="en-US" sz="1000" dirty="0"/>
          </a:p>
          <a:p>
            <a:pPr algn="l" indent="0" marL="0">
              <a:lnSpc>
                <a:spcPct val="133000"/>
              </a:lnSpc>
              <a:buNone/>
            </a:pPr>
            <a:r>
              <a:rPr lang="en-US" sz="1000" dirty="0">
                <a:solidFill>
                  <a:srgbClr val="FF7B72"/>
                </a:solidFill>
                <a:latin typeface="Consolas" pitchFamily="34" charset="0"/>
                <a:ea typeface="Consolas" pitchFamily="34" charset="-122"/>
                <a:cs typeface="Consolas" pitchFamily="34" charset="-120"/>
              </a:rPr>
              <a:t>    data = response.json()</a:t>
            </a:r>
            <a:endParaRPr lang="en-US" sz="1000" dirty="0"/>
          </a:p>
          <a:p>
            <a:pPr algn="l" indent="0" marL="0">
              <a:lnSpc>
                <a:spcPct val="133000"/>
              </a:lnSpc>
              <a:buNone/>
            </a:pPr>
            <a:r>
              <a:rPr lang="en-US" sz="1000" dirty="0">
                <a:solidFill>
                  <a:srgbClr val="FF7B72"/>
                </a:solidFill>
                <a:latin typeface="Consolas" pitchFamily="34" charset="0"/>
                <a:ea typeface="Consolas" pitchFamily="34" charset="-122"/>
                <a:cs typeface="Consolas" pitchFamily="34" charset="-120"/>
              </a:rPr>
              <a:t>    if not data:  # Sin más datos</a:t>
            </a:r>
            <a:endParaRPr lang="en-US" sz="1000" dirty="0"/>
          </a:p>
          <a:p>
            <a:pPr algn="l" indent="0" marL="0">
              <a:lnSpc>
                <a:spcPct val="133000"/>
              </a:lnSpc>
              <a:buNone/>
            </a:pPr>
            <a:r>
              <a:rPr lang="en-US" sz="1000" dirty="0">
                <a:solidFill>
                  <a:srgbClr val="FF7B72"/>
                </a:solidFill>
                <a:latin typeface="Consolas" pitchFamily="34" charset="0"/>
                <a:ea typeface="Consolas" pitchFamily="34" charset="-122"/>
                <a:cs typeface="Consolas" pitchFamily="34" charset="-120"/>
              </a:rPr>
              <a:t>        break</a:t>
            </a:r>
            <a:endParaRPr lang="en-US" sz="1000" dirty="0"/>
          </a:p>
          <a:p>
            <a:pPr algn="l" indent="0" marL="0">
              <a:lnSpc>
                <a:spcPct val="133000"/>
              </a:lnSpc>
              <a:buNone/>
            </a:pPr>
            <a:r>
              <a:rPr lang="en-US" sz="1000" dirty="0">
                <a:solidFill>
                  <a:srgbClr val="FF7B72"/>
                </a:solidFill>
                <a:latin typeface="Consolas" pitchFamily="34" charset="0"/>
                <a:ea typeface="Consolas" pitchFamily="34" charset="-122"/>
                <a:cs typeface="Consolas" pitchFamily="34" charset="-120"/>
              </a:rPr>
              <a:t>    all_products.extend(data)</a:t>
            </a:r>
            <a:endParaRPr lang="en-US" sz="1000" dirty="0"/>
          </a:p>
          <a:p>
            <a:pPr algn="l" indent="0" marL="0">
              <a:lnSpc>
                <a:spcPct val="133000"/>
              </a:lnSpc>
              <a:buNone/>
            </a:pPr>
            <a:r>
              <a:rPr lang="en-US" sz="1000" dirty="0">
                <a:solidFill>
                  <a:srgbClr val="FF7B72"/>
                </a:solidFill>
                <a:latin typeface="Consolas" pitchFamily="34" charset="0"/>
                <a:ea typeface="Consolas" pitchFamily="34" charset="-122"/>
                <a:cs typeface="Consolas" pitchFamily="34" charset="-120"/>
              </a:rPr>
              <a:t>    page += 1</a:t>
            </a:r>
            <a:endParaRPr lang="en-US" sz="1000" dirty="0"/>
          </a:p>
          <a:p>
            <a:pPr algn="l" indent="0" marL="0">
              <a:lnSpc>
                <a:spcPct val="133000"/>
              </a:lnSpc>
              <a:buNone/>
            </a:pPr>
            <a:r>
              <a:rPr lang="en-US" sz="1000" dirty="0">
                <a:solidFill>
                  <a:srgbClr val="FF7B72"/>
                </a:solidFill>
                <a:latin typeface="Consolas" pitchFamily="34" charset="0"/>
                <a:ea typeface="Consolas" pitchFamily="34" charset="-122"/>
                <a:cs typeface="Consolas" pitchFamily="34" charset="-120"/>
              </a:rPr>
              <a:t>print(f"Total: {len(all_products)}")</a:t>
            </a:r>
            <a:endParaRPr lang="en-US" sz="1000" dirty="0"/>
          </a:p>
        </p:txBody>
      </p:sp>
      <p:pic>
        <p:nvPicPr>
          <p:cNvPr id="20" name="Image 1" descr="preencoded.png">    </p:cNvPr>
          <p:cNvPicPr>
            <a:picLocks noChangeAspect="1"/>
          </p:cNvPicPr>
          <p:nvPr/>
        </p:nvPicPr>
        <p:blipFill>
          <a:blip r:embed="rId2"/>
          <a:stretch>
            <a:fillRect/>
          </a:stretch>
        </p:blipFill>
        <p:spPr>
          <a:xfrm>
            <a:off x="198433" y="203597"/>
            <a:ext cx="676357" cy="568623"/>
          </a:xfrm>
          <a:prstGeom prst="rect">
            <a:avLst/>
          </a:prstGeom>
        </p:spPr>
      </p:pic>
      <p:pic>
        <p:nvPicPr>
          <p:cNvPr id="21" name="Image 2" descr="preencoded.png">    </p:cNvPr>
          <p:cNvPicPr>
            <a:picLocks noChangeAspect="1"/>
          </p:cNvPicPr>
          <p:nvPr/>
        </p:nvPicPr>
        <p:blipFill>
          <a:blip r:embed="rId3"/>
          <a:stretch>
            <a:fillRect/>
          </a:stretch>
        </p:blipFill>
        <p:spPr>
          <a:xfrm>
            <a:off x="11386357" y="268784"/>
            <a:ext cx="606906" cy="438249"/>
          </a:xfrm>
          <a:prstGeom prst="rect">
            <a:avLst/>
          </a:prstGeom>
        </p:spPr>
      </p:pic>
      <p:sp>
        <p:nvSpPr>
          <p:cNvPr id="22" name="Text 17"/>
          <p:cNvSpPr/>
          <p:nvPr/>
        </p:nvSpPr>
        <p:spPr>
          <a:xfrm>
            <a:off x="10856740" y="6300589"/>
            <a:ext cx="1136522"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61475" y="1006078"/>
            <a:ext cx="10868745" cy="372170"/>
          </a:xfrm>
          <a:prstGeom prst="rect">
            <a:avLst/>
          </a:prstGeom>
          <a:noFill/>
          <a:ln/>
        </p:spPr>
        <p:txBody>
          <a:bodyPr wrap="none" lIns="0" tIns="0" rIns="0" bIns="0" rtlCol="0" anchor="t"/>
          <a:lstStyle/>
          <a:p>
            <a:pPr algn="l" indent="0" marL="0">
              <a:lnSpc>
                <a:spcPct val="104000"/>
              </a:lnSpc>
              <a:buNone/>
            </a:pPr>
            <a:r>
              <a:rPr lang="en-US" sz="2300" spc="-23" kern="0" dirty="0">
                <a:solidFill>
                  <a:srgbClr val="FFFFFF"/>
                </a:solidFill>
                <a:latin typeface="Alexandria Medium" pitchFamily="34" charset="0"/>
                <a:ea typeface="Alexandria Medium" pitchFamily="34" charset="-122"/>
                <a:cs typeface="Alexandria Medium" pitchFamily="34" charset="-120"/>
              </a:rPr>
              <a:t>Rate limits y extracción responsable</a:t>
            </a:r>
            <a:endParaRPr lang="en-US" sz="2300" dirty="0"/>
          </a:p>
        </p:txBody>
      </p:sp>
      <p:sp>
        <p:nvSpPr>
          <p:cNvPr id="3" name="Text 1"/>
          <p:cNvSpPr/>
          <p:nvPr/>
        </p:nvSpPr>
        <p:spPr>
          <a:xfrm>
            <a:off x="661475" y="1713111"/>
            <a:ext cx="5028082"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¿Qué limita una API?</a:t>
            </a:r>
            <a:endParaRPr lang="en-US" sz="1450" dirty="0"/>
          </a:p>
        </p:txBody>
      </p:sp>
      <p:sp>
        <p:nvSpPr>
          <p:cNvPr id="4" name="Shape 2"/>
          <p:cNvSpPr/>
          <p:nvPr/>
        </p:nvSpPr>
        <p:spPr>
          <a:xfrm>
            <a:off x="661475" y="2096294"/>
            <a:ext cx="2447070" cy="1387078"/>
          </a:xfrm>
          <a:prstGeom prst="roundRect">
            <a:avLst>
              <a:gd name="adj" fmla="val 16097"/>
            </a:avLst>
          </a:prstGeom>
          <a:solidFill>
            <a:srgbClr val="4B2885"/>
          </a:solidFill>
          <a:ln w="19050">
            <a:solidFill>
              <a:srgbClr val="4B3082"/>
            </a:solidFill>
            <a:prstDash val="solid"/>
          </a:ln>
        </p:spPr>
      </p:sp>
      <p:sp>
        <p:nvSpPr>
          <p:cNvPr id="5" name="Text 3"/>
          <p:cNvSpPr/>
          <p:nvPr/>
        </p:nvSpPr>
        <p:spPr>
          <a:xfrm>
            <a:off x="829349" y="2264172"/>
            <a:ext cx="2111322" cy="464939"/>
          </a:xfrm>
          <a:prstGeom prst="rect">
            <a:avLst/>
          </a:prstGeom>
          <a:noFill/>
          <a:ln/>
        </p:spPr>
        <p:txBody>
          <a:bodyPr wrap="square" lIns="0" tIns="0" rIns="0" bIns="0" rtlCol="0" anchor="t">
            <a:normAutofit/>
          </a:bodyPr>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Peticiones por segundo</a:t>
            </a:r>
            <a:endParaRPr lang="en-US" sz="1450" dirty="0"/>
          </a:p>
        </p:txBody>
      </p:sp>
      <p:sp>
        <p:nvSpPr>
          <p:cNvPr id="6" name="Text 4"/>
          <p:cNvSpPr/>
          <p:nvPr/>
        </p:nvSpPr>
        <p:spPr>
          <a:xfrm>
            <a:off x="829349" y="2863056"/>
            <a:ext cx="2111322" cy="452438"/>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Ejemplo: máximo 2 requests/segundo.</a:t>
            </a:r>
            <a:endParaRPr lang="en-US" sz="1150" dirty="0"/>
          </a:p>
        </p:txBody>
      </p:sp>
      <p:sp>
        <p:nvSpPr>
          <p:cNvPr id="7" name="Shape 5"/>
          <p:cNvSpPr/>
          <p:nvPr/>
        </p:nvSpPr>
        <p:spPr>
          <a:xfrm>
            <a:off x="3242487" y="2096294"/>
            <a:ext cx="2447070" cy="1387078"/>
          </a:xfrm>
          <a:prstGeom prst="roundRect">
            <a:avLst>
              <a:gd name="adj" fmla="val 16097"/>
            </a:avLst>
          </a:prstGeom>
          <a:solidFill>
            <a:srgbClr val="4B2885"/>
          </a:solidFill>
          <a:ln w="19050">
            <a:solidFill>
              <a:srgbClr val="4B3082"/>
            </a:solidFill>
            <a:prstDash val="solid"/>
          </a:ln>
        </p:spPr>
      </p:sp>
      <p:sp>
        <p:nvSpPr>
          <p:cNvPr id="8" name="Text 6"/>
          <p:cNvSpPr/>
          <p:nvPr/>
        </p:nvSpPr>
        <p:spPr>
          <a:xfrm>
            <a:off x="3410361" y="2264172"/>
            <a:ext cx="2111322"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Peticiones por minuto</a:t>
            </a:r>
            <a:endParaRPr lang="en-US" sz="1450" dirty="0"/>
          </a:p>
        </p:txBody>
      </p:sp>
      <p:sp>
        <p:nvSpPr>
          <p:cNvPr id="9" name="Text 7"/>
          <p:cNvSpPr/>
          <p:nvPr/>
        </p:nvSpPr>
        <p:spPr>
          <a:xfrm>
            <a:off x="3410361" y="2630587"/>
            <a:ext cx="2111322" cy="452438"/>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Ejemplo: máximo 60 requests/minuto.</a:t>
            </a:r>
            <a:endParaRPr lang="en-US" sz="1150" dirty="0"/>
          </a:p>
        </p:txBody>
      </p:sp>
      <p:sp>
        <p:nvSpPr>
          <p:cNvPr id="10" name="Shape 8"/>
          <p:cNvSpPr/>
          <p:nvPr/>
        </p:nvSpPr>
        <p:spPr>
          <a:xfrm>
            <a:off x="661475" y="3617317"/>
            <a:ext cx="5028082" cy="928390"/>
          </a:xfrm>
          <a:prstGeom prst="roundRect">
            <a:avLst>
              <a:gd name="adj" fmla="val 24050"/>
            </a:avLst>
          </a:prstGeom>
          <a:solidFill>
            <a:srgbClr val="4B2885"/>
          </a:solidFill>
          <a:ln w="19050">
            <a:solidFill>
              <a:srgbClr val="4B3082"/>
            </a:solidFill>
            <a:prstDash val="solid"/>
          </a:ln>
        </p:spPr>
      </p:sp>
      <p:sp>
        <p:nvSpPr>
          <p:cNvPr id="11" name="Text 9"/>
          <p:cNvSpPr/>
          <p:nvPr/>
        </p:nvSpPr>
        <p:spPr>
          <a:xfrm>
            <a:off x="829349" y="3785195"/>
            <a:ext cx="4692334"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Volumen diario</a:t>
            </a:r>
            <a:endParaRPr lang="en-US" sz="1450" dirty="0"/>
          </a:p>
        </p:txBody>
      </p:sp>
      <p:sp>
        <p:nvSpPr>
          <p:cNvPr id="12" name="Text 10"/>
          <p:cNvSpPr/>
          <p:nvPr/>
        </p:nvSpPr>
        <p:spPr>
          <a:xfrm>
            <a:off x="829349" y="4151610"/>
            <a:ext cx="4692334" cy="226219"/>
          </a:xfrm>
          <a:prstGeom prst="rect">
            <a:avLst/>
          </a:prstGeom>
          <a:noFill/>
          <a:ln/>
        </p:spPr>
        <p:txBody>
          <a:bodyPr wrap="none" lIns="0" tIns="0" rIns="0" bIns="0" rtlCol="0" anchor="t"/>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Ejemplo: máximo 10.000 peticiones al día en el plan gratuito.</a:t>
            </a:r>
            <a:endParaRPr lang="en-US" sz="1150" dirty="0"/>
          </a:p>
        </p:txBody>
      </p:sp>
      <p:sp>
        <p:nvSpPr>
          <p:cNvPr id="13" name="Text 11"/>
          <p:cNvSpPr/>
          <p:nvPr/>
        </p:nvSpPr>
        <p:spPr>
          <a:xfrm>
            <a:off x="6059038" y="1713111"/>
            <a:ext cx="5477433"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Buenas prácticas</a:t>
            </a:r>
            <a:endParaRPr lang="en-US" sz="1450" dirty="0"/>
          </a:p>
        </p:txBody>
      </p:sp>
      <p:sp>
        <p:nvSpPr>
          <p:cNvPr id="14" name="Shape 12"/>
          <p:cNvSpPr/>
          <p:nvPr/>
        </p:nvSpPr>
        <p:spPr>
          <a:xfrm>
            <a:off x="6059038" y="2096294"/>
            <a:ext cx="334855" cy="334863"/>
          </a:xfrm>
          <a:prstGeom prst="ellipse">
            <a:avLst/>
          </a:prstGeom>
          <a:solidFill>
            <a:srgbClr val="3F2077"/>
          </a:solidFill>
          <a:ln w="6350">
            <a:solidFill>
              <a:srgbClr val="4B3082"/>
            </a:solidFill>
            <a:prstDash val="solid"/>
          </a:ln>
        </p:spPr>
      </p:sp>
      <p:sp>
        <p:nvSpPr>
          <p:cNvPr id="15" name="Text 13"/>
          <p:cNvSpPr/>
          <p:nvPr/>
        </p:nvSpPr>
        <p:spPr>
          <a:xfrm>
            <a:off x="6114798" y="2124125"/>
            <a:ext cx="223237" cy="279102"/>
          </a:xfrm>
          <a:prstGeom prst="rect">
            <a:avLst/>
          </a:prstGeom>
          <a:noFill/>
          <a:ln/>
        </p:spPr>
        <p:txBody>
          <a:bodyPr wrap="none" lIns="0" tIns="0" rIns="0" bIns="0" rtlCol="0" anchor="ctr"/>
          <a:lstStyle/>
          <a:p>
            <a:pPr algn="ctr" indent="0" marL="0">
              <a:lnSpc>
                <a:spcPct val="100000"/>
              </a:lnSpc>
              <a:buNone/>
            </a:pPr>
            <a:r>
              <a:rPr lang="en-US" sz="1750" spc="-18" kern="0" dirty="0">
                <a:solidFill>
                  <a:srgbClr val="FFFFFF"/>
                </a:solidFill>
                <a:latin typeface="Alexandria Medium" pitchFamily="34" charset="0"/>
                <a:ea typeface="Alexandria Medium" pitchFamily="34" charset="-122"/>
                <a:cs typeface="Alexandria Medium" pitchFamily="34" charset="-120"/>
              </a:rPr>
              <a:t>1</a:t>
            </a:r>
            <a:endParaRPr lang="en-US" sz="1750" dirty="0"/>
          </a:p>
        </p:txBody>
      </p:sp>
      <p:sp>
        <p:nvSpPr>
          <p:cNvPr id="16" name="Text 14"/>
          <p:cNvSpPr/>
          <p:nvPr/>
        </p:nvSpPr>
        <p:spPr>
          <a:xfrm>
            <a:off x="6527835" y="2147391"/>
            <a:ext cx="5008636"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Respetar los límites</a:t>
            </a:r>
            <a:endParaRPr lang="en-US" sz="1450" dirty="0"/>
          </a:p>
        </p:txBody>
      </p:sp>
      <p:sp>
        <p:nvSpPr>
          <p:cNvPr id="17" name="Text 15"/>
          <p:cNvSpPr/>
          <p:nvPr/>
        </p:nvSpPr>
        <p:spPr>
          <a:xfrm>
            <a:off x="6527835" y="2513806"/>
            <a:ext cx="5008636" cy="226219"/>
          </a:xfrm>
          <a:prstGeom prst="rect">
            <a:avLst/>
          </a:prstGeom>
          <a:noFill/>
          <a:ln/>
        </p:spPr>
        <p:txBody>
          <a:bodyPr wrap="none" lIns="0" tIns="0" rIns="0" bIns="0" rtlCol="0" anchor="t"/>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Leer la documentación y no superar los umbrales establecidos.</a:t>
            </a:r>
            <a:endParaRPr lang="en-US" sz="1150" dirty="0"/>
          </a:p>
        </p:txBody>
      </p:sp>
      <p:sp>
        <p:nvSpPr>
          <p:cNvPr id="18" name="Shape 16"/>
          <p:cNvSpPr/>
          <p:nvPr/>
        </p:nvSpPr>
        <p:spPr>
          <a:xfrm>
            <a:off x="6059038" y="3007916"/>
            <a:ext cx="334855" cy="334863"/>
          </a:xfrm>
          <a:prstGeom prst="ellipse">
            <a:avLst/>
          </a:prstGeom>
          <a:solidFill>
            <a:srgbClr val="3F2077"/>
          </a:solidFill>
          <a:ln w="6350">
            <a:solidFill>
              <a:srgbClr val="4B3082"/>
            </a:solidFill>
            <a:prstDash val="solid"/>
          </a:ln>
        </p:spPr>
      </p:sp>
      <p:sp>
        <p:nvSpPr>
          <p:cNvPr id="19" name="Text 17"/>
          <p:cNvSpPr/>
          <p:nvPr/>
        </p:nvSpPr>
        <p:spPr>
          <a:xfrm>
            <a:off x="6114798" y="3035746"/>
            <a:ext cx="223237" cy="279102"/>
          </a:xfrm>
          <a:prstGeom prst="rect">
            <a:avLst/>
          </a:prstGeom>
          <a:noFill/>
          <a:ln/>
        </p:spPr>
        <p:txBody>
          <a:bodyPr wrap="none" lIns="0" tIns="0" rIns="0" bIns="0" rtlCol="0" anchor="ctr"/>
          <a:lstStyle/>
          <a:p>
            <a:pPr algn="ctr" indent="0" marL="0">
              <a:lnSpc>
                <a:spcPct val="100000"/>
              </a:lnSpc>
              <a:buNone/>
            </a:pPr>
            <a:r>
              <a:rPr lang="en-US" sz="1750" spc="-18" kern="0" dirty="0">
                <a:solidFill>
                  <a:srgbClr val="FFFFFF"/>
                </a:solidFill>
                <a:latin typeface="Alexandria Medium" pitchFamily="34" charset="0"/>
                <a:ea typeface="Alexandria Medium" pitchFamily="34" charset="-122"/>
                <a:cs typeface="Alexandria Medium" pitchFamily="34" charset="-120"/>
              </a:rPr>
              <a:t>2</a:t>
            </a:r>
            <a:endParaRPr lang="en-US" sz="1750" dirty="0"/>
          </a:p>
        </p:txBody>
      </p:sp>
      <p:sp>
        <p:nvSpPr>
          <p:cNvPr id="20" name="Text 18"/>
          <p:cNvSpPr/>
          <p:nvPr/>
        </p:nvSpPr>
        <p:spPr>
          <a:xfrm>
            <a:off x="6527835" y="3059013"/>
            <a:ext cx="5008636"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Introducir esperas</a:t>
            </a:r>
            <a:endParaRPr lang="en-US" sz="1450" dirty="0"/>
          </a:p>
        </p:txBody>
      </p:sp>
      <p:sp>
        <p:nvSpPr>
          <p:cNvPr id="21" name="Text 19"/>
          <p:cNvSpPr/>
          <p:nvPr/>
        </p:nvSpPr>
        <p:spPr>
          <a:xfrm>
            <a:off x="6527835" y="3425428"/>
            <a:ext cx="5008636" cy="226219"/>
          </a:xfrm>
          <a:prstGeom prst="rect">
            <a:avLst/>
          </a:prstGeom>
          <a:noFill/>
          <a:ln/>
        </p:spPr>
        <p:txBody>
          <a:bodyPr wrap="none" lIns="0" tIns="0" rIns="0" bIns="0" rtlCol="0" anchor="t"/>
          <a:lstStyle/>
          <a:p>
            <a:pPr algn="l" indent="0" marL="0">
              <a:lnSpc>
                <a:spcPct val="127000"/>
              </a:lnSpc>
              <a:buNone/>
            </a:pPr>
            <a:r>
              <a:rPr lang="en-US" sz="1150" dirty="0">
                <a:solidFill>
                  <a:srgbClr val="FFFFFF"/>
                </a:solidFill>
                <a:highlight>
                  <a:srgbClr val="583592"/>
                </a:highlight>
                <a:latin typeface="Consolas" pitchFamily="34" charset="0"/>
                <a:ea typeface="Consolas" pitchFamily="34" charset="-122"/>
                <a:cs typeface="Consolas" pitchFamily="34" charset="-120"/>
              </a:rPr>
              <a:t>time.sleep(0.5)</a:t>
            </a:r>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 entre peticiones evita el error 429.</a:t>
            </a:r>
            <a:endParaRPr lang="en-US" sz="1150" dirty="0"/>
          </a:p>
        </p:txBody>
      </p:sp>
      <p:sp>
        <p:nvSpPr>
          <p:cNvPr id="22" name="Shape 20"/>
          <p:cNvSpPr/>
          <p:nvPr/>
        </p:nvSpPr>
        <p:spPr>
          <a:xfrm>
            <a:off x="6059038" y="3919538"/>
            <a:ext cx="334855" cy="334863"/>
          </a:xfrm>
          <a:prstGeom prst="ellipse">
            <a:avLst/>
          </a:prstGeom>
          <a:solidFill>
            <a:srgbClr val="3F2077"/>
          </a:solidFill>
          <a:ln w="6350">
            <a:solidFill>
              <a:srgbClr val="4B3082"/>
            </a:solidFill>
            <a:prstDash val="solid"/>
          </a:ln>
        </p:spPr>
      </p:sp>
      <p:sp>
        <p:nvSpPr>
          <p:cNvPr id="23" name="Text 21"/>
          <p:cNvSpPr/>
          <p:nvPr/>
        </p:nvSpPr>
        <p:spPr>
          <a:xfrm>
            <a:off x="6114798" y="3947368"/>
            <a:ext cx="223237" cy="279102"/>
          </a:xfrm>
          <a:prstGeom prst="rect">
            <a:avLst/>
          </a:prstGeom>
          <a:noFill/>
          <a:ln/>
        </p:spPr>
        <p:txBody>
          <a:bodyPr wrap="none" lIns="0" tIns="0" rIns="0" bIns="0" rtlCol="0" anchor="ctr"/>
          <a:lstStyle/>
          <a:p>
            <a:pPr algn="ctr" indent="0" marL="0">
              <a:lnSpc>
                <a:spcPct val="100000"/>
              </a:lnSpc>
              <a:buNone/>
            </a:pPr>
            <a:r>
              <a:rPr lang="en-US" sz="1750" spc="-18" kern="0" dirty="0">
                <a:solidFill>
                  <a:srgbClr val="FFFFFF"/>
                </a:solidFill>
                <a:latin typeface="Alexandria Medium" pitchFamily="34" charset="0"/>
                <a:ea typeface="Alexandria Medium" pitchFamily="34" charset="-122"/>
                <a:cs typeface="Alexandria Medium" pitchFamily="34" charset="-120"/>
              </a:rPr>
              <a:t>3</a:t>
            </a:r>
            <a:endParaRPr lang="en-US" sz="1750" dirty="0"/>
          </a:p>
        </p:txBody>
      </p:sp>
      <p:sp>
        <p:nvSpPr>
          <p:cNvPr id="24" name="Text 22"/>
          <p:cNvSpPr/>
          <p:nvPr/>
        </p:nvSpPr>
        <p:spPr>
          <a:xfrm>
            <a:off x="6527835" y="3970635"/>
            <a:ext cx="5008636"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Gestionar errores</a:t>
            </a:r>
            <a:endParaRPr lang="en-US" sz="1450" dirty="0"/>
          </a:p>
        </p:txBody>
      </p:sp>
      <p:sp>
        <p:nvSpPr>
          <p:cNvPr id="25" name="Text 23"/>
          <p:cNvSpPr/>
          <p:nvPr/>
        </p:nvSpPr>
        <p:spPr>
          <a:xfrm>
            <a:off x="6527835" y="4337050"/>
            <a:ext cx="5008636" cy="452438"/>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Si recibimos 429, esperar el tiempo indicado en la cabecera </a:t>
            </a:r>
            <a:pPr algn="l" indent="0" marL="0">
              <a:lnSpc>
                <a:spcPct val="127000"/>
              </a:lnSpc>
              <a:buNone/>
            </a:pPr>
            <a:r>
              <a:rPr lang="en-US" sz="1150" dirty="0">
                <a:solidFill>
                  <a:srgbClr val="FFFFFF"/>
                </a:solidFill>
                <a:highlight>
                  <a:srgbClr val="583592"/>
                </a:highlight>
                <a:latin typeface="Consolas" pitchFamily="34" charset="0"/>
                <a:ea typeface="Consolas" pitchFamily="34" charset="-122"/>
                <a:cs typeface="Consolas" pitchFamily="34" charset="-120"/>
              </a:rPr>
              <a:t>Retry-After</a:t>
            </a:r>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 y reintentar.</a:t>
            </a:r>
            <a:endParaRPr lang="en-US" sz="1150" dirty="0"/>
          </a:p>
        </p:txBody>
      </p:sp>
      <p:sp>
        <p:nvSpPr>
          <p:cNvPr id="26" name="Shape 24"/>
          <p:cNvSpPr/>
          <p:nvPr/>
        </p:nvSpPr>
        <p:spPr>
          <a:xfrm>
            <a:off x="6059038" y="5057378"/>
            <a:ext cx="334855" cy="334863"/>
          </a:xfrm>
          <a:prstGeom prst="ellipse">
            <a:avLst/>
          </a:prstGeom>
          <a:solidFill>
            <a:srgbClr val="3F2077"/>
          </a:solidFill>
          <a:ln w="6350">
            <a:solidFill>
              <a:srgbClr val="4B3082"/>
            </a:solidFill>
            <a:prstDash val="solid"/>
          </a:ln>
        </p:spPr>
      </p:sp>
      <p:sp>
        <p:nvSpPr>
          <p:cNvPr id="27" name="Text 25"/>
          <p:cNvSpPr/>
          <p:nvPr/>
        </p:nvSpPr>
        <p:spPr>
          <a:xfrm>
            <a:off x="6114798" y="5085209"/>
            <a:ext cx="223237" cy="279102"/>
          </a:xfrm>
          <a:prstGeom prst="rect">
            <a:avLst/>
          </a:prstGeom>
          <a:noFill/>
          <a:ln/>
        </p:spPr>
        <p:txBody>
          <a:bodyPr wrap="none" lIns="0" tIns="0" rIns="0" bIns="0" rtlCol="0" anchor="ctr"/>
          <a:lstStyle/>
          <a:p>
            <a:pPr algn="ctr" indent="0" marL="0">
              <a:lnSpc>
                <a:spcPct val="100000"/>
              </a:lnSpc>
              <a:buNone/>
            </a:pPr>
            <a:r>
              <a:rPr lang="en-US" sz="1750" spc="-18" kern="0" dirty="0">
                <a:solidFill>
                  <a:srgbClr val="FFFFFF"/>
                </a:solidFill>
                <a:latin typeface="Alexandria Medium" pitchFamily="34" charset="0"/>
                <a:ea typeface="Alexandria Medium" pitchFamily="34" charset="-122"/>
                <a:cs typeface="Alexandria Medium" pitchFamily="34" charset="-120"/>
              </a:rPr>
              <a:t>4</a:t>
            </a:r>
            <a:endParaRPr lang="en-US" sz="1750" dirty="0"/>
          </a:p>
        </p:txBody>
      </p:sp>
      <p:sp>
        <p:nvSpPr>
          <p:cNvPr id="28" name="Text 26"/>
          <p:cNvSpPr/>
          <p:nvPr/>
        </p:nvSpPr>
        <p:spPr>
          <a:xfrm>
            <a:off x="6527835" y="5108476"/>
            <a:ext cx="5008636"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Evitar peticiones innecesarias</a:t>
            </a:r>
            <a:endParaRPr lang="en-US" sz="1450" dirty="0"/>
          </a:p>
        </p:txBody>
      </p:sp>
      <p:sp>
        <p:nvSpPr>
          <p:cNvPr id="29" name="Text 27"/>
          <p:cNvSpPr/>
          <p:nvPr/>
        </p:nvSpPr>
        <p:spPr>
          <a:xfrm>
            <a:off x="6527835" y="5474891"/>
            <a:ext cx="5008636" cy="226219"/>
          </a:xfrm>
          <a:prstGeom prst="rect">
            <a:avLst/>
          </a:prstGeom>
          <a:noFill/>
          <a:ln/>
        </p:spPr>
        <p:txBody>
          <a:bodyPr wrap="none" lIns="0" tIns="0" rIns="0" bIns="0" rtlCol="0" anchor="t"/>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Cachear respuestas cuando los datos no cambian frecuentemente.</a:t>
            </a:r>
            <a:endParaRPr lang="en-US" sz="1150" dirty="0"/>
          </a:p>
        </p:txBody>
      </p:sp>
      <p:pic>
        <p:nvPicPr>
          <p:cNvPr id="30"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31"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32" name="Text 28"/>
          <p:cNvSpPr/>
          <p:nvPr/>
        </p:nvSpPr>
        <p:spPr>
          <a:xfrm>
            <a:off x="10847711" y="6300589"/>
            <a:ext cx="1145551"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61475" y="1019473"/>
            <a:ext cx="10868745" cy="351433"/>
          </a:xfrm>
          <a:prstGeom prst="rect">
            <a:avLst/>
          </a:prstGeom>
          <a:noFill/>
          <a:ln/>
        </p:spPr>
        <p:txBody>
          <a:bodyPr wrap="none" lIns="0" tIns="0" rIns="0" bIns="0" rtlCol="0" anchor="t"/>
          <a:lstStyle/>
          <a:p>
            <a:pPr algn="l" indent="0" marL="0">
              <a:lnSpc>
                <a:spcPct val="104000"/>
              </a:lnSpc>
              <a:buNone/>
            </a:pPr>
            <a:r>
              <a:rPr lang="en-US" sz="2200" spc="-22" kern="0" dirty="0">
                <a:solidFill>
                  <a:srgbClr val="FFFFFF"/>
                </a:solidFill>
                <a:latin typeface="Alexandria Medium" pitchFamily="34" charset="0"/>
                <a:ea typeface="Alexandria Medium" pitchFamily="34" charset="-122"/>
                <a:cs typeface="Alexandria Medium" pitchFamily="34" charset="-120"/>
              </a:rPr>
              <a:t>Cuando no existe una API: web scraping</a:t>
            </a:r>
            <a:endParaRPr lang="en-US" sz="2200" dirty="0"/>
          </a:p>
        </p:txBody>
      </p:sp>
      <p:sp>
        <p:nvSpPr>
          <p:cNvPr id="3" name="Text 1"/>
          <p:cNvSpPr/>
          <p:nvPr/>
        </p:nvSpPr>
        <p:spPr>
          <a:xfrm>
            <a:off x="661475" y="1609824"/>
            <a:ext cx="11478330" cy="208062"/>
          </a:xfrm>
          <a:prstGeom prst="rect">
            <a:avLst/>
          </a:prstGeom>
          <a:noFill/>
          <a:ln/>
        </p:spPr>
        <p:txBody>
          <a:bodyPr wrap="none" lIns="0" tIns="0" rIns="0" bIns="0" rtlCol="0" anchor="t"/>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A veces los datos que necesitamos están </a:t>
            </a:r>
            <a:pPr algn="l" indent="0" marL="0">
              <a:lnSpc>
                <a:spcPct val="123000"/>
              </a:lnSpc>
              <a:buNone/>
            </a:pPr>
            <a:r>
              <a:rPr lang="en-US" sz="1100" b="1" dirty="0">
                <a:solidFill>
                  <a:srgbClr val="FFFFFF"/>
                </a:solidFill>
                <a:latin typeface="Manrope Bold" pitchFamily="34" charset="0"/>
                <a:ea typeface="Manrope Bold" pitchFamily="34" charset="-122"/>
                <a:cs typeface="Manrope Bold" pitchFamily="34" charset="-120"/>
              </a:rPr>
              <a:t>publicados en una página web</a:t>
            </a:r>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 pero no existe una API oficial para acceder a ellos.</a:t>
            </a:r>
            <a:endParaRPr lang="en-US" sz="1100" dirty="0"/>
          </a:p>
        </p:txBody>
      </p:sp>
      <p:sp>
        <p:nvSpPr>
          <p:cNvPr id="4" name="Text 2"/>
          <p:cNvSpPr/>
          <p:nvPr/>
        </p:nvSpPr>
        <p:spPr>
          <a:xfrm>
            <a:off x="872309" y="2086570"/>
            <a:ext cx="11267495" cy="208062"/>
          </a:xfrm>
          <a:prstGeom prst="rect">
            <a:avLst/>
          </a:prstGeom>
          <a:noFill/>
          <a:ln/>
        </p:spPr>
        <p:txBody>
          <a:bodyPr wrap="none" lIns="0" tIns="0" rIns="0" bIns="0" rtlCol="0" anchor="t"/>
          <a:lstStyle/>
          <a:p>
            <a:pPr algn="l" indent="0" marL="0">
              <a:lnSpc>
                <a:spcPct val="123000"/>
              </a:lnSpc>
              <a:buNone/>
            </a:pPr>
            <a:r>
              <a:rPr lang="en-US" sz="1100" b="1" dirty="0">
                <a:solidFill>
                  <a:srgbClr val="FFFFFF"/>
                </a:solidFill>
                <a:latin typeface="Manrope Bold" pitchFamily="34" charset="0"/>
                <a:ea typeface="Manrope Bold" pitchFamily="34" charset="-122"/>
                <a:cs typeface="Manrope Bold" pitchFamily="34" charset="-120"/>
              </a:rPr>
              <a:t>Web scraping:</a:t>
            </a:r>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 extracción automatizada de información disponible en páginas web mediante el análisis de su estructura HTML.</a:t>
            </a:r>
            <a:endParaRPr lang="en-US" sz="1100" dirty="0"/>
          </a:p>
        </p:txBody>
      </p:sp>
      <p:sp>
        <p:nvSpPr>
          <p:cNvPr id="5" name="Shape 3"/>
          <p:cNvSpPr/>
          <p:nvPr/>
        </p:nvSpPr>
        <p:spPr>
          <a:xfrm>
            <a:off x="661475" y="1952228"/>
            <a:ext cx="19050" cy="476746"/>
          </a:xfrm>
          <a:prstGeom prst="roundRect">
            <a:avLst>
              <a:gd name="adj" fmla="val 49999"/>
            </a:avLst>
          </a:prstGeom>
          <a:solidFill>
            <a:srgbClr val="B499E9"/>
          </a:solidFill>
          <a:ln/>
        </p:spPr>
      </p:sp>
      <p:pic>
        <p:nvPicPr>
          <p:cNvPr id="6" name="Image 0" descr="preencoded.png">    </p:cNvPr>
          <p:cNvPicPr>
            <a:picLocks noChangeAspect="1"/>
          </p:cNvPicPr>
          <p:nvPr/>
        </p:nvPicPr>
        <p:blipFill>
          <a:blip r:embed="rId1"/>
          <a:stretch>
            <a:fillRect/>
          </a:stretch>
        </p:blipFill>
        <p:spPr>
          <a:xfrm>
            <a:off x="4257072" y="2563316"/>
            <a:ext cx="3677451" cy="1683048"/>
          </a:xfrm>
          <a:prstGeom prst="rect">
            <a:avLst/>
          </a:prstGeom>
        </p:spPr>
      </p:pic>
      <p:sp>
        <p:nvSpPr>
          <p:cNvPr id="7" name="Text 4"/>
          <p:cNvSpPr/>
          <p:nvPr/>
        </p:nvSpPr>
        <p:spPr>
          <a:xfrm>
            <a:off x="7072888" y="3780194"/>
            <a:ext cx="690397" cy="265998"/>
          </a:xfrm>
          <a:prstGeom prst="rect">
            <a:avLst/>
          </a:prstGeom>
          <a:noFill/>
          <a:ln/>
        </p:spPr>
        <p:txBody>
          <a:bodyPr wrap="square" lIns="0" tIns="0" rIns="0" bIns="0" rtlCol="0" anchor="t">
            <a:normAutofit/>
          </a:bodyPr>
          <a:lstStyle/>
          <a:p>
            <a:pPr algn="ctr" indent="0" marL="0">
              <a:lnSpc>
                <a:spcPct val="104000"/>
              </a:lnSpc>
              <a:buNone/>
            </a:pPr>
            <a:r>
              <a:rPr lang="en-US" sz="800" spc="-8" kern="0" dirty="0">
                <a:solidFill>
                  <a:srgbClr val="FFFFFF"/>
                </a:solidFill>
                <a:latin typeface="Alexandria Medium" pitchFamily="34" charset="0"/>
                <a:ea typeface="Alexandria Medium" pitchFamily="34" charset="-122"/>
                <a:cs typeface="Alexandria Medium" pitchFamily="34" charset="-120"/>
              </a:rPr>
              <a:t>Extraer datos</a:t>
            </a:r>
            <a:endParaRPr lang="en-US" sz="800" dirty="0"/>
          </a:p>
        </p:txBody>
      </p:sp>
      <p:sp>
        <p:nvSpPr>
          <p:cNvPr id="8" name="Text 5"/>
          <p:cNvSpPr/>
          <p:nvPr/>
        </p:nvSpPr>
        <p:spPr>
          <a:xfrm>
            <a:off x="6202800" y="3780194"/>
            <a:ext cx="690396" cy="265998"/>
          </a:xfrm>
          <a:prstGeom prst="rect">
            <a:avLst/>
          </a:prstGeom>
          <a:noFill/>
          <a:ln/>
        </p:spPr>
        <p:txBody>
          <a:bodyPr wrap="square" lIns="0" tIns="0" rIns="0" bIns="0" rtlCol="0" anchor="t">
            <a:normAutofit/>
          </a:bodyPr>
          <a:lstStyle/>
          <a:p>
            <a:pPr algn="ctr" indent="0" marL="0">
              <a:lnSpc>
                <a:spcPct val="104000"/>
              </a:lnSpc>
              <a:buNone/>
            </a:pPr>
            <a:r>
              <a:rPr lang="en-US" sz="800" spc="-8" kern="0" dirty="0">
                <a:solidFill>
                  <a:srgbClr val="FFFFFF"/>
                </a:solidFill>
                <a:latin typeface="Alexandria Medium" pitchFamily="34" charset="0"/>
                <a:ea typeface="Alexandria Medium" pitchFamily="34" charset="-122"/>
                <a:cs typeface="Alexandria Medium" pitchFamily="34" charset="-120"/>
              </a:rPr>
              <a:t>Seleccionar elementos</a:t>
            </a:r>
            <a:endParaRPr lang="en-US" sz="800" dirty="0"/>
          </a:p>
        </p:txBody>
      </p:sp>
      <p:sp>
        <p:nvSpPr>
          <p:cNvPr id="9" name="Text 6"/>
          <p:cNvSpPr/>
          <p:nvPr/>
        </p:nvSpPr>
        <p:spPr>
          <a:xfrm>
            <a:off x="5337440" y="3780194"/>
            <a:ext cx="690396" cy="265998"/>
          </a:xfrm>
          <a:prstGeom prst="rect">
            <a:avLst/>
          </a:prstGeom>
          <a:noFill/>
          <a:ln/>
        </p:spPr>
        <p:txBody>
          <a:bodyPr wrap="square" lIns="0" tIns="0" rIns="0" bIns="0" rtlCol="0" anchor="t">
            <a:normAutofit/>
          </a:bodyPr>
          <a:lstStyle/>
          <a:p>
            <a:pPr algn="ctr" indent="0" marL="0">
              <a:lnSpc>
                <a:spcPct val="104000"/>
              </a:lnSpc>
              <a:buNone/>
            </a:pPr>
            <a:r>
              <a:rPr lang="en-US" sz="800" spc="-8" kern="0" dirty="0">
                <a:solidFill>
                  <a:srgbClr val="FFFFFF"/>
                </a:solidFill>
                <a:latin typeface="Alexandria Medium" pitchFamily="34" charset="0"/>
                <a:ea typeface="Alexandria Medium" pitchFamily="34" charset="-122"/>
                <a:cs typeface="Alexandria Medium" pitchFamily="34" charset="-120"/>
              </a:rPr>
              <a:t>Parsear HTML</a:t>
            </a:r>
            <a:endParaRPr lang="en-US" sz="800" dirty="0"/>
          </a:p>
        </p:txBody>
      </p:sp>
      <p:sp>
        <p:nvSpPr>
          <p:cNvPr id="10" name="Text 7"/>
          <p:cNvSpPr/>
          <p:nvPr/>
        </p:nvSpPr>
        <p:spPr>
          <a:xfrm>
            <a:off x="4453165" y="3780194"/>
            <a:ext cx="690396" cy="265998"/>
          </a:xfrm>
          <a:prstGeom prst="rect">
            <a:avLst/>
          </a:prstGeom>
          <a:noFill/>
          <a:ln/>
        </p:spPr>
        <p:txBody>
          <a:bodyPr wrap="square" lIns="0" tIns="0" rIns="0" bIns="0" rtlCol="0" anchor="t">
            <a:normAutofit/>
          </a:bodyPr>
          <a:lstStyle/>
          <a:p>
            <a:pPr algn="ctr" indent="0" marL="0">
              <a:lnSpc>
                <a:spcPct val="104000"/>
              </a:lnSpc>
              <a:buNone/>
            </a:pPr>
            <a:r>
              <a:rPr lang="en-US" sz="800" spc="-8" kern="0" dirty="0">
                <a:solidFill>
                  <a:srgbClr val="FFFFFF"/>
                </a:solidFill>
                <a:latin typeface="Alexandria Medium" pitchFamily="34" charset="0"/>
                <a:ea typeface="Alexandria Medium" pitchFamily="34" charset="-122"/>
                <a:cs typeface="Alexandria Medium" pitchFamily="34" charset="-120"/>
              </a:rPr>
              <a:t>Obtener página</a:t>
            </a:r>
            <a:endParaRPr lang="en-US" sz="800" dirty="0"/>
          </a:p>
        </p:txBody>
      </p:sp>
      <p:sp>
        <p:nvSpPr>
          <p:cNvPr id="11" name="Text 8"/>
          <p:cNvSpPr/>
          <p:nvPr/>
        </p:nvSpPr>
        <p:spPr>
          <a:xfrm>
            <a:off x="661475" y="4500166"/>
            <a:ext cx="5262927"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Caso ShopData</a:t>
            </a:r>
            <a:endParaRPr lang="en-US" sz="1350" dirty="0"/>
          </a:p>
        </p:txBody>
      </p:sp>
      <p:sp>
        <p:nvSpPr>
          <p:cNvPr id="12" name="Text 9"/>
          <p:cNvSpPr/>
          <p:nvPr/>
        </p:nvSpPr>
        <p:spPr>
          <a:xfrm>
            <a:off x="661475" y="4839196"/>
            <a:ext cx="5262927" cy="41612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Queremos conocer los precios de la competencia. No tienen API. Sus precios son públicos en su web. El scraping nos permite obtenerlos de forma automatizada.</a:t>
            </a:r>
            <a:endParaRPr lang="en-US" sz="1100" dirty="0"/>
          </a:p>
        </p:txBody>
      </p:sp>
      <p:sp>
        <p:nvSpPr>
          <p:cNvPr id="13" name="Text 10"/>
          <p:cNvSpPr/>
          <p:nvPr/>
        </p:nvSpPr>
        <p:spPr>
          <a:xfrm>
            <a:off x="6273643" y="4500166"/>
            <a:ext cx="5262927"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¿Cuándo es razonable usarlo?</a:t>
            </a:r>
            <a:endParaRPr lang="en-US" sz="1350" dirty="0"/>
          </a:p>
        </p:txBody>
      </p:sp>
      <p:sp>
        <p:nvSpPr>
          <p:cNvPr id="14" name="Text 11"/>
          <p:cNvSpPr/>
          <p:nvPr/>
        </p:nvSpPr>
        <p:spPr>
          <a:xfrm>
            <a:off x="6273643" y="4839196"/>
            <a:ext cx="5262927" cy="957560"/>
          </a:xfrm>
          <a:prstGeom prst="rect">
            <a:avLst/>
          </a:prstGeom>
          <a:noFill/>
          <a:ln/>
        </p:spPr>
        <p:txBody>
          <a:bodyPr wrap="square" lIns="0" tIns="0" rIns="0" bIns="0" rtlCol="0" anchor="t">
            <a:normAutofit/>
          </a:bodyPr>
          <a:lstStyle/>
          <a:p>
            <a:pPr algn="l" marL="223520" indent="-223520">
              <a:lnSpc>
                <a:spcPct val="123000"/>
              </a:lnSpc>
              <a:buSzPct val="100000"/>
              <a:buChar char="•"/>
            </a:pPr>
            <a:r>
              <a:rPr lang="en-US" sz="1100" dirty="0">
                <a:solidFill>
                  <a:srgbClr val="FFFFFF"/>
                </a:solidFill>
                <a:latin typeface="Manrope" pitchFamily="34" charset="0"/>
                <a:ea typeface="Manrope" pitchFamily="34" charset="-122"/>
                <a:cs typeface="Manrope" pitchFamily="34" charset="-120"/>
              </a:rPr>
              <a:t>No existe API oficial del proveedor de datos</a:t>
            </a:r>
            <a:endParaRPr lang="en-US" sz="1100" dirty="0"/>
          </a:p>
          <a:p>
            <a:pPr algn="l" marL="223520" indent="-223520">
              <a:lnSpc>
                <a:spcPct val="123000"/>
              </a:lnSpc>
              <a:buSzPct val="100000"/>
              <a:buChar char="•"/>
            </a:pPr>
            <a:r>
              <a:rPr lang="en-US" sz="1100" dirty="0">
                <a:solidFill>
                  <a:srgbClr val="FFFFFF"/>
                </a:solidFill>
                <a:latin typeface="Manrope" pitchFamily="34" charset="0"/>
                <a:ea typeface="Manrope" pitchFamily="34" charset="-122"/>
                <a:cs typeface="Manrope" pitchFamily="34" charset="-120"/>
              </a:rPr>
              <a:t>Los datos son públicamente accesibles</a:t>
            </a:r>
            <a:endParaRPr lang="en-US" sz="1100" dirty="0"/>
          </a:p>
          <a:p>
            <a:pPr algn="l" marL="223520" indent="-223520">
              <a:lnSpc>
                <a:spcPct val="123000"/>
              </a:lnSpc>
              <a:buSzPct val="100000"/>
              <a:buChar char="•"/>
            </a:pPr>
            <a:r>
              <a:rPr lang="en-US" sz="1100" dirty="0">
                <a:solidFill>
                  <a:srgbClr val="FFFFFF"/>
                </a:solidFill>
                <a:latin typeface="Manrope" pitchFamily="34" charset="0"/>
                <a:ea typeface="Manrope" pitchFamily="34" charset="-122"/>
                <a:cs typeface="Manrope" pitchFamily="34" charset="-120"/>
              </a:rPr>
              <a:t>El uso es legítimo y respetuoso</a:t>
            </a:r>
            <a:endParaRPr lang="en-US" sz="1100" dirty="0"/>
          </a:p>
          <a:p>
            <a:pPr algn="l" marL="223520" indent="-223520">
              <a:lnSpc>
                <a:spcPct val="123000"/>
              </a:lnSpc>
              <a:buSzPct val="100000"/>
              <a:buChar char="•"/>
            </a:pPr>
            <a:r>
              <a:rPr lang="en-US" sz="1100" dirty="0">
                <a:solidFill>
                  <a:srgbClr val="FFFFFF"/>
                </a:solidFill>
                <a:latin typeface="Manrope" pitchFamily="34" charset="0"/>
                <a:ea typeface="Manrope" pitchFamily="34" charset="-122"/>
                <a:cs typeface="Manrope" pitchFamily="34" charset="-120"/>
              </a:rPr>
              <a:t>El volumen de extracción es razonable</a:t>
            </a:r>
            <a:endParaRPr lang="en-US" sz="1100" dirty="0"/>
          </a:p>
        </p:txBody>
      </p:sp>
      <p:pic>
        <p:nvPicPr>
          <p:cNvPr id="15" name="Image 1" descr="preencoded.png">    </p:cNvPr>
          <p:cNvPicPr>
            <a:picLocks noChangeAspect="1"/>
          </p:cNvPicPr>
          <p:nvPr/>
        </p:nvPicPr>
        <p:blipFill>
          <a:blip r:embed="rId2"/>
          <a:stretch>
            <a:fillRect/>
          </a:stretch>
        </p:blipFill>
        <p:spPr>
          <a:xfrm>
            <a:off x="198433" y="203597"/>
            <a:ext cx="676357" cy="568623"/>
          </a:xfrm>
          <a:prstGeom prst="rect">
            <a:avLst/>
          </a:prstGeom>
        </p:spPr>
      </p:pic>
      <p:pic>
        <p:nvPicPr>
          <p:cNvPr id="16" name="Image 2" descr="preencoded.png">    </p:cNvPr>
          <p:cNvPicPr>
            <a:picLocks noChangeAspect="1"/>
          </p:cNvPicPr>
          <p:nvPr/>
        </p:nvPicPr>
        <p:blipFill>
          <a:blip r:embed="rId3"/>
          <a:stretch>
            <a:fillRect/>
          </a:stretch>
        </p:blipFill>
        <p:spPr>
          <a:xfrm>
            <a:off x="11386357" y="268784"/>
            <a:ext cx="606906" cy="438249"/>
          </a:xfrm>
          <a:prstGeom prst="rect">
            <a:avLst/>
          </a:prstGeom>
        </p:spPr>
      </p:pic>
      <p:sp>
        <p:nvSpPr>
          <p:cNvPr id="17" name="Text 12"/>
          <p:cNvSpPr/>
          <p:nvPr/>
        </p:nvSpPr>
        <p:spPr>
          <a:xfrm>
            <a:off x="10843048" y="6300589"/>
            <a:ext cx="1150214"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661475" y="988814"/>
            <a:ext cx="10868745" cy="345976"/>
          </a:xfrm>
          <a:prstGeom prst="rect">
            <a:avLst/>
          </a:prstGeom>
          <a:noFill/>
          <a:ln/>
        </p:spPr>
        <p:txBody>
          <a:bodyPr wrap="none" lIns="0" tIns="0" rIns="0" bIns="0" rtlCol="0" anchor="t"/>
          <a:lstStyle/>
          <a:p>
            <a:pPr algn="l" indent="0" marL="0">
              <a:lnSpc>
                <a:spcPct val="104000"/>
              </a:lnSpc>
              <a:buNone/>
            </a:pPr>
            <a:r>
              <a:rPr lang="en-US" sz="2150" spc="-22" kern="0" dirty="0">
                <a:solidFill>
                  <a:srgbClr val="FFFFFF"/>
                </a:solidFill>
                <a:latin typeface="Alexandria Medium" pitchFamily="34" charset="0"/>
                <a:ea typeface="Alexandria Medium" pitchFamily="34" charset="-122"/>
                <a:cs typeface="Alexandria Medium" pitchFamily="34" charset="-120"/>
              </a:rPr>
              <a:t>Anatomía mínima de una página web</a:t>
            </a:r>
            <a:endParaRPr lang="en-US" sz="2150" dirty="0"/>
          </a:p>
        </p:txBody>
      </p:sp>
      <p:sp>
        <p:nvSpPr>
          <p:cNvPr id="3" name="Text 1"/>
          <p:cNvSpPr/>
          <p:nvPr/>
        </p:nvSpPr>
        <p:spPr>
          <a:xfrm>
            <a:off x="661475" y="1566366"/>
            <a:ext cx="11478330" cy="203299"/>
          </a:xfrm>
          <a:prstGeom prst="rect">
            <a:avLst/>
          </a:prstGeom>
          <a:noFill/>
          <a:ln/>
        </p:spPr>
        <p:txBody>
          <a:bodyPr wrap="none" lIns="0" tIns="0" rIns="0" bIns="0" rtlCol="0" anchor="t"/>
          <a:lstStyle/>
          <a:p>
            <a:pPr algn="l" indent="0" marL="0">
              <a:lnSpc>
                <a:spcPct val="122000"/>
              </a:lnSpc>
              <a:buNone/>
            </a:pPr>
            <a:r>
              <a:rPr lang="en-US" sz="1050" dirty="0">
                <a:solidFill>
                  <a:srgbClr val="FFFFFF"/>
                </a:solidFill>
                <a:latin typeface="Manrope" pitchFamily="34" charset="0"/>
                <a:ea typeface="Manrope" pitchFamily="34" charset="-122"/>
                <a:cs typeface="Manrope" pitchFamily="34" charset="-120"/>
              </a:rPr>
              <a:t>Para hacer scraping necesitamos entender solo lo esencial del HTML.</a:t>
            </a:r>
            <a:endParaRPr lang="en-US" sz="1050" dirty="0"/>
          </a:p>
        </p:txBody>
      </p:sp>
      <p:sp>
        <p:nvSpPr>
          <p:cNvPr id="4" name="Text 2"/>
          <p:cNvSpPr/>
          <p:nvPr/>
        </p:nvSpPr>
        <p:spPr>
          <a:xfrm>
            <a:off x="661475" y="2015629"/>
            <a:ext cx="5265606" cy="216098"/>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HTML básico</a:t>
            </a:r>
            <a:endParaRPr lang="en-US" sz="1350" dirty="0"/>
          </a:p>
        </p:txBody>
      </p:sp>
      <p:sp>
        <p:nvSpPr>
          <p:cNvPr id="5" name="Shape 3"/>
          <p:cNvSpPr/>
          <p:nvPr/>
        </p:nvSpPr>
        <p:spPr>
          <a:xfrm>
            <a:off x="661475" y="2361902"/>
            <a:ext cx="5265606" cy="3377009"/>
          </a:xfrm>
          <a:prstGeom prst="roundRect">
            <a:avLst>
              <a:gd name="adj" fmla="val 6147"/>
            </a:avLst>
          </a:prstGeom>
          <a:solidFill>
            <a:srgbClr val="583592"/>
          </a:solidFill>
          <a:ln/>
        </p:spPr>
      </p:sp>
      <p:sp>
        <p:nvSpPr>
          <p:cNvPr id="6" name="Text 4"/>
          <p:cNvSpPr/>
          <p:nvPr/>
        </p:nvSpPr>
        <p:spPr>
          <a:xfrm>
            <a:off x="827464" y="2500213"/>
            <a:ext cx="4933628" cy="3100388"/>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E6EDF3"/>
                </a:solidFill>
                <a:latin typeface="Consolas" pitchFamily="34" charset="0"/>
                <a:ea typeface="Consolas" pitchFamily="34" charset="-122"/>
                <a:cs typeface="Consolas" pitchFamily="34" charset="-120"/>
              </a:rPr>
              <a:t>&lt;div class="product"&gt;</a:t>
            </a:r>
            <a:endParaRPr lang="en-US" sz="1050" dirty="0"/>
          </a:p>
          <a:p>
            <a:pPr algn="l" indent="0" marL="0">
              <a:lnSpc>
                <a:spcPct val="133000"/>
              </a:lnSpc>
              <a:buNone/>
            </a:pPr>
            <a:r>
              <a:rPr lang="en-US" sz="1050" dirty="0">
                <a:solidFill>
                  <a:srgbClr val="E6EDF3"/>
                </a:solidFill>
                <a:latin typeface="Consolas" pitchFamily="34" charset="0"/>
                <a:ea typeface="Consolas" pitchFamily="34" charset="-122"/>
                <a:cs typeface="Consolas" pitchFamily="34" charset="-120"/>
              </a:rPr>
              <a:t>  &lt;h2&gt;Portátil X&lt;/h2&gt;</a:t>
            </a:r>
            <a:endParaRPr lang="en-US" sz="1050" dirty="0"/>
          </a:p>
          <a:p>
            <a:pPr algn="l" indent="0" marL="0">
              <a:lnSpc>
                <a:spcPct val="133000"/>
              </a:lnSpc>
              <a:buNone/>
            </a:pPr>
            <a:r>
              <a:rPr lang="en-US" sz="1050" dirty="0">
                <a:solidFill>
                  <a:srgbClr val="E6EDF3"/>
                </a:solidFill>
                <a:latin typeface="Consolas" pitchFamily="34" charset="0"/>
                <a:ea typeface="Consolas" pitchFamily="34" charset="-122"/>
                <a:cs typeface="Consolas" pitchFamily="34" charset="-120"/>
              </a:rPr>
              <a:t>  &lt;span class="price"&gt;899 €&lt;/span&gt;</a:t>
            </a:r>
            <a:endParaRPr lang="en-US" sz="1050" dirty="0"/>
          </a:p>
          <a:p>
            <a:pPr algn="l" indent="0" marL="0">
              <a:lnSpc>
                <a:spcPct val="133000"/>
              </a:lnSpc>
              <a:buNone/>
            </a:pPr>
            <a:r>
              <a:rPr lang="en-US" sz="1050" dirty="0">
                <a:solidFill>
                  <a:srgbClr val="E6EDF3"/>
                </a:solidFill>
                <a:latin typeface="Consolas" pitchFamily="34" charset="0"/>
                <a:ea typeface="Consolas" pitchFamily="34" charset="-122"/>
                <a:cs typeface="Consolas" pitchFamily="34" charset="-120"/>
              </a:rPr>
              <a:t>  &lt;a href="/products/P01"&gt;</a:t>
            </a:r>
            <a:endParaRPr lang="en-US" sz="1050" dirty="0"/>
          </a:p>
          <a:p>
            <a:pPr algn="l" indent="0" marL="0">
              <a:lnSpc>
                <a:spcPct val="133000"/>
              </a:lnSpc>
              <a:buNone/>
            </a:pPr>
            <a:r>
              <a:rPr lang="en-US" sz="1050" dirty="0">
                <a:solidFill>
                  <a:srgbClr val="E6EDF3"/>
                </a:solidFill>
                <a:latin typeface="Consolas" pitchFamily="34" charset="0"/>
                <a:ea typeface="Consolas" pitchFamily="34" charset="-122"/>
                <a:cs typeface="Consolas" pitchFamily="34" charset="-120"/>
              </a:rPr>
              <a:t>    Ver detalle</a:t>
            </a:r>
            <a:endParaRPr lang="en-US" sz="1050" dirty="0"/>
          </a:p>
          <a:p>
            <a:pPr algn="l" indent="0" marL="0">
              <a:lnSpc>
                <a:spcPct val="133000"/>
              </a:lnSpc>
              <a:buNone/>
            </a:pPr>
            <a:r>
              <a:rPr lang="en-US" sz="1050" dirty="0">
                <a:solidFill>
                  <a:srgbClr val="E6EDF3"/>
                </a:solidFill>
                <a:latin typeface="Consolas" pitchFamily="34" charset="0"/>
                <a:ea typeface="Consolas" pitchFamily="34" charset="-122"/>
                <a:cs typeface="Consolas" pitchFamily="34" charset="-120"/>
              </a:rPr>
              <a:t>  &lt;/a&gt;</a:t>
            </a:r>
            <a:endParaRPr lang="en-US" sz="1050" dirty="0"/>
          </a:p>
          <a:p>
            <a:pPr algn="l" indent="0" marL="0">
              <a:lnSpc>
                <a:spcPct val="133000"/>
              </a:lnSpc>
              <a:buNone/>
            </a:pPr>
            <a:r>
              <a:rPr lang="en-US" sz="1050" dirty="0">
                <a:solidFill>
                  <a:srgbClr val="E6EDF3"/>
                </a:solidFill>
                <a:latin typeface="Consolas" pitchFamily="34" charset="0"/>
                <a:ea typeface="Consolas" pitchFamily="34" charset="-122"/>
                <a:cs typeface="Consolas" pitchFamily="34" charset="-120"/>
              </a:rPr>
              <a:t>&lt;/div&gt;</a:t>
            </a:r>
            <a:endParaRPr lang="en-US" sz="1050" dirty="0"/>
          </a:p>
          <a:p>
            <a:pPr algn="l" indent="0" marL="0">
              <a:lnSpc>
                <a:spcPct val="133000"/>
              </a:lnSpc>
              <a:buNone/>
            </a:pPr>
            <a:endParaRPr lang="en-US" sz="1050" dirty="0"/>
          </a:p>
          <a:p>
            <a:pPr algn="l" indent="0" marL="0">
              <a:lnSpc>
                <a:spcPct val="133000"/>
              </a:lnSpc>
              <a:buNone/>
            </a:pPr>
            <a:r>
              <a:rPr lang="en-US" sz="1050" dirty="0">
                <a:solidFill>
                  <a:srgbClr val="E6EDF3"/>
                </a:solidFill>
                <a:latin typeface="Consolas" pitchFamily="34" charset="0"/>
                <a:ea typeface="Consolas" pitchFamily="34" charset="-122"/>
                <a:cs typeface="Consolas" pitchFamily="34" charset="-120"/>
              </a:rPr>
              <a:t>&lt;table class="ranking"&gt;</a:t>
            </a:r>
            <a:endParaRPr lang="en-US" sz="1050" dirty="0"/>
          </a:p>
          <a:p>
            <a:pPr algn="l" indent="0" marL="0">
              <a:lnSpc>
                <a:spcPct val="133000"/>
              </a:lnSpc>
              <a:buNone/>
            </a:pPr>
            <a:r>
              <a:rPr lang="en-US" sz="1050" dirty="0">
                <a:solidFill>
                  <a:srgbClr val="E6EDF3"/>
                </a:solidFill>
                <a:latin typeface="Consolas" pitchFamily="34" charset="0"/>
                <a:ea typeface="Consolas" pitchFamily="34" charset="-122"/>
                <a:cs typeface="Consolas" pitchFamily="34" charset="-120"/>
              </a:rPr>
              <a:t>  &lt;tr&gt;</a:t>
            </a:r>
            <a:endParaRPr lang="en-US" sz="1050" dirty="0"/>
          </a:p>
          <a:p>
            <a:pPr algn="l" indent="0" marL="0">
              <a:lnSpc>
                <a:spcPct val="133000"/>
              </a:lnSpc>
              <a:buNone/>
            </a:pPr>
            <a:r>
              <a:rPr lang="en-US" sz="1050" dirty="0">
                <a:solidFill>
                  <a:srgbClr val="E6EDF3"/>
                </a:solidFill>
                <a:latin typeface="Consolas" pitchFamily="34" charset="0"/>
                <a:ea typeface="Consolas" pitchFamily="34" charset="-122"/>
                <a:cs typeface="Consolas" pitchFamily="34" charset="-120"/>
              </a:rPr>
              <a:t>    &lt;td&gt;Portátil X&lt;/td&gt;</a:t>
            </a:r>
            <a:endParaRPr lang="en-US" sz="1050" dirty="0"/>
          </a:p>
          <a:p>
            <a:pPr algn="l" indent="0" marL="0">
              <a:lnSpc>
                <a:spcPct val="133000"/>
              </a:lnSpc>
              <a:buNone/>
            </a:pPr>
            <a:r>
              <a:rPr lang="en-US" sz="1050" dirty="0">
                <a:solidFill>
                  <a:srgbClr val="E6EDF3"/>
                </a:solidFill>
                <a:latin typeface="Consolas" pitchFamily="34" charset="0"/>
                <a:ea typeface="Consolas" pitchFamily="34" charset="-122"/>
                <a:cs typeface="Consolas" pitchFamily="34" charset="-120"/>
              </a:rPr>
              <a:t>    &lt;td&gt;899 €&lt;/td&gt;</a:t>
            </a:r>
            <a:endParaRPr lang="en-US" sz="1050" dirty="0"/>
          </a:p>
          <a:p>
            <a:pPr algn="l" indent="0" marL="0">
              <a:lnSpc>
                <a:spcPct val="133000"/>
              </a:lnSpc>
              <a:buNone/>
            </a:pPr>
            <a:r>
              <a:rPr lang="en-US" sz="1050" dirty="0">
                <a:solidFill>
                  <a:srgbClr val="E6EDF3"/>
                </a:solidFill>
                <a:latin typeface="Consolas" pitchFamily="34" charset="0"/>
                <a:ea typeface="Consolas" pitchFamily="34" charset="-122"/>
                <a:cs typeface="Consolas" pitchFamily="34" charset="-120"/>
              </a:rPr>
              <a:t>  &lt;/tr&gt;</a:t>
            </a:r>
            <a:endParaRPr lang="en-US" sz="1050" dirty="0"/>
          </a:p>
          <a:p>
            <a:pPr algn="l" indent="0" marL="0">
              <a:lnSpc>
                <a:spcPct val="133000"/>
              </a:lnSpc>
              <a:buNone/>
            </a:pPr>
            <a:r>
              <a:rPr lang="en-US" sz="1050" dirty="0">
                <a:solidFill>
                  <a:srgbClr val="E6EDF3"/>
                </a:solidFill>
                <a:latin typeface="Consolas" pitchFamily="34" charset="0"/>
                <a:ea typeface="Consolas" pitchFamily="34" charset="-122"/>
                <a:cs typeface="Consolas" pitchFamily="34" charset="-120"/>
              </a:rPr>
              <a:t>&lt;/table&gt;</a:t>
            </a:r>
            <a:endParaRPr lang="en-US" sz="1050" dirty="0"/>
          </a:p>
        </p:txBody>
      </p:sp>
      <p:sp>
        <p:nvSpPr>
          <p:cNvPr id="7" name="Text 5"/>
          <p:cNvSpPr/>
          <p:nvPr/>
        </p:nvSpPr>
        <p:spPr>
          <a:xfrm>
            <a:off x="6270964" y="2015629"/>
            <a:ext cx="5265606" cy="216098"/>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Conceptos que necesitamos</a:t>
            </a:r>
            <a:endParaRPr lang="en-US" sz="1350" dirty="0"/>
          </a:p>
        </p:txBody>
      </p:sp>
      <p:sp>
        <p:nvSpPr>
          <p:cNvPr id="8" name="Shape 6"/>
          <p:cNvSpPr/>
          <p:nvPr/>
        </p:nvSpPr>
        <p:spPr>
          <a:xfrm>
            <a:off x="6270964" y="2361902"/>
            <a:ext cx="2574861" cy="1231106"/>
          </a:xfrm>
          <a:prstGeom prst="roundRect">
            <a:avLst>
              <a:gd name="adj" fmla="val 16861"/>
            </a:avLst>
          </a:prstGeom>
          <a:solidFill>
            <a:srgbClr val="3F2077"/>
          </a:solidFill>
          <a:ln w="6350">
            <a:solidFill>
              <a:srgbClr val="4B3082"/>
            </a:solidFill>
            <a:prstDash val="solid"/>
          </a:ln>
        </p:spPr>
      </p:sp>
      <p:sp>
        <p:nvSpPr>
          <p:cNvPr id="9" name="Text 7"/>
          <p:cNvSpPr/>
          <p:nvPr/>
        </p:nvSpPr>
        <p:spPr>
          <a:xfrm>
            <a:off x="6415622" y="2506563"/>
            <a:ext cx="2285546" cy="216098"/>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Etiqueta</a:t>
            </a:r>
            <a:endParaRPr lang="en-US" sz="1350" dirty="0"/>
          </a:p>
        </p:txBody>
      </p:sp>
      <p:sp>
        <p:nvSpPr>
          <p:cNvPr id="10" name="Text 8"/>
          <p:cNvSpPr/>
          <p:nvPr/>
        </p:nvSpPr>
        <p:spPr>
          <a:xfrm>
            <a:off x="6415622" y="2838450"/>
            <a:ext cx="2285546" cy="406598"/>
          </a:xfrm>
          <a:prstGeom prst="rect">
            <a:avLst/>
          </a:prstGeom>
          <a:noFill/>
          <a:ln/>
        </p:spPr>
        <p:txBody>
          <a:bodyPr wrap="square" lIns="0" tIns="0" rIns="0" bIns="0" rtlCol="0" anchor="t">
            <a:normAutofit/>
          </a:bodyPr>
          <a:lstStyle/>
          <a:p>
            <a:pPr algn="l" indent="0" marL="0">
              <a:lnSpc>
                <a:spcPct val="122000"/>
              </a:lnSpc>
              <a:buNone/>
            </a:pPr>
            <a:r>
              <a:rPr lang="en-US" sz="1050" dirty="0">
                <a:solidFill>
                  <a:srgbClr val="FFFFFF"/>
                </a:solidFill>
                <a:highlight>
                  <a:srgbClr val="583592"/>
                </a:highlight>
                <a:latin typeface="Consolas" pitchFamily="34" charset="0"/>
                <a:ea typeface="Consolas" pitchFamily="34" charset="-122"/>
                <a:cs typeface="Consolas" pitchFamily="34" charset="-120"/>
              </a:rPr>
              <a:t>&lt;div&gt;</a:t>
            </a:r>
            <a:pPr algn="l" indent="0" marL="0">
              <a:lnSpc>
                <a:spcPct val="122000"/>
              </a:lnSpc>
              <a:buNone/>
            </a:pPr>
            <a:r>
              <a:rPr lang="en-US" sz="1050" dirty="0">
                <a:solidFill>
                  <a:srgbClr val="FFFFFF"/>
                </a:solidFill>
                <a:latin typeface="Manrope" pitchFamily="34" charset="0"/>
                <a:ea typeface="Manrope" pitchFamily="34" charset="-122"/>
                <a:cs typeface="Manrope" pitchFamily="34" charset="-120"/>
              </a:rPr>
              <a:t>, </a:t>
            </a:r>
            <a:pPr algn="l" indent="0" marL="0">
              <a:lnSpc>
                <a:spcPct val="122000"/>
              </a:lnSpc>
              <a:buNone/>
            </a:pPr>
            <a:r>
              <a:rPr lang="en-US" sz="1050" dirty="0">
                <a:solidFill>
                  <a:srgbClr val="FFFFFF"/>
                </a:solidFill>
                <a:highlight>
                  <a:srgbClr val="583592"/>
                </a:highlight>
                <a:latin typeface="Consolas" pitchFamily="34" charset="0"/>
                <a:ea typeface="Consolas" pitchFamily="34" charset="-122"/>
                <a:cs typeface="Consolas" pitchFamily="34" charset="-120"/>
              </a:rPr>
              <a:t>&lt;span&gt;</a:t>
            </a:r>
            <a:pPr algn="l" indent="0" marL="0">
              <a:lnSpc>
                <a:spcPct val="122000"/>
              </a:lnSpc>
              <a:buNone/>
            </a:pPr>
            <a:r>
              <a:rPr lang="en-US" sz="1050" dirty="0">
                <a:solidFill>
                  <a:srgbClr val="FFFFFF"/>
                </a:solidFill>
                <a:latin typeface="Manrope" pitchFamily="34" charset="0"/>
                <a:ea typeface="Manrope" pitchFamily="34" charset="-122"/>
                <a:cs typeface="Manrope" pitchFamily="34" charset="-120"/>
              </a:rPr>
              <a:t>, </a:t>
            </a:r>
            <a:pPr algn="l" indent="0" marL="0">
              <a:lnSpc>
                <a:spcPct val="122000"/>
              </a:lnSpc>
              <a:buNone/>
            </a:pPr>
            <a:r>
              <a:rPr lang="en-US" sz="1050" dirty="0">
                <a:solidFill>
                  <a:srgbClr val="FFFFFF"/>
                </a:solidFill>
                <a:highlight>
                  <a:srgbClr val="583592"/>
                </a:highlight>
                <a:latin typeface="Consolas" pitchFamily="34" charset="0"/>
                <a:ea typeface="Consolas" pitchFamily="34" charset="-122"/>
                <a:cs typeface="Consolas" pitchFamily="34" charset="-120"/>
              </a:rPr>
              <a:t>&lt;h2&gt;</a:t>
            </a:r>
            <a:pPr algn="l" indent="0" marL="0">
              <a:lnSpc>
                <a:spcPct val="122000"/>
              </a:lnSpc>
              <a:buNone/>
            </a:pPr>
            <a:r>
              <a:rPr lang="en-US" sz="1050" dirty="0">
                <a:solidFill>
                  <a:srgbClr val="FFFFFF"/>
                </a:solidFill>
                <a:latin typeface="Manrope" pitchFamily="34" charset="0"/>
                <a:ea typeface="Manrope" pitchFamily="34" charset="-122"/>
                <a:cs typeface="Manrope" pitchFamily="34" charset="-120"/>
              </a:rPr>
              <a:t>, </a:t>
            </a:r>
            <a:pPr algn="l" indent="0" marL="0">
              <a:lnSpc>
                <a:spcPct val="122000"/>
              </a:lnSpc>
              <a:buNone/>
            </a:pPr>
            <a:r>
              <a:rPr lang="en-US" sz="1050" dirty="0">
                <a:solidFill>
                  <a:srgbClr val="FFFFFF"/>
                </a:solidFill>
                <a:highlight>
                  <a:srgbClr val="583592"/>
                </a:highlight>
                <a:latin typeface="Consolas" pitchFamily="34" charset="0"/>
                <a:ea typeface="Consolas" pitchFamily="34" charset="-122"/>
                <a:cs typeface="Consolas" pitchFamily="34" charset="-120"/>
              </a:rPr>
              <a:t>&lt;table&gt;</a:t>
            </a:r>
            <a:pPr algn="l" indent="0" marL="0">
              <a:lnSpc>
                <a:spcPct val="122000"/>
              </a:lnSpc>
              <a:buNone/>
            </a:pPr>
            <a:r>
              <a:rPr lang="en-US" sz="1050" dirty="0">
                <a:solidFill>
                  <a:srgbClr val="FFFFFF"/>
                </a:solidFill>
                <a:latin typeface="Manrope" pitchFamily="34" charset="0"/>
                <a:ea typeface="Manrope" pitchFamily="34" charset="-122"/>
                <a:cs typeface="Manrope" pitchFamily="34" charset="-120"/>
              </a:rPr>
              <a:t> → delimitan bloques de contenido.</a:t>
            </a:r>
            <a:endParaRPr lang="en-US" sz="1050" dirty="0"/>
          </a:p>
        </p:txBody>
      </p:sp>
      <p:sp>
        <p:nvSpPr>
          <p:cNvPr id="11" name="Shape 9"/>
          <p:cNvSpPr/>
          <p:nvPr/>
        </p:nvSpPr>
        <p:spPr>
          <a:xfrm>
            <a:off x="8961610" y="2361902"/>
            <a:ext cx="2574960" cy="1231106"/>
          </a:xfrm>
          <a:prstGeom prst="roundRect">
            <a:avLst>
              <a:gd name="adj" fmla="val 16861"/>
            </a:avLst>
          </a:prstGeom>
          <a:solidFill>
            <a:srgbClr val="3F2077"/>
          </a:solidFill>
          <a:ln w="6350">
            <a:solidFill>
              <a:srgbClr val="4B3082"/>
            </a:solidFill>
            <a:prstDash val="solid"/>
          </a:ln>
        </p:spPr>
      </p:sp>
      <p:sp>
        <p:nvSpPr>
          <p:cNvPr id="12" name="Text 10"/>
          <p:cNvSpPr/>
          <p:nvPr/>
        </p:nvSpPr>
        <p:spPr>
          <a:xfrm>
            <a:off x="9106268" y="2506563"/>
            <a:ext cx="2285645" cy="216098"/>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Atributo class</a:t>
            </a:r>
            <a:endParaRPr lang="en-US" sz="1350" dirty="0"/>
          </a:p>
        </p:txBody>
      </p:sp>
      <p:sp>
        <p:nvSpPr>
          <p:cNvPr id="13" name="Text 11"/>
          <p:cNvSpPr/>
          <p:nvPr/>
        </p:nvSpPr>
        <p:spPr>
          <a:xfrm>
            <a:off x="9106268" y="2838450"/>
            <a:ext cx="2285645" cy="609898"/>
          </a:xfrm>
          <a:prstGeom prst="rect">
            <a:avLst/>
          </a:prstGeom>
          <a:noFill/>
          <a:ln/>
        </p:spPr>
        <p:txBody>
          <a:bodyPr wrap="square" lIns="0" tIns="0" rIns="0" bIns="0" rtlCol="0" anchor="t">
            <a:normAutofit/>
          </a:bodyPr>
          <a:lstStyle/>
          <a:p>
            <a:pPr algn="l" indent="0" marL="0">
              <a:lnSpc>
                <a:spcPct val="122000"/>
              </a:lnSpc>
              <a:buNone/>
            </a:pPr>
            <a:r>
              <a:rPr lang="en-US" sz="1050" dirty="0">
                <a:solidFill>
                  <a:srgbClr val="FFFFFF"/>
                </a:solidFill>
                <a:highlight>
                  <a:srgbClr val="583592"/>
                </a:highlight>
                <a:latin typeface="Consolas" pitchFamily="34" charset="0"/>
                <a:ea typeface="Consolas" pitchFamily="34" charset="-122"/>
                <a:cs typeface="Consolas" pitchFamily="34" charset="-120"/>
              </a:rPr>
              <a:t>class="product"</a:t>
            </a:r>
            <a:pPr algn="l" indent="0" marL="0">
              <a:lnSpc>
                <a:spcPct val="122000"/>
              </a:lnSpc>
              <a:buNone/>
            </a:pPr>
            <a:r>
              <a:rPr lang="en-US" sz="1050" dirty="0">
                <a:solidFill>
                  <a:srgbClr val="FFFFFF"/>
                </a:solidFill>
                <a:latin typeface="Manrope" pitchFamily="34" charset="0"/>
                <a:ea typeface="Manrope" pitchFamily="34" charset="-122"/>
                <a:cs typeface="Manrope" pitchFamily="34" charset="-120"/>
              </a:rPr>
              <a:t> → permite seleccionar elementos por su categoría visual.</a:t>
            </a:r>
            <a:endParaRPr lang="en-US" sz="1050" dirty="0"/>
          </a:p>
        </p:txBody>
      </p:sp>
      <p:sp>
        <p:nvSpPr>
          <p:cNvPr id="14" name="Shape 12"/>
          <p:cNvSpPr/>
          <p:nvPr/>
        </p:nvSpPr>
        <p:spPr>
          <a:xfrm>
            <a:off x="6270964" y="3708797"/>
            <a:ext cx="2574861" cy="1231106"/>
          </a:xfrm>
          <a:prstGeom prst="roundRect">
            <a:avLst>
              <a:gd name="adj" fmla="val 16861"/>
            </a:avLst>
          </a:prstGeom>
          <a:solidFill>
            <a:srgbClr val="3F2077"/>
          </a:solidFill>
          <a:ln w="6350">
            <a:solidFill>
              <a:srgbClr val="4B3082"/>
            </a:solidFill>
            <a:prstDash val="solid"/>
          </a:ln>
        </p:spPr>
      </p:sp>
      <p:sp>
        <p:nvSpPr>
          <p:cNvPr id="15" name="Text 13"/>
          <p:cNvSpPr/>
          <p:nvPr/>
        </p:nvSpPr>
        <p:spPr>
          <a:xfrm>
            <a:off x="6415622" y="3853458"/>
            <a:ext cx="2285546" cy="216098"/>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Atributo id</a:t>
            </a:r>
            <a:endParaRPr lang="en-US" sz="1350" dirty="0"/>
          </a:p>
        </p:txBody>
      </p:sp>
      <p:sp>
        <p:nvSpPr>
          <p:cNvPr id="16" name="Text 14"/>
          <p:cNvSpPr/>
          <p:nvPr/>
        </p:nvSpPr>
        <p:spPr>
          <a:xfrm>
            <a:off x="6415622" y="4185345"/>
            <a:ext cx="2285546" cy="406598"/>
          </a:xfrm>
          <a:prstGeom prst="rect">
            <a:avLst/>
          </a:prstGeom>
          <a:noFill/>
          <a:ln/>
        </p:spPr>
        <p:txBody>
          <a:bodyPr wrap="square" lIns="0" tIns="0" rIns="0" bIns="0" rtlCol="0" anchor="t">
            <a:normAutofit/>
          </a:bodyPr>
          <a:lstStyle/>
          <a:p>
            <a:pPr algn="l" indent="0" marL="0">
              <a:lnSpc>
                <a:spcPct val="122000"/>
              </a:lnSpc>
              <a:buNone/>
            </a:pPr>
            <a:r>
              <a:rPr lang="en-US" sz="1050" dirty="0">
                <a:solidFill>
                  <a:srgbClr val="FFFFFF"/>
                </a:solidFill>
                <a:highlight>
                  <a:srgbClr val="583592"/>
                </a:highlight>
                <a:latin typeface="Consolas" pitchFamily="34" charset="0"/>
                <a:ea typeface="Consolas" pitchFamily="34" charset="-122"/>
                <a:cs typeface="Consolas" pitchFamily="34" charset="-120"/>
              </a:rPr>
              <a:t>id="main-price"</a:t>
            </a:r>
            <a:pPr algn="l" indent="0" marL="0">
              <a:lnSpc>
                <a:spcPct val="122000"/>
              </a:lnSpc>
              <a:buNone/>
            </a:pPr>
            <a:r>
              <a:rPr lang="en-US" sz="1050" dirty="0">
                <a:solidFill>
                  <a:srgbClr val="FFFFFF"/>
                </a:solidFill>
                <a:latin typeface="Manrope" pitchFamily="34" charset="0"/>
                <a:ea typeface="Manrope" pitchFamily="34" charset="-122"/>
                <a:cs typeface="Manrope" pitchFamily="34" charset="-120"/>
              </a:rPr>
              <a:t> → identifica un elemento único en la página.</a:t>
            </a:r>
            <a:endParaRPr lang="en-US" sz="1050" dirty="0"/>
          </a:p>
        </p:txBody>
      </p:sp>
      <p:sp>
        <p:nvSpPr>
          <p:cNvPr id="17" name="Shape 15"/>
          <p:cNvSpPr/>
          <p:nvPr/>
        </p:nvSpPr>
        <p:spPr>
          <a:xfrm>
            <a:off x="8961610" y="3708797"/>
            <a:ext cx="2574960" cy="1231106"/>
          </a:xfrm>
          <a:prstGeom prst="roundRect">
            <a:avLst>
              <a:gd name="adj" fmla="val 16861"/>
            </a:avLst>
          </a:prstGeom>
          <a:solidFill>
            <a:srgbClr val="3F2077"/>
          </a:solidFill>
          <a:ln w="6350">
            <a:solidFill>
              <a:srgbClr val="4B3082"/>
            </a:solidFill>
            <a:prstDash val="solid"/>
          </a:ln>
        </p:spPr>
      </p:sp>
      <p:sp>
        <p:nvSpPr>
          <p:cNvPr id="18" name="Text 16"/>
          <p:cNvSpPr/>
          <p:nvPr/>
        </p:nvSpPr>
        <p:spPr>
          <a:xfrm>
            <a:off x="9106268" y="3853458"/>
            <a:ext cx="2285645" cy="216098"/>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Enlace</a:t>
            </a:r>
            <a:endParaRPr lang="en-US" sz="1350" dirty="0"/>
          </a:p>
        </p:txBody>
      </p:sp>
      <p:sp>
        <p:nvSpPr>
          <p:cNvPr id="19" name="Text 17"/>
          <p:cNvSpPr/>
          <p:nvPr/>
        </p:nvSpPr>
        <p:spPr>
          <a:xfrm>
            <a:off x="9106268" y="4185345"/>
            <a:ext cx="2285645" cy="609898"/>
          </a:xfrm>
          <a:prstGeom prst="rect">
            <a:avLst/>
          </a:prstGeom>
          <a:noFill/>
          <a:ln/>
        </p:spPr>
        <p:txBody>
          <a:bodyPr wrap="square" lIns="0" tIns="0" rIns="0" bIns="0" rtlCol="0" anchor="t">
            <a:normAutofit/>
          </a:bodyPr>
          <a:lstStyle/>
          <a:p>
            <a:pPr algn="l" indent="0" marL="0">
              <a:lnSpc>
                <a:spcPct val="122000"/>
              </a:lnSpc>
              <a:buNone/>
            </a:pPr>
            <a:r>
              <a:rPr lang="en-US" sz="1050" dirty="0">
                <a:solidFill>
                  <a:srgbClr val="FFFFFF"/>
                </a:solidFill>
                <a:highlight>
                  <a:srgbClr val="583592"/>
                </a:highlight>
                <a:latin typeface="Consolas" pitchFamily="34" charset="0"/>
                <a:ea typeface="Consolas" pitchFamily="34" charset="-122"/>
                <a:cs typeface="Consolas" pitchFamily="34" charset="-120"/>
              </a:rPr>
              <a:t>&lt;a href="/products/P01"&gt;</a:t>
            </a:r>
            <a:pPr algn="l" indent="0" marL="0">
              <a:lnSpc>
                <a:spcPct val="122000"/>
              </a:lnSpc>
              <a:buNone/>
            </a:pPr>
            <a:r>
              <a:rPr lang="en-US" sz="1050" dirty="0">
                <a:solidFill>
                  <a:srgbClr val="FFFFFF"/>
                </a:solidFill>
                <a:latin typeface="Manrope" pitchFamily="34" charset="0"/>
                <a:ea typeface="Manrope" pitchFamily="34" charset="-122"/>
                <a:cs typeface="Manrope" pitchFamily="34" charset="-120"/>
              </a:rPr>
              <a:t> → permite navegar entre páginas del sitio.</a:t>
            </a:r>
            <a:endParaRPr lang="en-US" sz="1050" dirty="0"/>
          </a:p>
        </p:txBody>
      </p:sp>
      <p:pic>
        <p:nvPicPr>
          <p:cNvPr id="20"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21"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22" name="Text 18"/>
          <p:cNvSpPr/>
          <p:nvPr/>
        </p:nvSpPr>
        <p:spPr>
          <a:xfrm>
            <a:off x="10823503" y="6300589"/>
            <a:ext cx="1169760"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661475" y="1082873"/>
            <a:ext cx="10868745" cy="330696"/>
          </a:xfrm>
          <a:prstGeom prst="rect">
            <a:avLst/>
          </a:prstGeom>
          <a:noFill/>
          <a:ln/>
        </p:spPr>
        <p:txBody>
          <a:bodyPr wrap="none" lIns="0" tIns="0" rIns="0" bIns="0" rtlCol="0" anchor="t"/>
          <a:lstStyle/>
          <a:p>
            <a:pPr algn="l" indent="0" marL="0">
              <a:lnSpc>
                <a:spcPct val="104000"/>
              </a:lnSpc>
              <a:buNone/>
            </a:pPr>
            <a:r>
              <a:rPr lang="en-US" sz="2050" spc="-21" kern="0" dirty="0">
                <a:solidFill>
                  <a:srgbClr val="FFFFFF"/>
                </a:solidFill>
                <a:latin typeface="Alexandria Medium" pitchFamily="34" charset="0"/>
                <a:ea typeface="Alexandria Medium" pitchFamily="34" charset="-122"/>
                <a:cs typeface="Alexandria Medium" pitchFamily="34" charset="-120"/>
              </a:rPr>
              <a:t>BeautifulSoup: parsear HTML en Python</a:t>
            </a:r>
            <a:endParaRPr lang="en-US" sz="2050" dirty="0"/>
          </a:p>
        </p:txBody>
      </p:sp>
      <p:sp>
        <p:nvSpPr>
          <p:cNvPr id="3" name="Text 1"/>
          <p:cNvSpPr/>
          <p:nvPr/>
        </p:nvSpPr>
        <p:spPr>
          <a:xfrm>
            <a:off x="661475" y="1678087"/>
            <a:ext cx="4489635" cy="206673"/>
          </a:xfrm>
          <a:prstGeom prst="rect">
            <a:avLst/>
          </a:prstGeom>
          <a:noFill/>
          <a:ln/>
        </p:spPr>
        <p:txBody>
          <a:bodyPr wrap="none" lIns="0" tIns="0" rIns="0" bIns="0" rtlCol="0" anchor="t"/>
          <a:lstStyle/>
          <a:p>
            <a:pPr algn="l" indent="0" marL="0">
              <a:lnSpc>
                <a:spcPct val="104000"/>
              </a:lnSpc>
              <a:buNone/>
            </a:pPr>
            <a:r>
              <a:rPr lang="en-US" sz="1300" spc="-13" kern="0" dirty="0">
                <a:solidFill>
                  <a:srgbClr val="FFFFFF"/>
                </a:solidFill>
                <a:latin typeface="Alexandria Medium" pitchFamily="34" charset="0"/>
                <a:ea typeface="Alexandria Medium" pitchFamily="34" charset="-122"/>
                <a:cs typeface="Alexandria Medium" pitchFamily="34" charset="-120"/>
              </a:rPr>
              <a:t>Flujo de trabajo</a:t>
            </a:r>
            <a:endParaRPr lang="en-US" sz="1300" dirty="0"/>
          </a:p>
        </p:txBody>
      </p:sp>
      <p:sp>
        <p:nvSpPr>
          <p:cNvPr id="4" name="Shape 2"/>
          <p:cNvSpPr/>
          <p:nvPr/>
        </p:nvSpPr>
        <p:spPr>
          <a:xfrm>
            <a:off x="661475" y="2003822"/>
            <a:ext cx="4489635" cy="3652242"/>
          </a:xfrm>
          <a:prstGeom prst="roundRect">
            <a:avLst>
              <a:gd name="adj" fmla="val 5434"/>
            </a:avLst>
          </a:prstGeom>
          <a:solidFill>
            <a:srgbClr val="583592"/>
          </a:solidFill>
          <a:ln/>
        </p:spPr>
      </p:sp>
      <p:sp>
        <p:nvSpPr>
          <p:cNvPr id="5" name="Text 3"/>
          <p:cNvSpPr/>
          <p:nvPr/>
        </p:nvSpPr>
        <p:spPr>
          <a:xfrm>
            <a:off x="820221" y="2136080"/>
            <a:ext cx="4172143" cy="3387725"/>
          </a:xfrm>
          <a:prstGeom prst="rect">
            <a:avLst/>
          </a:prstGeom>
          <a:noFill/>
          <a:ln/>
        </p:spPr>
        <p:txBody>
          <a:bodyPr wrap="square" lIns="0" tIns="0" rIns="0" bIns="0" rtlCol="0" anchor="t">
            <a:normAutofit/>
          </a:bodyPr>
          <a:lstStyle/>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import requests</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from bs4 import BeautifulSoup</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 1. Obtener el HTML</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url = "https://competidor.com/products"</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response = requests.get(url)</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html = response.text</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 2. Parsear el HTML</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soup = BeautifulSoup(html, "html.parser")</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 3. Seleccionar elementos</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products = soup.select(".product")</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 4. Extraer datos</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for product in products:</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    nombre = product.find("h2").text</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    precio = product.find(</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        "span", class_="price").text</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    print(nombre, precio)</a:t>
            </a:r>
            <a:endParaRPr lang="en-US" sz="1000" dirty="0"/>
          </a:p>
        </p:txBody>
      </p:sp>
      <p:sp>
        <p:nvSpPr>
          <p:cNvPr id="6" name="Text 4"/>
          <p:cNvSpPr/>
          <p:nvPr/>
        </p:nvSpPr>
        <p:spPr>
          <a:xfrm>
            <a:off x="5480111" y="1678087"/>
            <a:ext cx="6056359" cy="206673"/>
          </a:xfrm>
          <a:prstGeom prst="rect">
            <a:avLst/>
          </a:prstGeom>
          <a:noFill/>
          <a:ln/>
        </p:spPr>
        <p:txBody>
          <a:bodyPr wrap="none" lIns="0" tIns="0" rIns="0" bIns="0" rtlCol="0" anchor="t"/>
          <a:lstStyle/>
          <a:p>
            <a:pPr algn="l" indent="0" marL="0">
              <a:lnSpc>
                <a:spcPct val="104000"/>
              </a:lnSpc>
              <a:buNone/>
            </a:pPr>
            <a:r>
              <a:rPr lang="en-US" sz="1300" spc="-13" kern="0" dirty="0">
                <a:solidFill>
                  <a:srgbClr val="FFFFFF"/>
                </a:solidFill>
                <a:latin typeface="Alexandria Medium" pitchFamily="34" charset="0"/>
                <a:ea typeface="Alexandria Medium" pitchFamily="34" charset="-122"/>
                <a:cs typeface="Alexandria Medium" pitchFamily="34" charset="-120"/>
              </a:rPr>
              <a:t>Paso a paso</a:t>
            </a:r>
            <a:endParaRPr lang="en-US" sz="1300" dirty="0"/>
          </a:p>
        </p:txBody>
      </p:sp>
      <p:pic>
        <p:nvPicPr>
          <p:cNvPr id="7" name="Image 0" descr="preencoded.png">    </p:cNvPr>
          <p:cNvPicPr>
            <a:picLocks noChangeAspect="1"/>
          </p:cNvPicPr>
          <p:nvPr/>
        </p:nvPicPr>
        <p:blipFill>
          <a:blip r:embed="rId1"/>
          <a:stretch>
            <a:fillRect/>
          </a:stretch>
        </p:blipFill>
        <p:spPr>
          <a:xfrm>
            <a:off x="6735693" y="2003822"/>
            <a:ext cx="3545096" cy="1622524"/>
          </a:xfrm>
          <a:prstGeom prst="rect">
            <a:avLst/>
          </a:prstGeom>
        </p:spPr>
      </p:pic>
      <p:sp>
        <p:nvSpPr>
          <p:cNvPr id="8" name="Text 5"/>
          <p:cNvSpPr/>
          <p:nvPr/>
        </p:nvSpPr>
        <p:spPr>
          <a:xfrm>
            <a:off x="9450195" y="3241048"/>
            <a:ext cx="665570" cy="128217"/>
          </a:xfrm>
          <a:prstGeom prst="rect">
            <a:avLst/>
          </a:prstGeom>
          <a:noFill/>
          <a:ln/>
        </p:spPr>
        <p:txBody>
          <a:bodyPr wrap="none" lIns="0" tIns="0" rIns="0" bIns="0" rtlCol="0" anchor="t"/>
          <a:lstStyle/>
          <a:p>
            <a:pPr algn="ctr" indent="0" marL="0">
              <a:lnSpc>
                <a:spcPct val="104000"/>
              </a:lnSpc>
              <a:buNone/>
            </a:pPr>
            <a:r>
              <a:rPr lang="en-US" sz="800" spc="-8" kern="0" dirty="0">
                <a:solidFill>
                  <a:srgbClr val="FFFFFF"/>
                </a:solidFill>
                <a:latin typeface="Alexandria Medium" pitchFamily="34" charset="0"/>
                <a:ea typeface="Alexandria Medium" pitchFamily="34" charset="-122"/>
                <a:cs typeface="Alexandria Medium" pitchFamily="34" charset="-120"/>
              </a:rPr>
              <a:t>text</a:t>
            </a:r>
            <a:endParaRPr lang="en-US" sz="800" dirty="0"/>
          </a:p>
        </p:txBody>
      </p:sp>
      <p:sp>
        <p:nvSpPr>
          <p:cNvPr id="9" name="Text 6"/>
          <p:cNvSpPr/>
          <p:nvPr/>
        </p:nvSpPr>
        <p:spPr>
          <a:xfrm>
            <a:off x="8611395" y="3241048"/>
            <a:ext cx="665569" cy="128217"/>
          </a:xfrm>
          <a:prstGeom prst="rect">
            <a:avLst/>
          </a:prstGeom>
          <a:noFill/>
          <a:ln/>
        </p:spPr>
        <p:txBody>
          <a:bodyPr wrap="none" lIns="0" tIns="0" rIns="0" bIns="0" rtlCol="0" anchor="t"/>
          <a:lstStyle/>
          <a:p>
            <a:pPr algn="ctr" indent="0" marL="0">
              <a:lnSpc>
                <a:spcPct val="104000"/>
              </a:lnSpc>
              <a:buNone/>
            </a:pPr>
            <a:r>
              <a:rPr lang="en-US" sz="800" spc="-8" kern="0" dirty="0">
                <a:solidFill>
                  <a:srgbClr val="FFFFFF"/>
                </a:solidFill>
                <a:latin typeface="Alexandria Medium" pitchFamily="34" charset="0"/>
                <a:ea typeface="Alexandria Medium" pitchFamily="34" charset="-122"/>
                <a:cs typeface="Alexandria Medium" pitchFamily="34" charset="-120"/>
              </a:rPr>
              <a:t>select</a:t>
            </a:r>
            <a:endParaRPr lang="en-US" sz="800" dirty="0"/>
          </a:p>
        </p:txBody>
      </p:sp>
      <p:sp>
        <p:nvSpPr>
          <p:cNvPr id="10" name="Text 7"/>
          <p:cNvSpPr/>
          <p:nvPr/>
        </p:nvSpPr>
        <p:spPr>
          <a:xfrm>
            <a:off x="7777155" y="3176939"/>
            <a:ext cx="665569" cy="256433"/>
          </a:xfrm>
          <a:prstGeom prst="rect">
            <a:avLst/>
          </a:prstGeom>
          <a:noFill/>
          <a:ln/>
        </p:spPr>
        <p:txBody>
          <a:bodyPr wrap="square" lIns="0" tIns="0" rIns="0" bIns="0" rtlCol="0" anchor="t">
            <a:normAutofit/>
          </a:bodyPr>
          <a:lstStyle/>
          <a:p>
            <a:pPr algn="ctr" indent="0" marL="0">
              <a:lnSpc>
                <a:spcPct val="104000"/>
              </a:lnSpc>
              <a:buNone/>
            </a:pPr>
            <a:r>
              <a:rPr lang="en-US" sz="800" spc="-8" kern="0" dirty="0">
                <a:solidFill>
                  <a:srgbClr val="FFFFFF"/>
                </a:solidFill>
                <a:latin typeface="Alexandria Medium" pitchFamily="34" charset="0"/>
                <a:ea typeface="Alexandria Medium" pitchFamily="34" charset="-122"/>
                <a:cs typeface="Alexandria Medium" pitchFamily="34" charset="-120"/>
              </a:rPr>
              <a:t>BeautifulSoup</a:t>
            </a:r>
            <a:endParaRPr lang="en-US" sz="800" dirty="0"/>
          </a:p>
        </p:txBody>
      </p:sp>
      <p:sp>
        <p:nvSpPr>
          <p:cNvPr id="11" name="Text 8"/>
          <p:cNvSpPr/>
          <p:nvPr/>
        </p:nvSpPr>
        <p:spPr>
          <a:xfrm>
            <a:off x="6924678" y="3241048"/>
            <a:ext cx="665570" cy="128217"/>
          </a:xfrm>
          <a:prstGeom prst="rect">
            <a:avLst/>
          </a:prstGeom>
          <a:noFill/>
          <a:ln/>
        </p:spPr>
        <p:txBody>
          <a:bodyPr wrap="none" lIns="0" tIns="0" rIns="0" bIns="0" rtlCol="0" anchor="t"/>
          <a:lstStyle/>
          <a:p>
            <a:pPr algn="ctr" indent="0" marL="0">
              <a:lnSpc>
                <a:spcPct val="104000"/>
              </a:lnSpc>
              <a:buNone/>
            </a:pPr>
            <a:r>
              <a:rPr lang="en-US" sz="800" spc="-8" kern="0" dirty="0">
                <a:solidFill>
                  <a:srgbClr val="FFFFFF"/>
                </a:solidFill>
                <a:latin typeface="Alexandria Medium" pitchFamily="34" charset="0"/>
                <a:ea typeface="Alexandria Medium" pitchFamily="34" charset="-122"/>
                <a:cs typeface="Alexandria Medium" pitchFamily="34" charset="-120"/>
              </a:rPr>
              <a:t>requests.get</a:t>
            </a:r>
            <a:endParaRPr lang="en-US" sz="800" dirty="0"/>
          </a:p>
        </p:txBody>
      </p:sp>
      <p:sp>
        <p:nvSpPr>
          <p:cNvPr id="12" name="Text 9"/>
          <p:cNvSpPr/>
          <p:nvPr/>
        </p:nvSpPr>
        <p:spPr>
          <a:xfrm>
            <a:off x="5480111" y="3745409"/>
            <a:ext cx="6056359" cy="206673"/>
          </a:xfrm>
          <a:prstGeom prst="rect">
            <a:avLst/>
          </a:prstGeom>
          <a:noFill/>
          <a:ln/>
        </p:spPr>
        <p:txBody>
          <a:bodyPr wrap="none" lIns="0" tIns="0" rIns="0" bIns="0" rtlCol="0" anchor="t"/>
          <a:lstStyle/>
          <a:p>
            <a:pPr algn="l" indent="0" marL="0">
              <a:lnSpc>
                <a:spcPct val="104000"/>
              </a:lnSpc>
              <a:buNone/>
            </a:pPr>
            <a:r>
              <a:rPr lang="en-US" sz="1300" spc="-13" kern="0" dirty="0">
                <a:solidFill>
                  <a:srgbClr val="FFFFFF"/>
                </a:solidFill>
                <a:latin typeface="Alexandria Medium" pitchFamily="34" charset="0"/>
                <a:ea typeface="Alexandria Medium" pitchFamily="34" charset="-122"/>
                <a:cs typeface="Alexandria Medium" pitchFamily="34" charset="-120"/>
              </a:rPr>
              <a:t>Selectores más útiles</a:t>
            </a:r>
            <a:endParaRPr lang="en-US" sz="13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0111" y="4071144"/>
          <a:ext cx="9143771" cy="914400"/>
        </p:xfrm>
        <a:graphic>
          <a:graphicData uri="http://schemas.openxmlformats.org/drawingml/2006/table">
            <a:tbl>
              <a:tblPr/>
              <a:tblGrid>
                <a:gridCol w="3028180"/>
                <a:gridCol w="3028180"/>
              </a:tblGrid>
              <a:tr h="333367">
                <a:tc>
                  <a:txBody>
                    <a:bodyPr/>
                    <a:lstStyle/>
                    <a:p>
                      <a:pPr indent="0" marL="0">
                        <a:buNone/>
                      </a:pPr>
                      <a:r>
                        <a:rPr lang="en-US" sz="1000" b="1" dirty="0">
                          <a:solidFill>
                            <a:srgbClr val="FFFFFF"/>
                          </a:solidFill>
                          <a:latin typeface="Manrope" pitchFamily="34" charset="0"/>
                          <a:ea typeface="Manrope" pitchFamily="34" charset="-122"/>
                          <a:cs typeface="Manrope" pitchFamily="34" charset="-120"/>
                        </a:rPr>
                        <a:t>Selector</a:t>
                      </a:r>
                      <a:endParaRPr lang="en-US" sz="1000" dirty="0">
                        <a:latin typeface="Manrope" charset="0"/>
                        <a:ea typeface="Manrope" charset="0"/>
                        <a:cs typeface="Manrope" charset="0"/>
                      </a:endParaRPr>
                    </a:p>
                  </a:txBody>
                  <a:tcPr marL="132313" marR="132313" marT="6350" marB="6350" anchor="ctr">
                    <a:lnL w="12700" cap="flat" cmpd="sng" algn="ctr">
                      <a:solidFill>
                        <a:srgbClr val="765CA2"/>
                      </a:solidFill>
                      <a:prstDash val="solid"/>
                      <a:round/>
                      <a:headEnd type="none" w="med" len="med"/>
                      <a:tailEnd type="none" w="med" len="med"/>
                    </a:lnL>
                    <a:lnR w="12700" cap="flat" cmpd="sng" algn="ctr">
                      <a:solidFill>
                        <a:srgbClr val="324C85"/>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c>
                  <a:txBody>
                    <a:bodyPr/>
                    <a:lstStyle/>
                    <a:p>
                      <a:pPr indent="0" marL="0">
                        <a:buNone/>
                      </a:pPr>
                      <a:r>
                        <a:rPr lang="en-US" sz="1000" b="1" dirty="0">
                          <a:solidFill>
                            <a:srgbClr val="FFFFFF"/>
                          </a:solidFill>
                          <a:latin typeface="Manrope" pitchFamily="34" charset="0"/>
                          <a:ea typeface="Manrope" pitchFamily="34" charset="-122"/>
                          <a:cs typeface="Manrope" pitchFamily="34" charset="-120"/>
                        </a:rPr>
                        <a:t>Qué encuentra</a:t>
                      </a:r>
                      <a:endParaRPr lang="en-US" sz="1000" dirty="0">
                        <a:latin typeface="Manrope" charset="0"/>
                        <a:ea typeface="Manrope" charset="0"/>
                        <a:cs typeface="Manrope" charset="0"/>
                      </a:endParaRPr>
                    </a:p>
                  </a:txBody>
                  <a:tcPr marL="132313" marR="132313" marT="6350" marB="6350" anchor="ctr">
                    <a:lnL w="12700" cap="flat" cmpd="sng" algn="ctr">
                      <a:solidFill>
                        <a:srgbClr val="324C85"/>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r>
              <a:tr h="336542">
                <a:tc>
                  <a:txBody>
                    <a:bodyPr/>
                    <a:lstStyle/>
                    <a:p>
                      <a:pPr indent="0" marL="0">
                        <a:buNone/>
                      </a:pPr>
                      <a:r>
                        <a:rPr lang="en-US" sz="1000" dirty="0">
                          <a:solidFill>
                            <a:srgbClr val="FFFFFF"/>
                          </a:solidFill>
                          <a:latin typeface="Consolas" pitchFamily="34" charset="0"/>
                          <a:ea typeface="Consolas" pitchFamily="34" charset="-122"/>
                          <a:cs typeface="Consolas" pitchFamily="34" charset="-120"/>
                        </a:rPr>
                        <a:t>.product</a:t>
                      </a:r>
                      <a:endParaRPr lang="en-US" sz="1000" dirty="0">
                        <a:latin typeface="Consolas" charset="0"/>
                        <a:ea typeface="Consolas" charset="0"/>
                        <a:cs typeface="Consolas" charset="0"/>
                      </a:endParaRPr>
                    </a:p>
                  </a:txBody>
                  <a:tcPr marL="132313" marR="132313" marT="6350" marB="6350" anchor="ctr">
                    <a:lnL w="12700" cap="flat" cmpd="sng" algn="ctr">
                      <a:solidFill>
                        <a:srgbClr val="765CA2"/>
                      </a:solidFill>
                      <a:prstDash val="solid"/>
                      <a:round/>
                      <a:headEnd type="none" w="med" len="med"/>
                      <a:tailEnd type="none" w="med" len="med"/>
                    </a:lnL>
                    <a:lnR w="12700" cap="flat" cmpd="sng" algn="ctr">
                      <a:solidFill>
                        <a:srgbClr val="4B2885"/>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000" dirty="0">
                          <a:solidFill>
                            <a:srgbClr val="FFFFFF"/>
                          </a:solidFill>
                          <a:latin typeface="Manrope" pitchFamily="34" charset="0"/>
                          <a:ea typeface="Manrope" pitchFamily="34" charset="-122"/>
                          <a:cs typeface="Manrope" pitchFamily="34" charset="-120"/>
                        </a:rPr>
                        <a:t>Elementos con class="product"</a:t>
                      </a:r>
                      <a:endParaRPr lang="en-US" sz="1000" dirty="0">
                        <a:latin typeface="Manrope" charset="0"/>
                        <a:ea typeface="Manrope" charset="0"/>
                        <a:cs typeface="Manrope" charset="0"/>
                      </a:endParaRPr>
                    </a:p>
                  </a:txBody>
                  <a:tcPr marL="132313" marR="132313" marT="6350" marB="6350" anchor="ctr">
                    <a:lnL w="12700" cap="flat" cmpd="sng" algn="ctr">
                      <a:solidFill>
                        <a:srgbClr val="4B2885"/>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336542">
                <a:tc>
                  <a:txBody>
                    <a:bodyPr/>
                    <a:lstStyle/>
                    <a:p>
                      <a:pPr indent="0" marL="0">
                        <a:buNone/>
                      </a:pPr>
                      <a:r>
                        <a:rPr lang="en-US" sz="1000" dirty="0">
                          <a:solidFill>
                            <a:srgbClr val="FFFFFF"/>
                          </a:solidFill>
                          <a:latin typeface="Consolas" pitchFamily="34" charset="0"/>
                          <a:ea typeface="Consolas" pitchFamily="34" charset="-122"/>
                          <a:cs typeface="Consolas" pitchFamily="34" charset="-120"/>
                        </a:rPr>
                        <a:t>#main</a:t>
                      </a:r>
                      <a:endParaRPr lang="en-US" sz="1000" dirty="0">
                        <a:latin typeface="Consolas" charset="0"/>
                        <a:ea typeface="Consolas" charset="0"/>
                        <a:cs typeface="Consolas" charset="0"/>
                      </a:endParaRPr>
                    </a:p>
                  </a:txBody>
                  <a:tcPr marL="132313" marR="132313" marT="6350" marB="6350" anchor="ctr">
                    <a:lnL w="12700" cap="flat" cmpd="sng" algn="ctr">
                      <a:solidFill>
                        <a:srgbClr val="765CA2"/>
                      </a:solidFill>
                      <a:prstDash val="solid"/>
                      <a:round/>
                      <a:headEnd type="none" w="med" len="med"/>
                      <a:tailEnd type="none" w="med" len="med"/>
                    </a:lnL>
                    <a:lnR w="12700" cap="flat" cmpd="sng" algn="ctr">
                      <a:solidFill>
                        <a:srgbClr val="4B2885"/>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000" dirty="0">
                          <a:solidFill>
                            <a:srgbClr val="FFFFFF"/>
                          </a:solidFill>
                          <a:latin typeface="Manrope" pitchFamily="34" charset="0"/>
                          <a:ea typeface="Manrope" pitchFamily="34" charset="-122"/>
                          <a:cs typeface="Manrope" pitchFamily="34" charset="-120"/>
                        </a:rPr>
                        <a:t>Elemento con id="main"</a:t>
                      </a:r>
                      <a:endParaRPr lang="en-US" sz="1000" dirty="0">
                        <a:latin typeface="Manrope" charset="0"/>
                        <a:ea typeface="Manrope" charset="0"/>
                        <a:cs typeface="Manrope" charset="0"/>
                      </a:endParaRPr>
                    </a:p>
                  </a:txBody>
                  <a:tcPr marL="132313" marR="132313" marT="6350" marB="6350" anchor="ctr">
                    <a:lnL w="12700" cap="flat" cmpd="sng" algn="ctr">
                      <a:solidFill>
                        <a:srgbClr val="4B2885"/>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333367">
                <a:tc>
                  <a:txBody>
                    <a:bodyPr/>
                    <a:lstStyle/>
                    <a:p>
                      <a:pPr indent="0" marL="0">
                        <a:buNone/>
                      </a:pPr>
                      <a:r>
                        <a:rPr lang="en-US" sz="1000" dirty="0">
                          <a:solidFill>
                            <a:srgbClr val="FFFFFF"/>
                          </a:solidFill>
                          <a:latin typeface="Consolas" pitchFamily="34" charset="0"/>
                          <a:ea typeface="Consolas" pitchFamily="34" charset="-122"/>
                          <a:cs typeface="Consolas" pitchFamily="34" charset="-120"/>
                        </a:rPr>
                        <a:t>table tr</a:t>
                      </a:r>
                      <a:endParaRPr lang="en-US" sz="1000" dirty="0">
                        <a:latin typeface="Consolas" charset="0"/>
                        <a:ea typeface="Consolas" charset="0"/>
                        <a:cs typeface="Consolas" charset="0"/>
                      </a:endParaRPr>
                    </a:p>
                  </a:txBody>
                  <a:tcPr marL="132313" marR="132313" marT="6350" marB="6350" anchor="ctr">
                    <a:lnL w="12700" cap="flat" cmpd="sng" algn="ctr">
                      <a:solidFill>
                        <a:srgbClr val="765CA2"/>
                      </a:solidFill>
                      <a:prstDash val="solid"/>
                      <a:round/>
                      <a:headEnd type="none" w="med" len="med"/>
                      <a:tailEnd type="none" w="med" len="med"/>
                    </a:lnL>
                    <a:lnR w="12700" cap="flat" cmpd="sng" algn="ctr">
                      <a:solidFill>
                        <a:srgbClr val="4B2885"/>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000" dirty="0">
                          <a:solidFill>
                            <a:srgbClr val="FFFFFF"/>
                          </a:solidFill>
                          <a:latin typeface="Manrope" pitchFamily="34" charset="0"/>
                          <a:ea typeface="Manrope" pitchFamily="34" charset="-122"/>
                          <a:cs typeface="Manrope" pitchFamily="34" charset="-120"/>
                        </a:rPr>
                        <a:t>Filas dentro de tablas</a:t>
                      </a:r>
                      <a:endParaRPr lang="en-US" sz="1000" dirty="0">
                        <a:latin typeface="Manrope" charset="0"/>
                        <a:ea typeface="Manrope" charset="0"/>
                        <a:cs typeface="Manrope" charset="0"/>
                      </a:endParaRPr>
                    </a:p>
                  </a:txBody>
                  <a:tcPr marL="132313" marR="132313" marT="6350" marB="6350" anchor="ctr">
                    <a:lnL w="12700" cap="flat" cmpd="sng" algn="ctr">
                      <a:solidFill>
                        <a:srgbClr val="4B2885"/>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bl>
          </a:graphicData>
        </a:graphic>
      </p:graphicFrame>
      <p:pic>
        <p:nvPicPr>
          <p:cNvPr id="14" name="Image 1" descr="preencoded.png">    </p:cNvPr>
          <p:cNvPicPr>
            <a:picLocks noChangeAspect="1"/>
          </p:cNvPicPr>
          <p:nvPr/>
        </p:nvPicPr>
        <p:blipFill>
          <a:blip r:embed="rId2"/>
          <a:stretch>
            <a:fillRect/>
          </a:stretch>
        </p:blipFill>
        <p:spPr>
          <a:xfrm>
            <a:off x="198433" y="203597"/>
            <a:ext cx="676357" cy="568623"/>
          </a:xfrm>
          <a:prstGeom prst="rect">
            <a:avLst/>
          </a:prstGeom>
        </p:spPr>
      </p:pic>
      <p:pic>
        <p:nvPicPr>
          <p:cNvPr id="15" name="Image 2" descr="preencoded.png">    </p:cNvPr>
          <p:cNvPicPr>
            <a:picLocks noChangeAspect="1"/>
          </p:cNvPicPr>
          <p:nvPr/>
        </p:nvPicPr>
        <p:blipFill>
          <a:blip r:embed="rId3"/>
          <a:stretch>
            <a:fillRect/>
          </a:stretch>
        </p:blipFill>
        <p:spPr>
          <a:xfrm>
            <a:off x="11386357" y="268784"/>
            <a:ext cx="606906" cy="438249"/>
          </a:xfrm>
          <a:prstGeom prst="rect">
            <a:avLst/>
          </a:prstGeom>
        </p:spPr>
      </p:pic>
      <p:sp>
        <p:nvSpPr>
          <p:cNvPr id="16" name="Text 10"/>
          <p:cNvSpPr/>
          <p:nvPr/>
        </p:nvSpPr>
        <p:spPr>
          <a:xfrm>
            <a:off x="10848902" y="6300589"/>
            <a:ext cx="1144360"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661475" y="1085652"/>
            <a:ext cx="10868745" cy="330696"/>
          </a:xfrm>
          <a:prstGeom prst="rect">
            <a:avLst/>
          </a:prstGeom>
          <a:noFill/>
          <a:ln/>
        </p:spPr>
        <p:txBody>
          <a:bodyPr wrap="none" lIns="0" tIns="0" rIns="0" bIns="0" rtlCol="0" anchor="t"/>
          <a:lstStyle/>
          <a:p>
            <a:pPr algn="l" indent="0" marL="0">
              <a:lnSpc>
                <a:spcPct val="104000"/>
              </a:lnSpc>
              <a:buNone/>
            </a:pPr>
            <a:r>
              <a:rPr lang="en-US" sz="2050" spc="-21" kern="0" dirty="0">
                <a:solidFill>
                  <a:srgbClr val="FFFFFF"/>
                </a:solidFill>
                <a:latin typeface="Alexandria Medium" pitchFamily="34" charset="0"/>
                <a:ea typeface="Alexandria Medium" pitchFamily="34" charset="-122"/>
                <a:cs typeface="Alexandria Medium" pitchFamily="34" charset="-120"/>
              </a:rPr>
              <a:t>Scraping tabular con Pandas</a:t>
            </a:r>
            <a:endParaRPr lang="en-US" sz="2050" dirty="0"/>
          </a:p>
        </p:txBody>
      </p:sp>
      <p:sp>
        <p:nvSpPr>
          <p:cNvPr id="3" name="Text 1"/>
          <p:cNvSpPr/>
          <p:nvPr/>
        </p:nvSpPr>
        <p:spPr>
          <a:xfrm>
            <a:off x="661475" y="1627981"/>
            <a:ext cx="11478330" cy="190500"/>
          </a:xfrm>
          <a:prstGeom prst="rect">
            <a:avLst/>
          </a:prstGeom>
          <a:noFill/>
          <a:ln/>
        </p:spPr>
        <p:txBody>
          <a:bodyPr wrap="none" lIns="0" tIns="0" rIns="0" bIns="0" rtlCol="0" anchor="t"/>
          <a:lstStyle/>
          <a:p>
            <a:pPr algn="l" indent="0" marL="0">
              <a:lnSpc>
                <a:spcPct val="120000"/>
              </a:lnSpc>
              <a:buNone/>
            </a:pPr>
            <a:r>
              <a:rPr lang="en-US" sz="1000" dirty="0">
                <a:solidFill>
                  <a:srgbClr val="FFFFFF"/>
                </a:solidFill>
                <a:latin typeface="Manrope" pitchFamily="34" charset="0"/>
                <a:ea typeface="Manrope" pitchFamily="34" charset="-122"/>
                <a:cs typeface="Manrope" pitchFamily="34" charset="-120"/>
              </a:rPr>
              <a:t>Cuando los datos están en una tabla HTML, Pandas ofrece una forma directa de extraerlos.</a:t>
            </a:r>
            <a:endParaRPr lang="en-US" sz="1000" dirty="0"/>
          </a:p>
        </p:txBody>
      </p:sp>
      <p:sp>
        <p:nvSpPr>
          <p:cNvPr id="4" name="Text 2"/>
          <p:cNvSpPr/>
          <p:nvPr/>
        </p:nvSpPr>
        <p:spPr>
          <a:xfrm>
            <a:off x="661475" y="2043311"/>
            <a:ext cx="5273047" cy="206673"/>
          </a:xfrm>
          <a:prstGeom prst="rect">
            <a:avLst/>
          </a:prstGeom>
          <a:noFill/>
          <a:ln/>
        </p:spPr>
        <p:txBody>
          <a:bodyPr wrap="none" lIns="0" tIns="0" rIns="0" bIns="0" rtlCol="0" anchor="t"/>
          <a:lstStyle/>
          <a:p>
            <a:pPr algn="l" indent="0" marL="0">
              <a:lnSpc>
                <a:spcPct val="104000"/>
              </a:lnSpc>
              <a:buNone/>
            </a:pPr>
            <a:r>
              <a:rPr lang="en-US" sz="1300" spc="-13" kern="0" dirty="0">
                <a:solidFill>
                  <a:srgbClr val="FFFFFF"/>
                </a:solidFill>
                <a:latin typeface="Alexandria Medium" pitchFamily="34" charset="0"/>
                <a:ea typeface="Alexandria Medium" pitchFamily="34" charset="-122"/>
                <a:cs typeface="Alexandria Medium" pitchFamily="34" charset="-120"/>
              </a:rPr>
              <a:t>HTML de origen (web competidor)</a:t>
            </a:r>
            <a:endParaRPr lang="en-US" sz="1300" dirty="0"/>
          </a:p>
        </p:txBody>
      </p:sp>
      <p:sp>
        <p:nvSpPr>
          <p:cNvPr id="5" name="Shape 3"/>
          <p:cNvSpPr/>
          <p:nvPr/>
        </p:nvSpPr>
        <p:spPr>
          <a:xfrm>
            <a:off x="661475" y="2369046"/>
            <a:ext cx="5273047" cy="3228777"/>
          </a:xfrm>
          <a:prstGeom prst="roundRect">
            <a:avLst>
              <a:gd name="adj" fmla="val 6147"/>
            </a:avLst>
          </a:prstGeom>
          <a:solidFill>
            <a:srgbClr val="583592"/>
          </a:solidFill>
          <a:ln/>
        </p:spPr>
      </p:sp>
      <p:sp>
        <p:nvSpPr>
          <p:cNvPr id="6" name="Text 4"/>
          <p:cNvSpPr/>
          <p:nvPr/>
        </p:nvSpPr>
        <p:spPr>
          <a:xfrm>
            <a:off x="820221" y="2501305"/>
            <a:ext cx="4955555" cy="2964259"/>
          </a:xfrm>
          <a:prstGeom prst="rect">
            <a:avLst/>
          </a:prstGeom>
          <a:noFill/>
          <a:ln/>
        </p:spPr>
        <p:txBody>
          <a:bodyPr wrap="square" lIns="0" tIns="0" rIns="0" bIns="0" rtlCol="0" anchor="t">
            <a:normAutofit/>
          </a:bodyPr>
          <a:lstStyle/>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&lt;table class="prices"&gt;</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  &lt;thead&gt;</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    &lt;tr&gt;</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      &lt;th&gt;Producto&lt;/th&gt;</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      &lt;th&gt;Precio&lt;/th&gt;</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    &lt;/tr&gt;</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  &lt;/thead&gt;</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  &lt;tbody&gt;</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    &lt;tr&gt;</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      &lt;td&gt;Portátil X&lt;/td&gt;</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      &lt;td&gt;879 €&lt;/td&gt;</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    &lt;/tr&gt;</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  &lt;/tbody&gt;</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&lt;/table&gt;</a:t>
            </a:r>
            <a:endParaRPr lang="en-US" sz="1000" dirty="0"/>
          </a:p>
        </p:txBody>
      </p:sp>
      <p:sp>
        <p:nvSpPr>
          <p:cNvPr id="7" name="Text 5"/>
          <p:cNvSpPr/>
          <p:nvPr/>
        </p:nvSpPr>
        <p:spPr>
          <a:xfrm>
            <a:off x="6263523" y="2043311"/>
            <a:ext cx="5273047" cy="206673"/>
          </a:xfrm>
          <a:prstGeom prst="rect">
            <a:avLst/>
          </a:prstGeom>
          <a:noFill/>
          <a:ln/>
        </p:spPr>
        <p:txBody>
          <a:bodyPr wrap="none" lIns="0" tIns="0" rIns="0" bIns="0" rtlCol="0" anchor="t"/>
          <a:lstStyle/>
          <a:p>
            <a:pPr algn="l" indent="0" marL="0">
              <a:lnSpc>
                <a:spcPct val="104000"/>
              </a:lnSpc>
              <a:buNone/>
            </a:pPr>
            <a:r>
              <a:rPr lang="en-US" sz="1300" spc="-13" kern="0" dirty="0">
                <a:solidFill>
                  <a:srgbClr val="FFFFFF"/>
                </a:solidFill>
                <a:latin typeface="Alexandria Medium" pitchFamily="34" charset="0"/>
                <a:ea typeface="Alexandria Medium" pitchFamily="34" charset="-122"/>
                <a:cs typeface="Alexandria Medium" pitchFamily="34" charset="-120"/>
              </a:rPr>
              <a:t>Con pd.read_html()</a:t>
            </a:r>
            <a:endParaRPr lang="en-US" sz="1300" dirty="0"/>
          </a:p>
        </p:txBody>
      </p:sp>
      <p:sp>
        <p:nvSpPr>
          <p:cNvPr id="8" name="Shape 6"/>
          <p:cNvSpPr/>
          <p:nvPr/>
        </p:nvSpPr>
        <p:spPr>
          <a:xfrm>
            <a:off x="6263523" y="2369046"/>
            <a:ext cx="5273047" cy="2593578"/>
          </a:xfrm>
          <a:prstGeom prst="roundRect">
            <a:avLst>
              <a:gd name="adj" fmla="val 7652"/>
            </a:avLst>
          </a:prstGeom>
          <a:solidFill>
            <a:srgbClr val="583592"/>
          </a:solidFill>
          <a:ln/>
        </p:spPr>
      </p:sp>
      <p:sp>
        <p:nvSpPr>
          <p:cNvPr id="9" name="Text 7"/>
          <p:cNvSpPr/>
          <p:nvPr/>
        </p:nvSpPr>
        <p:spPr>
          <a:xfrm>
            <a:off x="6422269" y="2501305"/>
            <a:ext cx="4955555" cy="2329061"/>
          </a:xfrm>
          <a:prstGeom prst="rect">
            <a:avLst/>
          </a:prstGeom>
          <a:noFill/>
          <a:ln/>
        </p:spPr>
        <p:txBody>
          <a:bodyPr wrap="square" lIns="0" tIns="0" rIns="0" bIns="0" rtlCol="0" anchor="t">
            <a:normAutofit/>
          </a:bodyPr>
          <a:lstStyle/>
          <a:p>
            <a:pPr algn="l" indent="0" marL="0">
              <a:lnSpc>
                <a:spcPct val="133000"/>
              </a:lnSpc>
              <a:buNone/>
            </a:pPr>
            <a:r>
              <a:rPr lang="en-US" sz="1000" dirty="0">
                <a:solidFill>
                  <a:srgbClr val="FF7B72"/>
                </a:solidFill>
                <a:latin typeface="Consolas" pitchFamily="34" charset="0"/>
                <a:ea typeface="Consolas" pitchFamily="34" charset="-122"/>
                <a:cs typeface="Consolas" pitchFamily="34" charset="-120"/>
              </a:rPr>
              <a:t>import pandas as pd</a:t>
            </a:r>
            <a:endParaRPr lang="en-US" sz="1000" dirty="0"/>
          </a:p>
          <a:p>
            <a:pPr algn="l" indent="0" marL="0">
              <a:lnSpc>
                <a:spcPct val="133000"/>
              </a:lnSpc>
              <a:buNone/>
            </a:pPr>
            <a:endParaRPr lang="en-US" sz="1000" dirty="0"/>
          </a:p>
          <a:p>
            <a:pPr algn="l" indent="0" marL="0">
              <a:lnSpc>
                <a:spcPct val="133000"/>
              </a:lnSpc>
              <a:buNone/>
            </a:pPr>
            <a:r>
              <a:rPr lang="en-US" sz="1000" dirty="0">
                <a:solidFill>
                  <a:srgbClr val="FF7B72"/>
                </a:solidFill>
                <a:latin typeface="Consolas" pitchFamily="34" charset="0"/>
                <a:ea typeface="Consolas" pitchFamily="34" charset="-122"/>
                <a:cs typeface="Consolas" pitchFamily="34" charset="-120"/>
              </a:rPr>
              <a:t># Pandas extrae automáticamente</a:t>
            </a:r>
            <a:endParaRPr lang="en-US" sz="1000" dirty="0"/>
          </a:p>
          <a:p>
            <a:pPr algn="l" indent="0" marL="0">
              <a:lnSpc>
                <a:spcPct val="133000"/>
              </a:lnSpc>
              <a:buNone/>
            </a:pPr>
            <a:r>
              <a:rPr lang="en-US" sz="1000" dirty="0">
                <a:solidFill>
                  <a:srgbClr val="FF7B72"/>
                </a:solidFill>
                <a:latin typeface="Consolas" pitchFamily="34" charset="0"/>
                <a:ea typeface="Consolas" pitchFamily="34" charset="-122"/>
                <a:cs typeface="Consolas" pitchFamily="34" charset="-120"/>
              </a:rPr>
              <a:t># todas las tablas de la URL</a:t>
            </a:r>
            <a:endParaRPr lang="en-US" sz="1000" dirty="0"/>
          </a:p>
          <a:p>
            <a:pPr algn="l" indent="0" marL="0">
              <a:lnSpc>
                <a:spcPct val="133000"/>
              </a:lnSpc>
              <a:buNone/>
            </a:pPr>
            <a:r>
              <a:rPr lang="en-US" sz="1000" dirty="0">
                <a:solidFill>
                  <a:srgbClr val="FF7B72"/>
                </a:solidFill>
                <a:latin typeface="Consolas" pitchFamily="34" charset="0"/>
                <a:ea typeface="Consolas" pitchFamily="34" charset="-122"/>
                <a:cs typeface="Consolas" pitchFamily="34" charset="-120"/>
              </a:rPr>
              <a:t>tablas = pd.read_html(</a:t>
            </a:r>
            <a:endParaRPr lang="en-US" sz="1000" dirty="0"/>
          </a:p>
          <a:p>
            <a:pPr algn="l" indent="0" marL="0">
              <a:lnSpc>
                <a:spcPct val="133000"/>
              </a:lnSpc>
              <a:buNone/>
            </a:pPr>
            <a:r>
              <a:rPr lang="en-US" sz="1000" dirty="0">
                <a:solidFill>
                  <a:srgbClr val="FF7B72"/>
                </a:solidFill>
                <a:latin typeface="Consolas" pitchFamily="34" charset="0"/>
                <a:ea typeface="Consolas" pitchFamily="34" charset="-122"/>
                <a:cs typeface="Consolas" pitchFamily="34" charset="-120"/>
              </a:rPr>
              <a:t>    "https://competidor.com/prices"</a:t>
            </a:r>
            <a:endParaRPr lang="en-US" sz="1000" dirty="0"/>
          </a:p>
          <a:p>
            <a:pPr algn="l" indent="0" marL="0">
              <a:lnSpc>
                <a:spcPct val="133000"/>
              </a:lnSpc>
              <a:buNone/>
            </a:pPr>
            <a:r>
              <a:rPr lang="en-US" sz="1000" dirty="0">
                <a:solidFill>
                  <a:srgbClr val="FF7B72"/>
                </a:solidFill>
                <a:latin typeface="Consolas" pitchFamily="34" charset="0"/>
                <a:ea typeface="Consolas" pitchFamily="34" charset="-122"/>
                <a:cs typeface="Consolas" pitchFamily="34" charset="-120"/>
              </a:rPr>
              <a:t>)</a:t>
            </a:r>
            <a:endParaRPr lang="en-US" sz="1000" dirty="0"/>
          </a:p>
          <a:p>
            <a:pPr algn="l" indent="0" marL="0">
              <a:lnSpc>
                <a:spcPct val="133000"/>
              </a:lnSpc>
              <a:buNone/>
            </a:pPr>
            <a:endParaRPr lang="en-US" sz="1000" dirty="0"/>
          </a:p>
          <a:p>
            <a:pPr algn="l" indent="0" marL="0">
              <a:lnSpc>
                <a:spcPct val="133000"/>
              </a:lnSpc>
              <a:buNone/>
            </a:pPr>
            <a:r>
              <a:rPr lang="en-US" sz="1000" dirty="0">
                <a:solidFill>
                  <a:srgbClr val="FF7B72"/>
                </a:solidFill>
                <a:latin typeface="Consolas" pitchFamily="34" charset="0"/>
                <a:ea typeface="Consolas" pitchFamily="34" charset="-122"/>
                <a:cs typeface="Consolas" pitchFamily="34" charset="-120"/>
              </a:rPr>
              <a:t># La primera tabla</a:t>
            </a:r>
            <a:endParaRPr lang="en-US" sz="1000" dirty="0"/>
          </a:p>
          <a:p>
            <a:pPr algn="l" indent="0" marL="0">
              <a:lnSpc>
                <a:spcPct val="133000"/>
              </a:lnSpc>
              <a:buNone/>
            </a:pPr>
            <a:r>
              <a:rPr lang="en-US" sz="1000" dirty="0">
                <a:solidFill>
                  <a:srgbClr val="FF7B72"/>
                </a:solidFill>
                <a:latin typeface="Consolas" pitchFamily="34" charset="0"/>
                <a:ea typeface="Consolas" pitchFamily="34" charset="-122"/>
                <a:cs typeface="Consolas" pitchFamily="34" charset="-120"/>
              </a:rPr>
              <a:t>df_precios = tablas[0]</a:t>
            </a:r>
            <a:endParaRPr lang="en-US" sz="1000" dirty="0"/>
          </a:p>
          <a:p>
            <a:pPr algn="l" indent="0" marL="0">
              <a:lnSpc>
                <a:spcPct val="133000"/>
              </a:lnSpc>
              <a:buNone/>
            </a:pPr>
            <a:r>
              <a:rPr lang="en-US" sz="1000" dirty="0">
                <a:solidFill>
                  <a:srgbClr val="FF7B72"/>
                </a:solidFill>
                <a:latin typeface="Consolas" pitchFamily="34" charset="0"/>
                <a:ea typeface="Consolas" pitchFamily="34" charset="-122"/>
                <a:cs typeface="Consolas" pitchFamily="34" charset="-120"/>
              </a:rPr>
              <a:t>print(df_precios.head())</a:t>
            </a:r>
            <a:endParaRPr lang="en-US" sz="1000" dirty="0"/>
          </a:p>
        </p:txBody>
      </p:sp>
      <p:sp>
        <p:nvSpPr>
          <p:cNvPr id="10" name="Text 8"/>
          <p:cNvSpPr/>
          <p:nvPr/>
        </p:nvSpPr>
        <p:spPr>
          <a:xfrm>
            <a:off x="6461956" y="5176937"/>
            <a:ext cx="5074614" cy="3810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FFFFFF"/>
                </a:solidFill>
                <a:latin typeface="Manrope" pitchFamily="34" charset="0"/>
                <a:ea typeface="Manrope" pitchFamily="34" charset="-122"/>
                <a:cs typeface="Manrope" pitchFamily="34" charset="-120"/>
              </a:rPr>
              <a:t>Esta estrategia funciona si la tabla está directamente en el HTML. Si se carga con JavaScript, no funcionará directamente.</a:t>
            </a:r>
            <a:endParaRPr lang="en-US" sz="1000" dirty="0"/>
          </a:p>
        </p:txBody>
      </p:sp>
      <p:sp>
        <p:nvSpPr>
          <p:cNvPr id="11" name="Shape 9"/>
          <p:cNvSpPr/>
          <p:nvPr/>
        </p:nvSpPr>
        <p:spPr>
          <a:xfrm>
            <a:off x="6263523" y="5081687"/>
            <a:ext cx="19050" cy="571500"/>
          </a:xfrm>
          <a:prstGeom prst="roundRect">
            <a:avLst>
              <a:gd name="adj" fmla="val 49999"/>
            </a:avLst>
          </a:prstGeom>
          <a:solidFill>
            <a:srgbClr val="B499E9"/>
          </a:solidFill>
          <a:ln/>
        </p:spPr>
      </p:sp>
      <p:pic>
        <p:nvPicPr>
          <p:cNvPr id="12"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13"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14" name="Text 10"/>
          <p:cNvSpPr/>
          <p:nvPr/>
        </p:nvSpPr>
        <p:spPr>
          <a:xfrm>
            <a:off x="10828067" y="6300589"/>
            <a:ext cx="1165196"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661475" y="1233388"/>
            <a:ext cx="10868745" cy="351433"/>
          </a:xfrm>
          <a:prstGeom prst="rect">
            <a:avLst/>
          </a:prstGeom>
          <a:noFill/>
          <a:ln/>
        </p:spPr>
        <p:txBody>
          <a:bodyPr wrap="none" lIns="0" tIns="0" rIns="0" bIns="0" rtlCol="0" anchor="t"/>
          <a:lstStyle/>
          <a:p>
            <a:pPr algn="l" indent="0" marL="0">
              <a:lnSpc>
                <a:spcPct val="104000"/>
              </a:lnSpc>
              <a:buNone/>
            </a:pPr>
            <a:r>
              <a:rPr lang="en-US" sz="2200" spc="-22" kern="0" dirty="0">
                <a:solidFill>
                  <a:srgbClr val="FFFFFF"/>
                </a:solidFill>
                <a:latin typeface="Alexandria Medium" pitchFamily="34" charset="0"/>
                <a:ea typeface="Alexandria Medium" pitchFamily="34" charset="-122"/>
                <a:cs typeface="Alexandria Medium" pitchFamily="34" charset="-120"/>
              </a:rPr>
              <a:t>¿Por qué un scraper puede dejar de funcionar?</a:t>
            </a:r>
            <a:endParaRPr lang="en-US" sz="2200" dirty="0"/>
          </a:p>
        </p:txBody>
      </p:sp>
      <p:sp>
        <p:nvSpPr>
          <p:cNvPr id="3" name="Text 1"/>
          <p:cNvSpPr/>
          <p:nvPr/>
        </p:nvSpPr>
        <p:spPr>
          <a:xfrm>
            <a:off x="661475" y="1883470"/>
            <a:ext cx="5262927"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El HTML cambia</a:t>
            </a:r>
            <a:endParaRPr lang="en-US" sz="1350" dirty="0"/>
          </a:p>
        </p:txBody>
      </p:sp>
      <p:sp>
        <p:nvSpPr>
          <p:cNvPr id="4" name="Text 2"/>
          <p:cNvSpPr/>
          <p:nvPr/>
        </p:nvSpPr>
        <p:spPr>
          <a:xfrm>
            <a:off x="661475" y="2222500"/>
            <a:ext cx="5872512" cy="208062"/>
          </a:xfrm>
          <a:prstGeom prst="rect">
            <a:avLst/>
          </a:prstGeom>
          <a:noFill/>
          <a:ln/>
        </p:spPr>
        <p:txBody>
          <a:bodyPr wrap="none" lIns="0" tIns="0" rIns="0" bIns="0" rtlCol="0" anchor="t"/>
          <a:lstStyle/>
          <a:p>
            <a:pPr algn="l" indent="0" marL="0">
              <a:lnSpc>
                <a:spcPct val="123000"/>
              </a:lnSpc>
              <a:buNone/>
            </a:pPr>
            <a:r>
              <a:rPr lang="en-US" sz="1100" b="1" dirty="0">
                <a:solidFill>
                  <a:srgbClr val="FFFFFF"/>
                </a:solidFill>
                <a:latin typeface="Manrope Bold" pitchFamily="34" charset="0"/>
                <a:ea typeface="Manrope Bold" pitchFamily="34" charset="-122"/>
                <a:cs typeface="Manrope Bold" pitchFamily="34" charset="-120"/>
              </a:rPr>
              <a:t>Hoy</a:t>
            </a:r>
            <a:endParaRPr lang="en-US" sz="1100" dirty="0"/>
          </a:p>
        </p:txBody>
      </p:sp>
      <p:sp>
        <p:nvSpPr>
          <p:cNvPr id="5" name="Shape 3"/>
          <p:cNvSpPr/>
          <p:nvPr/>
        </p:nvSpPr>
        <p:spPr>
          <a:xfrm>
            <a:off x="661475" y="2564904"/>
            <a:ext cx="5262927" cy="505916"/>
          </a:xfrm>
          <a:prstGeom prst="roundRect">
            <a:avLst>
              <a:gd name="adj" fmla="val 41682"/>
            </a:avLst>
          </a:prstGeom>
          <a:solidFill>
            <a:srgbClr val="583592"/>
          </a:solidFill>
          <a:ln/>
        </p:spPr>
      </p:sp>
      <p:sp>
        <p:nvSpPr>
          <p:cNvPr id="6" name="Text 4"/>
          <p:cNvSpPr/>
          <p:nvPr/>
        </p:nvSpPr>
        <p:spPr>
          <a:xfrm>
            <a:off x="830143" y="2705398"/>
            <a:ext cx="5535176" cy="224929"/>
          </a:xfrm>
          <a:prstGeom prst="rect">
            <a:avLst/>
          </a:prstGeom>
          <a:noFill/>
          <a:ln/>
        </p:spPr>
        <p:txBody>
          <a:bodyPr wrap="none" lIns="0" tIns="0" rIns="0" bIns="0" rtlCol="0" anchor="t"/>
          <a:lstStyle/>
          <a:p>
            <a:pPr algn="l" indent="0" marL="0">
              <a:lnSpc>
                <a:spcPct val="133000"/>
              </a:lnSpc>
              <a:buNone/>
            </a:pPr>
            <a:r>
              <a:rPr lang="en-US" sz="1100" dirty="0">
                <a:solidFill>
                  <a:srgbClr val="E6EDF3"/>
                </a:solidFill>
                <a:latin typeface="Consolas" pitchFamily="34" charset="0"/>
                <a:ea typeface="Consolas" pitchFamily="34" charset="-122"/>
                <a:cs typeface="Consolas" pitchFamily="34" charset="-120"/>
              </a:rPr>
              <a:t>&lt;span class="price"&gt;899 €&lt;/span&gt;</a:t>
            </a:r>
            <a:endParaRPr lang="en-US" sz="1100" dirty="0"/>
          </a:p>
        </p:txBody>
      </p:sp>
      <p:sp>
        <p:nvSpPr>
          <p:cNvPr id="7" name="Text 5"/>
          <p:cNvSpPr/>
          <p:nvPr/>
        </p:nvSpPr>
        <p:spPr>
          <a:xfrm>
            <a:off x="661475" y="3205163"/>
            <a:ext cx="5872512" cy="208062"/>
          </a:xfrm>
          <a:prstGeom prst="rect">
            <a:avLst/>
          </a:prstGeom>
          <a:noFill/>
          <a:ln/>
        </p:spPr>
        <p:txBody>
          <a:bodyPr wrap="none" lIns="0" tIns="0" rIns="0" bIns="0" rtlCol="0" anchor="t"/>
          <a:lstStyle/>
          <a:p>
            <a:pPr algn="l" indent="0" marL="0">
              <a:lnSpc>
                <a:spcPct val="123000"/>
              </a:lnSpc>
              <a:buNone/>
            </a:pPr>
            <a:r>
              <a:rPr lang="en-US" sz="1100" b="1" dirty="0">
                <a:solidFill>
                  <a:srgbClr val="FFFFFF"/>
                </a:solidFill>
                <a:latin typeface="Manrope Bold" pitchFamily="34" charset="0"/>
                <a:ea typeface="Manrope Bold" pitchFamily="34" charset="-122"/>
                <a:cs typeface="Manrope Bold" pitchFamily="34" charset="-120"/>
              </a:rPr>
              <a:t>Mañana, tras una actualización del sitio</a:t>
            </a:r>
            <a:endParaRPr lang="en-US" sz="1100" dirty="0"/>
          </a:p>
        </p:txBody>
      </p:sp>
      <p:sp>
        <p:nvSpPr>
          <p:cNvPr id="8" name="Shape 6"/>
          <p:cNvSpPr/>
          <p:nvPr/>
        </p:nvSpPr>
        <p:spPr>
          <a:xfrm>
            <a:off x="661475" y="3547566"/>
            <a:ext cx="5262927" cy="1180703"/>
          </a:xfrm>
          <a:prstGeom prst="roundRect">
            <a:avLst>
              <a:gd name="adj" fmla="val 17860"/>
            </a:avLst>
          </a:prstGeom>
          <a:solidFill>
            <a:srgbClr val="583592"/>
          </a:solidFill>
          <a:ln/>
        </p:spPr>
      </p:sp>
      <p:sp>
        <p:nvSpPr>
          <p:cNvPr id="9" name="Text 7"/>
          <p:cNvSpPr/>
          <p:nvPr/>
        </p:nvSpPr>
        <p:spPr>
          <a:xfrm>
            <a:off x="830143" y="3688060"/>
            <a:ext cx="4925592" cy="899716"/>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E6EDF3"/>
                </a:solidFill>
                <a:latin typeface="Consolas" pitchFamily="34" charset="0"/>
                <a:ea typeface="Consolas" pitchFamily="34" charset="-122"/>
                <a:cs typeface="Consolas" pitchFamily="34" charset="-120"/>
              </a:rPr>
              <a:t>&lt;div class="product-price</a:t>
            </a:r>
            <a:endParaRPr lang="en-US" sz="1100" dirty="0"/>
          </a:p>
          <a:p>
            <a:pPr algn="l" indent="0" marL="0">
              <a:lnSpc>
                <a:spcPct val="133000"/>
              </a:lnSpc>
              <a:buNone/>
            </a:pPr>
            <a:r>
              <a:rPr lang="en-US" sz="1100" dirty="0">
                <a:solidFill>
                  <a:srgbClr val="E6EDF3"/>
                </a:solidFill>
                <a:latin typeface="Consolas" pitchFamily="34" charset="0"/>
                <a:ea typeface="Consolas" pitchFamily="34" charset="-122"/>
                <a:cs typeface="Consolas" pitchFamily="34" charset="-120"/>
              </a:rPr>
              <a:t>             js-price"&gt;</a:t>
            </a:r>
            <a:endParaRPr lang="en-US" sz="1100" dirty="0"/>
          </a:p>
          <a:p>
            <a:pPr algn="l" indent="0" marL="0">
              <a:lnSpc>
                <a:spcPct val="133000"/>
              </a:lnSpc>
              <a:buNone/>
            </a:pPr>
            <a:r>
              <a:rPr lang="en-US" sz="1100" dirty="0">
                <a:solidFill>
                  <a:srgbClr val="E6EDF3"/>
                </a:solidFill>
                <a:latin typeface="Consolas" pitchFamily="34" charset="0"/>
                <a:ea typeface="Consolas" pitchFamily="34" charset="-122"/>
                <a:cs typeface="Consolas" pitchFamily="34" charset="-120"/>
              </a:rPr>
              <a:t>  899 €</a:t>
            </a:r>
            <a:endParaRPr lang="en-US" sz="1100" dirty="0"/>
          </a:p>
          <a:p>
            <a:pPr algn="l" indent="0" marL="0">
              <a:lnSpc>
                <a:spcPct val="133000"/>
              </a:lnSpc>
              <a:buNone/>
            </a:pPr>
            <a:r>
              <a:rPr lang="en-US" sz="1100" dirty="0">
                <a:solidFill>
                  <a:srgbClr val="E6EDF3"/>
                </a:solidFill>
                <a:latin typeface="Consolas" pitchFamily="34" charset="0"/>
                <a:ea typeface="Consolas" pitchFamily="34" charset="-122"/>
                <a:cs typeface="Consolas" pitchFamily="34" charset="-120"/>
              </a:rPr>
              <a:t>&lt;/div&gt;</a:t>
            </a:r>
            <a:endParaRPr lang="en-US" sz="1100" dirty="0"/>
          </a:p>
        </p:txBody>
      </p:sp>
      <p:sp>
        <p:nvSpPr>
          <p:cNvPr id="10" name="Text 8"/>
          <p:cNvSpPr/>
          <p:nvPr/>
        </p:nvSpPr>
        <p:spPr>
          <a:xfrm>
            <a:off x="661475" y="4862612"/>
            <a:ext cx="5872512" cy="214412"/>
          </a:xfrm>
          <a:prstGeom prst="rect">
            <a:avLst/>
          </a:prstGeom>
          <a:noFill/>
          <a:ln/>
        </p:spPr>
        <p:txBody>
          <a:bodyPr wrap="none" lIns="0" tIns="0" rIns="0" bIns="0" rtlCol="0" anchor="t"/>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El selector </a:t>
            </a:r>
            <a:pPr algn="l" indent="0" marL="0">
              <a:lnSpc>
                <a:spcPct val="123000"/>
              </a:lnSpc>
              <a:buNone/>
            </a:pPr>
            <a:r>
              <a:rPr lang="en-US" sz="1100" dirty="0">
                <a:solidFill>
                  <a:srgbClr val="FFFFFF"/>
                </a:solidFill>
                <a:highlight>
                  <a:srgbClr val="583592"/>
                </a:highlight>
                <a:latin typeface="Consolas" pitchFamily="34" charset="0"/>
                <a:ea typeface="Consolas" pitchFamily="34" charset="-122"/>
                <a:cs typeface="Consolas" pitchFamily="34" charset="-120"/>
              </a:rPr>
              <a:t>.price</a:t>
            </a:r>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 ya no funciona. El scraper falla silenciosamente.</a:t>
            </a:r>
            <a:endParaRPr lang="en-US" sz="1100" dirty="0"/>
          </a:p>
        </p:txBody>
      </p:sp>
      <p:sp>
        <p:nvSpPr>
          <p:cNvPr id="11" name="Text 9"/>
          <p:cNvSpPr/>
          <p:nvPr/>
        </p:nvSpPr>
        <p:spPr>
          <a:xfrm>
            <a:off x="6273643" y="1883470"/>
            <a:ext cx="5262927"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Otras causas de rotura</a:t>
            </a:r>
            <a:endParaRPr lang="en-US" sz="1350" dirty="0"/>
          </a:p>
        </p:txBody>
      </p:sp>
      <p:sp>
        <p:nvSpPr>
          <p:cNvPr id="12" name="Shape 10"/>
          <p:cNvSpPr/>
          <p:nvPr/>
        </p:nvSpPr>
        <p:spPr>
          <a:xfrm>
            <a:off x="6273643" y="2237383"/>
            <a:ext cx="2571686" cy="1501874"/>
          </a:xfrm>
          <a:prstGeom prst="roundRect">
            <a:avLst>
              <a:gd name="adj" fmla="val 14041"/>
            </a:avLst>
          </a:prstGeom>
          <a:solidFill>
            <a:srgbClr val="4B2885"/>
          </a:solidFill>
          <a:ln w="19050">
            <a:solidFill>
              <a:srgbClr val="4B3082"/>
            </a:solidFill>
            <a:prstDash val="solid"/>
          </a:ln>
        </p:spPr>
      </p:sp>
      <p:sp>
        <p:nvSpPr>
          <p:cNvPr id="13" name="Text 11"/>
          <p:cNvSpPr/>
          <p:nvPr/>
        </p:nvSpPr>
        <p:spPr>
          <a:xfrm>
            <a:off x="6433183" y="2396927"/>
            <a:ext cx="2252606" cy="439142"/>
          </a:xfrm>
          <a:prstGeom prst="rect">
            <a:avLst/>
          </a:prstGeom>
          <a:noFill/>
          <a:ln/>
        </p:spPr>
        <p:txBody>
          <a:bodyPr wrap="square" lIns="0" tIns="0" rIns="0" bIns="0" rtlCol="0" anchor="t">
            <a:normAutofit/>
          </a:bodyPr>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Contenido cargado con JavaScript</a:t>
            </a:r>
            <a:endParaRPr lang="en-US" sz="1350" dirty="0"/>
          </a:p>
        </p:txBody>
      </p:sp>
      <p:sp>
        <p:nvSpPr>
          <p:cNvPr id="14" name="Text 12"/>
          <p:cNvSpPr/>
          <p:nvPr/>
        </p:nvSpPr>
        <p:spPr>
          <a:xfrm>
            <a:off x="6433183" y="2955528"/>
            <a:ext cx="2252606" cy="624185"/>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El HTML inicial está vacío; los datos llegan después mediante JS. BeautifulSoup no los ve.</a:t>
            </a:r>
            <a:endParaRPr lang="en-US" sz="1100" dirty="0"/>
          </a:p>
        </p:txBody>
      </p:sp>
      <p:sp>
        <p:nvSpPr>
          <p:cNvPr id="15" name="Shape 13"/>
          <p:cNvSpPr/>
          <p:nvPr/>
        </p:nvSpPr>
        <p:spPr>
          <a:xfrm>
            <a:off x="8964785" y="2237383"/>
            <a:ext cx="2571785" cy="1501874"/>
          </a:xfrm>
          <a:prstGeom prst="roundRect">
            <a:avLst>
              <a:gd name="adj" fmla="val 14041"/>
            </a:avLst>
          </a:prstGeom>
          <a:solidFill>
            <a:srgbClr val="4B2885"/>
          </a:solidFill>
          <a:ln w="19050">
            <a:solidFill>
              <a:srgbClr val="4B3082"/>
            </a:solidFill>
            <a:prstDash val="solid"/>
          </a:ln>
        </p:spPr>
      </p:sp>
      <p:sp>
        <p:nvSpPr>
          <p:cNvPr id="16" name="Text 14"/>
          <p:cNvSpPr/>
          <p:nvPr/>
        </p:nvSpPr>
        <p:spPr>
          <a:xfrm>
            <a:off x="9124325" y="2396927"/>
            <a:ext cx="2252705"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Sistemas anti-bot</a:t>
            </a:r>
            <a:endParaRPr lang="en-US" sz="1350" dirty="0"/>
          </a:p>
        </p:txBody>
      </p:sp>
      <p:sp>
        <p:nvSpPr>
          <p:cNvPr id="17" name="Text 15"/>
          <p:cNvSpPr/>
          <p:nvPr/>
        </p:nvSpPr>
        <p:spPr>
          <a:xfrm>
            <a:off x="9124325" y="2735957"/>
            <a:ext cx="2252705" cy="41612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CAPTCHAs, detección de User-Agent, IPs bloqueadas.</a:t>
            </a:r>
            <a:endParaRPr lang="en-US" sz="1100" dirty="0"/>
          </a:p>
        </p:txBody>
      </p:sp>
      <p:sp>
        <p:nvSpPr>
          <p:cNvPr id="18" name="Shape 16"/>
          <p:cNvSpPr/>
          <p:nvPr/>
        </p:nvSpPr>
        <p:spPr>
          <a:xfrm>
            <a:off x="6273643" y="3858716"/>
            <a:ext cx="2571686" cy="1074241"/>
          </a:xfrm>
          <a:prstGeom prst="roundRect">
            <a:avLst>
              <a:gd name="adj" fmla="val 19630"/>
            </a:avLst>
          </a:prstGeom>
          <a:solidFill>
            <a:srgbClr val="4B2885"/>
          </a:solidFill>
          <a:ln w="19050">
            <a:solidFill>
              <a:srgbClr val="4B3082"/>
            </a:solidFill>
            <a:prstDash val="solid"/>
          </a:ln>
        </p:spPr>
      </p:sp>
      <p:sp>
        <p:nvSpPr>
          <p:cNvPr id="19" name="Text 17"/>
          <p:cNvSpPr/>
          <p:nvPr/>
        </p:nvSpPr>
        <p:spPr>
          <a:xfrm>
            <a:off x="6433183" y="4018260"/>
            <a:ext cx="2252606"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Autenticación</a:t>
            </a:r>
            <a:endParaRPr lang="en-US" sz="1350" dirty="0"/>
          </a:p>
        </p:txBody>
      </p:sp>
      <p:sp>
        <p:nvSpPr>
          <p:cNvPr id="20" name="Text 18"/>
          <p:cNvSpPr/>
          <p:nvPr/>
        </p:nvSpPr>
        <p:spPr>
          <a:xfrm>
            <a:off x="6433183" y="4357291"/>
            <a:ext cx="2252606" cy="41612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La página requiere login para mostrar los precios.</a:t>
            </a:r>
            <a:endParaRPr lang="en-US" sz="1100" dirty="0"/>
          </a:p>
        </p:txBody>
      </p:sp>
      <p:sp>
        <p:nvSpPr>
          <p:cNvPr id="21" name="Shape 19"/>
          <p:cNvSpPr/>
          <p:nvPr/>
        </p:nvSpPr>
        <p:spPr>
          <a:xfrm>
            <a:off x="8964785" y="3858716"/>
            <a:ext cx="2571785" cy="1074241"/>
          </a:xfrm>
          <a:prstGeom prst="roundRect">
            <a:avLst>
              <a:gd name="adj" fmla="val 19630"/>
            </a:avLst>
          </a:prstGeom>
          <a:solidFill>
            <a:srgbClr val="4B2885"/>
          </a:solidFill>
          <a:ln w="19050">
            <a:solidFill>
              <a:srgbClr val="4B3082"/>
            </a:solidFill>
            <a:prstDash val="solid"/>
          </a:ln>
        </p:spPr>
      </p:sp>
      <p:sp>
        <p:nvSpPr>
          <p:cNvPr id="22" name="Text 20"/>
          <p:cNvSpPr/>
          <p:nvPr/>
        </p:nvSpPr>
        <p:spPr>
          <a:xfrm>
            <a:off x="9124325" y="4018260"/>
            <a:ext cx="2252705"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Cambios de URL</a:t>
            </a:r>
            <a:endParaRPr lang="en-US" sz="1350" dirty="0"/>
          </a:p>
        </p:txBody>
      </p:sp>
      <p:sp>
        <p:nvSpPr>
          <p:cNvPr id="23" name="Text 21"/>
          <p:cNvSpPr/>
          <p:nvPr/>
        </p:nvSpPr>
        <p:spPr>
          <a:xfrm>
            <a:off x="9124325" y="4357291"/>
            <a:ext cx="2252705" cy="41612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La estructura de rutas del sitio se reorganiza.</a:t>
            </a:r>
            <a:endParaRPr lang="en-US" sz="1100" dirty="0"/>
          </a:p>
        </p:txBody>
      </p:sp>
      <p:sp>
        <p:nvSpPr>
          <p:cNvPr id="24" name="Text 22"/>
          <p:cNvSpPr/>
          <p:nvPr/>
        </p:nvSpPr>
        <p:spPr>
          <a:xfrm>
            <a:off x="6484478" y="5174754"/>
            <a:ext cx="5661677" cy="208062"/>
          </a:xfrm>
          <a:prstGeom prst="rect">
            <a:avLst/>
          </a:prstGeom>
          <a:noFill/>
          <a:ln/>
        </p:spPr>
        <p:txBody>
          <a:bodyPr wrap="none" lIns="0" tIns="0" rIns="0" bIns="0" rtlCol="0" anchor="t"/>
          <a:lstStyle/>
          <a:p>
            <a:pPr algn="l" indent="0" marL="0">
              <a:lnSpc>
                <a:spcPct val="123000"/>
              </a:lnSpc>
              <a:buNone/>
            </a:pPr>
            <a:r>
              <a:rPr lang="en-US" sz="1100" b="1" dirty="0">
                <a:solidFill>
                  <a:srgbClr val="FFFFFF"/>
                </a:solidFill>
                <a:latin typeface="Manrope Bold" pitchFamily="34" charset="0"/>
                <a:ea typeface="Manrope Bold" pitchFamily="34" charset="-122"/>
                <a:cs typeface="Manrope Bold" pitchFamily="34" charset="-120"/>
              </a:rPr>
              <a:t>Un pipeline depende de sus fuentes y debe ser mantenido activamente.</a:t>
            </a:r>
            <a:endParaRPr lang="en-US" sz="1100" dirty="0"/>
          </a:p>
        </p:txBody>
      </p:sp>
      <p:sp>
        <p:nvSpPr>
          <p:cNvPr id="25" name="Shape 23"/>
          <p:cNvSpPr/>
          <p:nvPr/>
        </p:nvSpPr>
        <p:spPr>
          <a:xfrm>
            <a:off x="6273643" y="5067300"/>
            <a:ext cx="19050" cy="422970"/>
          </a:xfrm>
          <a:prstGeom prst="roundRect">
            <a:avLst>
              <a:gd name="adj" fmla="val 49999"/>
            </a:avLst>
          </a:prstGeom>
          <a:solidFill>
            <a:srgbClr val="B499E9"/>
          </a:solidFill>
          <a:ln/>
        </p:spPr>
      </p:sp>
      <p:pic>
        <p:nvPicPr>
          <p:cNvPr id="26"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27"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28" name="Text 24"/>
          <p:cNvSpPr/>
          <p:nvPr/>
        </p:nvSpPr>
        <p:spPr>
          <a:xfrm>
            <a:off x="10830051" y="6300589"/>
            <a:ext cx="1163212"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661475" y="1092795"/>
            <a:ext cx="10868745" cy="392708"/>
          </a:xfrm>
          <a:prstGeom prst="rect">
            <a:avLst/>
          </a:prstGeom>
          <a:noFill/>
          <a:ln/>
        </p:spPr>
        <p:txBody>
          <a:bodyPr wrap="none" lIns="0" tIns="0" rIns="0" bIns="0" rtlCol="0" anchor="t"/>
          <a:lstStyle/>
          <a:p>
            <a:pPr algn="l" indent="0" marL="0">
              <a:lnSpc>
                <a:spcPct val="104000"/>
              </a:lnSpc>
              <a:buNone/>
            </a:pPr>
            <a:r>
              <a:rPr lang="en-US" sz="2450" spc="-25" kern="0" dirty="0">
                <a:solidFill>
                  <a:srgbClr val="FFFFFF"/>
                </a:solidFill>
                <a:latin typeface="Alexandria Medium" pitchFamily="34" charset="0"/>
                <a:ea typeface="Alexandria Medium" pitchFamily="34" charset="-122"/>
                <a:cs typeface="Alexandria Medium" pitchFamily="34" charset="-120"/>
              </a:rPr>
              <a:t>Scraping responsable</a:t>
            </a:r>
            <a:endParaRPr lang="en-US" sz="2450" dirty="0"/>
          </a:p>
        </p:txBody>
      </p:sp>
      <p:sp>
        <p:nvSpPr>
          <p:cNvPr id="3" name="Text 1"/>
          <p:cNvSpPr/>
          <p:nvPr/>
        </p:nvSpPr>
        <p:spPr>
          <a:xfrm>
            <a:off x="661475" y="1783953"/>
            <a:ext cx="11478330" cy="245170"/>
          </a:xfrm>
          <a:prstGeom prst="rect">
            <a:avLst/>
          </a:prstGeom>
          <a:noFill/>
          <a:ln/>
        </p:spPr>
        <p:txBody>
          <a:bodyPr wrap="none" lIns="0" tIns="0" rIns="0" bIns="0" rtlCol="0" anchor="t"/>
          <a:lstStyle/>
          <a:p>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El acceso automatizado a páginas web implica responsabilidades técnicas, éticas y legales.</a:t>
            </a:r>
            <a:endParaRPr lang="en-US" sz="1200" dirty="0"/>
          </a:p>
        </p:txBody>
      </p:sp>
      <p:sp>
        <p:nvSpPr>
          <p:cNvPr id="4" name="Shape 2"/>
          <p:cNvSpPr/>
          <p:nvPr/>
        </p:nvSpPr>
        <p:spPr>
          <a:xfrm>
            <a:off x="661475" y="2197001"/>
            <a:ext cx="353508" cy="353516"/>
          </a:xfrm>
          <a:prstGeom prst="ellipse">
            <a:avLst/>
          </a:prstGeom>
          <a:solidFill>
            <a:srgbClr val="3F2077"/>
          </a:solidFill>
          <a:ln w="6350">
            <a:solidFill>
              <a:srgbClr val="4B3082"/>
            </a:solidFill>
            <a:prstDash val="solid"/>
          </a:ln>
        </p:spPr>
      </p:sp>
      <p:sp>
        <p:nvSpPr>
          <p:cNvPr id="5" name="Text 3"/>
          <p:cNvSpPr/>
          <p:nvPr/>
        </p:nvSpPr>
        <p:spPr>
          <a:xfrm>
            <a:off x="720360" y="2226419"/>
            <a:ext cx="235639" cy="294580"/>
          </a:xfrm>
          <a:prstGeom prst="rect">
            <a:avLst/>
          </a:prstGeom>
          <a:noFill/>
          <a:ln/>
        </p:spPr>
        <p:txBody>
          <a:bodyPr wrap="none" lIns="0" tIns="0" rIns="0" bIns="0" rtlCol="0" anchor="ctr"/>
          <a:lstStyle/>
          <a:p>
            <a:pPr algn="ctr" indent="0" marL="0">
              <a:lnSpc>
                <a:spcPct val="100000"/>
              </a:lnSpc>
              <a:buNone/>
            </a:pPr>
            <a:r>
              <a:rPr lang="en-US" sz="1850" spc="-19" kern="0" dirty="0">
                <a:solidFill>
                  <a:srgbClr val="FFFFFF"/>
                </a:solidFill>
                <a:latin typeface="Alexandria Medium" pitchFamily="34" charset="0"/>
                <a:ea typeface="Alexandria Medium" pitchFamily="34" charset="-122"/>
                <a:cs typeface="Alexandria Medium" pitchFamily="34" charset="-120"/>
              </a:rPr>
              <a:t>1</a:t>
            </a:r>
            <a:endParaRPr lang="en-US" sz="1850" dirty="0"/>
          </a:p>
        </p:txBody>
      </p:sp>
      <p:sp>
        <p:nvSpPr>
          <p:cNvPr id="6" name="Text 4"/>
          <p:cNvSpPr/>
          <p:nvPr/>
        </p:nvSpPr>
        <p:spPr>
          <a:xfrm>
            <a:off x="1164204" y="2250976"/>
            <a:ext cx="2995835" cy="491133"/>
          </a:xfrm>
          <a:prstGeom prst="rect">
            <a:avLst/>
          </a:prstGeom>
          <a:noFill/>
          <a:ln/>
        </p:spPr>
        <p:txBody>
          <a:bodyPr wrap="square" lIns="0" tIns="0" rIns="0" bIns="0" rtlCol="0" anchor="t">
            <a:normAutofit/>
          </a:bodyPr>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Comprobar los términos de uso</a:t>
            </a:r>
            <a:endParaRPr lang="en-US" sz="1500" dirty="0"/>
          </a:p>
        </p:txBody>
      </p:sp>
      <p:sp>
        <p:nvSpPr>
          <p:cNvPr id="7" name="Text 5"/>
          <p:cNvSpPr/>
          <p:nvPr/>
        </p:nvSpPr>
        <p:spPr>
          <a:xfrm>
            <a:off x="1164204" y="2831604"/>
            <a:ext cx="2995835" cy="73550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Muchos sitios prohíben explícitamente el scraping automatizado en sus condiciones legales.</a:t>
            </a:r>
            <a:endParaRPr lang="en-US" sz="1200" dirty="0"/>
          </a:p>
        </p:txBody>
      </p:sp>
      <p:sp>
        <p:nvSpPr>
          <p:cNvPr id="8" name="Shape 6"/>
          <p:cNvSpPr/>
          <p:nvPr/>
        </p:nvSpPr>
        <p:spPr>
          <a:xfrm>
            <a:off x="4346565" y="2197001"/>
            <a:ext cx="353508" cy="353516"/>
          </a:xfrm>
          <a:prstGeom prst="ellipse">
            <a:avLst/>
          </a:prstGeom>
          <a:solidFill>
            <a:srgbClr val="3F2077"/>
          </a:solidFill>
          <a:ln w="6350">
            <a:solidFill>
              <a:srgbClr val="4B3082"/>
            </a:solidFill>
            <a:prstDash val="solid"/>
          </a:ln>
        </p:spPr>
      </p:sp>
      <p:sp>
        <p:nvSpPr>
          <p:cNvPr id="9" name="Text 7"/>
          <p:cNvSpPr/>
          <p:nvPr/>
        </p:nvSpPr>
        <p:spPr>
          <a:xfrm>
            <a:off x="4405450" y="2226419"/>
            <a:ext cx="235639" cy="294580"/>
          </a:xfrm>
          <a:prstGeom prst="rect">
            <a:avLst/>
          </a:prstGeom>
          <a:noFill/>
          <a:ln/>
        </p:spPr>
        <p:txBody>
          <a:bodyPr wrap="none" lIns="0" tIns="0" rIns="0" bIns="0" rtlCol="0" anchor="ctr"/>
          <a:lstStyle/>
          <a:p>
            <a:pPr algn="ctr" indent="0" marL="0">
              <a:lnSpc>
                <a:spcPct val="100000"/>
              </a:lnSpc>
              <a:buNone/>
            </a:pPr>
            <a:r>
              <a:rPr lang="en-US" sz="1850" spc="-19" kern="0" dirty="0">
                <a:solidFill>
                  <a:srgbClr val="FFFFFF"/>
                </a:solidFill>
                <a:latin typeface="Alexandria Medium" pitchFamily="34" charset="0"/>
                <a:ea typeface="Alexandria Medium" pitchFamily="34" charset="-122"/>
                <a:cs typeface="Alexandria Medium" pitchFamily="34" charset="-120"/>
              </a:rPr>
              <a:t>2</a:t>
            </a:r>
            <a:endParaRPr lang="en-US" sz="1850" dirty="0"/>
          </a:p>
        </p:txBody>
      </p:sp>
      <p:sp>
        <p:nvSpPr>
          <p:cNvPr id="10" name="Text 8"/>
          <p:cNvSpPr/>
          <p:nvPr/>
        </p:nvSpPr>
        <p:spPr>
          <a:xfrm>
            <a:off x="4849294" y="2250976"/>
            <a:ext cx="2995835" cy="245566"/>
          </a:xfrm>
          <a:prstGeom prst="rect">
            <a:avLst/>
          </a:prstGeom>
          <a:noFill/>
          <a:ln/>
        </p:spPr>
        <p:txBody>
          <a:bodyPr wrap="none" lIns="0" tIns="0" rIns="0" bIns="0" rtlCol="0" anchor="t"/>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Respetar robots.txt</a:t>
            </a:r>
            <a:endParaRPr lang="en-US" sz="1500" dirty="0"/>
          </a:p>
        </p:txBody>
      </p:sp>
      <p:sp>
        <p:nvSpPr>
          <p:cNvPr id="11" name="Text 9"/>
          <p:cNvSpPr/>
          <p:nvPr/>
        </p:nvSpPr>
        <p:spPr>
          <a:xfrm>
            <a:off x="4849294" y="2586038"/>
            <a:ext cx="2995835" cy="73550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El fichero </a:t>
            </a:r>
            <a:pPr algn="l" indent="0" marL="0">
              <a:lnSpc>
                <a:spcPct val="130000"/>
              </a:lnSpc>
              <a:buNone/>
            </a:pPr>
            <a:r>
              <a:rPr lang="en-US" sz="1200" dirty="0">
                <a:solidFill>
                  <a:srgbClr val="FFFFFF"/>
                </a:solidFill>
                <a:highlight>
                  <a:srgbClr val="583592"/>
                </a:highlight>
                <a:latin typeface="Consolas" pitchFamily="34" charset="0"/>
                <a:ea typeface="Consolas" pitchFamily="34" charset="-122"/>
                <a:cs typeface="Consolas" pitchFamily="34" charset="-120"/>
              </a:rPr>
              <a:t>/robots.txt</a:t>
            </a:r>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 indica las preferencias del sitio sobre qué rutas no deben ser rastreadas.</a:t>
            </a:r>
            <a:endParaRPr lang="en-US" sz="1200" dirty="0"/>
          </a:p>
        </p:txBody>
      </p:sp>
      <p:sp>
        <p:nvSpPr>
          <p:cNvPr id="12" name="Shape 10"/>
          <p:cNvSpPr/>
          <p:nvPr/>
        </p:nvSpPr>
        <p:spPr>
          <a:xfrm>
            <a:off x="8031656" y="2197001"/>
            <a:ext cx="353508" cy="353516"/>
          </a:xfrm>
          <a:prstGeom prst="ellipse">
            <a:avLst/>
          </a:prstGeom>
          <a:solidFill>
            <a:srgbClr val="3F2077"/>
          </a:solidFill>
          <a:ln w="6350">
            <a:solidFill>
              <a:srgbClr val="4B3082"/>
            </a:solidFill>
            <a:prstDash val="solid"/>
          </a:ln>
        </p:spPr>
      </p:sp>
      <p:sp>
        <p:nvSpPr>
          <p:cNvPr id="13" name="Text 11"/>
          <p:cNvSpPr/>
          <p:nvPr/>
        </p:nvSpPr>
        <p:spPr>
          <a:xfrm>
            <a:off x="8090541" y="2226419"/>
            <a:ext cx="235639" cy="294580"/>
          </a:xfrm>
          <a:prstGeom prst="rect">
            <a:avLst/>
          </a:prstGeom>
          <a:noFill/>
          <a:ln/>
        </p:spPr>
        <p:txBody>
          <a:bodyPr wrap="none" lIns="0" tIns="0" rIns="0" bIns="0" rtlCol="0" anchor="ctr"/>
          <a:lstStyle/>
          <a:p>
            <a:pPr algn="ctr" indent="0" marL="0">
              <a:lnSpc>
                <a:spcPct val="100000"/>
              </a:lnSpc>
              <a:buNone/>
            </a:pPr>
            <a:r>
              <a:rPr lang="en-US" sz="1850" spc="-19" kern="0" dirty="0">
                <a:solidFill>
                  <a:srgbClr val="FFFFFF"/>
                </a:solidFill>
                <a:latin typeface="Alexandria Medium" pitchFamily="34" charset="0"/>
                <a:ea typeface="Alexandria Medium" pitchFamily="34" charset="-122"/>
                <a:cs typeface="Alexandria Medium" pitchFamily="34" charset="-120"/>
              </a:rPr>
              <a:t>3</a:t>
            </a:r>
            <a:endParaRPr lang="en-US" sz="1850" dirty="0"/>
          </a:p>
        </p:txBody>
      </p:sp>
      <p:sp>
        <p:nvSpPr>
          <p:cNvPr id="14" name="Text 12"/>
          <p:cNvSpPr/>
          <p:nvPr/>
        </p:nvSpPr>
        <p:spPr>
          <a:xfrm>
            <a:off x="8534385" y="2250976"/>
            <a:ext cx="2995835" cy="245566"/>
          </a:xfrm>
          <a:prstGeom prst="rect">
            <a:avLst/>
          </a:prstGeom>
          <a:noFill/>
          <a:ln/>
        </p:spPr>
        <p:txBody>
          <a:bodyPr wrap="none" lIns="0" tIns="0" rIns="0" bIns="0" rtlCol="0" anchor="t"/>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No sobrecargar el servidor</a:t>
            </a:r>
            <a:endParaRPr lang="en-US" sz="1500" dirty="0"/>
          </a:p>
        </p:txBody>
      </p:sp>
      <p:sp>
        <p:nvSpPr>
          <p:cNvPr id="15" name="Text 13"/>
          <p:cNvSpPr/>
          <p:nvPr/>
        </p:nvSpPr>
        <p:spPr>
          <a:xfrm>
            <a:off x="8534385" y="2586038"/>
            <a:ext cx="2995835" cy="73550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Añadir pausas entre peticiones. Comportarse como un usuario humano, no como una ráfaga de tráfico.</a:t>
            </a:r>
            <a:endParaRPr lang="en-US" sz="1200" dirty="0"/>
          </a:p>
        </p:txBody>
      </p:sp>
      <p:sp>
        <p:nvSpPr>
          <p:cNvPr id="16" name="Shape 14"/>
          <p:cNvSpPr/>
          <p:nvPr/>
        </p:nvSpPr>
        <p:spPr>
          <a:xfrm>
            <a:off x="661475" y="3865563"/>
            <a:ext cx="353508" cy="353516"/>
          </a:xfrm>
          <a:prstGeom prst="ellipse">
            <a:avLst/>
          </a:prstGeom>
          <a:solidFill>
            <a:srgbClr val="3F2077"/>
          </a:solidFill>
          <a:ln w="6350">
            <a:solidFill>
              <a:srgbClr val="4B3082"/>
            </a:solidFill>
            <a:prstDash val="solid"/>
          </a:ln>
        </p:spPr>
      </p:sp>
      <p:sp>
        <p:nvSpPr>
          <p:cNvPr id="17" name="Text 15"/>
          <p:cNvSpPr/>
          <p:nvPr/>
        </p:nvSpPr>
        <p:spPr>
          <a:xfrm>
            <a:off x="720360" y="3894981"/>
            <a:ext cx="235639" cy="294580"/>
          </a:xfrm>
          <a:prstGeom prst="rect">
            <a:avLst/>
          </a:prstGeom>
          <a:noFill/>
          <a:ln/>
        </p:spPr>
        <p:txBody>
          <a:bodyPr wrap="none" lIns="0" tIns="0" rIns="0" bIns="0" rtlCol="0" anchor="ctr"/>
          <a:lstStyle/>
          <a:p>
            <a:pPr algn="ctr" indent="0" marL="0">
              <a:lnSpc>
                <a:spcPct val="100000"/>
              </a:lnSpc>
              <a:buNone/>
            </a:pPr>
            <a:r>
              <a:rPr lang="en-US" sz="1850" spc="-19" kern="0" dirty="0">
                <a:solidFill>
                  <a:srgbClr val="FFFFFF"/>
                </a:solidFill>
                <a:latin typeface="Alexandria Medium" pitchFamily="34" charset="0"/>
                <a:ea typeface="Alexandria Medium" pitchFamily="34" charset="-122"/>
                <a:cs typeface="Alexandria Medium" pitchFamily="34" charset="-120"/>
              </a:rPr>
              <a:t>4</a:t>
            </a:r>
            <a:endParaRPr lang="en-US" sz="1850" dirty="0"/>
          </a:p>
        </p:txBody>
      </p:sp>
      <p:sp>
        <p:nvSpPr>
          <p:cNvPr id="18" name="Text 16"/>
          <p:cNvSpPr/>
          <p:nvPr/>
        </p:nvSpPr>
        <p:spPr>
          <a:xfrm>
            <a:off x="1164204" y="3919538"/>
            <a:ext cx="4838381" cy="245566"/>
          </a:xfrm>
          <a:prstGeom prst="rect">
            <a:avLst/>
          </a:prstGeom>
          <a:noFill/>
          <a:ln/>
        </p:spPr>
        <p:txBody>
          <a:bodyPr wrap="none" lIns="0" tIns="0" rIns="0" bIns="0" rtlCol="0" anchor="t"/>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Preferir APIs oficiales</a:t>
            </a:r>
            <a:endParaRPr lang="en-US" sz="1500" dirty="0"/>
          </a:p>
        </p:txBody>
      </p:sp>
      <p:sp>
        <p:nvSpPr>
          <p:cNvPr id="19" name="Text 17"/>
          <p:cNvSpPr/>
          <p:nvPr/>
        </p:nvSpPr>
        <p:spPr>
          <a:xfrm>
            <a:off x="1164204" y="4254599"/>
            <a:ext cx="4838381" cy="49033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Si existe una API oficial, usarla siempre. Es más estable, respetuosa y robusta que el scraping.</a:t>
            </a:r>
            <a:endParaRPr lang="en-US" sz="1200" dirty="0"/>
          </a:p>
        </p:txBody>
      </p:sp>
      <p:sp>
        <p:nvSpPr>
          <p:cNvPr id="20" name="Shape 18"/>
          <p:cNvSpPr/>
          <p:nvPr/>
        </p:nvSpPr>
        <p:spPr>
          <a:xfrm>
            <a:off x="6189111" y="3865563"/>
            <a:ext cx="353508" cy="353516"/>
          </a:xfrm>
          <a:prstGeom prst="ellipse">
            <a:avLst/>
          </a:prstGeom>
          <a:solidFill>
            <a:srgbClr val="3F2077"/>
          </a:solidFill>
          <a:ln w="6350">
            <a:solidFill>
              <a:srgbClr val="4B3082"/>
            </a:solidFill>
            <a:prstDash val="solid"/>
          </a:ln>
        </p:spPr>
      </p:sp>
      <p:sp>
        <p:nvSpPr>
          <p:cNvPr id="21" name="Text 19"/>
          <p:cNvSpPr/>
          <p:nvPr/>
        </p:nvSpPr>
        <p:spPr>
          <a:xfrm>
            <a:off x="6247996" y="3894981"/>
            <a:ext cx="235639" cy="294580"/>
          </a:xfrm>
          <a:prstGeom prst="rect">
            <a:avLst/>
          </a:prstGeom>
          <a:noFill/>
          <a:ln/>
        </p:spPr>
        <p:txBody>
          <a:bodyPr wrap="none" lIns="0" tIns="0" rIns="0" bIns="0" rtlCol="0" anchor="ctr"/>
          <a:lstStyle/>
          <a:p>
            <a:pPr algn="ctr" indent="0" marL="0">
              <a:lnSpc>
                <a:spcPct val="100000"/>
              </a:lnSpc>
              <a:buNone/>
            </a:pPr>
            <a:r>
              <a:rPr lang="en-US" sz="1850" spc="-19" kern="0" dirty="0">
                <a:solidFill>
                  <a:srgbClr val="FFFFFF"/>
                </a:solidFill>
                <a:latin typeface="Alexandria Medium" pitchFamily="34" charset="0"/>
                <a:ea typeface="Alexandria Medium" pitchFamily="34" charset="-122"/>
                <a:cs typeface="Alexandria Medium" pitchFamily="34" charset="-120"/>
              </a:rPr>
              <a:t>5</a:t>
            </a:r>
            <a:endParaRPr lang="en-US" sz="1850" dirty="0"/>
          </a:p>
        </p:txBody>
      </p:sp>
      <p:sp>
        <p:nvSpPr>
          <p:cNvPr id="22" name="Text 20"/>
          <p:cNvSpPr/>
          <p:nvPr/>
        </p:nvSpPr>
        <p:spPr>
          <a:xfrm>
            <a:off x="6691840" y="3919538"/>
            <a:ext cx="4838381" cy="245566"/>
          </a:xfrm>
          <a:prstGeom prst="rect">
            <a:avLst/>
          </a:prstGeom>
          <a:noFill/>
          <a:ln/>
        </p:spPr>
        <p:txBody>
          <a:bodyPr wrap="none" lIns="0" tIns="0" rIns="0" bIns="0" rtlCol="0" anchor="t"/>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No extraer datos personales irresponsablemente</a:t>
            </a:r>
            <a:endParaRPr lang="en-US" sz="1500" dirty="0"/>
          </a:p>
        </p:txBody>
      </p:sp>
      <p:sp>
        <p:nvSpPr>
          <p:cNvPr id="23" name="Text 21"/>
          <p:cNvSpPr/>
          <p:nvPr/>
        </p:nvSpPr>
        <p:spPr>
          <a:xfrm>
            <a:off x="6691840" y="4254599"/>
            <a:ext cx="4838381" cy="49033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El RGPD aplica también a datos extraídos de la web. Los datos personales requieren base legal.</a:t>
            </a:r>
            <a:endParaRPr lang="en-US" sz="1200" dirty="0"/>
          </a:p>
        </p:txBody>
      </p:sp>
      <p:sp>
        <p:nvSpPr>
          <p:cNvPr id="24" name="Shape 22"/>
          <p:cNvSpPr/>
          <p:nvPr/>
        </p:nvSpPr>
        <p:spPr>
          <a:xfrm>
            <a:off x="661475" y="4912816"/>
            <a:ext cx="10868745" cy="852289"/>
          </a:xfrm>
          <a:prstGeom prst="roundRect">
            <a:avLst>
              <a:gd name="adj" fmla="val 27653"/>
            </a:avLst>
          </a:prstGeom>
          <a:solidFill>
            <a:srgbClr val="321769"/>
          </a:solidFill>
          <a:ln/>
        </p:spPr>
      </p:sp>
      <p:pic>
        <p:nvPicPr>
          <p:cNvPr id="25" name="Image 0" descr="preencoded.png">    </p:cNvPr>
          <p:cNvPicPr>
            <a:picLocks noChangeAspect="1"/>
          </p:cNvPicPr>
          <p:nvPr/>
        </p:nvPicPr>
        <p:blipFill>
          <a:blip r:embed="rId1"/>
          <a:stretch>
            <a:fillRect/>
          </a:stretch>
        </p:blipFill>
        <p:spPr>
          <a:xfrm>
            <a:off x="818534" y="5128816"/>
            <a:ext cx="196349" cy="157063"/>
          </a:xfrm>
          <a:prstGeom prst="rect">
            <a:avLst/>
          </a:prstGeom>
        </p:spPr>
      </p:pic>
      <p:sp>
        <p:nvSpPr>
          <p:cNvPr id="26" name="Text 23"/>
          <p:cNvSpPr/>
          <p:nvPr/>
        </p:nvSpPr>
        <p:spPr>
          <a:xfrm>
            <a:off x="1171943" y="5101233"/>
            <a:ext cx="10201218" cy="49033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El scraping no es un mecanismo para saltarse medidas técnicas de acceso. Si el sitio bloquea el acceso automatizado, ese bloqueo tiene un motivo.</a:t>
            </a:r>
            <a:endParaRPr lang="en-US" sz="1200" dirty="0"/>
          </a:p>
        </p:txBody>
      </p:sp>
      <p:pic>
        <p:nvPicPr>
          <p:cNvPr id="27" name="Image 1" descr="preencoded.png">    </p:cNvPr>
          <p:cNvPicPr>
            <a:picLocks noChangeAspect="1"/>
          </p:cNvPicPr>
          <p:nvPr/>
        </p:nvPicPr>
        <p:blipFill>
          <a:blip r:embed="rId2"/>
          <a:stretch>
            <a:fillRect/>
          </a:stretch>
        </p:blipFill>
        <p:spPr>
          <a:xfrm>
            <a:off x="198433" y="203597"/>
            <a:ext cx="676357" cy="568623"/>
          </a:xfrm>
          <a:prstGeom prst="rect">
            <a:avLst/>
          </a:prstGeom>
        </p:spPr>
      </p:pic>
      <p:pic>
        <p:nvPicPr>
          <p:cNvPr id="28" name="Image 2" descr="preencoded.png">    </p:cNvPr>
          <p:cNvPicPr>
            <a:picLocks noChangeAspect="1"/>
          </p:cNvPicPr>
          <p:nvPr/>
        </p:nvPicPr>
        <p:blipFill>
          <a:blip r:embed="rId3"/>
          <a:stretch>
            <a:fillRect/>
          </a:stretch>
        </p:blipFill>
        <p:spPr>
          <a:xfrm>
            <a:off x="11386357" y="268784"/>
            <a:ext cx="606906" cy="438249"/>
          </a:xfrm>
          <a:prstGeom prst="rect">
            <a:avLst/>
          </a:prstGeom>
        </p:spPr>
      </p:pic>
      <p:sp>
        <p:nvSpPr>
          <p:cNvPr id="29" name="Text 24"/>
          <p:cNvSpPr/>
          <p:nvPr/>
        </p:nvSpPr>
        <p:spPr>
          <a:xfrm>
            <a:off x="10828166" y="6300589"/>
            <a:ext cx="1165097"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661475" y="1208187"/>
            <a:ext cx="10868745" cy="351433"/>
          </a:xfrm>
          <a:prstGeom prst="rect">
            <a:avLst/>
          </a:prstGeom>
          <a:noFill/>
          <a:ln/>
        </p:spPr>
        <p:txBody>
          <a:bodyPr wrap="none" lIns="0" tIns="0" rIns="0" bIns="0" rtlCol="0" anchor="t"/>
          <a:lstStyle/>
          <a:p>
            <a:pPr algn="l" indent="0" marL="0">
              <a:lnSpc>
                <a:spcPct val="104000"/>
              </a:lnSpc>
              <a:buNone/>
            </a:pPr>
            <a:r>
              <a:rPr lang="en-US" sz="2200" spc="-22" kern="0" dirty="0">
                <a:solidFill>
                  <a:srgbClr val="FFFFFF"/>
                </a:solidFill>
                <a:latin typeface="Alexandria Medium" pitchFamily="34" charset="0"/>
                <a:ea typeface="Alexandria Medium" pitchFamily="34" charset="-122"/>
                <a:cs typeface="Alexandria Medium" pitchFamily="34" charset="-120"/>
              </a:rPr>
              <a:t>¿Qué significa ingerir datos?</a:t>
            </a:r>
            <a:endParaRPr lang="en-US" sz="2200" dirty="0"/>
          </a:p>
        </p:txBody>
      </p:sp>
      <p:sp>
        <p:nvSpPr>
          <p:cNvPr id="3" name="Text 1"/>
          <p:cNvSpPr/>
          <p:nvPr/>
        </p:nvSpPr>
        <p:spPr>
          <a:xfrm>
            <a:off x="661475" y="1798538"/>
            <a:ext cx="11478330" cy="208062"/>
          </a:xfrm>
          <a:prstGeom prst="rect">
            <a:avLst/>
          </a:prstGeom>
          <a:noFill/>
          <a:ln/>
        </p:spPr>
        <p:txBody>
          <a:bodyPr wrap="none" lIns="0" tIns="0" rIns="0" bIns="0" rtlCol="0" anchor="t"/>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Ingerir datos no es simplemente "leer un archivo". Es un proceso con significado específico dentro del pipeline.</a:t>
            </a:r>
            <a:endParaRPr lang="en-US" sz="1100" dirty="0"/>
          </a:p>
        </p:txBody>
      </p:sp>
      <p:sp>
        <p:nvSpPr>
          <p:cNvPr id="4" name="Text 2"/>
          <p:cNvSpPr/>
          <p:nvPr/>
        </p:nvSpPr>
        <p:spPr>
          <a:xfrm>
            <a:off x="872309" y="2275284"/>
            <a:ext cx="11267495" cy="208062"/>
          </a:xfrm>
          <a:prstGeom prst="rect">
            <a:avLst/>
          </a:prstGeom>
          <a:noFill/>
          <a:ln/>
        </p:spPr>
        <p:txBody>
          <a:bodyPr wrap="none" lIns="0" tIns="0" rIns="0" bIns="0" rtlCol="0" anchor="t"/>
          <a:lstStyle/>
          <a:p>
            <a:pPr algn="l" indent="0" marL="0">
              <a:lnSpc>
                <a:spcPct val="123000"/>
              </a:lnSpc>
              <a:buNone/>
            </a:pPr>
            <a:r>
              <a:rPr lang="en-US" sz="1100" b="1" dirty="0">
                <a:solidFill>
                  <a:srgbClr val="FFFFFF"/>
                </a:solidFill>
                <a:latin typeface="Manrope Bold" pitchFamily="34" charset="0"/>
                <a:ea typeface="Manrope Bold" pitchFamily="34" charset="-122"/>
                <a:cs typeface="Manrope Bold" pitchFamily="34" charset="-120"/>
              </a:rPr>
              <a:t>Ingesta:</a:t>
            </a:r>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 proceso mediante el cual los datos son obtenidos desde una o varias fuentes e incorporados a un sistema donde podrán almacenarse o procesarse.</a:t>
            </a:r>
            <a:endParaRPr lang="en-US" sz="1100" dirty="0"/>
          </a:p>
        </p:txBody>
      </p:sp>
      <p:sp>
        <p:nvSpPr>
          <p:cNvPr id="5" name="Shape 3"/>
          <p:cNvSpPr/>
          <p:nvPr/>
        </p:nvSpPr>
        <p:spPr>
          <a:xfrm>
            <a:off x="661475" y="2140942"/>
            <a:ext cx="19050" cy="476746"/>
          </a:xfrm>
          <a:prstGeom prst="roundRect">
            <a:avLst>
              <a:gd name="adj" fmla="val 49999"/>
            </a:avLst>
          </a:prstGeom>
          <a:solidFill>
            <a:srgbClr val="B499E9"/>
          </a:solidFill>
          <a:ln/>
        </p:spPr>
      </p:sp>
      <p:sp>
        <p:nvSpPr>
          <p:cNvPr id="6" name="Shape 4"/>
          <p:cNvSpPr/>
          <p:nvPr/>
        </p:nvSpPr>
        <p:spPr>
          <a:xfrm>
            <a:off x="661475" y="2752030"/>
            <a:ext cx="10868745" cy="1781274"/>
          </a:xfrm>
          <a:prstGeom prst="roundRect">
            <a:avLst>
              <a:gd name="adj" fmla="val 11838"/>
            </a:avLst>
          </a:prstGeom>
          <a:solidFill>
            <a:srgbClr val="3F2077"/>
          </a:solidFill>
          <a:ln w="6350">
            <a:solidFill>
              <a:srgbClr val="4B3082"/>
            </a:solidFill>
            <a:prstDash val="solid"/>
          </a:ln>
        </p:spPr>
      </p:sp>
      <p:sp>
        <p:nvSpPr>
          <p:cNvPr id="7" name="Shape 5"/>
          <p:cNvSpPr/>
          <p:nvPr/>
        </p:nvSpPr>
        <p:spPr>
          <a:xfrm>
            <a:off x="667825" y="2758380"/>
            <a:ext cx="5428023" cy="988318"/>
          </a:xfrm>
          <a:custGeom>
            <a:avLst/>
            <a:gdLst/>
            <a:ahLst/>
            <a:cxnLst/>
            <a:rect l="l" t="t" r="r" b="b"/>
            <a:pathLst>
              <a:path w="5428023" h="988318">
                <a:moveTo>
                  <a:pt x="175728" y="0"/>
                </a:moveTo>
                <a:lnTo>
                  <a:pt x="5428023" y="0"/>
                </a:lnTo>
                <a:lnTo>
                  <a:pt x="5428023" y="988318"/>
                </a:lnTo>
                <a:lnTo>
                  <a:pt x="0" y="988318"/>
                </a:lnTo>
                <a:lnTo>
                  <a:pt x="0" y="175732"/>
                </a:lnTo>
                <a:arcTo hR="175732" wR="175728" stAng="10800000" swAng="5400000"/>
                <a:close/>
              </a:path>
            </a:pathLst>
          </a:custGeom>
          <a:solidFill>
            <a:srgbClr val="3F2077"/>
          </a:solidFill>
          <a:ln/>
        </p:spPr>
      </p:sp>
      <p:sp>
        <p:nvSpPr>
          <p:cNvPr id="8" name="Text 6"/>
          <p:cNvSpPr/>
          <p:nvPr/>
        </p:nvSpPr>
        <p:spPr>
          <a:xfrm>
            <a:off x="808315" y="2898874"/>
            <a:ext cx="5147042"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Fuente</a:t>
            </a:r>
            <a:endParaRPr lang="en-US" sz="1350" dirty="0"/>
          </a:p>
        </p:txBody>
      </p:sp>
      <p:sp>
        <p:nvSpPr>
          <p:cNvPr id="9" name="Text 7"/>
          <p:cNvSpPr/>
          <p:nvPr/>
        </p:nvSpPr>
        <p:spPr>
          <a:xfrm>
            <a:off x="808315" y="3190081"/>
            <a:ext cx="5147042" cy="208062"/>
          </a:xfrm>
          <a:prstGeom prst="rect">
            <a:avLst/>
          </a:prstGeom>
          <a:noFill/>
          <a:ln/>
        </p:spPr>
        <p:txBody>
          <a:bodyPr wrap="none" lIns="0" tIns="0" rIns="0" bIns="0" rtlCol="0" anchor="t"/>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El lugar de origen: el CSV, la base de datos, la API, la web, el sensor.</a:t>
            </a:r>
            <a:endParaRPr lang="en-US" sz="1100" dirty="0"/>
          </a:p>
        </p:txBody>
      </p:sp>
      <p:sp>
        <p:nvSpPr>
          <p:cNvPr id="10" name="Shape 8"/>
          <p:cNvSpPr/>
          <p:nvPr/>
        </p:nvSpPr>
        <p:spPr>
          <a:xfrm>
            <a:off x="6095848" y="2758380"/>
            <a:ext cx="5428023" cy="988318"/>
          </a:xfrm>
          <a:custGeom>
            <a:avLst/>
            <a:gdLst/>
            <a:ahLst/>
            <a:cxnLst/>
            <a:rect l="l" t="t" r="r" b="b"/>
            <a:pathLst>
              <a:path w="5428023" h="988318">
                <a:moveTo>
                  <a:pt x="0" y="0"/>
                </a:moveTo>
                <a:lnTo>
                  <a:pt x="5252295" y="0"/>
                </a:lnTo>
                <a:arcTo hR="175732" wR="175728" stAng="16200000" swAng="5400000"/>
                <a:lnTo>
                  <a:pt x="5428023" y="988318"/>
                </a:lnTo>
                <a:lnTo>
                  <a:pt x="0" y="988318"/>
                </a:lnTo>
                <a:lnTo>
                  <a:pt x="0" y="0"/>
                </a:lnTo>
                <a:close/>
              </a:path>
            </a:pathLst>
          </a:custGeom>
          <a:solidFill>
            <a:srgbClr val="3F2077"/>
          </a:solidFill>
          <a:ln/>
        </p:spPr>
      </p:sp>
      <p:sp>
        <p:nvSpPr>
          <p:cNvPr id="11" name="Shape 9"/>
          <p:cNvSpPr/>
          <p:nvPr/>
        </p:nvSpPr>
        <p:spPr>
          <a:xfrm>
            <a:off x="6095848" y="2758380"/>
            <a:ext cx="19050" cy="988318"/>
          </a:xfrm>
          <a:prstGeom prst="roundRect">
            <a:avLst>
              <a:gd name="adj" fmla="val 49999"/>
            </a:avLst>
          </a:prstGeom>
          <a:solidFill>
            <a:srgbClr val="4B3082"/>
          </a:solidFill>
          <a:ln/>
        </p:spPr>
      </p:sp>
      <p:sp>
        <p:nvSpPr>
          <p:cNvPr id="12" name="Text 10"/>
          <p:cNvSpPr/>
          <p:nvPr/>
        </p:nvSpPr>
        <p:spPr>
          <a:xfrm>
            <a:off x="6236338" y="2898874"/>
            <a:ext cx="5147042"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Ingesta</a:t>
            </a:r>
            <a:endParaRPr lang="en-US" sz="1350" dirty="0"/>
          </a:p>
        </p:txBody>
      </p:sp>
      <p:sp>
        <p:nvSpPr>
          <p:cNvPr id="13" name="Text 11"/>
          <p:cNvSpPr/>
          <p:nvPr/>
        </p:nvSpPr>
        <p:spPr>
          <a:xfrm>
            <a:off x="6236338" y="3190081"/>
            <a:ext cx="5147042" cy="41612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El acto de obtener los datos desde la fuente y cargarlos en nuestro sistema de procesamiento.</a:t>
            </a:r>
            <a:endParaRPr lang="en-US" sz="1100" dirty="0"/>
          </a:p>
        </p:txBody>
      </p:sp>
      <p:sp>
        <p:nvSpPr>
          <p:cNvPr id="14" name="Shape 12"/>
          <p:cNvSpPr/>
          <p:nvPr/>
        </p:nvSpPr>
        <p:spPr>
          <a:xfrm>
            <a:off x="667825" y="3746698"/>
            <a:ext cx="10856046" cy="780256"/>
          </a:xfrm>
          <a:custGeom>
            <a:avLst/>
            <a:gdLst/>
            <a:ahLst/>
            <a:cxnLst/>
            <a:rect l="l" t="t" r="r" b="b"/>
            <a:pathLst>
              <a:path w="10856046" h="780256">
                <a:moveTo>
                  <a:pt x="0" y="0"/>
                </a:moveTo>
                <a:lnTo>
                  <a:pt x="10856046" y="0"/>
                </a:lnTo>
                <a:lnTo>
                  <a:pt x="10856046" y="604524"/>
                </a:lnTo>
                <a:arcTo hR="175732" wR="175728" stAng="0" swAng="5400000"/>
                <a:lnTo>
                  <a:pt x="175728" y="780256"/>
                </a:lnTo>
                <a:arcTo hR="175732" wR="175728" stAng="5400000" swAng="5400000"/>
                <a:lnTo>
                  <a:pt x="0" y="0"/>
                </a:lnTo>
                <a:close/>
              </a:path>
            </a:pathLst>
          </a:custGeom>
          <a:solidFill>
            <a:srgbClr val="3F2077"/>
          </a:solidFill>
          <a:ln/>
        </p:spPr>
      </p:sp>
      <p:sp>
        <p:nvSpPr>
          <p:cNvPr id="15" name="Shape 13"/>
          <p:cNvSpPr/>
          <p:nvPr/>
        </p:nvSpPr>
        <p:spPr>
          <a:xfrm>
            <a:off x="667825" y="3746698"/>
            <a:ext cx="10856046" cy="19050"/>
          </a:xfrm>
          <a:prstGeom prst="roundRect">
            <a:avLst>
              <a:gd name="adj" fmla="val 49999"/>
            </a:avLst>
          </a:prstGeom>
          <a:solidFill>
            <a:srgbClr val="4B3082"/>
          </a:solidFill>
          <a:ln/>
        </p:spPr>
      </p:sp>
      <p:sp>
        <p:nvSpPr>
          <p:cNvPr id="16" name="Text 14"/>
          <p:cNvSpPr/>
          <p:nvPr/>
        </p:nvSpPr>
        <p:spPr>
          <a:xfrm>
            <a:off x="808315" y="3887192"/>
            <a:ext cx="10575065"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Transformación</a:t>
            </a:r>
            <a:endParaRPr lang="en-US" sz="1350" dirty="0"/>
          </a:p>
        </p:txBody>
      </p:sp>
      <p:sp>
        <p:nvSpPr>
          <p:cNvPr id="17" name="Text 15"/>
          <p:cNvSpPr/>
          <p:nvPr/>
        </p:nvSpPr>
        <p:spPr>
          <a:xfrm>
            <a:off x="808315" y="4178399"/>
            <a:ext cx="10575065" cy="208062"/>
          </a:xfrm>
          <a:prstGeom prst="rect">
            <a:avLst/>
          </a:prstGeom>
          <a:noFill/>
          <a:ln/>
        </p:spPr>
        <p:txBody>
          <a:bodyPr wrap="none" lIns="0" tIns="0" rIns="0" bIns="0" rtlCol="0" anchor="t"/>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Modificar la estructura, representación o contenido de los datos para hacerlos utilizables.</a:t>
            </a:r>
            <a:endParaRPr lang="en-US" sz="1100" dirty="0"/>
          </a:p>
        </p:txBody>
      </p:sp>
      <p:sp>
        <p:nvSpPr>
          <p:cNvPr id="18" name="Text 16"/>
          <p:cNvSpPr/>
          <p:nvPr/>
        </p:nvSpPr>
        <p:spPr>
          <a:xfrm>
            <a:off x="661475" y="4787106"/>
            <a:ext cx="5262927"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Fuente ≠ Ingesta</a:t>
            </a:r>
            <a:endParaRPr lang="en-US" sz="1350" dirty="0"/>
          </a:p>
        </p:txBody>
      </p:sp>
      <p:sp>
        <p:nvSpPr>
          <p:cNvPr id="19" name="Text 17"/>
          <p:cNvSpPr/>
          <p:nvPr/>
        </p:nvSpPr>
        <p:spPr>
          <a:xfrm>
            <a:off x="661475" y="5126137"/>
            <a:ext cx="5262927" cy="41612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El CSV existe aunque no lo leamos. La ingesta ocurre cuando activamente lo cargamos en nuestro sistema.</a:t>
            </a:r>
            <a:endParaRPr lang="en-US" sz="1100" dirty="0"/>
          </a:p>
        </p:txBody>
      </p:sp>
      <p:sp>
        <p:nvSpPr>
          <p:cNvPr id="20" name="Text 18"/>
          <p:cNvSpPr/>
          <p:nvPr/>
        </p:nvSpPr>
        <p:spPr>
          <a:xfrm>
            <a:off x="6273643" y="4787106"/>
            <a:ext cx="5262927"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Ingesta ≠ Transformación</a:t>
            </a:r>
            <a:endParaRPr lang="en-US" sz="1350" dirty="0"/>
          </a:p>
        </p:txBody>
      </p:sp>
      <p:sp>
        <p:nvSpPr>
          <p:cNvPr id="21" name="Text 19"/>
          <p:cNvSpPr/>
          <p:nvPr/>
        </p:nvSpPr>
        <p:spPr>
          <a:xfrm>
            <a:off x="6273643" y="5126137"/>
            <a:ext cx="5262927" cy="41612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Podemos ingerir datos sin transformarlos (ELT). O transformarlos antes de cargarlos (ETL).</a:t>
            </a:r>
            <a:endParaRPr lang="en-US" sz="1100" dirty="0"/>
          </a:p>
        </p:txBody>
      </p:sp>
      <p:pic>
        <p:nvPicPr>
          <p:cNvPr id="22"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23"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24" name="Text 20"/>
          <p:cNvSpPr/>
          <p:nvPr/>
        </p:nvSpPr>
        <p:spPr>
          <a:xfrm>
            <a:off x="10827273" y="6300589"/>
            <a:ext cx="1165990"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661475" y="1007666"/>
            <a:ext cx="10868745" cy="372170"/>
          </a:xfrm>
          <a:prstGeom prst="rect">
            <a:avLst/>
          </a:prstGeom>
          <a:noFill/>
          <a:ln/>
        </p:spPr>
        <p:txBody>
          <a:bodyPr wrap="none" lIns="0" tIns="0" rIns="0" bIns="0" rtlCol="0" anchor="t"/>
          <a:lstStyle/>
          <a:p>
            <a:pPr algn="l" indent="0" marL="0">
              <a:lnSpc>
                <a:spcPct val="104000"/>
              </a:lnSpc>
              <a:buNone/>
            </a:pPr>
            <a:r>
              <a:rPr lang="en-US" sz="2300" spc="-23" kern="0" dirty="0">
                <a:solidFill>
                  <a:srgbClr val="FFFFFF"/>
                </a:solidFill>
                <a:latin typeface="Alexandria Medium" pitchFamily="34" charset="0"/>
                <a:ea typeface="Alexandria Medium" pitchFamily="34" charset="-122"/>
                <a:cs typeface="Alexandria Medium" pitchFamily="34" charset="-120"/>
              </a:rPr>
              <a:t>Batch vs. ingesta continua</a:t>
            </a:r>
            <a:endParaRPr lang="en-US" sz="2300" dirty="0"/>
          </a:p>
        </p:txBody>
      </p:sp>
      <p:sp>
        <p:nvSpPr>
          <p:cNvPr id="3" name="Text 1"/>
          <p:cNvSpPr/>
          <p:nvPr/>
        </p:nvSpPr>
        <p:spPr>
          <a:xfrm>
            <a:off x="661475" y="1647726"/>
            <a:ext cx="11478330" cy="226219"/>
          </a:xfrm>
          <a:prstGeom prst="rect">
            <a:avLst/>
          </a:prstGeom>
          <a:noFill/>
          <a:ln/>
        </p:spPr>
        <p:txBody>
          <a:bodyPr wrap="none" lIns="0" tIns="0" rIns="0" bIns="0" rtlCol="0" anchor="t"/>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No todos los datos llegan de la misma manera. La frecuencia de llegada condiciona el diseño del pipeline.</a:t>
            </a:r>
            <a:endParaRPr lang="en-US" sz="1150" dirty="0"/>
          </a:p>
        </p:txBody>
      </p:sp>
      <p:sp>
        <p:nvSpPr>
          <p:cNvPr id="4" name="Shape 2"/>
          <p:cNvSpPr/>
          <p:nvPr/>
        </p:nvSpPr>
        <p:spPr>
          <a:xfrm>
            <a:off x="554321" y="2024658"/>
            <a:ext cx="5467114" cy="3825677"/>
          </a:xfrm>
          <a:prstGeom prst="roundRect">
            <a:avLst>
              <a:gd name="adj" fmla="val 9338"/>
            </a:avLst>
          </a:prstGeom>
          <a:solidFill>
            <a:srgbClr val="324C85"/>
          </a:solidFill>
          <a:ln/>
        </p:spPr>
      </p:sp>
      <p:sp>
        <p:nvSpPr>
          <p:cNvPr id="5" name="Text 3"/>
          <p:cNvSpPr/>
          <p:nvPr/>
        </p:nvSpPr>
        <p:spPr>
          <a:xfrm>
            <a:off x="703146" y="2158603"/>
            <a:ext cx="5169465"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Ingesta Batch (por lotes)</a:t>
            </a:r>
            <a:endParaRPr lang="en-US" sz="1450" dirty="0"/>
          </a:p>
        </p:txBody>
      </p:sp>
      <p:sp>
        <p:nvSpPr>
          <p:cNvPr id="6" name="Text 4"/>
          <p:cNvSpPr/>
          <p:nvPr/>
        </p:nvSpPr>
        <p:spPr>
          <a:xfrm>
            <a:off x="703146" y="2525018"/>
            <a:ext cx="5779050" cy="226219"/>
          </a:xfrm>
          <a:prstGeom prst="rect">
            <a:avLst/>
          </a:prstGeom>
          <a:noFill/>
          <a:ln/>
        </p:spPr>
        <p:txBody>
          <a:bodyPr wrap="none" lIns="0" tIns="0" rIns="0" bIns="0" rtlCol="0" anchor="t"/>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Los datos se obtienen </a:t>
            </a:r>
            <a:pPr algn="l" indent="0" marL="0">
              <a:lnSpc>
                <a:spcPct val="127000"/>
              </a:lnSpc>
              <a:buNone/>
            </a:pPr>
            <a:r>
              <a:rPr lang="en-US" sz="1150" b="1" dirty="0">
                <a:solidFill>
                  <a:srgbClr val="FFFFFF"/>
                </a:solidFill>
                <a:latin typeface="Manrope Bold" pitchFamily="34" charset="0"/>
                <a:ea typeface="Manrope Bold" pitchFamily="34" charset="-122"/>
                <a:cs typeface="Manrope Bold" pitchFamily="34" charset="-120"/>
              </a:rPr>
              <a:t>agrupados periódicamente</a:t>
            </a:r>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a:t>
            </a:r>
            <a:endParaRPr lang="en-US" sz="1150" dirty="0"/>
          </a:p>
        </p:txBody>
      </p:sp>
      <p:sp>
        <p:nvSpPr>
          <p:cNvPr id="7" name="Text 5"/>
          <p:cNvSpPr/>
          <p:nvPr/>
        </p:nvSpPr>
        <p:spPr>
          <a:xfrm>
            <a:off x="703146" y="2871788"/>
            <a:ext cx="5169465" cy="772319"/>
          </a:xfrm>
          <a:prstGeom prst="rect">
            <a:avLst/>
          </a:prstGeom>
          <a:noFill/>
          <a:ln/>
        </p:spPr>
        <p:txBody>
          <a:bodyPr wrap="square" lIns="0" tIns="0" rIns="0" bIns="0" rtlCol="0" anchor="t">
            <a:normAutofit/>
          </a:bodyPr>
          <a:lstStyle/>
          <a:p>
            <a:pPr algn="l" marL="233680" indent="-233680">
              <a:lnSpc>
                <a:spcPct val="127000"/>
              </a:lnSpc>
              <a:buSzPct val="100000"/>
              <a:buChar char="•"/>
            </a:pPr>
            <a:r>
              <a:rPr lang="en-US" sz="1150" dirty="0">
                <a:solidFill>
                  <a:srgbClr val="FFFFFF"/>
                </a:solidFill>
                <a:latin typeface="Manrope" pitchFamily="34" charset="0"/>
                <a:ea typeface="Manrope" pitchFamily="34" charset="-122"/>
                <a:cs typeface="Manrope" pitchFamily="34" charset="-120"/>
              </a:rPr>
              <a:t>Ventas del día anterior (cada noche)</a:t>
            </a:r>
            <a:endParaRPr lang="en-US" sz="1150" dirty="0"/>
          </a:p>
          <a:p>
            <a:pPr algn="l" marL="233680" indent="-233680">
              <a:lnSpc>
                <a:spcPct val="127000"/>
              </a:lnSpc>
              <a:buSzPct val="100000"/>
              <a:buChar char="•"/>
            </a:pPr>
            <a:r>
              <a:rPr lang="en-US" sz="1150" dirty="0">
                <a:solidFill>
                  <a:srgbClr val="FFFFFF"/>
                </a:solidFill>
                <a:latin typeface="Manrope" pitchFamily="34" charset="0"/>
                <a:ea typeface="Manrope" pitchFamily="34" charset="-122"/>
                <a:cs typeface="Manrope" pitchFamily="34" charset="-120"/>
              </a:rPr>
              <a:t>Exportación semanal del CRM</a:t>
            </a:r>
            <a:endParaRPr lang="en-US" sz="1150" dirty="0"/>
          </a:p>
          <a:p>
            <a:pPr algn="l" marL="233680" indent="-233680">
              <a:lnSpc>
                <a:spcPct val="127000"/>
              </a:lnSpc>
              <a:buSzPct val="100000"/>
              <a:buChar char="•"/>
            </a:pPr>
            <a:r>
              <a:rPr lang="en-US" sz="1150" dirty="0">
                <a:solidFill>
                  <a:srgbClr val="FFFFFF"/>
                </a:solidFill>
                <a:latin typeface="Manrope" pitchFamily="34" charset="0"/>
                <a:ea typeface="Manrope" pitchFamily="34" charset="-122"/>
                <a:cs typeface="Manrope" pitchFamily="34" charset="-120"/>
              </a:rPr>
              <a:t>Informe mensual de inventario</a:t>
            </a:r>
            <a:endParaRPr lang="en-US" sz="1150" dirty="0"/>
          </a:p>
        </p:txBody>
      </p:sp>
      <p:sp>
        <p:nvSpPr>
          <p:cNvPr id="8" name="Text 6"/>
          <p:cNvSpPr/>
          <p:nvPr/>
        </p:nvSpPr>
        <p:spPr>
          <a:xfrm>
            <a:off x="703146" y="3764657"/>
            <a:ext cx="5779050" cy="226219"/>
          </a:xfrm>
          <a:prstGeom prst="rect">
            <a:avLst/>
          </a:prstGeom>
          <a:noFill/>
          <a:ln/>
        </p:spPr>
        <p:txBody>
          <a:bodyPr wrap="none" lIns="0" tIns="0" rIns="0" bIns="0" rtlCol="0" anchor="t"/>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Características:</a:t>
            </a:r>
            <a:endParaRPr lang="en-US" sz="1150" dirty="0"/>
          </a:p>
        </p:txBody>
      </p:sp>
      <p:sp>
        <p:nvSpPr>
          <p:cNvPr id="9" name="Text 7"/>
          <p:cNvSpPr/>
          <p:nvPr/>
        </p:nvSpPr>
        <p:spPr>
          <a:xfrm>
            <a:off x="703146" y="4111427"/>
            <a:ext cx="5169465" cy="1045369"/>
          </a:xfrm>
          <a:prstGeom prst="rect">
            <a:avLst/>
          </a:prstGeom>
          <a:noFill/>
          <a:ln/>
        </p:spPr>
        <p:txBody>
          <a:bodyPr wrap="square" lIns="0" tIns="0" rIns="0" bIns="0" rtlCol="0" anchor="t">
            <a:normAutofit/>
          </a:bodyPr>
          <a:lstStyle/>
          <a:p>
            <a:pPr algn="l" marL="233680" indent="-233680">
              <a:lnSpc>
                <a:spcPct val="127000"/>
              </a:lnSpc>
              <a:buSzPct val="100000"/>
              <a:buChar char="•"/>
            </a:pPr>
            <a:r>
              <a:rPr lang="en-US" sz="1150" dirty="0">
                <a:solidFill>
                  <a:srgbClr val="FFFFFF"/>
                </a:solidFill>
                <a:latin typeface="Manrope" pitchFamily="34" charset="0"/>
                <a:ea typeface="Manrope" pitchFamily="34" charset="-122"/>
                <a:cs typeface="Manrope" pitchFamily="34" charset="-120"/>
              </a:rPr>
              <a:t>Alta latencia aceptable</a:t>
            </a:r>
            <a:endParaRPr lang="en-US" sz="1150" dirty="0"/>
          </a:p>
          <a:p>
            <a:pPr algn="l" marL="233680" indent="-233680">
              <a:lnSpc>
                <a:spcPct val="127000"/>
              </a:lnSpc>
              <a:buSzPct val="100000"/>
              <a:buChar char="•"/>
            </a:pPr>
            <a:r>
              <a:rPr lang="en-US" sz="1150" dirty="0">
                <a:solidFill>
                  <a:srgbClr val="FFFFFF"/>
                </a:solidFill>
                <a:latin typeface="Manrope" pitchFamily="34" charset="0"/>
                <a:ea typeface="Manrope" pitchFamily="34" charset="-122"/>
                <a:cs typeface="Manrope" pitchFamily="34" charset="-120"/>
              </a:rPr>
              <a:t>Procesamiento en bloque</a:t>
            </a:r>
            <a:endParaRPr lang="en-US" sz="1150" dirty="0"/>
          </a:p>
          <a:p>
            <a:pPr algn="l" marL="233680" indent="-233680">
              <a:lnSpc>
                <a:spcPct val="127000"/>
              </a:lnSpc>
              <a:buSzPct val="100000"/>
              <a:buChar char="•"/>
            </a:pPr>
            <a:r>
              <a:rPr lang="en-US" sz="1150" dirty="0">
                <a:solidFill>
                  <a:srgbClr val="FFFFFF"/>
                </a:solidFill>
                <a:latin typeface="Manrope" pitchFamily="34" charset="0"/>
                <a:ea typeface="Manrope" pitchFamily="34" charset="-122"/>
                <a:cs typeface="Manrope" pitchFamily="34" charset="-120"/>
              </a:rPr>
              <a:t>Más sencillo de implementar</a:t>
            </a:r>
            <a:endParaRPr lang="en-US" sz="1150" dirty="0"/>
          </a:p>
          <a:p>
            <a:pPr algn="l" marL="233680" indent="-233680">
              <a:lnSpc>
                <a:spcPct val="127000"/>
              </a:lnSpc>
              <a:buSzPct val="100000"/>
              <a:buChar char="•"/>
            </a:pPr>
            <a:r>
              <a:rPr lang="en-US" sz="1150" dirty="0">
                <a:solidFill>
                  <a:srgbClr val="FFFFFF"/>
                </a:solidFill>
                <a:latin typeface="Manrope" pitchFamily="34" charset="0"/>
                <a:ea typeface="Manrope" pitchFamily="34" charset="-122"/>
                <a:cs typeface="Manrope" pitchFamily="34" charset="-120"/>
              </a:rPr>
              <a:t>Adecuado para la mayoría de casos analíticos</a:t>
            </a:r>
            <a:endParaRPr lang="en-US" sz="1150" dirty="0"/>
          </a:p>
        </p:txBody>
      </p:sp>
      <p:sp>
        <p:nvSpPr>
          <p:cNvPr id="10" name="Text 8"/>
          <p:cNvSpPr/>
          <p:nvPr/>
        </p:nvSpPr>
        <p:spPr>
          <a:xfrm>
            <a:off x="703146" y="5277346"/>
            <a:ext cx="5169465" cy="452438"/>
          </a:xfrm>
          <a:prstGeom prst="rect">
            <a:avLst/>
          </a:prstGeom>
          <a:noFill/>
          <a:ln/>
        </p:spPr>
        <p:txBody>
          <a:bodyPr wrap="square" lIns="0" tIns="0" rIns="0" bIns="0" rtlCol="0" anchor="t">
            <a:normAutofit/>
          </a:bodyPr>
          <a:lstStyle/>
          <a:p>
            <a:pPr algn="l" indent="0" marL="0">
              <a:lnSpc>
                <a:spcPct val="127000"/>
              </a:lnSpc>
              <a:buNone/>
            </a:pPr>
            <a:r>
              <a:rPr lang="en-US" sz="1150" b="1" dirty="0">
                <a:solidFill>
                  <a:srgbClr val="FFFFFF"/>
                </a:solidFill>
                <a:latin typeface="Manrope Bold" pitchFamily="34" charset="0"/>
                <a:ea typeface="Manrope Bold" pitchFamily="34" charset="-122"/>
                <a:cs typeface="Manrope Bold" pitchFamily="34" charset="-120"/>
              </a:rPr>
              <a:t>Ejemplo ShopData:</a:t>
            </a:r>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 las ventas del día anterior se procesan cada noche a las 2:00 h.</a:t>
            </a:r>
            <a:endParaRPr lang="en-US" sz="1150" dirty="0"/>
          </a:p>
        </p:txBody>
      </p:sp>
      <p:sp>
        <p:nvSpPr>
          <p:cNvPr id="11" name="Text 9"/>
          <p:cNvSpPr/>
          <p:nvPr/>
        </p:nvSpPr>
        <p:spPr>
          <a:xfrm>
            <a:off x="6283763" y="2158603"/>
            <a:ext cx="5252807"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Ingesta continua (streaming)</a:t>
            </a:r>
            <a:endParaRPr lang="en-US" sz="1450" dirty="0"/>
          </a:p>
        </p:txBody>
      </p:sp>
      <p:sp>
        <p:nvSpPr>
          <p:cNvPr id="12" name="Text 10"/>
          <p:cNvSpPr/>
          <p:nvPr/>
        </p:nvSpPr>
        <p:spPr>
          <a:xfrm>
            <a:off x="6283763" y="2525018"/>
            <a:ext cx="5862392" cy="226219"/>
          </a:xfrm>
          <a:prstGeom prst="rect">
            <a:avLst/>
          </a:prstGeom>
          <a:noFill/>
          <a:ln/>
        </p:spPr>
        <p:txBody>
          <a:bodyPr wrap="none" lIns="0" tIns="0" rIns="0" bIns="0" rtlCol="0" anchor="t"/>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Los datos </a:t>
            </a:r>
            <a:pPr algn="l" indent="0" marL="0">
              <a:lnSpc>
                <a:spcPct val="127000"/>
              </a:lnSpc>
              <a:buNone/>
            </a:pPr>
            <a:r>
              <a:rPr lang="en-US" sz="1150" b="1" dirty="0">
                <a:solidFill>
                  <a:srgbClr val="FFFFFF"/>
                </a:solidFill>
                <a:latin typeface="Manrope Bold" pitchFamily="34" charset="0"/>
                <a:ea typeface="Manrope Bold" pitchFamily="34" charset="-122"/>
                <a:cs typeface="Manrope Bold" pitchFamily="34" charset="-120"/>
              </a:rPr>
              <a:t>llegan constantemente</a:t>
            </a:r>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 y se procesan en tiempo real o casi real.</a:t>
            </a:r>
            <a:endParaRPr lang="en-US" sz="1150" dirty="0"/>
          </a:p>
        </p:txBody>
      </p:sp>
      <p:sp>
        <p:nvSpPr>
          <p:cNvPr id="13" name="Text 11"/>
          <p:cNvSpPr/>
          <p:nvPr/>
        </p:nvSpPr>
        <p:spPr>
          <a:xfrm>
            <a:off x="6283763" y="2871788"/>
            <a:ext cx="5252807" cy="772319"/>
          </a:xfrm>
          <a:prstGeom prst="rect">
            <a:avLst/>
          </a:prstGeom>
          <a:noFill/>
          <a:ln/>
        </p:spPr>
        <p:txBody>
          <a:bodyPr wrap="square" lIns="0" tIns="0" rIns="0" bIns="0" rtlCol="0" anchor="t">
            <a:normAutofit/>
          </a:bodyPr>
          <a:lstStyle/>
          <a:p>
            <a:pPr algn="l" marL="233680" indent="-233680">
              <a:lnSpc>
                <a:spcPct val="127000"/>
              </a:lnSpc>
              <a:buSzPct val="100000"/>
              <a:buChar char="•"/>
            </a:pPr>
            <a:r>
              <a:rPr lang="en-US" sz="1150" dirty="0">
                <a:solidFill>
                  <a:srgbClr val="FFFFFF"/>
                </a:solidFill>
                <a:latin typeface="Manrope" pitchFamily="34" charset="0"/>
                <a:ea typeface="Manrope" pitchFamily="34" charset="-122"/>
                <a:cs typeface="Manrope" pitchFamily="34" charset="-120"/>
              </a:rPr>
              <a:t>Eventos de clics de usuarios</a:t>
            </a:r>
            <a:endParaRPr lang="en-US" sz="1150" dirty="0"/>
          </a:p>
          <a:p>
            <a:pPr algn="l" marL="233680" indent="-233680">
              <a:lnSpc>
                <a:spcPct val="127000"/>
              </a:lnSpc>
              <a:buSzPct val="100000"/>
              <a:buChar char="•"/>
            </a:pPr>
            <a:r>
              <a:rPr lang="en-US" sz="1150" dirty="0">
                <a:solidFill>
                  <a:srgbClr val="FFFFFF"/>
                </a:solidFill>
                <a:latin typeface="Manrope" pitchFamily="34" charset="0"/>
                <a:ea typeface="Manrope" pitchFamily="34" charset="-122"/>
                <a:cs typeface="Manrope" pitchFamily="34" charset="-120"/>
              </a:rPr>
              <a:t>Alertas de sensores del almacén</a:t>
            </a:r>
            <a:endParaRPr lang="en-US" sz="1150" dirty="0"/>
          </a:p>
          <a:p>
            <a:pPr algn="l" marL="233680" indent="-233680">
              <a:lnSpc>
                <a:spcPct val="127000"/>
              </a:lnSpc>
              <a:buSzPct val="100000"/>
              <a:buChar char="•"/>
            </a:pPr>
            <a:r>
              <a:rPr lang="en-US" sz="1150" dirty="0">
                <a:solidFill>
                  <a:srgbClr val="FFFFFF"/>
                </a:solidFill>
                <a:latin typeface="Manrope" pitchFamily="34" charset="0"/>
                <a:ea typeface="Manrope" pitchFamily="34" charset="-122"/>
                <a:cs typeface="Manrope" pitchFamily="34" charset="-120"/>
              </a:rPr>
              <a:t>Transacciones de pago en tiempo real</a:t>
            </a:r>
            <a:endParaRPr lang="en-US" sz="1150" dirty="0"/>
          </a:p>
        </p:txBody>
      </p:sp>
      <p:sp>
        <p:nvSpPr>
          <p:cNvPr id="14" name="Text 12"/>
          <p:cNvSpPr/>
          <p:nvPr/>
        </p:nvSpPr>
        <p:spPr>
          <a:xfrm>
            <a:off x="6283763" y="3764657"/>
            <a:ext cx="5862392" cy="226219"/>
          </a:xfrm>
          <a:prstGeom prst="rect">
            <a:avLst/>
          </a:prstGeom>
          <a:noFill/>
          <a:ln/>
        </p:spPr>
        <p:txBody>
          <a:bodyPr wrap="none" lIns="0" tIns="0" rIns="0" bIns="0" rtlCol="0" anchor="t"/>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Características:</a:t>
            </a:r>
            <a:endParaRPr lang="en-US" sz="1150" dirty="0"/>
          </a:p>
        </p:txBody>
      </p:sp>
      <p:sp>
        <p:nvSpPr>
          <p:cNvPr id="15" name="Text 13"/>
          <p:cNvSpPr/>
          <p:nvPr/>
        </p:nvSpPr>
        <p:spPr>
          <a:xfrm>
            <a:off x="6283763" y="4111427"/>
            <a:ext cx="5252807" cy="1045369"/>
          </a:xfrm>
          <a:prstGeom prst="rect">
            <a:avLst/>
          </a:prstGeom>
          <a:noFill/>
          <a:ln/>
        </p:spPr>
        <p:txBody>
          <a:bodyPr wrap="square" lIns="0" tIns="0" rIns="0" bIns="0" rtlCol="0" anchor="t">
            <a:normAutofit/>
          </a:bodyPr>
          <a:lstStyle/>
          <a:p>
            <a:pPr algn="l" marL="233680" indent="-233680">
              <a:lnSpc>
                <a:spcPct val="127000"/>
              </a:lnSpc>
              <a:buSzPct val="100000"/>
              <a:buChar char="•"/>
            </a:pPr>
            <a:r>
              <a:rPr lang="en-US" sz="1150" dirty="0">
                <a:solidFill>
                  <a:srgbClr val="FFFFFF"/>
                </a:solidFill>
                <a:latin typeface="Manrope" pitchFamily="34" charset="0"/>
                <a:ea typeface="Manrope" pitchFamily="34" charset="-122"/>
                <a:cs typeface="Manrope" pitchFamily="34" charset="-120"/>
              </a:rPr>
              <a:t>Baja latencia requerida</a:t>
            </a:r>
            <a:endParaRPr lang="en-US" sz="1150" dirty="0"/>
          </a:p>
          <a:p>
            <a:pPr algn="l" marL="233680" indent="-233680">
              <a:lnSpc>
                <a:spcPct val="127000"/>
              </a:lnSpc>
              <a:buSzPct val="100000"/>
              <a:buChar char="•"/>
            </a:pPr>
            <a:r>
              <a:rPr lang="en-US" sz="1150" dirty="0">
                <a:solidFill>
                  <a:srgbClr val="FFFFFF"/>
                </a:solidFill>
                <a:latin typeface="Manrope" pitchFamily="34" charset="0"/>
                <a:ea typeface="Manrope" pitchFamily="34" charset="-122"/>
                <a:cs typeface="Manrope" pitchFamily="34" charset="-120"/>
              </a:rPr>
              <a:t>Procesamiento evento a evento</a:t>
            </a:r>
            <a:endParaRPr lang="en-US" sz="1150" dirty="0"/>
          </a:p>
          <a:p>
            <a:pPr algn="l" marL="233680" indent="-233680">
              <a:lnSpc>
                <a:spcPct val="127000"/>
              </a:lnSpc>
              <a:buSzPct val="100000"/>
              <a:buChar char="•"/>
            </a:pPr>
            <a:r>
              <a:rPr lang="en-US" sz="1150" dirty="0">
                <a:solidFill>
                  <a:srgbClr val="FFFFFF"/>
                </a:solidFill>
                <a:latin typeface="Manrope" pitchFamily="34" charset="0"/>
                <a:ea typeface="Manrope" pitchFamily="34" charset="-122"/>
                <a:cs typeface="Manrope" pitchFamily="34" charset="-120"/>
              </a:rPr>
              <a:t>Arquitectura más compleja</a:t>
            </a:r>
            <a:endParaRPr lang="en-US" sz="1150" dirty="0"/>
          </a:p>
          <a:p>
            <a:pPr algn="l" marL="233680" indent="-233680">
              <a:lnSpc>
                <a:spcPct val="127000"/>
              </a:lnSpc>
              <a:buSzPct val="100000"/>
              <a:buChar char="•"/>
            </a:pPr>
            <a:r>
              <a:rPr lang="en-US" sz="1150" dirty="0">
                <a:solidFill>
                  <a:srgbClr val="FFFFFF"/>
                </a:solidFill>
                <a:latin typeface="Manrope" pitchFamily="34" charset="0"/>
                <a:ea typeface="Manrope" pitchFamily="34" charset="-122"/>
                <a:cs typeface="Manrope" pitchFamily="34" charset="-120"/>
              </a:rPr>
              <a:t>Necesita gestión de flujos continuos</a:t>
            </a:r>
            <a:endParaRPr lang="en-US" sz="1150" dirty="0"/>
          </a:p>
        </p:txBody>
      </p:sp>
      <p:sp>
        <p:nvSpPr>
          <p:cNvPr id="16" name="Text 14"/>
          <p:cNvSpPr/>
          <p:nvPr/>
        </p:nvSpPr>
        <p:spPr>
          <a:xfrm>
            <a:off x="6283763" y="5277346"/>
            <a:ext cx="5252807" cy="452438"/>
          </a:xfrm>
          <a:prstGeom prst="rect">
            <a:avLst/>
          </a:prstGeom>
          <a:noFill/>
          <a:ln/>
        </p:spPr>
        <p:txBody>
          <a:bodyPr wrap="square" lIns="0" tIns="0" rIns="0" bIns="0" rtlCol="0" anchor="t">
            <a:normAutofit/>
          </a:bodyPr>
          <a:lstStyle/>
          <a:p>
            <a:pPr algn="l" indent="0" marL="0">
              <a:lnSpc>
                <a:spcPct val="127000"/>
              </a:lnSpc>
              <a:buNone/>
            </a:pPr>
            <a:r>
              <a:rPr lang="en-US" sz="1150" b="1" dirty="0">
                <a:solidFill>
                  <a:srgbClr val="FFFFFF"/>
                </a:solidFill>
                <a:latin typeface="Manrope Bold" pitchFamily="34" charset="0"/>
                <a:ea typeface="Manrope Bold" pitchFamily="34" charset="-122"/>
                <a:cs typeface="Manrope Bold" pitchFamily="34" charset="-120"/>
              </a:rPr>
              <a:t>Esta modalidad se estudiará en profundidad en la siguiente presentación.</a:t>
            </a:r>
            <a:endParaRPr lang="en-US" sz="1150" dirty="0"/>
          </a:p>
        </p:txBody>
      </p:sp>
      <p:pic>
        <p:nvPicPr>
          <p:cNvPr id="17"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18"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19" name="Text 15"/>
          <p:cNvSpPr/>
          <p:nvPr/>
        </p:nvSpPr>
        <p:spPr>
          <a:xfrm>
            <a:off x="10822213" y="6300589"/>
            <a:ext cx="1171050"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661475" y="1158974"/>
            <a:ext cx="10868745" cy="351433"/>
          </a:xfrm>
          <a:prstGeom prst="rect">
            <a:avLst/>
          </a:prstGeom>
          <a:noFill/>
          <a:ln/>
        </p:spPr>
        <p:txBody>
          <a:bodyPr wrap="none" lIns="0" tIns="0" rIns="0" bIns="0" rtlCol="0" anchor="t"/>
          <a:lstStyle/>
          <a:p>
            <a:pPr algn="l" indent="0" marL="0">
              <a:lnSpc>
                <a:spcPct val="104000"/>
              </a:lnSpc>
              <a:buNone/>
            </a:pPr>
            <a:r>
              <a:rPr lang="en-US" sz="2200" spc="-22" kern="0" dirty="0">
                <a:solidFill>
                  <a:srgbClr val="FFFFFF"/>
                </a:solidFill>
                <a:latin typeface="Alexandria Medium" pitchFamily="34" charset="0"/>
                <a:ea typeface="Alexandria Medium" pitchFamily="34" charset="-122"/>
                <a:cs typeface="Alexandria Medium" pitchFamily="34" charset="-120"/>
              </a:rPr>
              <a:t>ETL: Extract → Transform → Load</a:t>
            </a:r>
            <a:endParaRPr lang="en-US" sz="2200" dirty="0"/>
          </a:p>
        </p:txBody>
      </p:sp>
      <p:sp>
        <p:nvSpPr>
          <p:cNvPr id="3" name="Text 1"/>
          <p:cNvSpPr/>
          <p:nvPr/>
        </p:nvSpPr>
        <p:spPr>
          <a:xfrm>
            <a:off x="661475" y="1809055"/>
            <a:ext cx="5262927"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Caso ShopData con ETL</a:t>
            </a:r>
            <a:endParaRPr lang="en-US" sz="1350" dirty="0"/>
          </a:p>
        </p:txBody>
      </p:sp>
      <p:sp>
        <p:nvSpPr>
          <p:cNvPr id="4" name="Text 2"/>
          <p:cNvSpPr/>
          <p:nvPr/>
        </p:nvSpPr>
        <p:spPr>
          <a:xfrm>
            <a:off x="661475" y="2162969"/>
            <a:ext cx="281080" cy="175716"/>
          </a:xfrm>
          <a:prstGeom prst="rect">
            <a:avLst/>
          </a:prstGeom>
          <a:noFill/>
          <a:ln/>
        </p:spPr>
        <p:txBody>
          <a:bodyPr wrap="none" lIns="0" tIns="0" rIns="0" bIns="0" rtlCol="0" anchor="ctr"/>
          <a:lstStyle/>
          <a:p>
            <a:pPr algn="l" indent="0" marL="0">
              <a:lnSpc>
                <a:spcPct val="100000"/>
              </a:lnSpc>
              <a:buNone/>
            </a:pPr>
            <a:r>
              <a:rPr lang="en-US" sz="1100" spc="-11" kern="0" dirty="0">
                <a:solidFill>
                  <a:srgbClr val="FFFFFF"/>
                </a:solidFill>
                <a:latin typeface="Alexandria Light" pitchFamily="34" charset="0"/>
                <a:ea typeface="Alexandria Light" pitchFamily="34" charset="-122"/>
                <a:cs typeface="Alexandria Light" pitchFamily="34" charset="-120"/>
              </a:rPr>
              <a:t>01</a:t>
            </a:r>
            <a:endParaRPr lang="en-US" sz="1100" dirty="0"/>
          </a:p>
        </p:txBody>
      </p:sp>
      <p:sp>
        <p:nvSpPr>
          <p:cNvPr id="5" name="Shape 3"/>
          <p:cNvSpPr/>
          <p:nvPr/>
        </p:nvSpPr>
        <p:spPr>
          <a:xfrm>
            <a:off x="661475" y="2382838"/>
            <a:ext cx="5262927" cy="19050"/>
          </a:xfrm>
          <a:prstGeom prst="rect">
            <a:avLst/>
          </a:prstGeom>
          <a:solidFill>
            <a:srgbClr val="B499E9"/>
          </a:solidFill>
          <a:ln/>
        </p:spPr>
      </p:sp>
      <p:sp>
        <p:nvSpPr>
          <p:cNvPr id="6" name="Text 4"/>
          <p:cNvSpPr/>
          <p:nvPr/>
        </p:nvSpPr>
        <p:spPr>
          <a:xfrm>
            <a:off x="661475" y="2491184"/>
            <a:ext cx="5262927"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Extract</a:t>
            </a:r>
            <a:endParaRPr lang="en-US" sz="1350" dirty="0"/>
          </a:p>
        </p:txBody>
      </p:sp>
      <p:sp>
        <p:nvSpPr>
          <p:cNvPr id="7" name="Text 5"/>
          <p:cNvSpPr/>
          <p:nvPr/>
        </p:nvSpPr>
        <p:spPr>
          <a:xfrm>
            <a:off x="661475" y="2830215"/>
            <a:ext cx="5262927" cy="214412"/>
          </a:xfrm>
          <a:prstGeom prst="rect">
            <a:avLst/>
          </a:prstGeom>
          <a:noFill/>
          <a:ln/>
        </p:spPr>
        <p:txBody>
          <a:bodyPr wrap="none" lIns="0" tIns="0" rIns="0" bIns="0" rtlCol="0" anchor="t"/>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Leer </a:t>
            </a:r>
            <a:pPr algn="l" indent="0" marL="0">
              <a:lnSpc>
                <a:spcPct val="123000"/>
              </a:lnSpc>
              <a:buNone/>
            </a:pPr>
            <a:r>
              <a:rPr lang="en-US" sz="1100" dirty="0">
                <a:solidFill>
                  <a:srgbClr val="FFFFFF"/>
                </a:solidFill>
                <a:highlight>
                  <a:srgbClr val="583592"/>
                </a:highlight>
                <a:latin typeface="Consolas" pitchFamily="34" charset="0"/>
                <a:ea typeface="Consolas" pitchFamily="34" charset="-122"/>
                <a:cs typeface="Consolas" pitchFamily="34" charset="-120"/>
              </a:rPr>
              <a:t>clientes.csv</a:t>
            </a:r>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 consultar SQL de ventas, llamar a la API de productos.</a:t>
            </a:r>
            <a:endParaRPr lang="en-US" sz="1100" dirty="0"/>
          </a:p>
        </p:txBody>
      </p:sp>
      <p:sp>
        <p:nvSpPr>
          <p:cNvPr id="8" name="Text 6"/>
          <p:cNvSpPr/>
          <p:nvPr/>
        </p:nvSpPr>
        <p:spPr>
          <a:xfrm>
            <a:off x="661475" y="3269456"/>
            <a:ext cx="281080" cy="175716"/>
          </a:xfrm>
          <a:prstGeom prst="rect">
            <a:avLst/>
          </a:prstGeom>
          <a:noFill/>
          <a:ln/>
        </p:spPr>
        <p:txBody>
          <a:bodyPr wrap="none" lIns="0" tIns="0" rIns="0" bIns="0" rtlCol="0" anchor="ctr"/>
          <a:lstStyle/>
          <a:p>
            <a:pPr algn="l" indent="0" marL="0">
              <a:lnSpc>
                <a:spcPct val="100000"/>
              </a:lnSpc>
              <a:buNone/>
            </a:pPr>
            <a:r>
              <a:rPr lang="en-US" sz="1100" spc="-11" kern="0" dirty="0">
                <a:solidFill>
                  <a:srgbClr val="FFFFFF"/>
                </a:solidFill>
                <a:latin typeface="Alexandria Light" pitchFamily="34" charset="0"/>
                <a:ea typeface="Alexandria Light" pitchFamily="34" charset="-122"/>
                <a:cs typeface="Alexandria Light" pitchFamily="34" charset="-120"/>
              </a:rPr>
              <a:t>02</a:t>
            </a:r>
            <a:endParaRPr lang="en-US" sz="1100" dirty="0"/>
          </a:p>
        </p:txBody>
      </p:sp>
      <p:sp>
        <p:nvSpPr>
          <p:cNvPr id="9" name="Shape 7"/>
          <p:cNvSpPr/>
          <p:nvPr/>
        </p:nvSpPr>
        <p:spPr>
          <a:xfrm>
            <a:off x="661475" y="3489325"/>
            <a:ext cx="5262927" cy="19050"/>
          </a:xfrm>
          <a:prstGeom prst="rect">
            <a:avLst/>
          </a:prstGeom>
          <a:solidFill>
            <a:srgbClr val="B499E9"/>
          </a:solidFill>
          <a:ln/>
        </p:spPr>
      </p:sp>
      <p:sp>
        <p:nvSpPr>
          <p:cNvPr id="10" name="Text 8"/>
          <p:cNvSpPr/>
          <p:nvPr/>
        </p:nvSpPr>
        <p:spPr>
          <a:xfrm>
            <a:off x="661475" y="3597672"/>
            <a:ext cx="5262927"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Transform</a:t>
            </a:r>
            <a:endParaRPr lang="en-US" sz="1350" dirty="0"/>
          </a:p>
        </p:txBody>
      </p:sp>
      <p:sp>
        <p:nvSpPr>
          <p:cNvPr id="11" name="Text 9"/>
          <p:cNvSpPr/>
          <p:nvPr/>
        </p:nvSpPr>
        <p:spPr>
          <a:xfrm>
            <a:off x="661475" y="3936702"/>
            <a:ext cx="5262927" cy="41612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Limpiar nulos, normalizar ciudades, convertir tipos, hacer merge de las tres fuentes.</a:t>
            </a:r>
            <a:endParaRPr lang="en-US" sz="1100" dirty="0"/>
          </a:p>
        </p:txBody>
      </p:sp>
      <p:sp>
        <p:nvSpPr>
          <p:cNvPr id="12" name="Text 10"/>
          <p:cNvSpPr/>
          <p:nvPr/>
        </p:nvSpPr>
        <p:spPr>
          <a:xfrm>
            <a:off x="661475" y="4577655"/>
            <a:ext cx="281080" cy="175716"/>
          </a:xfrm>
          <a:prstGeom prst="rect">
            <a:avLst/>
          </a:prstGeom>
          <a:noFill/>
          <a:ln/>
        </p:spPr>
        <p:txBody>
          <a:bodyPr wrap="none" lIns="0" tIns="0" rIns="0" bIns="0" rtlCol="0" anchor="ctr"/>
          <a:lstStyle/>
          <a:p>
            <a:pPr algn="l" indent="0" marL="0">
              <a:lnSpc>
                <a:spcPct val="100000"/>
              </a:lnSpc>
              <a:buNone/>
            </a:pPr>
            <a:r>
              <a:rPr lang="en-US" sz="1100" spc="-11" kern="0" dirty="0">
                <a:solidFill>
                  <a:srgbClr val="FFFFFF"/>
                </a:solidFill>
                <a:latin typeface="Alexandria Light" pitchFamily="34" charset="0"/>
                <a:ea typeface="Alexandria Light" pitchFamily="34" charset="-122"/>
                <a:cs typeface="Alexandria Light" pitchFamily="34" charset="-120"/>
              </a:rPr>
              <a:t>03</a:t>
            </a:r>
            <a:endParaRPr lang="en-US" sz="1100" dirty="0"/>
          </a:p>
        </p:txBody>
      </p:sp>
      <p:sp>
        <p:nvSpPr>
          <p:cNvPr id="13" name="Shape 11"/>
          <p:cNvSpPr/>
          <p:nvPr/>
        </p:nvSpPr>
        <p:spPr>
          <a:xfrm>
            <a:off x="661475" y="4797524"/>
            <a:ext cx="5262927" cy="19050"/>
          </a:xfrm>
          <a:prstGeom prst="rect">
            <a:avLst/>
          </a:prstGeom>
          <a:solidFill>
            <a:srgbClr val="B499E9"/>
          </a:solidFill>
          <a:ln/>
        </p:spPr>
      </p:sp>
      <p:sp>
        <p:nvSpPr>
          <p:cNvPr id="14" name="Text 12"/>
          <p:cNvSpPr/>
          <p:nvPr/>
        </p:nvSpPr>
        <p:spPr>
          <a:xfrm>
            <a:off x="661475" y="4905871"/>
            <a:ext cx="5262927"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Load</a:t>
            </a:r>
            <a:endParaRPr lang="en-US" sz="1350" dirty="0"/>
          </a:p>
        </p:txBody>
      </p:sp>
      <p:sp>
        <p:nvSpPr>
          <p:cNvPr id="15" name="Text 13"/>
          <p:cNvSpPr/>
          <p:nvPr/>
        </p:nvSpPr>
        <p:spPr>
          <a:xfrm>
            <a:off x="661475" y="5244902"/>
            <a:ext cx="5262927" cy="214412"/>
          </a:xfrm>
          <a:prstGeom prst="rect">
            <a:avLst/>
          </a:prstGeom>
          <a:noFill/>
          <a:ln/>
        </p:spPr>
        <p:txBody>
          <a:bodyPr wrap="none" lIns="0" tIns="0" rIns="0" bIns="0" rtlCol="0" anchor="t"/>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Guardar el dataset resultante en </a:t>
            </a:r>
            <a:pPr algn="l" indent="0" marL="0">
              <a:lnSpc>
                <a:spcPct val="123000"/>
              </a:lnSpc>
              <a:buNone/>
            </a:pPr>
            <a:r>
              <a:rPr lang="en-US" sz="1100" dirty="0">
                <a:solidFill>
                  <a:srgbClr val="FFFFFF"/>
                </a:solidFill>
                <a:highlight>
                  <a:srgbClr val="583592"/>
                </a:highlight>
                <a:latin typeface="Consolas" pitchFamily="34" charset="0"/>
                <a:ea typeface="Consolas" pitchFamily="34" charset="-122"/>
                <a:cs typeface="Consolas" pitchFamily="34" charset="-120"/>
              </a:rPr>
              <a:t>dataset_analitico.parquet</a:t>
            </a:r>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 para análisis posterior.</a:t>
            </a:r>
            <a:endParaRPr lang="en-US" sz="1100" dirty="0"/>
          </a:p>
        </p:txBody>
      </p:sp>
      <p:sp>
        <p:nvSpPr>
          <p:cNvPr id="16" name="Text 14"/>
          <p:cNvSpPr/>
          <p:nvPr/>
        </p:nvSpPr>
        <p:spPr>
          <a:xfrm>
            <a:off x="6273643" y="1809055"/>
            <a:ext cx="5262927"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Características del ETL</a:t>
            </a:r>
            <a:endParaRPr lang="en-US" sz="1350" dirty="0"/>
          </a:p>
        </p:txBody>
      </p:sp>
      <p:sp>
        <p:nvSpPr>
          <p:cNvPr id="17" name="Shape 15"/>
          <p:cNvSpPr/>
          <p:nvPr/>
        </p:nvSpPr>
        <p:spPr>
          <a:xfrm>
            <a:off x="6273643" y="2162969"/>
            <a:ext cx="2571686" cy="1293813"/>
          </a:xfrm>
          <a:prstGeom prst="roundRect">
            <a:avLst>
              <a:gd name="adj" fmla="val 16299"/>
            </a:avLst>
          </a:prstGeom>
          <a:solidFill>
            <a:srgbClr val="4B2885"/>
          </a:solidFill>
          <a:ln w="19050">
            <a:solidFill>
              <a:srgbClr val="4B3082"/>
            </a:solidFill>
            <a:prstDash val="solid"/>
          </a:ln>
        </p:spPr>
      </p:sp>
      <p:sp>
        <p:nvSpPr>
          <p:cNvPr id="18" name="Text 16"/>
          <p:cNvSpPr/>
          <p:nvPr/>
        </p:nvSpPr>
        <p:spPr>
          <a:xfrm>
            <a:off x="6433183" y="2322513"/>
            <a:ext cx="2252606" cy="439142"/>
          </a:xfrm>
          <a:prstGeom prst="rect">
            <a:avLst/>
          </a:prstGeom>
          <a:noFill/>
          <a:ln/>
        </p:spPr>
        <p:txBody>
          <a:bodyPr wrap="square" lIns="0" tIns="0" rIns="0" bIns="0" rtlCol="0" anchor="t">
            <a:normAutofit/>
          </a:bodyPr>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Transformación antes de cargar</a:t>
            </a:r>
            <a:endParaRPr lang="en-US" sz="1350" dirty="0"/>
          </a:p>
        </p:txBody>
      </p:sp>
      <p:sp>
        <p:nvSpPr>
          <p:cNvPr id="19" name="Text 17"/>
          <p:cNvSpPr/>
          <p:nvPr/>
        </p:nvSpPr>
        <p:spPr>
          <a:xfrm>
            <a:off x="6433183" y="2881114"/>
            <a:ext cx="2252606" cy="41612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Los datos llegan limpios y estructurados al destino.</a:t>
            </a:r>
            <a:endParaRPr lang="en-US" sz="1100" dirty="0"/>
          </a:p>
        </p:txBody>
      </p:sp>
      <p:sp>
        <p:nvSpPr>
          <p:cNvPr id="20" name="Shape 18"/>
          <p:cNvSpPr/>
          <p:nvPr/>
        </p:nvSpPr>
        <p:spPr>
          <a:xfrm>
            <a:off x="8964785" y="2162969"/>
            <a:ext cx="2571785" cy="1293813"/>
          </a:xfrm>
          <a:prstGeom prst="roundRect">
            <a:avLst>
              <a:gd name="adj" fmla="val 16299"/>
            </a:avLst>
          </a:prstGeom>
          <a:solidFill>
            <a:srgbClr val="4B2885"/>
          </a:solidFill>
          <a:ln w="19050">
            <a:solidFill>
              <a:srgbClr val="4B3082"/>
            </a:solidFill>
            <a:prstDash val="solid"/>
          </a:ln>
        </p:spPr>
      </p:sp>
      <p:sp>
        <p:nvSpPr>
          <p:cNvPr id="21" name="Text 19"/>
          <p:cNvSpPr/>
          <p:nvPr/>
        </p:nvSpPr>
        <p:spPr>
          <a:xfrm>
            <a:off x="9124325" y="2322513"/>
            <a:ext cx="2252705"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Sistema intermedio</a:t>
            </a:r>
            <a:endParaRPr lang="en-US" sz="1350" dirty="0"/>
          </a:p>
        </p:txBody>
      </p:sp>
      <p:sp>
        <p:nvSpPr>
          <p:cNvPr id="22" name="Text 20"/>
          <p:cNvSpPr/>
          <p:nvPr/>
        </p:nvSpPr>
        <p:spPr>
          <a:xfrm>
            <a:off x="9124325" y="2661543"/>
            <a:ext cx="2252705" cy="41612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La transformación ocurre en el motor ETL, no en el destino.</a:t>
            </a:r>
            <a:endParaRPr lang="en-US" sz="1100" dirty="0"/>
          </a:p>
        </p:txBody>
      </p:sp>
      <p:sp>
        <p:nvSpPr>
          <p:cNvPr id="23" name="Shape 21"/>
          <p:cNvSpPr/>
          <p:nvPr/>
        </p:nvSpPr>
        <p:spPr>
          <a:xfrm>
            <a:off x="6273643" y="3576241"/>
            <a:ext cx="5262927" cy="866180"/>
          </a:xfrm>
          <a:prstGeom prst="roundRect">
            <a:avLst>
              <a:gd name="adj" fmla="val 24345"/>
            </a:avLst>
          </a:prstGeom>
          <a:solidFill>
            <a:srgbClr val="4B2885"/>
          </a:solidFill>
          <a:ln w="19050">
            <a:solidFill>
              <a:srgbClr val="4B3082"/>
            </a:solidFill>
            <a:prstDash val="solid"/>
          </a:ln>
        </p:spPr>
      </p:sp>
      <p:sp>
        <p:nvSpPr>
          <p:cNvPr id="24" name="Text 22"/>
          <p:cNvSpPr/>
          <p:nvPr/>
        </p:nvSpPr>
        <p:spPr>
          <a:xfrm>
            <a:off x="6433183" y="3735784"/>
            <a:ext cx="4943847"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Destino limpio</a:t>
            </a:r>
            <a:endParaRPr lang="en-US" sz="1350" dirty="0"/>
          </a:p>
        </p:txBody>
      </p:sp>
      <p:sp>
        <p:nvSpPr>
          <p:cNvPr id="25" name="Text 23"/>
          <p:cNvSpPr/>
          <p:nvPr/>
        </p:nvSpPr>
        <p:spPr>
          <a:xfrm>
            <a:off x="6433183" y="4074815"/>
            <a:ext cx="4943847" cy="208062"/>
          </a:xfrm>
          <a:prstGeom prst="rect">
            <a:avLst/>
          </a:prstGeom>
          <a:noFill/>
          <a:ln/>
        </p:spPr>
        <p:txBody>
          <a:bodyPr wrap="none" lIns="0" tIns="0" rIns="0" bIns="0" rtlCol="0" anchor="t"/>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El sistema de destino solo recibe datos ya procesados.</a:t>
            </a:r>
            <a:endParaRPr lang="en-US" sz="1100" dirty="0"/>
          </a:p>
        </p:txBody>
      </p:sp>
      <p:pic>
        <p:nvPicPr>
          <p:cNvPr id="26"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27"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28" name="Text 24"/>
          <p:cNvSpPr/>
          <p:nvPr/>
        </p:nvSpPr>
        <p:spPr>
          <a:xfrm>
            <a:off x="10836004" y="6300589"/>
            <a:ext cx="1157259"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661475" y="1061541"/>
            <a:ext cx="10868745" cy="351433"/>
          </a:xfrm>
          <a:prstGeom prst="rect">
            <a:avLst/>
          </a:prstGeom>
          <a:noFill/>
          <a:ln/>
        </p:spPr>
        <p:txBody>
          <a:bodyPr wrap="none" lIns="0" tIns="0" rIns="0" bIns="0" rtlCol="0" anchor="t"/>
          <a:lstStyle/>
          <a:p>
            <a:pPr algn="l" indent="0" marL="0">
              <a:lnSpc>
                <a:spcPct val="104000"/>
              </a:lnSpc>
              <a:buNone/>
            </a:pPr>
            <a:r>
              <a:rPr lang="en-US" sz="2200" spc="-22" kern="0" dirty="0">
                <a:solidFill>
                  <a:srgbClr val="FFFFFF"/>
                </a:solidFill>
                <a:latin typeface="Alexandria Medium" pitchFamily="34" charset="0"/>
                <a:ea typeface="Alexandria Medium" pitchFamily="34" charset="-122"/>
                <a:cs typeface="Alexandria Medium" pitchFamily="34" charset="-120"/>
              </a:rPr>
              <a:t>ELT: Extract → Load → Transform</a:t>
            </a:r>
            <a:endParaRPr lang="en-US" sz="2200" dirty="0"/>
          </a:p>
        </p:txBody>
      </p:sp>
      <p:sp>
        <p:nvSpPr>
          <p:cNvPr id="3" name="Text 1"/>
          <p:cNvSpPr/>
          <p:nvPr/>
        </p:nvSpPr>
        <p:spPr>
          <a:xfrm>
            <a:off x="661475" y="1711623"/>
            <a:ext cx="5262927"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La diferencia clave</a:t>
            </a:r>
            <a:endParaRPr lang="en-US" sz="1350" dirty="0"/>
          </a:p>
        </p:txBody>
      </p:sp>
      <p:sp>
        <p:nvSpPr>
          <p:cNvPr id="4" name="Text 2"/>
          <p:cNvSpPr/>
          <p:nvPr/>
        </p:nvSpPr>
        <p:spPr>
          <a:xfrm>
            <a:off x="661475" y="2050653"/>
            <a:ext cx="5262927" cy="624185"/>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En ELT, los datos crudos se cargan </a:t>
            </a:r>
            <a:pPr algn="l" indent="0" marL="0">
              <a:lnSpc>
                <a:spcPct val="123000"/>
              </a:lnSpc>
              <a:buNone/>
            </a:pPr>
            <a:r>
              <a:rPr lang="en-US" sz="1100" b="1" dirty="0">
                <a:solidFill>
                  <a:srgbClr val="FFFFFF"/>
                </a:solidFill>
                <a:latin typeface="Manrope Bold" pitchFamily="34" charset="0"/>
                <a:ea typeface="Manrope Bold" pitchFamily="34" charset="-122"/>
                <a:cs typeface="Manrope Bold" pitchFamily="34" charset="-120"/>
              </a:rPr>
              <a:t>primero</a:t>
            </a:r>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 en el sistema destino. Las transformaciones se realizan </a:t>
            </a:r>
            <a:pPr algn="l" indent="0" marL="0">
              <a:lnSpc>
                <a:spcPct val="123000"/>
              </a:lnSpc>
              <a:buNone/>
            </a:pPr>
            <a:r>
              <a:rPr lang="en-US" sz="1100" b="1" dirty="0">
                <a:solidFill>
                  <a:srgbClr val="FFFFFF"/>
                </a:solidFill>
                <a:latin typeface="Manrope Bold" pitchFamily="34" charset="0"/>
                <a:ea typeface="Manrope Bold" pitchFamily="34" charset="-122"/>
                <a:cs typeface="Manrope Bold" pitchFamily="34" charset="-120"/>
              </a:rPr>
              <a:t>después</a:t>
            </a:r>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 usando la potencia de cómputo del propio destino.</a:t>
            </a:r>
            <a:endParaRPr lang="en-US" sz="1100" dirty="0"/>
          </a:p>
        </p:txBody>
      </p:sp>
      <p:sp>
        <p:nvSpPr>
          <p:cNvPr id="5" name="Shape 3"/>
          <p:cNvSpPr/>
          <p:nvPr/>
        </p:nvSpPr>
        <p:spPr>
          <a:xfrm>
            <a:off x="661475" y="2809180"/>
            <a:ext cx="2571686" cy="1476474"/>
          </a:xfrm>
          <a:prstGeom prst="roundRect">
            <a:avLst>
              <a:gd name="adj" fmla="val 14282"/>
            </a:avLst>
          </a:prstGeom>
          <a:solidFill>
            <a:srgbClr val="3F2077"/>
          </a:solidFill>
          <a:ln w="6350">
            <a:solidFill>
              <a:srgbClr val="4B3082"/>
            </a:solidFill>
            <a:prstDash val="solid"/>
          </a:ln>
        </p:spPr>
      </p:sp>
      <p:sp>
        <p:nvSpPr>
          <p:cNvPr id="6" name="Text 4"/>
          <p:cNvSpPr/>
          <p:nvPr/>
        </p:nvSpPr>
        <p:spPr>
          <a:xfrm>
            <a:off x="808315" y="2956024"/>
            <a:ext cx="2278006" cy="439142"/>
          </a:xfrm>
          <a:prstGeom prst="rect">
            <a:avLst/>
          </a:prstGeom>
          <a:noFill/>
          <a:ln/>
        </p:spPr>
        <p:txBody>
          <a:bodyPr wrap="square" lIns="0" tIns="0" rIns="0" bIns="0" rtlCol="0" anchor="t">
            <a:normAutofit/>
          </a:bodyPr>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Los datos crudos se preservan</a:t>
            </a:r>
            <a:endParaRPr lang="en-US" sz="1350" dirty="0"/>
          </a:p>
        </p:txBody>
      </p:sp>
      <p:sp>
        <p:nvSpPr>
          <p:cNvPr id="7" name="Text 5"/>
          <p:cNvSpPr/>
          <p:nvPr/>
        </p:nvSpPr>
        <p:spPr>
          <a:xfrm>
            <a:off x="808315" y="3514626"/>
            <a:ext cx="2278006" cy="624185"/>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Siempre podemos volver a transformar aplicando nuevas reglas sin re-extraer.</a:t>
            </a:r>
            <a:endParaRPr lang="en-US" sz="1100" dirty="0"/>
          </a:p>
        </p:txBody>
      </p:sp>
      <p:sp>
        <p:nvSpPr>
          <p:cNvPr id="8" name="Shape 6"/>
          <p:cNvSpPr/>
          <p:nvPr/>
        </p:nvSpPr>
        <p:spPr>
          <a:xfrm>
            <a:off x="3352617" y="2809180"/>
            <a:ext cx="2571785" cy="1476474"/>
          </a:xfrm>
          <a:prstGeom prst="roundRect">
            <a:avLst>
              <a:gd name="adj" fmla="val 14282"/>
            </a:avLst>
          </a:prstGeom>
          <a:solidFill>
            <a:srgbClr val="3F2077"/>
          </a:solidFill>
          <a:ln w="6350">
            <a:solidFill>
              <a:srgbClr val="4B3082"/>
            </a:solidFill>
            <a:prstDash val="solid"/>
          </a:ln>
        </p:spPr>
      </p:sp>
      <p:sp>
        <p:nvSpPr>
          <p:cNvPr id="9" name="Text 7"/>
          <p:cNvSpPr/>
          <p:nvPr/>
        </p:nvSpPr>
        <p:spPr>
          <a:xfrm>
            <a:off x="3499457" y="2956024"/>
            <a:ext cx="2278105"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Mayor flexibilidad</a:t>
            </a:r>
            <a:endParaRPr lang="en-US" sz="1350" dirty="0"/>
          </a:p>
        </p:txBody>
      </p:sp>
      <p:sp>
        <p:nvSpPr>
          <p:cNvPr id="10" name="Text 8"/>
          <p:cNvSpPr/>
          <p:nvPr/>
        </p:nvSpPr>
        <p:spPr>
          <a:xfrm>
            <a:off x="3499457" y="3295055"/>
            <a:ext cx="2278105" cy="832247"/>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Se pueden aplicar transformaciones distintas para distintos usos del mismo dato crudo.</a:t>
            </a:r>
            <a:endParaRPr lang="en-US" sz="1100" dirty="0"/>
          </a:p>
        </p:txBody>
      </p:sp>
      <p:sp>
        <p:nvSpPr>
          <p:cNvPr id="11" name="Shape 9"/>
          <p:cNvSpPr/>
          <p:nvPr/>
        </p:nvSpPr>
        <p:spPr>
          <a:xfrm>
            <a:off x="661475" y="4405114"/>
            <a:ext cx="5262927" cy="1256903"/>
          </a:xfrm>
          <a:prstGeom prst="roundRect">
            <a:avLst>
              <a:gd name="adj" fmla="val 16777"/>
            </a:avLst>
          </a:prstGeom>
          <a:solidFill>
            <a:srgbClr val="3F2077"/>
          </a:solidFill>
          <a:ln w="6350">
            <a:solidFill>
              <a:srgbClr val="4B3082"/>
            </a:solidFill>
            <a:prstDash val="solid"/>
          </a:ln>
        </p:spPr>
      </p:sp>
      <p:sp>
        <p:nvSpPr>
          <p:cNvPr id="12" name="Text 10"/>
          <p:cNvSpPr/>
          <p:nvPr/>
        </p:nvSpPr>
        <p:spPr>
          <a:xfrm>
            <a:off x="808315" y="4551958"/>
            <a:ext cx="4969247"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Plataformas modernas</a:t>
            </a:r>
            <a:endParaRPr lang="en-US" sz="1350" dirty="0"/>
          </a:p>
        </p:txBody>
      </p:sp>
      <p:sp>
        <p:nvSpPr>
          <p:cNvPr id="13" name="Text 11"/>
          <p:cNvSpPr/>
          <p:nvPr/>
        </p:nvSpPr>
        <p:spPr>
          <a:xfrm>
            <a:off x="808315" y="4890988"/>
            <a:ext cx="4969247" cy="624185"/>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Conceptualmente relacionado con plataformas capaces de almacenar y procesar grandes volúmenes. (Las tecnologías concretas se estudiarán en otras unidades.)</a:t>
            </a:r>
            <a:endParaRPr lang="en-US" sz="1100" dirty="0"/>
          </a:p>
        </p:txBody>
      </p:sp>
      <p:sp>
        <p:nvSpPr>
          <p:cNvPr id="14" name="Text 12"/>
          <p:cNvSpPr/>
          <p:nvPr/>
        </p:nvSpPr>
        <p:spPr>
          <a:xfrm>
            <a:off x="6273643" y="1711623"/>
            <a:ext cx="5262927"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Caso ShopData con ELT</a:t>
            </a:r>
            <a:endParaRPr lang="en-US" sz="1350" dirty="0"/>
          </a:p>
        </p:txBody>
      </p:sp>
      <p:sp>
        <p:nvSpPr>
          <p:cNvPr id="15" name="Text 13"/>
          <p:cNvSpPr/>
          <p:nvPr/>
        </p:nvSpPr>
        <p:spPr>
          <a:xfrm>
            <a:off x="6273643" y="2065536"/>
            <a:ext cx="281080" cy="175716"/>
          </a:xfrm>
          <a:prstGeom prst="rect">
            <a:avLst/>
          </a:prstGeom>
          <a:noFill/>
          <a:ln/>
        </p:spPr>
        <p:txBody>
          <a:bodyPr wrap="none" lIns="0" tIns="0" rIns="0" bIns="0" rtlCol="0" anchor="ctr"/>
          <a:lstStyle/>
          <a:p>
            <a:pPr algn="l" indent="0" marL="0">
              <a:lnSpc>
                <a:spcPct val="100000"/>
              </a:lnSpc>
              <a:buNone/>
            </a:pPr>
            <a:r>
              <a:rPr lang="en-US" sz="1100" spc="-11" kern="0" dirty="0">
                <a:solidFill>
                  <a:srgbClr val="FFFFFF"/>
                </a:solidFill>
                <a:latin typeface="Alexandria Light" pitchFamily="34" charset="0"/>
                <a:ea typeface="Alexandria Light" pitchFamily="34" charset="-122"/>
                <a:cs typeface="Alexandria Light" pitchFamily="34" charset="-120"/>
              </a:rPr>
              <a:t>01</a:t>
            </a:r>
            <a:endParaRPr lang="en-US" sz="1100" dirty="0"/>
          </a:p>
        </p:txBody>
      </p:sp>
      <p:sp>
        <p:nvSpPr>
          <p:cNvPr id="16" name="Shape 14"/>
          <p:cNvSpPr/>
          <p:nvPr/>
        </p:nvSpPr>
        <p:spPr>
          <a:xfrm>
            <a:off x="6273643" y="2285405"/>
            <a:ext cx="5262927" cy="19050"/>
          </a:xfrm>
          <a:prstGeom prst="rect">
            <a:avLst/>
          </a:prstGeom>
          <a:solidFill>
            <a:srgbClr val="B499E9"/>
          </a:solidFill>
          <a:ln/>
        </p:spPr>
      </p:sp>
      <p:sp>
        <p:nvSpPr>
          <p:cNvPr id="17" name="Text 15"/>
          <p:cNvSpPr/>
          <p:nvPr/>
        </p:nvSpPr>
        <p:spPr>
          <a:xfrm>
            <a:off x="6273643" y="2393752"/>
            <a:ext cx="5262927"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Extract</a:t>
            </a:r>
            <a:endParaRPr lang="en-US" sz="1350" dirty="0"/>
          </a:p>
        </p:txBody>
      </p:sp>
      <p:sp>
        <p:nvSpPr>
          <p:cNvPr id="18" name="Text 16"/>
          <p:cNvSpPr/>
          <p:nvPr/>
        </p:nvSpPr>
        <p:spPr>
          <a:xfrm>
            <a:off x="6273643" y="2732782"/>
            <a:ext cx="5262927" cy="208062"/>
          </a:xfrm>
          <a:prstGeom prst="rect">
            <a:avLst/>
          </a:prstGeom>
          <a:noFill/>
          <a:ln/>
        </p:spPr>
        <p:txBody>
          <a:bodyPr wrap="none" lIns="0" tIns="0" rIns="0" bIns="0" rtlCol="0" anchor="t"/>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Leer todas las fuentes tal como vienen: CSV, SQL, JSON.</a:t>
            </a:r>
            <a:endParaRPr lang="en-US" sz="1100" dirty="0"/>
          </a:p>
        </p:txBody>
      </p:sp>
      <p:sp>
        <p:nvSpPr>
          <p:cNvPr id="19" name="Text 17"/>
          <p:cNvSpPr/>
          <p:nvPr/>
        </p:nvSpPr>
        <p:spPr>
          <a:xfrm>
            <a:off x="6273643" y="3165673"/>
            <a:ext cx="281080" cy="175716"/>
          </a:xfrm>
          <a:prstGeom prst="rect">
            <a:avLst/>
          </a:prstGeom>
          <a:noFill/>
          <a:ln/>
        </p:spPr>
        <p:txBody>
          <a:bodyPr wrap="none" lIns="0" tIns="0" rIns="0" bIns="0" rtlCol="0" anchor="ctr"/>
          <a:lstStyle/>
          <a:p>
            <a:pPr algn="l" indent="0" marL="0">
              <a:lnSpc>
                <a:spcPct val="100000"/>
              </a:lnSpc>
              <a:buNone/>
            </a:pPr>
            <a:r>
              <a:rPr lang="en-US" sz="1100" spc="-11" kern="0" dirty="0">
                <a:solidFill>
                  <a:srgbClr val="FFFFFF"/>
                </a:solidFill>
                <a:latin typeface="Alexandria Light" pitchFamily="34" charset="0"/>
                <a:ea typeface="Alexandria Light" pitchFamily="34" charset="-122"/>
                <a:cs typeface="Alexandria Light" pitchFamily="34" charset="-120"/>
              </a:rPr>
              <a:t>02</a:t>
            </a:r>
            <a:endParaRPr lang="en-US" sz="1100" dirty="0"/>
          </a:p>
        </p:txBody>
      </p:sp>
      <p:sp>
        <p:nvSpPr>
          <p:cNvPr id="20" name="Shape 18"/>
          <p:cNvSpPr/>
          <p:nvPr/>
        </p:nvSpPr>
        <p:spPr>
          <a:xfrm>
            <a:off x="6273643" y="3385542"/>
            <a:ext cx="5262927" cy="19050"/>
          </a:xfrm>
          <a:prstGeom prst="rect">
            <a:avLst/>
          </a:prstGeom>
          <a:solidFill>
            <a:srgbClr val="B499E9"/>
          </a:solidFill>
          <a:ln/>
        </p:spPr>
      </p:sp>
      <p:sp>
        <p:nvSpPr>
          <p:cNvPr id="21" name="Text 19"/>
          <p:cNvSpPr/>
          <p:nvPr/>
        </p:nvSpPr>
        <p:spPr>
          <a:xfrm>
            <a:off x="6273643" y="3493889"/>
            <a:ext cx="5262927"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Load</a:t>
            </a:r>
            <a:endParaRPr lang="en-US" sz="1350" dirty="0"/>
          </a:p>
        </p:txBody>
      </p:sp>
      <p:sp>
        <p:nvSpPr>
          <p:cNvPr id="22" name="Text 20"/>
          <p:cNvSpPr/>
          <p:nvPr/>
        </p:nvSpPr>
        <p:spPr>
          <a:xfrm>
            <a:off x="6273643" y="3832920"/>
            <a:ext cx="5262927" cy="208062"/>
          </a:xfrm>
          <a:prstGeom prst="rect">
            <a:avLst/>
          </a:prstGeom>
          <a:noFill/>
          <a:ln/>
        </p:spPr>
        <p:txBody>
          <a:bodyPr wrap="none" lIns="0" tIns="0" rIns="0" bIns="0" rtlCol="0" anchor="t"/>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Cargar todos los datos crudos en el sistema destino sin transformar.</a:t>
            </a:r>
            <a:endParaRPr lang="en-US" sz="1100" dirty="0"/>
          </a:p>
        </p:txBody>
      </p:sp>
      <p:sp>
        <p:nvSpPr>
          <p:cNvPr id="23" name="Text 21"/>
          <p:cNvSpPr/>
          <p:nvPr/>
        </p:nvSpPr>
        <p:spPr>
          <a:xfrm>
            <a:off x="6273643" y="4265811"/>
            <a:ext cx="281080" cy="175716"/>
          </a:xfrm>
          <a:prstGeom prst="rect">
            <a:avLst/>
          </a:prstGeom>
          <a:noFill/>
          <a:ln/>
        </p:spPr>
        <p:txBody>
          <a:bodyPr wrap="none" lIns="0" tIns="0" rIns="0" bIns="0" rtlCol="0" anchor="ctr"/>
          <a:lstStyle/>
          <a:p>
            <a:pPr algn="l" indent="0" marL="0">
              <a:lnSpc>
                <a:spcPct val="100000"/>
              </a:lnSpc>
              <a:buNone/>
            </a:pPr>
            <a:r>
              <a:rPr lang="en-US" sz="1100" spc="-11" kern="0" dirty="0">
                <a:solidFill>
                  <a:srgbClr val="FFFFFF"/>
                </a:solidFill>
                <a:latin typeface="Alexandria Light" pitchFamily="34" charset="0"/>
                <a:ea typeface="Alexandria Light" pitchFamily="34" charset="-122"/>
                <a:cs typeface="Alexandria Light" pitchFamily="34" charset="-120"/>
              </a:rPr>
              <a:t>03</a:t>
            </a:r>
            <a:endParaRPr lang="en-US" sz="1100" dirty="0"/>
          </a:p>
        </p:txBody>
      </p:sp>
      <p:sp>
        <p:nvSpPr>
          <p:cNvPr id="24" name="Shape 22"/>
          <p:cNvSpPr/>
          <p:nvPr/>
        </p:nvSpPr>
        <p:spPr>
          <a:xfrm>
            <a:off x="6273643" y="4485680"/>
            <a:ext cx="5262927" cy="19050"/>
          </a:xfrm>
          <a:prstGeom prst="rect">
            <a:avLst/>
          </a:prstGeom>
          <a:solidFill>
            <a:srgbClr val="B499E9"/>
          </a:solidFill>
          <a:ln/>
        </p:spPr>
      </p:sp>
      <p:sp>
        <p:nvSpPr>
          <p:cNvPr id="25" name="Text 23"/>
          <p:cNvSpPr/>
          <p:nvPr/>
        </p:nvSpPr>
        <p:spPr>
          <a:xfrm>
            <a:off x="6273643" y="4594027"/>
            <a:ext cx="5262927"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Transform</a:t>
            </a:r>
            <a:endParaRPr lang="en-US" sz="1350" dirty="0"/>
          </a:p>
        </p:txBody>
      </p:sp>
      <p:sp>
        <p:nvSpPr>
          <p:cNvPr id="26" name="Text 24"/>
          <p:cNvSpPr/>
          <p:nvPr/>
        </p:nvSpPr>
        <p:spPr>
          <a:xfrm>
            <a:off x="6273643" y="4933057"/>
            <a:ext cx="5262927" cy="41612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Ejecutar las transformaciones dentro del sistema destino según la necesidad del momento.</a:t>
            </a:r>
            <a:endParaRPr lang="en-US" sz="1100" dirty="0"/>
          </a:p>
        </p:txBody>
      </p:sp>
      <p:pic>
        <p:nvPicPr>
          <p:cNvPr id="27"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28"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29" name="Text 25"/>
          <p:cNvSpPr/>
          <p:nvPr/>
        </p:nvSpPr>
        <p:spPr>
          <a:xfrm>
            <a:off x="10826876" y="6300589"/>
            <a:ext cx="1166386"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661475" y="1031974"/>
            <a:ext cx="10868745" cy="392708"/>
          </a:xfrm>
          <a:prstGeom prst="rect">
            <a:avLst/>
          </a:prstGeom>
          <a:noFill/>
          <a:ln/>
        </p:spPr>
        <p:txBody>
          <a:bodyPr wrap="none" lIns="0" tIns="0" rIns="0" bIns="0" rtlCol="0" anchor="t"/>
          <a:lstStyle/>
          <a:p>
            <a:pPr algn="l" indent="0" marL="0">
              <a:lnSpc>
                <a:spcPct val="104000"/>
              </a:lnSpc>
              <a:buNone/>
            </a:pPr>
            <a:r>
              <a:rPr lang="en-US" sz="2450" spc="-25" kern="0" dirty="0">
                <a:solidFill>
                  <a:srgbClr val="FFFFFF"/>
                </a:solidFill>
                <a:latin typeface="Alexandria Medium" pitchFamily="34" charset="0"/>
                <a:ea typeface="Alexandria Medium" pitchFamily="34" charset="-122"/>
                <a:cs typeface="Alexandria Medium" pitchFamily="34" charset="-120"/>
              </a:rPr>
              <a:t>ETL vs. ELT</a:t>
            </a:r>
            <a:endParaRPr lang="en-US" sz="24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61475" y="1723132"/>
          <a:ext cx="9143771" cy="914400"/>
        </p:xfrm>
        <a:graphic>
          <a:graphicData uri="http://schemas.openxmlformats.org/drawingml/2006/table">
            <a:tbl>
              <a:tblPr/>
              <a:tblGrid>
                <a:gridCol w="3260624"/>
                <a:gridCol w="3804061"/>
                <a:gridCol w="3804061"/>
              </a:tblGrid>
              <a:tr h="440024">
                <a:tc>
                  <a:txBody>
                    <a:bodyPr/>
                    <a:lstStyle/>
                    <a:p>
                      <a:pPr indent="0" marL="0">
                        <a:buNone/>
                      </a:pPr>
                      <a:r>
                        <a:rPr lang="en-US" sz="1200" b="1" dirty="0">
                          <a:solidFill>
                            <a:srgbClr val="FFFFFF"/>
                          </a:solidFill>
                          <a:latin typeface="Manrope" pitchFamily="34" charset="0"/>
                          <a:ea typeface="Manrope" pitchFamily="34" charset="-122"/>
                          <a:cs typeface="Manrope" pitchFamily="34" charset="-120"/>
                        </a:rPr>
                        <a:t>Aspecto</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c>
                  <a:txBody>
                    <a:bodyPr/>
                    <a:lstStyle/>
                    <a:p>
                      <a:pPr indent="0" marL="0">
                        <a:buNone/>
                      </a:pPr>
                      <a:r>
                        <a:rPr lang="en-US" sz="1200" b="1" dirty="0">
                          <a:solidFill>
                            <a:srgbClr val="FFFFFF"/>
                          </a:solidFill>
                          <a:latin typeface="Manrope" pitchFamily="34" charset="0"/>
                          <a:ea typeface="Manrope" pitchFamily="34" charset="-122"/>
                          <a:cs typeface="Manrope" pitchFamily="34" charset="-120"/>
                        </a:rPr>
                        <a:t>ETL</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c>
                  <a:txBody>
                    <a:bodyPr/>
                    <a:lstStyle/>
                    <a:p>
                      <a:pPr indent="0" marL="0">
                        <a:buNone/>
                      </a:pPr>
                      <a:r>
                        <a:rPr lang="en-US" sz="1200" b="1" dirty="0">
                          <a:solidFill>
                            <a:srgbClr val="FFFFFF"/>
                          </a:solidFill>
                          <a:latin typeface="Manrope" pitchFamily="34" charset="0"/>
                          <a:ea typeface="Manrope" pitchFamily="34" charset="-122"/>
                          <a:cs typeface="Manrope" pitchFamily="34" charset="-120"/>
                        </a:rPr>
                        <a:t>ELT</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r>
              <a:tr h="443199">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Momento de transformación</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Antes de cargar</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Después de cargar</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443199">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Datos crudos en destino</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No necesariamente</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Habitualmente sí</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443199">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Flexibilidad para re-transformar</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Menor</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Mayor</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443199">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Dónde se transforma</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Sistema intermedio</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Sistema destino</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443199">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Adecuado cuando</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Destino tiene capacidad limitada</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Destino tiene capacidad de cómputo alta</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440024">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Evolución del esquema</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Requiere reingesta</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Más ágil: re-transformar los crudos</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bl>
          </a:graphicData>
        </a:graphic>
      </p:graphicFrame>
      <p:sp>
        <p:nvSpPr>
          <p:cNvPr id="4" name="Text 1"/>
          <p:cNvSpPr/>
          <p:nvPr/>
        </p:nvSpPr>
        <p:spPr>
          <a:xfrm>
            <a:off x="897113" y="5167709"/>
            <a:ext cx="10633107" cy="490339"/>
          </a:xfrm>
          <a:prstGeom prst="rect">
            <a:avLst/>
          </a:prstGeom>
          <a:noFill/>
          <a:ln/>
        </p:spPr>
        <p:txBody>
          <a:bodyPr wrap="square" lIns="0" tIns="0" rIns="0" bIns="0" rtlCol="0" anchor="t">
            <a:normAutofit/>
          </a:bodyPr>
          <a:lstStyle/>
          <a:p>
            <a:pPr algn="l" indent="0" marL="0">
              <a:lnSpc>
                <a:spcPct val="130000"/>
              </a:lnSpc>
              <a:buNone/>
            </a:pPr>
            <a:r>
              <a:rPr lang="en-US" sz="1200" b="1" dirty="0">
                <a:solidFill>
                  <a:srgbClr val="FFFFFF"/>
                </a:solidFill>
                <a:latin typeface="Manrope Bold" pitchFamily="34" charset="0"/>
                <a:ea typeface="Manrope Bold" pitchFamily="34" charset="-122"/>
                <a:cs typeface="Manrope Bold" pitchFamily="34" charset="-120"/>
              </a:rPr>
              <a:t>La arquitectura depende del problema.</a:t>
            </a:r>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 No hay una opción universalmente superior. Ambos enfoques tienen su lugar según los recursos disponibles y las necesidades del proyecto.</a:t>
            </a:r>
            <a:endParaRPr lang="en-US" sz="1200" dirty="0"/>
          </a:p>
        </p:txBody>
      </p:sp>
      <p:sp>
        <p:nvSpPr>
          <p:cNvPr id="5" name="Shape 2"/>
          <p:cNvSpPr/>
          <p:nvPr/>
        </p:nvSpPr>
        <p:spPr>
          <a:xfrm>
            <a:off x="661475" y="4999831"/>
            <a:ext cx="19050" cy="826095"/>
          </a:xfrm>
          <a:prstGeom prst="roundRect">
            <a:avLst>
              <a:gd name="adj" fmla="val 49999"/>
            </a:avLst>
          </a:prstGeom>
          <a:solidFill>
            <a:srgbClr val="B499E9"/>
          </a:solidFill>
          <a:ln/>
        </p:spPr>
      </p:sp>
      <p:pic>
        <p:nvPicPr>
          <p:cNvPr id="6"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7"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8" name="Text 3"/>
          <p:cNvSpPr/>
          <p:nvPr/>
        </p:nvSpPr>
        <p:spPr>
          <a:xfrm>
            <a:off x="10822213" y="6300589"/>
            <a:ext cx="1171050"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661475" y="1050826"/>
            <a:ext cx="10868745" cy="372170"/>
          </a:xfrm>
          <a:prstGeom prst="rect">
            <a:avLst/>
          </a:prstGeom>
          <a:noFill/>
          <a:ln/>
        </p:spPr>
        <p:txBody>
          <a:bodyPr wrap="none" lIns="0" tIns="0" rIns="0" bIns="0" rtlCol="0" anchor="t"/>
          <a:lstStyle/>
          <a:p>
            <a:pPr algn="l" indent="0" marL="0">
              <a:lnSpc>
                <a:spcPct val="104000"/>
              </a:lnSpc>
              <a:buNone/>
            </a:pPr>
            <a:r>
              <a:rPr lang="en-US" sz="2300" spc="-23" kern="0" dirty="0">
                <a:solidFill>
                  <a:srgbClr val="FFFFFF"/>
                </a:solidFill>
                <a:latin typeface="Alexandria Medium" pitchFamily="34" charset="0"/>
                <a:ea typeface="Alexandria Medium" pitchFamily="34" charset="-122"/>
                <a:cs typeface="Alexandria Medium" pitchFamily="34" charset="-120"/>
              </a:rPr>
              <a:t>Un pipeline nunca es simplemente "copiar datos"</a:t>
            </a:r>
            <a:endParaRPr lang="en-US" sz="2300" dirty="0"/>
          </a:p>
        </p:txBody>
      </p:sp>
      <p:sp>
        <p:nvSpPr>
          <p:cNvPr id="3" name="Text 1"/>
          <p:cNvSpPr/>
          <p:nvPr/>
        </p:nvSpPr>
        <p:spPr>
          <a:xfrm>
            <a:off x="661475" y="1690886"/>
            <a:ext cx="11478330" cy="226219"/>
          </a:xfrm>
          <a:prstGeom prst="rect">
            <a:avLst/>
          </a:prstGeom>
          <a:noFill/>
          <a:ln/>
        </p:spPr>
        <p:txBody>
          <a:bodyPr wrap="none" lIns="0" tIns="0" rIns="0" bIns="0" rtlCol="0" anchor="t"/>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Cada paso del pipeline tiene un propósito claro. Saltarse cualquiera de ellos introduce errores difíciles de detectar.</a:t>
            </a:r>
            <a:endParaRPr lang="en-US" sz="1150" dirty="0"/>
          </a:p>
        </p:txBody>
      </p:sp>
      <p:pic>
        <p:nvPicPr>
          <p:cNvPr id="4" name="Image 0" descr="preencoded.png">    </p:cNvPr>
          <p:cNvPicPr>
            <a:picLocks noChangeAspect="1"/>
          </p:cNvPicPr>
          <p:nvPr/>
        </p:nvPicPr>
        <p:blipFill>
          <a:blip r:embed="rId1"/>
          <a:stretch>
            <a:fillRect/>
          </a:stretch>
        </p:blipFill>
        <p:spPr>
          <a:xfrm>
            <a:off x="661475" y="2067818"/>
            <a:ext cx="2173729" cy="595412"/>
          </a:xfrm>
          <a:prstGeom prst="rect">
            <a:avLst/>
          </a:prstGeom>
        </p:spPr>
      </p:pic>
      <p:sp>
        <p:nvSpPr>
          <p:cNvPr id="5" name="Text 2"/>
          <p:cNvSpPr/>
          <p:nvPr/>
        </p:nvSpPr>
        <p:spPr>
          <a:xfrm>
            <a:off x="810299" y="2797175"/>
            <a:ext cx="1876080"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Extract</a:t>
            </a:r>
            <a:endParaRPr lang="en-US" sz="1450" dirty="0"/>
          </a:p>
        </p:txBody>
      </p:sp>
      <p:sp>
        <p:nvSpPr>
          <p:cNvPr id="6" name="Text 3"/>
          <p:cNvSpPr/>
          <p:nvPr/>
        </p:nvSpPr>
        <p:spPr>
          <a:xfrm>
            <a:off x="810299" y="3110012"/>
            <a:ext cx="1876080" cy="452438"/>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Obtener los datos desde las fuentes.</a:t>
            </a:r>
            <a:endParaRPr lang="en-US" sz="1150" dirty="0"/>
          </a:p>
        </p:txBody>
      </p:sp>
      <p:pic>
        <p:nvPicPr>
          <p:cNvPr id="7" name="Image 1" descr="preencoded.png">    </p:cNvPr>
          <p:cNvPicPr>
            <a:picLocks noChangeAspect="1"/>
          </p:cNvPicPr>
          <p:nvPr/>
        </p:nvPicPr>
        <p:blipFill>
          <a:blip r:embed="rId2"/>
          <a:stretch>
            <a:fillRect/>
          </a:stretch>
        </p:blipFill>
        <p:spPr>
          <a:xfrm>
            <a:off x="2835204" y="2067818"/>
            <a:ext cx="2173729" cy="595412"/>
          </a:xfrm>
          <a:prstGeom prst="rect">
            <a:avLst/>
          </a:prstGeom>
        </p:spPr>
      </p:pic>
      <p:sp>
        <p:nvSpPr>
          <p:cNvPr id="8" name="Text 4"/>
          <p:cNvSpPr/>
          <p:nvPr/>
        </p:nvSpPr>
        <p:spPr>
          <a:xfrm>
            <a:off x="2984028" y="2797175"/>
            <a:ext cx="1876080"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Inspect</a:t>
            </a:r>
            <a:endParaRPr lang="en-US" sz="1450" dirty="0"/>
          </a:p>
        </p:txBody>
      </p:sp>
      <p:sp>
        <p:nvSpPr>
          <p:cNvPr id="9" name="Text 5"/>
          <p:cNvSpPr/>
          <p:nvPr/>
        </p:nvSpPr>
        <p:spPr>
          <a:xfrm>
            <a:off x="2984028" y="3110012"/>
            <a:ext cx="1876080" cy="678656"/>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Examinar qué hemos recibido: tipos, nulos, rangos, duplicados.</a:t>
            </a:r>
            <a:endParaRPr lang="en-US" sz="1150" dirty="0"/>
          </a:p>
        </p:txBody>
      </p:sp>
      <p:pic>
        <p:nvPicPr>
          <p:cNvPr id="10" name="Image 2" descr="preencoded.png">    </p:cNvPr>
          <p:cNvPicPr>
            <a:picLocks noChangeAspect="1"/>
          </p:cNvPicPr>
          <p:nvPr/>
        </p:nvPicPr>
        <p:blipFill>
          <a:blip r:embed="rId3"/>
          <a:stretch>
            <a:fillRect/>
          </a:stretch>
        </p:blipFill>
        <p:spPr>
          <a:xfrm>
            <a:off x="5008933" y="2067818"/>
            <a:ext cx="2173729" cy="595412"/>
          </a:xfrm>
          <a:prstGeom prst="rect">
            <a:avLst/>
          </a:prstGeom>
        </p:spPr>
      </p:pic>
      <p:sp>
        <p:nvSpPr>
          <p:cNvPr id="11" name="Text 6"/>
          <p:cNvSpPr/>
          <p:nvPr/>
        </p:nvSpPr>
        <p:spPr>
          <a:xfrm>
            <a:off x="5157758" y="2797175"/>
            <a:ext cx="1876080"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Clean</a:t>
            </a:r>
            <a:endParaRPr lang="en-US" sz="1450" dirty="0"/>
          </a:p>
        </p:txBody>
      </p:sp>
      <p:sp>
        <p:nvSpPr>
          <p:cNvPr id="12" name="Text 7"/>
          <p:cNvSpPr/>
          <p:nvPr/>
        </p:nvSpPr>
        <p:spPr>
          <a:xfrm>
            <a:off x="5157758" y="3110012"/>
            <a:ext cx="1876080" cy="678656"/>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Corregir errores, eliminar duplicados, resolver inconsistencias.</a:t>
            </a:r>
            <a:endParaRPr lang="en-US" sz="1150" dirty="0"/>
          </a:p>
        </p:txBody>
      </p:sp>
      <p:pic>
        <p:nvPicPr>
          <p:cNvPr id="13" name="Image 3" descr="preencoded.png">    </p:cNvPr>
          <p:cNvPicPr>
            <a:picLocks noChangeAspect="1"/>
          </p:cNvPicPr>
          <p:nvPr/>
        </p:nvPicPr>
        <p:blipFill>
          <a:blip r:embed="rId4"/>
          <a:stretch>
            <a:fillRect/>
          </a:stretch>
        </p:blipFill>
        <p:spPr>
          <a:xfrm>
            <a:off x="7182662" y="2067818"/>
            <a:ext cx="2173729" cy="595412"/>
          </a:xfrm>
          <a:prstGeom prst="rect">
            <a:avLst/>
          </a:prstGeom>
        </p:spPr>
      </p:pic>
      <p:sp>
        <p:nvSpPr>
          <p:cNvPr id="14" name="Text 8"/>
          <p:cNvSpPr/>
          <p:nvPr/>
        </p:nvSpPr>
        <p:spPr>
          <a:xfrm>
            <a:off x="7331487" y="2797175"/>
            <a:ext cx="1876080"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Transform</a:t>
            </a:r>
            <a:endParaRPr lang="en-US" sz="1450" dirty="0"/>
          </a:p>
        </p:txBody>
      </p:sp>
      <p:sp>
        <p:nvSpPr>
          <p:cNvPr id="15" name="Text 9"/>
          <p:cNvSpPr/>
          <p:nvPr/>
        </p:nvSpPr>
        <p:spPr>
          <a:xfrm>
            <a:off x="7331487" y="3110012"/>
            <a:ext cx="1876080" cy="678656"/>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Normalizar categorías, convertir tipos, unificar unidades.</a:t>
            </a:r>
            <a:endParaRPr lang="en-US" sz="1150" dirty="0"/>
          </a:p>
        </p:txBody>
      </p:sp>
      <p:pic>
        <p:nvPicPr>
          <p:cNvPr id="16" name="Image 4" descr="preencoded.png">    </p:cNvPr>
          <p:cNvPicPr>
            <a:picLocks noChangeAspect="1"/>
          </p:cNvPicPr>
          <p:nvPr/>
        </p:nvPicPr>
        <p:blipFill>
          <a:blip r:embed="rId5"/>
          <a:stretch>
            <a:fillRect/>
          </a:stretch>
        </p:blipFill>
        <p:spPr>
          <a:xfrm>
            <a:off x="9356392" y="2067818"/>
            <a:ext cx="2173828" cy="595412"/>
          </a:xfrm>
          <a:prstGeom prst="rect">
            <a:avLst/>
          </a:prstGeom>
        </p:spPr>
      </p:pic>
      <p:sp>
        <p:nvSpPr>
          <p:cNvPr id="17" name="Text 10"/>
          <p:cNvSpPr/>
          <p:nvPr/>
        </p:nvSpPr>
        <p:spPr>
          <a:xfrm>
            <a:off x="9505216" y="2797175"/>
            <a:ext cx="1876180"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Integrate</a:t>
            </a:r>
            <a:endParaRPr lang="en-US" sz="1450" dirty="0"/>
          </a:p>
        </p:txBody>
      </p:sp>
      <p:sp>
        <p:nvSpPr>
          <p:cNvPr id="18" name="Text 11"/>
          <p:cNvSpPr/>
          <p:nvPr/>
        </p:nvSpPr>
        <p:spPr>
          <a:xfrm>
            <a:off x="9505216" y="3110012"/>
            <a:ext cx="1876180" cy="452438"/>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Combinar las fuentes usando claves comunes.</a:t>
            </a:r>
            <a:endParaRPr lang="en-US" sz="1150" dirty="0"/>
          </a:p>
        </p:txBody>
      </p:sp>
      <p:pic>
        <p:nvPicPr>
          <p:cNvPr id="19" name="Image 5" descr="preencoded.png">    </p:cNvPr>
          <p:cNvPicPr>
            <a:picLocks noChangeAspect="1"/>
          </p:cNvPicPr>
          <p:nvPr/>
        </p:nvPicPr>
        <p:blipFill>
          <a:blip r:embed="rId6"/>
          <a:stretch>
            <a:fillRect/>
          </a:stretch>
        </p:blipFill>
        <p:spPr>
          <a:xfrm>
            <a:off x="661475" y="3937496"/>
            <a:ext cx="2173729" cy="595412"/>
          </a:xfrm>
          <a:prstGeom prst="rect">
            <a:avLst/>
          </a:prstGeom>
        </p:spPr>
      </p:pic>
      <p:sp>
        <p:nvSpPr>
          <p:cNvPr id="20" name="Text 12"/>
          <p:cNvSpPr/>
          <p:nvPr/>
        </p:nvSpPr>
        <p:spPr>
          <a:xfrm>
            <a:off x="810299" y="4666853"/>
            <a:ext cx="1876080"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Validate</a:t>
            </a:r>
            <a:endParaRPr lang="en-US" sz="1450" dirty="0"/>
          </a:p>
        </p:txBody>
      </p:sp>
      <p:sp>
        <p:nvSpPr>
          <p:cNvPr id="21" name="Text 13"/>
          <p:cNvSpPr/>
          <p:nvPr/>
        </p:nvSpPr>
        <p:spPr>
          <a:xfrm>
            <a:off x="810299" y="4979690"/>
            <a:ext cx="1876080" cy="678656"/>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Comprobar que el resultado es correcto antes de guardarlo.</a:t>
            </a:r>
            <a:endParaRPr lang="en-US" sz="1150" dirty="0"/>
          </a:p>
        </p:txBody>
      </p:sp>
      <p:pic>
        <p:nvPicPr>
          <p:cNvPr id="22" name="Image 6" descr="preencoded.png">    </p:cNvPr>
          <p:cNvPicPr>
            <a:picLocks noChangeAspect="1"/>
          </p:cNvPicPr>
          <p:nvPr/>
        </p:nvPicPr>
        <p:blipFill>
          <a:blip r:embed="rId7"/>
          <a:stretch>
            <a:fillRect/>
          </a:stretch>
        </p:blipFill>
        <p:spPr>
          <a:xfrm>
            <a:off x="2835204" y="3937496"/>
            <a:ext cx="2173729" cy="595412"/>
          </a:xfrm>
          <a:prstGeom prst="rect">
            <a:avLst/>
          </a:prstGeom>
        </p:spPr>
      </p:pic>
      <p:sp>
        <p:nvSpPr>
          <p:cNvPr id="23" name="Text 14"/>
          <p:cNvSpPr/>
          <p:nvPr/>
        </p:nvSpPr>
        <p:spPr>
          <a:xfrm>
            <a:off x="2984028" y="4666853"/>
            <a:ext cx="1876080"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Store</a:t>
            </a:r>
            <a:endParaRPr lang="en-US" sz="1450" dirty="0"/>
          </a:p>
        </p:txBody>
      </p:sp>
      <p:sp>
        <p:nvSpPr>
          <p:cNvPr id="24" name="Text 15"/>
          <p:cNvSpPr/>
          <p:nvPr/>
        </p:nvSpPr>
        <p:spPr>
          <a:xfrm>
            <a:off x="2984028" y="4979690"/>
            <a:ext cx="1876080" cy="678656"/>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Persistir el dataset analítico en el formato adecuado.</a:t>
            </a:r>
            <a:endParaRPr lang="en-US" sz="1150" dirty="0"/>
          </a:p>
        </p:txBody>
      </p:sp>
      <p:pic>
        <p:nvPicPr>
          <p:cNvPr id="25" name="Image 7" descr="preencoded.png">    </p:cNvPr>
          <p:cNvPicPr>
            <a:picLocks noChangeAspect="1"/>
          </p:cNvPicPr>
          <p:nvPr/>
        </p:nvPicPr>
        <p:blipFill>
          <a:blip r:embed="rId8"/>
          <a:stretch>
            <a:fillRect/>
          </a:stretch>
        </p:blipFill>
        <p:spPr>
          <a:xfrm>
            <a:off x="198433" y="203597"/>
            <a:ext cx="676357" cy="568623"/>
          </a:xfrm>
          <a:prstGeom prst="rect">
            <a:avLst/>
          </a:prstGeom>
        </p:spPr>
      </p:pic>
      <p:pic>
        <p:nvPicPr>
          <p:cNvPr id="26" name="Image 8" descr="preencoded.png">    </p:cNvPr>
          <p:cNvPicPr>
            <a:picLocks noChangeAspect="1"/>
          </p:cNvPicPr>
          <p:nvPr/>
        </p:nvPicPr>
        <p:blipFill>
          <a:blip r:embed="rId9"/>
          <a:stretch>
            <a:fillRect/>
          </a:stretch>
        </p:blipFill>
        <p:spPr>
          <a:xfrm>
            <a:off x="11386357" y="268784"/>
            <a:ext cx="606906" cy="438249"/>
          </a:xfrm>
          <a:prstGeom prst="rect">
            <a:avLst/>
          </a:prstGeom>
        </p:spPr>
      </p:pic>
      <p:sp>
        <p:nvSpPr>
          <p:cNvPr id="27" name="Text 16"/>
          <p:cNvSpPr/>
          <p:nvPr/>
        </p:nvSpPr>
        <p:spPr>
          <a:xfrm>
            <a:off x="10825388" y="6300589"/>
            <a:ext cx="1167875"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661475" y="1036737"/>
            <a:ext cx="10868745" cy="372170"/>
          </a:xfrm>
          <a:prstGeom prst="rect">
            <a:avLst/>
          </a:prstGeom>
          <a:noFill/>
          <a:ln/>
        </p:spPr>
        <p:txBody>
          <a:bodyPr wrap="none" lIns="0" tIns="0" rIns="0" bIns="0" rtlCol="0" anchor="t"/>
          <a:lstStyle/>
          <a:p>
            <a:pPr algn="l" indent="0" marL="0">
              <a:lnSpc>
                <a:spcPct val="104000"/>
              </a:lnSpc>
              <a:buNone/>
            </a:pPr>
            <a:r>
              <a:rPr lang="en-US" sz="2300" spc="-23" kern="0" dirty="0">
                <a:solidFill>
                  <a:srgbClr val="FFFFFF"/>
                </a:solidFill>
                <a:latin typeface="Alexandria Medium" pitchFamily="34" charset="0"/>
                <a:ea typeface="Alexandria Medium" pitchFamily="34" charset="-122"/>
                <a:cs typeface="Alexandria Medium" pitchFamily="34" charset="-120"/>
              </a:rPr>
              <a:t>Datos reales = datos imperfectos</a:t>
            </a:r>
            <a:endParaRPr lang="en-US" sz="2300" dirty="0"/>
          </a:p>
        </p:txBody>
      </p:sp>
      <p:sp>
        <p:nvSpPr>
          <p:cNvPr id="3" name="Text 1"/>
          <p:cNvSpPr/>
          <p:nvPr/>
        </p:nvSpPr>
        <p:spPr>
          <a:xfrm>
            <a:off x="661475" y="1676797"/>
            <a:ext cx="11478330" cy="226219"/>
          </a:xfrm>
          <a:prstGeom prst="rect">
            <a:avLst/>
          </a:prstGeom>
          <a:noFill/>
          <a:ln/>
        </p:spPr>
        <p:txBody>
          <a:bodyPr wrap="none" lIns="0" tIns="0" rIns="0" bIns="0" rtlCol="0" anchor="t"/>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Ninguna fuente real entrega datos perfectos. Este es el dataset que ShopData recibe al combinar sus tres fuentes:</a:t>
            </a:r>
            <a:endParaRPr lang="en-US" sz="11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661475" y="2053729"/>
          <a:ext cx="9143771" cy="914400"/>
        </p:xfrm>
        <a:graphic>
          <a:graphicData uri="http://schemas.openxmlformats.org/drawingml/2006/table">
            <a:tbl>
              <a:tblPr/>
              <a:tblGrid>
                <a:gridCol w="1630312"/>
                <a:gridCol w="2717186"/>
                <a:gridCol w="1630312"/>
                <a:gridCol w="2173749"/>
                <a:gridCol w="2717186"/>
              </a:tblGrid>
              <a:tr h="402818">
                <a:tc>
                  <a:txBody>
                    <a:bodyPr/>
                    <a:lstStyle/>
                    <a:p>
                      <a:pPr indent="0" marL="0">
                        <a:buNone/>
                      </a:pPr>
                      <a:r>
                        <a:rPr lang="en-US" sz="1150" b="1" dirty="0">
                          <a:solidFill>
                            <a:srgbClr val="FFFFFF"/>
                          </a:solidFill>
                          <a:latin typeface="Manrope" pitchFamily="34" charset="0"/>
                          <a:ea typeface="Manrope" pitchFamily="34" charset="-122"/>
                          <a:cs typeface="Manrope" pitchFamily="34" charset="-120"/>
                        </a:rPr>
                        <a:t>id</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c>
                  <a:txBody>
                    <a:bodyPr/>
                    <a:lstStyle/>
                    <a:p>
                      <a:pPr indent="0" marL="0">
                        <a:buNone/>
                      </a:pPr>
                      <a:r>
                        <a:rPr lang="en-US" sz="1150" b="1" dirty="0">
                          <a:solidFill>
                            <a:srgbClr val="FFFFFF"/>
                          </a:solidFill>
                          <a:latin typeface="Manrope" pitchFamily="34" charset="0"/>
                          <a:ea typeface="Manrope" pitchFamily="34" charset="-122"/>
                          <a:cs typeface="Manrope" pitchFamily="34" charset="-120"/>
                        </a:rPr>
                        <a:t>ciudad</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c>
                  <a:txBody>
                    <a:bodyPr/>
                    <a:lstStyle/>
                    <a:p>
                      <a:pPr indent="0" marL="0">
                        <a:buNone/>
                      </a:pPr>
                      <a:r>
                        <a:rPr lang="en-US" sz="1150" b="1" dirty="0">
                          <a:solidFill>
                            <a:srgbClr val="FFFFFF"/>
                          </a:solidFill>
                          <a:latin typeface="Manrope" pitchFamily="34" charset="0"/>
                          <a:ea typeface="Manrope" pitchFamily="34" charset="-122"/>
                          <a:cs typeface="Manrope" pitchFamily="34" charset="-120"/>
                        </a:rPr>
                        <a:t>edad</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c>
                  <a:txBody>
                    <a:bodyPr/>
                    <a:lstStyle/>
                    <a:p>
                      <a:pPr indent="0" marL="0">
                        <a:buNone/>
                      </a:pPr>
                      <a:r>
                        <a:rPr lang="en-US" sz="1150" b="1" dirty="0">
                          <a:solidFill>
                            <a:srgbClr val="FFFFFF"/>
                          </a:solidFill>
                          <a:latin typeface="Manrope" pitchFamily="34" charset="0"/>
                          <a:ea typeface="Manrope" pitchFamily="34" charset="-122"/>
                          <a:cs typeface="Manrope" pitchFamily="34" charset="-120"/>
                        </a:rPr>
                        <a:t>gasto</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c>
                  <a:txBody>
                    <a:bodyPr/>
                    <a:lstStyle/>
                    <a:p>
                      <a:pPr indent="0" marL="0">
                        <a:buNone/>
                      </a:pPr>
                      <a:r>
                        <a:rPr lang="en-US" sz="1150" b="1" dirty="0">
                          <a:solidFill>
                            <a:srgbClr val="FFFFFF"/>
                          </a:solidFill>
                          <a:latin typeface="Manrope" pitchFamily="34" charset="0"/>
                          <a:ea typeface="Manrope" pitchFamily="34" charset="-122"/>
                          <a:cs typeface="Manrope" pitchFamily="34" charset="-120"/>
                        </a:rPr>
                        <a:t>fecha</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r>
              <a:tr h="405993">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C01</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BCN</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28</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34.5</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2026-02-01</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405993">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C02</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Barcelona</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-4</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01/02/26</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402818">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C02</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barcelona</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31</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50,20€</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2026/02/01</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bl>
          </a:graphicData>
        </a:graphic>
      </p:graphicFrame>
      <p:sp>
        <p:nvSpPr>
          <p:cNvPr id="5" name="Text 2"/>
          <p:cNvSpPr/>
          <p:nvPr/>
        </p:nvSpPr>
        <p:spPr>
          <a:xfrm>
            <a:off x="884711" y="3985518"/>
            <a:ext cx="11255093" cy="226219"/>
          </a:xfrm>
          <a:prstGeom prst="rect">
            <a:avLst/>
          </a:prstGeom>
          <a:noFill/>
          <a:ln/>
        </p:spPr>
        <p:txBody>
          <a:bodyPr wrap="none" lIns="0" tIns="0" rIns="0" bIns="0" rtlCol="0" anchor="t"/>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¿Podemos analizar directamente estos datos?</a:t>
            </a:r>
            <a:endParaRPr lang="en-US" sz="1150" dirty="0"/>
          </a:p>
        </p:txBody>
      </p:sp>
      <p:sp>
        <p:nvSpPr>
          <p:cNvPr id="6" name="Shape 3"/>
          <p:cNvSpPr/>
          <p:nvPr/>
        </p:nvSpPr>
        <p:spPr>
          <a:xfrm>
            <a:off x="661475" y="3834805"/>
            <a:ext cx="19050" cy="527645"/>
          </a:xfrm>
          <a:prstGeom prst="roundRect">
            <a:avLst>
              <a:gd name="adj" fmla="val 49999"/>
            </a:avLst>
          </a:prstGeom>
          <a:solidFill>
            <a:srgbClr val="B499E9"/>
          </a:solidFill>
          <a:ln/>
        </p:spPr>
      </p:sp>
      <p:sp>
        <p:nvSpPr>
          <p:cNvPr id="7" name="Shape 4"/>
          <p:cNvSpPr/>
          <p:nvPr/>
        </p:nvSpPr>
        <p:spPr>
          <a:xfrm>
            <a:off x="661475" y="4513163"/>
            <a:ext cx="2616730" cy="1308100"/>
          </a:xfrm>
          <a:prstGeom prst="roundRect">
            <a:avLst>
              <a:gd name="adj" fmla="val 17069"/>
            </a:avLst>
          </a:prstGeom>
          <a:solidFill>
            <a:srgbClr val="3F2077"/>
          </a:solidFill>
          <a:ln w="6350">
            <a:solidFill>
              <a:srgbClr val="4B3082"/>
            </a:solidFill>
            <a:prstDash val="solid"/>
          </a:ln>
        </p:spPr>
      </p:sp>
      <p:sp>
        <p:nvSpPr>
          <p:cNvPr id="8" name="Text 5"/>
          <p:cNvSpPr/>
          <p:nvPr/>
        </p:nvSpPr>
        <p:spPr>
          <a:xfrm>
            <a:off x="816649" y="4668341"/>
            <a:ext cx="2306381" cy="464939"/>
          </a:xfrm>
          <a:prstGeom prst="rect">
            <a:avLst/>
          </a:prstGeom>
          <a:noFill/>
          <a:ln/>
        </p:spPr>
        <p:txBody>
          <a:bodyPr wrap="square" lIns="0" tIns="0" rIns="0" bIns="0" rtlCol="0" anchor="t">
            <a:normAutofit/>
          </a:bodyPr>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BCN ≠ Barcelona ≠ barcelona</a:t>
            </a:r>
            <a:endParaRPr lang="en-US" sz="1450" dirty="0"/>
          </a:p>
        </p:txBody>
      </p:sp>
      <p:sp>
        <p:nvSpPr>
          <p:cNvPr id="9" name="Text 6"/>
          <p:cNvSpPr/>
          <p:nvPr/>
        </p:nvSpPr>
        <p:spPr>
          <a:xfrm>
            <a:off x="816649" y="5213648"/>
            <a:ext cx="2306381" cy="452438"/>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Tres representaciones de la misma ciudad.</a:t>
            </a:r>
            <a:endParaRPr lang="en-US" sz="1150" dirty="0"/>
          </a:p>
        </p:txBody>
      </p:sp>
      <p:sp>
        <p:nvSpPr>
          <p:cNvPr id="10" name="Shape 7"/>
          <p:cNvSpPr/>
          <p:nvPr/>
        </p:nvSpPr>
        <p:spPr>
          <a:xfrm>
            <a:off x="3412147" y="4513163"/>
            <a:ext cx="2616730" cy="1308100"/>
          </a:xfrm>
          <a:prstGeom prst="roundRect">
            <a:avLst>
              <a:gd name="adj" fmla="val 17069"/>
            </a:avLst>
          </a:prstGeom>
          <a:solidFill>
            <a:srgbClr val="3F2077"/>
          </a:solidFill>
          <a:ln w="6350">
            <a:solidFill>
              <a:srgbClr val="4B3082"/>
            </a:solidFill>
            <a:prstDash val="solid"/>
          </a:ln>
        </p:spPr>
      </p:sp>
      <p:sp>
        <p:nvSpPr>
          <p:cNvPr id="11" name="Text 8"/>
          <p:cNvSpPr/>
          <p:nvPr/>
        </p:nvSpPr>
        <p:spPr>
          <a:xfrm>
            <a:off x="3567321" y="4668341"/>
            <a:ext cx="2306381"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edad = -4</a:t>
            </a:r>
            <a:endParaRPr lang="en-US" sz="1450" dirty="0"/>
          </a:p>
        </p:txBody>
      </p:sp>
      <p:sp>
        <p:nvSpPr>
          <p:cNvPr id="12" name="Text 9"/>
          <p:cNvSpPr/>
          <p:nvPr/>
        </p:nvSpPr>
        <p:spPr>
          <a:xfrm>
            <a:off x="3567321" y="4981178"/>
            <a:ext cx="2306381" cy="678656"/>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Valor imposible. ¿Error de entrada? ¿Dato faltante codificado como -4?</a:t>
            </a:r>
            <a:endParaRPr lang="en-US" sz="1150" dirty="0"/>
          </a:p>
        </p:txBody>
      </p:sp>
      <p:sp>
        <p:nvSpPr>
          <p:cNvPr id="13" name="Shape 10"/>
          <p:cNvSpPr/>
          <p:nvPr/>
        </p:nvSpPr>
        <p:spPr>
          <a:xfrm>
            <a:off x="6162818" y="4513163"/>
            <a:ext cx="2616730" cy="1308100"/>
          </a:xfrm>
          <a:prstGeom prst="roundRect">
            <a:avLst>
              <a:gd name="adj" fmla="val 17069"/>
            </a:avLst>
          </a:prstGeom>
          <a:solidFill>
            <a:srgbClr val="3F2077"/>
          </a:solidFill>
          <a:ln w="6350">
            <a:solidFill>
              <a:srgbClr val="4B3082"/>
            </a:solidFill>
            <a:prstDash val="solid"/>
          </a:ln>
        </p:spPr>
      </p:sp>
      <p:sp>
        <p:nvSpPr>
          <p:cNvPr id="14" name="Text 11"/>
          <p:cNvSpPr/>
          <p:nvPr/>
        </p:nvSpPr>
        <p:spPr>
          <a:xfrm>
            <a:off x="6317993" y="4668341"/>
            <a:ext cx="2306381"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gasto = "50,20€"</a:t>
            </a:r>
            <a:endParaRPr lang="en-US" sz="1450" dirty="0"/>
          </a:p>
        </p:txBody>
      </p:sp>
      <p:sp>
        <p:nvSpPr>
          <p:cNvPr id="15" name="Text 12"/>
          <p:cNvSpPr/>
          <p:nvPr/>
        </p:nvSpPr>
        <p:spPr>
          <a:xfrm>
            <a:off x="6317993" y="4981178"/>
            <a:ext cx="2306381" cy="452438"/>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No es un número: es texto. Hay que extraer el valor y convertirlo.</a:t>
            </a:r>
            <a:endParaRPr lang="en-US" sz="1150" dirty="0"/>
          </a:p>
        </p:txBody>
      </p:sp>
      <p:sp>
        <p:nvSpPr>
          <p:cNvPr id="16" name="Shape 13"/>
          <p:cNvSpPr/>
          <p:nvPr/>
        </p:nvSpPr>
        <p:spPr>
          <a:xfrm>
            <a:off x="8913490" y="4513163"/>
            <a:ext cx="2616730" cy="1308100"/>
          </a:xfrm>
          <a:prstGeom prst="roundRect">
            <a:avLst>
              <a:gd name="adj" fmla="val 17069"/>
            </a:avLst>
          </a:prstGeom>
          <a:solidFill>
            <a:srgbClr val="3F2077"/>
          </a:solidFill>
          <a:ln w="6350">
            <a:solidFill>
              <a:srgbClr val="4B3082"/>
            </a:solidFill>
            <a:prstDash val="solid"/>
          </a:ln>
        </p:spPr>
      </p:sp>
      <p:sp>
        <p:nvSpPr>
          <p:cNvPr id="17" name="Text 14"/>
          <p:cNvSpPr/>
          <p:nvPr/>
        </p:nvSpPr>
        <p:spPr>
          <a:xfrm>
            <a:off x="9068665" y="4668341"/>
            <a:ext cx="2306381"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id C02 duplicado</a:t>
            </a:r>
            <a:endParaRPr lang="en-US" sz="1450" dirty="0"/>
          </a:p>
        </p:txBody>
      </p:sp>
      <p:sp>
        <p:nvSpPr>
          <p:cNvPr id="18" name="Text 15"/>
          <p:cNvSpPr/>
          <p:nvPr/>
        </p:nvSpPr>
        <p:spPr>
          <a:xfrm>
            <a:off x="9068665" y="4981178"/>
            <a:ext cx="2306381" cy="452438"/>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¿Dos registros del mismo cliente o un error de carga?</a:t>
            </a:r>
            <a:endParaRPr lang="en-US" sz="1150" dirty="0"/>
          </a:p>
        </p:txBody>
      </p:sp>
      <p:pic>
        <p:nvPicPr>
          <p:cNvPr id="19"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20"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21" name="Text 16"/>
          <p:cNvSpPr/>
          <p:nvPr/>
        </p:nvSpPr>
        <p:spPr>
          <a:xfrm>
            <a:off x="10850886" y="6300589"/>
            <a:ext cx="1142376"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661475" y="1149251"/>
            <a:ext cx="10868745" cy="406995"/>
          </a:xfrm>
          <a:prstGeom prst="rect">
            <a:avLst/>
          </a:prstGeom>
          <a:noFill/>
          <a:ln/>
        </p:spPr>
        <p:txBody>
          <a:bodyPr wrap="none" lIns="0" tIns="0" rIns="0" bIns="0" rtlCol="0" anchor="t"/>
          <a:lstStyle/>
          <a:p>
            <a:pPr algn="l" indent="0" marL="0">
              <a:lnSpc>
                <a:spcPct val="104000"/>
              </a:lnSpc>
              <a:buNone/>
            </a:pPr>
            <a:r>
              <a:rPr lang="en-US" sz="2550" spc="-26" kern="0" dirty="0">
                <a:solidFill>
                  <a:srgbClr val="FFFFFF"/>
                </a:solidFill>
                <a:latin typeface="Alexandria Medium" pitchFamily="34" charset="0"/>
                <a:ea typeface="Alexandria Medium" pitchFamily="34" charset="-122"/>
                <a:cs typeface="Alexandria Medium" pitchFamily="34" charset="-120"/>
              </a:rPr>
              <a:t>Problemas habituales en datos reales</a:t>
            </a:r>
            <a:endParaRPr lang="en-US" sz="25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876723"/>
            <a:ext cx="2596986" cy="1489373"/>
          </a:xfrm>
          <a:prstGeom prst="rect">
            <a:avLst/>
          </a:prstGeom>
        </p:spPr>
      </p:pic>
      <p:sp>
        <p:nvSpPr>
          <p:cNvPr id="4" name="Text 1"/>
          <p:cNvSpPr/>
          <p:nvPr/>
        </p:nvSpPr>
        <p:spPr>
          <a:xfrm>
            <a:off x="919437" y="2058491"/>
            <a:ext cx="2157259" cy="254298"/>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Valores ausentes</a:t>
            </a:r>
            <a:endParaRPr lang="en-US" sz="1600" dirty="0"/>
          </a:p>
        </p:txBody>
      </p:sp>
      <p:sp>
        <p:nvSpPr>
          <p:cNvPr id="5" name="Text 2"/>
          <p:cNvSpPr/>
          <p:nvPr/>
        </p:nvSpPr>
        <p:spPr>
          <a:xfrm>
            <a:off x="919437" y="2408932"/>
            <a:ext cx="2157259" cy="775395"/>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FFFFFF"/>
                </a:solidFill>
                <a:latin typeface="Manrope" pitchFamily="34" charset="0"/>
                <a:ea typeface="Manrope" pitchFamily="34" charset="-122"/>
                <a:cs typeface="Manrope" pitchFamily="34" charset="-120"/>
              </a:rPr>
              <a:t>NaN, None, vacíos. Impiden cálculos y distorsionan estadísticas.</a:t>
            </a:r>
            <a:endParaRPr lang="en-US" sz="12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18695" y="1876723"/>
            <a:ext cx="2596986" cy="1489373"/>
          </a:xfrm>
          <a:prstGeom prst="rect">
            <a:avLst/>
          </a:prstGeom>
        </p:spPr>
      </p:pic>
      <p:sp>
        <p:nvSpPr>
          <p:cNvPr id="7" name="Text 3"/>
          <p:cNvSpPr/>
          <p:nvPr/>
        </p:nvSpPr>
        <p:spPr>
          <a:xfrm>
            <a:off x="3676657" y="2058491"/>
            <a:ext cx="2157259" cy="254298"/>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Duplicados</a:t>
            </a:r>
            <a:endParaRPr lang="en-US" sz="1600" dirty="0"/>
          </a:p>
        </p:txBody>
      </p:sp>
      <p:sp>
        <p:nvSpPr>
          <p:cNvPr id="8" name="Text 4"/>
          <p:cNvSpPr/>
          <p:nvPr/>
        </p:nvSpPr>
        <p:spPr>
          <a:xfrm>
            <a:off x="3676657" y="2408932"/>
            <a:ext cx="2157259" cy="775395"/>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FFFFFF"/>
                </a:solidFill>
                <a:latin typeface="Manrope" pitchFamily="34" charset="0"/>
                <a:ea typeface="Manrope" pitchFamily="34" charset="-122"/>
                <a:cs typeface="Manrope" pitchFamily="34" charset="-120"/>
              </a:rPr>
              <a:t>El mismo registro aparece más de una vez, inflando totales y medias.</a:t>
            </a:r>
            <a:endParaRPr lang="en-US" sz="12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75915" y="1876723"/>
            <a:ext cx="2596986" cy="1489373"/>
          </a:xfrm>
          <a:prstGeom prst="rect">
            <a:avLst/>
          </a:prstGeom>
        </p:spPr>
      </p:pic>
      <p:sp>
        <p:nvSpPr>
          <p:cNvPr id="10" name="Text 5"/>
          <p:cNvSpPr/>
          <p:nvPr/>
        </p:nvSpPr>
        <p:spPr>
          <a:xfrm>
            <a:off x="6433877" y="2058491"/>
            <a:ext cx="2157259" cy="254298"/>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Tipos incorrectos</a:t>
            </a:r>
            <a:endParaRPr lang="en-US" sz="1600" dirty="0"/>
          </a:p>
        </p:txBody>
      </p:sp>
      <p:sp>
        <p:nvSpPr>
          <p:cNvPr id="11" name="Text 6"/>
          <p:cNvSpPr/>
          <p:nvPr/>
        </p:nvSpPr>
        <p:spPr>
          <a:xfrm>
            <a:off x="6433877" y="2408932"/>
            <a:ext cx="2157259" cy="775395"/>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FFFFFF"/>
                </a:solidFill>
                <a:highlight>
                  <a:srgbClr val="583592"/>
                </a:highlight>
                <a:latin typeface="Consolas" pitchFamily="34" charset="0"/>
                <a:ea typeface="Consolas" pitchFamily="34" charset="-122"/>
                <a:cs typeface="Consolas" pitchFamily="34" charset="-120"/>
              </a:rPr>
              <a:t>"100"</a:t>
            </a:r>
            <a:pPr algn="l" indent="0" marL="0">
              <a:lnSpc>
                <a:spcPct val="132000"/>
              </a:lnSpc>
              <a:buNone/>
            </a:pPr>
            <a:r>
              <a:rPr lang="en-US" sz="1250" dirty="0">
                <a:solidFill>
                  <a:srgbClr val="FFFFFF"/>
                </a:solidFill>
                <a:latin typeface="Manrope" pitchFamily="34" charset="0"/>
                <a:ea typeface="Manrope" pitchFamily="34" charset="-122"/>
                <a:cs typeface="Manrope" pitchFamily="34" charset="-120"/>
              </a:rPr>
              <a:t> en lugar de </a:t>
            </a:r>
            <a:pPr algn="l" indent="0" marL="0">
              <a:lnSpc>
                <a:spcPct val="132000"/>
              </a:lnSpc>
              <a:buNone/>
            </a:pPr>
            <a:r>
              <a:rPr lang="en-US" sz="1250" dirty="0">
                <a:solidFill>
                  <a:srgbClr val="FFFFFF"/>
                </a:solidFill>
                <a:highlight>
                  <a:srgbClr val="583592"/>
                </a:highlight>
                <a:latin typeface="Consolas" pitchFamily="34" charset="0"/>
                <a:ea typeface="Consolas" pitchFamily="34" charset="-122"/>
                <a:cs typeface="Consolas" pitchFamily="34" charset="-120"/>
              </a:rPr>
              <a:t>100</a:t>
            </a:r>
            <a:pPr algn="l" indent="0" marL="0">
              <a:lnSpc>
                <a:spcPct val="132000"/>
              </a:lnSpc>
              <a:buNone/>
            </a:pPr>
            <a:r>
              <a:rPr lang="en-US" sz="1250" dirty="0">
                <a:solidFill>
                  <a:srgbClr val="FFFFFF"/>
                </a:solidFill>
                <a:latin typeface="Manrope" pitchFamily="34" charset="0"/>
                <a:ea typeface="Manrope" pitchFamily="34" charset="-122"/>
                <a:cs typeface="Manrope" pitchFamily="34" charset="-120"/>
              </a:rPr>
              <a:t>. Las operaciones matemáticas fallan.</a:t>
            </a:r>
            <a:endParaRPr lang="en-US" sz="125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933135" y="1876723"/>
            <a:ext cx="2597085" cy="1489373"/>
          </a:xfrm>
          <a:prstGeom prst="rect">
            <a:avLst/>
          </a:prstGeom>
        </p:spPr>
      </p:pic>
      <p:sp>
        <p:nvSpPr>
          <p:cNvPr id="13" name="Text 7"/>
          <p:cNvSpPr/>
          <p:nvPr/>
        </p:nvSpPr>
        <p:spPr>
          <a:xfrm>
            <a:off x="9191097" y="2058491"/>
            <a:ext cx="2157359" cy="254298"/>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Errores tipográficos</a:t>
            </a:r>
            <a:endParaRPr lang="en-US" sz="1600" dirty="0"/>
          </a:p>
        </p:txBody>
      </p:sp>
      <p:sp>
        <p:nvSpPr>
          <p:cNvPr id="14" name="Text 8"/>
          <p:cNvSpPr/>
          <p:nvPr/>
        </p:nvSpPr>
        <p:spPr>
          <a:xfrm>
            <a:off x="9191097" y="2408932"/>
            <a:ext cx="2157359" cy="775395"/>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FFFFFF"/>
                </a:solidFill>
                <a:latin typeface="Manrope" pitchFamily="34" charset="0"/>
                <a:ea typeface="Manrope" pitchFamily="34" charset="-122"/>
                <a:cs typeface="Manrope" pitchFamily="34" charset="-120"/>
              </a:rPr>
              <a:t>"Barclona", "madrid ", " Barcelona". Cada variante es una categoría diferente.</a:t>
            </a:r>
            <a:endParaRPr lang="en-US" sz="1250" dirty="0"/>
          </a:p>
        </p:txBody>
      </p:sp>
      <p:pic>
        <p:nvPicPr>
          <p:cNvPr id="1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1475" y="3526334"/>
            <a:ext cx="2596986" cy="1743670"/>
          </a:xfrm>
          <a:prstGeom prst="rect">
            <a:avLst/>
          </a:prstGeom>
        </p:spPr>
      </p:pic>
      <p:sp>
        <p:nvSpPr>
          <p:cNvPr id="16" name="Text 9"/>
          <p:cNvSpPr/>
          <p:nvPr/>
        </p:nvSpPr>
        <p:spPr>
          <a:xfrm>
            <a:off x="919437" y="3708102"/>
            <a:ext cx="2157259" cy="254298"/>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Unidades diferentes</a:t>
            </a:r>
            <a:endParaRPr lang="en-US" sz="1600" dirty="0"/>
          </a:p>
        </p:txBody>
      </p:sp>
      <p:sp>
        <p:nvSpPr>
          <p:cNvPr id="17" name="Text 10"/>
          <p:cNvSpPr/>
          <p:nvPr/>
        </p:nvSpPr>
        <p:spPr>
          <a:xfrm>
            <a:off x="919437" y="4058543"/>
            <a:ext cx="2157259" cy="516930"/>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FFFFFF"/>
                </a:solidFill>
                <a:latin typeface="Manrope" pitchFamily="34" charset="0"/>
                <a:ea typeface="Manrope" pitchFamily="34" charset="-122"/>
                <a:cs typeface="Manrope" pitchFamily="34" charset="-120"/>
              </a:rPr>
              <a:t>25 °C vs. 77 °F. Kilómetros vs. millas. Euros vs. dólares.</a:t>
            </a:r>
            <a:endParaRPr lang="en-US" sz="1250" dirty="0"/>
          </a:p>
        </p:txBody>
      </p:sp>
      <p:pic>
        <p:nvPicPr>
          <p:cNvPr id="18"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418695" y="3526334"/>
            <a:ext cx="2596986" cy="1743670"/>
          </a:xfrm>
          <a:prstGeom prst="rect">
            <a:avLst/>
          </a:prstGeom>
        </p:spPr>
      </p:pic>
      <p:sp>
        <p:nvSpPr>
          <p:cNvPr id="19" name="Text 11"/>
          <p:cNvSpPr/>
          <p:nvPr/>
        </p:nvSpPr>
        <p:spPr>
          <a:xfrm>
            <a:off x="3676657" y="3708102"/>
            <a:ext cx="2157259" cy="508595"/>
          </a:xfrm>
          <a:prstGeom prst="rect">
            <a:avLst/>
          </a:prstGeom>
          <a:noFill/>
          <a:ln/>
        </p:spPr>
        <p:txBody>
          <a:bodyPr wrap="square" lIns="0" tIns="0" rIns="0" bIns="0" rtlCol="0" anchor="t">
            <a:normAutofit/>
          </a:bodyPr>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Fechas incompatibles</a:t>
            </a:r>
            <a:endParaRPr lang="en-US" sz="1600" dirty="0"/>
          </a:p>
        </p:txBody>
      </p:sp>
      <p:sp>
        <p:nvSpPr>
          <p:cNvPr id="20" name="Text 12"/>
          <p:cNvSpPr/>
          <p:nvPr/>
        </p:nvSpPr>
        <p:spPr>
          <a:xfrm>
            <a:off x="3676657" y="4312841"/>
            <a:ext cx="2157259" cy="775395"/>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FFFFFF"/>
                </a:solidFill>
                <a:latin typeface="Manrope" pitchFamily="34" charset="0"/>
                <a:ea typeface="Manrope" pitchFamily="34" charset="-122"/>
                <a:cs typeface="Manrope" pitchFamily="34" charset="-120"/>
              </a:rPr>
              <a:t>21/08/2026 vs. 08-21-2026 vs. 2026-08-21. Mismo día, tres formatos.</a:t>
            </a:r>
            <a:endParaRPr lang="en-US" sz="1250" dirty="0"/>
          </a:p>
        </p:txBody>
      </p:sp>
      <p:pic>
        <p:nvPicPr>
          <p:cNvPr id="21"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175915" y="3526334"/>
            <a:ext cx="2596986" cy="1743670"/>
          </a:xfrm>
          <a:prstGeom prst="rect">
            <a:avLst/>
          </a:prstGeom>
        </p:spPr>
      </p:pic>
      <p:sp>
        <p:nvSpPr>
          <p:cNvPr id="22" name="Text 13"/>
          <p:cNvSpPr/>
          <p:nvPr/>
        </p:nvSpPr>
        <p:spPr>
          <a:xfrm>
            <a:off x="6433877" y="3708102"/>
            <a:ext cx="2157259" cy="254298"/>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Valores imposibles</a:t>
            </a:r>
            <a:endParaRPr lang="en-US" sz="1600" dirty="0"/>
          </a:p>
        </p:txBody>
      </p:sp>
      <p:sp>
        <p:nvSpPr>
          <p:cNvPr id="23" name="Text 14"/>
          <p:cNvSpPr/>
          <p:nvPr/>
        </p:nvSpPr>
        <p:spPr>
          <a:xfrm>
            <a:off x="6433877" y="4058543"/>
            <a:ext cx="2157259" cy="775395"/>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FFFFFF"/>
                </a:solidFill>
                <a:latin typeface="Manrope" pitchFamily="34" charset="0"/>
                <a:ea typeface="Manrope" pitchFamily="34" charset="-122"/>
                <a:cs typeface="Manrope" pitchFamily="34" charset="-120"/>
              </a:rPr>
              <a:t>Edad negativa, temperatura de 900°C, fecha en el futuro para una venta pasada.</a:t>
            </a:r>
            <a:endParaRPr lang="en-US" sz="1250" dirty="0"/>
          </a:p>
        </p:txBody>
      </p:sp>
      <p:pic>
        <p:nvPicPr>
          <p:cNvPr id="24"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933135" y="3526334"/>
            <a:ext cx="2597085" cy="1743670"/>
          </a:xfrm>
          <a:prstGeom prst="rect">
            <a:avLst/>
          </a:prstGeom>
        </p:spPr>
      </p:pic>
      <p:sp>
        <p:nvSpPr>
          <p:cNvPr id="25" name="Text 15"/>
          <p:cNvSpPr/>
          <p:nvPr/>
        </p:nvSpPr>
        <p:spPr>
          <a:xfrm>
            <a:off x="9191097" y="3708102"/>
            <a:ext cx="2157359" cy="508595"/>
          </a:xfrm>
          <a:prstGeom prst="rect">
            <a:avLst/>
          </a:prstGeom>
          <a:noFill/>
          <a:ln/>
        </p:spPr>
        <p:txBody>
          <a:bodyPr wrap="square" lIns="0" tIns="0" rIns="0" bIns="0" rtlCol="0" anchor="t">
            <a:normAutofit/>
          </a:bodyPr>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Categorías inconsistentes</a:t>
            </a:r>
            <a:endParaRPr lang="en-US" sz="1600" dirty="0"/>
          </a:p>
        </p:txBody>
      </p:sp>
      <p:sp>
        <p:nvSpPr>
          <p:cNvPr id="26" name="Text 16"/>
          <p:cNvSpPr/>
          <p:nvPr/>
        </p:nvSpPr>
        <p:spPr>
          <a:xfrm>
            <a:off x="9191097" y="4312841"/>
            <a:ext cx="2157359" cy="775395"/>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FFFFFF"/>
                </a:solidFill>
                <a:latin typeface="Manrope" pitchFamily="34" charset="0"/>
                <a:ea typeface="Manrope" pitchFamily="34" charset="-122"/>
                <a:cs typeface="Manrope" pitchFamily="34" charset="-120"/>
              </a:rPr>
              <a:t>"Activo", "activo", "ACTIVO", "1". Todos significan lo mismo pero son valores distintos.</a:t>
            </a:r>
            <a:endParaRPr lang="en-US" sz="1250" dirty="0"/>
          </a:p>
        </p:txBody>
      </p:sp>
      <p:sp>
        <p:nvSpPr>
          <p:cNvPr id="27" name="Text 17"/>
          <p:cNvSpPr/>
          <p:nvPr/>
        </p:nvSpPr>
        <p:spPr>
          <a:xfrm>
            <a:off x="661475" y="5450284"/>
            <a:ext cx="11478330" cy="258465"/>
          </a:xfrm>
          <a:prstGeom prst="rect">
            <a:avLst/>
          </a:prstGeom>
          <a:noFill/>
          <a:ln/>
        </p:spPr>
        <p:txBody>
          <a:bodyPr wrap="none" lIns="0" tIns="0" rIns="0" bIns="0" rtlCol="0" anchor="t"/>
          <a:lstStyle/>
          <a:p>
            <a:pPr algn="l" indent="0" marL="0">
              <a:lnSpc>
                <a:spcPct val="132000"/>
              </a:lnSpc>
              <a:buNone/>
            </a:pPr>
            <a:r>
              <a:rPr lang="en-US" sz="1250" dirty="0">
                <a:solidFill>
                  <a:srgbClr val="FFFFFF"/>
                </a:solidFill>
                <a:latin typeface="Manrope" pitchFamily="34" charset="0"/>
                <a:ea typeface="Manrope" pitchFamily="34" charset="-122"/>
                <a:cs typeface="Manrope" pitchFamily="34" charset="-120"/>
              </a:rPr>
              <a:t>Distinguir problemas de </a:t>
            </a:r>
            <a:pPr algn="l" indent="0" marL="0">
              <a:lnSpc>
                <a:spcPct val="132000"/>
              </a:lnSpc>
              <a:buNone/>
            </a:pPr>
            <a:r>
              <a:rPr lang="en-US" sz="1250" b="1" dirty="0">
                <a:solidFill>
                  <a:srgbClr val="FFFFFF"/>
                </a:solidFill>
                <a:latin typeface="Manrope Bold" pitchFamily="34" charset="0"/>
                <a:ea typeface="Manrope Bold" pitchFamily="34" charset="-122"/>
                <a:cs typeface="Manrope Bold" pitchFamily="34" charset="-120"/>
              </a:rPr>
              <a:t>formato</a:t>
            </a:r>
            <a:pPr algn="l" indent="0" marL="0">
              <a:lnSpc>
                <a:spcPct val="132000"/>
              </a:lnSpc>
              <a:buNone/>
            </a:pPr>
            <a:r>
              <a:rPr lang="en-US" sz="1250" dirty="0">
                <a:solidFill>
                  <a:srgbClr val="FFFFFF"/>
                </a:solidFill>
                <a:latin typeface="Manrope" pitchFamily="34" charset="0"/>
                <a:ea typeface="Manrope" pitchFamily="34" charset="-122"/>
                <a:cs typeface="Manrope" pitchFamily="34" charset="-120"/>
              </a:rPr>
              <a:t> (cómo está representado el valor) de problemas de </a:t>
            </a:r>
            <a:pPr algn="l" indent="0" marL="0">
              <a:lnSpc>
                <a:spcPct val="132000"/>
              </a:lnSpc>
              <a:buNone/>
            </a:pPr>
            <a:r>
              <a:rPr lang="en-US" sz="1250" b="1" dirty="0">
                <a:solidFill>
                  <a:srgbClr val="FFFFFF"/>
                </a:solidFill>
                <a:latin typeface="Manrope Bold" pitchFamily="34" charset="0"/>
                <a:ea typeface="Manrope Bold" pitchFamily="34" charset="-122"/>
                <a:cs typeface="Manrope Bold" pitchFamily="34" charset="-120"/>
              </a:rPr>
              <a:t>significado</a:t>
            </a:r>
            <a:pPr algn="l" indent="0" marL="0">
              <a:lnSpc>
                <a:spcPct val="132000"/>
              </a:lnSpc>
              <a:buNone/>
            </a:pPr>
            <a:r>
              <a:rPr lang="en-US" sz="1250" dirty="0">
                <a:solidFill>
                  <a:srgbClr val="FFFFFF"/>
                </a:solidFill>
                <a:latin typeface="Manrope" pitchFamily="34" charset="0"/>
                <a:ea typeface="Manrope" pitchFamily="34" charset="-122"/>
                <a:cs typeface="Manrope" pitchFamily="34" charset="-120"/>
              </a:rPr>
              <a:t> (el valor en sí es incorrecto o incoherente).</a:t>
            </a:r>
            <a:endParaRPr lang="en-US" sz="1250" dirty="0"/>
          </a:p>
        </p:txBody>
      </p:sp>
      <p:pic>
        <p:nvPicPr>
          <p:cNvPr id="28" name="Image 8" descr="preencoded.png">    </p:cNvPr>
          <p:cNvPicPr>
            <a:picLocks noChangeAspect="1"/>
          </p:cNvPicPr>
          <p:nvPr/>
        </p:nvPicPr>
        <p:blipFill>
          <a:blip r:embed="rId17"/>
          <a:stretch>
            <a:fillRect/>
          </a:stretch>
        </p:blipFill>
        <p:spPr>
          <a:xfrm>
            <a:off x="198433" y="203597"/>
            <a:ext cx="676357" cy="568623"/>
          </a:xfrm>
          <a:prstGeom prst="rect">
            <a:avLst/>
          </a:prstGeom>
        </p:spPr>
      </p:pic>
      <p:pic>
        <p:nvPicPr>
          <p:cNvPr id="29" name="Image 9" descr="preencoded.png">    </p:cNvPr>
          <p:cNvPicPr>
            <a:picLocks noChangeAspect="1"/>
          </p:cNvPicPr>
          <p:nvPr/>
        </p:nvPicPr>
        <p:blipFill>
          <a:blip r:embed="rId18"/>
          <a:stretch>
            <a:fillRect/>
          </a:stretch>
        </p:blipFill>
        <p:spPr>
          <a:xfrm>
            <a:off x="11386357" y="268784"/>
            <a:ext cx="606906" cy="438249"/>
          </a:xfrm>
          <a:prstGeom prst="rect">
            <a:avLst/>
          </a:prstGeom>
        </p:spPr>
      </p:pic>
      <p:sp>
        <p:nvSpPr>
          <p:cNvPr id="30" name="Text 18"/>
          <p:cNvSpPr/>
          <p:nvPr/>
        </p:nvSpPr>
        <p:spPr>
          <a:xfrm>
            <a:off x="10830051" y="6300589"/>
            <a:ext cx="1163212"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661475" y="1032371"/>
            <a:ext cx="10868745" cy="351433"/>
          </a:xfrm>
          <a:prstGeom prst="rect">
            <a:avLst/>
          </a:prstGeom>
          <a:noFill/>
          <a:ln/>
        </p:spPr>
        <p:txBody>
          <a:bodyPr wrap="none" lIns="0" tIns="0" rIns="0" bIns="0" rtlCol="0" anchor="t"/>
          <a:lstStyle/>
          <a:p>
            <a:pPr algn="l" indent="0" marL="0">
              <a:lnSpc>
                <a:spcPct val="104000"/>
              </a:lnSpc>
              <a:buNone/>
            </a:pPr>
            <a:r>
              <a:rPr lang="en-US" sz="2200" spc="-22" kern="0" dirty="0">
                <a:solidFill>
                  <a:srgbClr val="FFFFFF"/>
                </a:solidFill>
                <a:latin typeface="Alexandria Medium" pitchFamily="34" charset="0"/>
                <a:ea typeface="Alexandria Medium" pitchFamily="34" charset="-122"/>
                <a:cs typeface="Alexandria Medium" pitchFamily="34" charset="-120"/>
              </a:rPr>
              <a:t>Tipos de datos: la importancia de tipificar correctamente</a:t>
            </a:r>
            <a:endParaRPr lang="en-US" sz="2200" dirty="0"/>
          </a:p>
        </p:txBody>
      </p:sp>
      <p:sp>
        <p:nvSpPr>
          <p:cNvPr id="3" name="Text 1"/>
          <p:cNvSpPr/>
          <p:nvPr/>
        </p:nvSpPr>
        <p:spPr>
          <a:xfrm>
            <a:off x="661475" y="1682452"/>
            <a:ext cx="5262927"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Tipos fundamentales</a:t>
            </a:r>
            <a:endParaRPr lang="en-US" sz="135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661475" y="2036366"/>
          <a:ext cx="9143771" cy="914400"/>
        </p:xfrm>
        <a:graphic>
          <a:graphicData uri="http://schemas.openxmlformats.org/drawingml/2006/table">
            <a:tbl>
              <a:tblPr/>
              <a:tblGrid>
                <a:gridCol w="1578878"/>
                <a:gridCol w="3684049"/>
              </a:tblGrid>
              <a:tr h="367199">
                <a:tc>
                  <a:txBody>
                    <a:bodyPr/>
                    <a:lstStyle/>
                    <a:p>
                      <a:pPr indent="0" marL="0">
                        <a:buNone/>
                      </a:pPr>
                      <a:r>
                        <a:rPr lang="en-US" sz="1100" b="1" dirty="0">
                          <a:solidFill>
                            <a:srgbClr val="FFFFFF"/>
                          </a:solidFill>
                          <a:latin typeface="Manrope" pitchFamily="34" charset="0"/>
                          <a:ea typeface="Manrope" pitchFamily="34" charset="-122"/>
                          <a:cs typeface="Manrope" pitchFamily="34" charset="-120"/>
                        </a:rPr>
                        <a:t>Tipo</a:t>
                      </a:r>
                      <a:endParaRPr lang="en-US" sz="1100" dirty="0">
                        <a:latin typeface="Manrope" charset="0"/>
                        <a:ea typeface="Manrope" charset="0"/>
                        <a:cs typeface="Manrope" charset="0"/>
                      </a:endParaRPr>
                    </a:p>
                  </a:txBody>
                  <a:tcPr marL="140582" marR="14058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c>
                  <a:txBody>
                    <a:bodyPr/>
                    <a:lstStyle/>
                    <a:p>
                      <a:pPr indent="0" marL="0">
                        <a:buNone/>
                      </a:pPr>
                      <a:r>
                        <a:rPr lang="en-US" sz="1100" b="1" dirty="0">
                          <a:solidFill>
                            <a:srgbClr val="FFFFFF"/>
                          </a:solidFill>
                          <a:latin typeface="Manrope" pitchFamily="34" charset="0"/>
                          <a:ea typeface="Manrope" pitchFamily="34" charset="-122"/>
                          <a:cs typeface="Manrope" pitchFamily="34" charset="-120"/>
                        </a:rPr>
                        <a:t>Ejemplo en ShopData</a:t>
                      </a:r>
                      <a:endParaRPr lang="en-US" sz="1100" dirty="0">
                        <a:latin typeface="Manrope" charset="0"/>
                        <a:ea typeface="Manrope" charset="0"/>
                        <a:cs typeface="Manrope" charset="0"/>
                      </a:endParaRPr>
                    </a:p>
                  </a:txBody>
                  <a:tcPr marL="140582" marR="14058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r>
              <a:tr h="370374">
                <a:tc>
                  <a:txBody>
                    <a:bodyPr/>
                    <a:lstStyle/>
                    <a:p>
                      <a:pPr indent="0" marL="0">
                        <a:buNone/>
                      </a:pPr>
                      <a:r>
                        <a:rPr lang="en-US" sz="1100" dirty="0">
                          <a:solidFill>
                            <a:srgbClr val="FFFFFF"/>
                          </a:solidFill>
                          <a:latin typeface="Manrope" pitchFamily="34" charset="0"/>
                          <a:ea typeface="Manrope" pitchFamily="34" charset="-122"/>
                          <a:cs typeface="Manrope" pitchFamily="34" charset="-120"/>
                        </a:rPr>
                        <a:t>integer</a:t>
                      </a:r>
                      <a:endParaRPr lang="en-US" sz="1100" dirty="0">
                        <a:latin typeface="Manrope" charset="0"/>
                        <a:ea typeface="Manrope" charset="0"/>
                        <a:cs typeface="Manrope" charset="0"/>
                      </a:endParaRPr>
                    </a:p>
                  </a:txBody>
                  <a:tcPr marL="140582" marR="14058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00" dirty="0">
                          <a:solidFill>
                            <a:srgbClr val="FFFFFF"/>
                          </a:solidFill>
                          <a:latin typeface="Manrope" pitchFamily="34" charset="0"/>
                          <a:ea typeface="Manrope" pitchFamily="34" charset="-122"/>
                          <a:cs typeface="Manrope" pitchFamily="34" charset="-120"/>
                        </a:rPr>
                        <a:t>Edad del cliente, unidades vendidas</a:t>
                      </a:r>
                      <a:endParaRPr lang="en-US" sz="1100" dirty="0">
                        <a:latin typeface="Manrope" charset="0"/>
                        <a:ea typeface="Manrope" charset="0"/>
                        <a:cs typeface="Manrope" charset="0"/>
                      </a:endParaRPr>
                    </a:p>
                  </a:txBody>
                  <a:tcPr marL="140582" marR="14058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370374">
                <a:tc>
                  <a:txBody>
                    <a:bodyPr/>
                    <a:lstStyle/>
                    <a:p>
                      <a:pPr indent="0" marL="0">
                        <a:buNone/>
                      </a:pPr>
                      <a:r>
                        <a:rPr lang="en-US" sz="1100" dirty="0">
                          <a:solidFill>
                            <a:srgbClr val="FFFFFF"/>
                          </a:solidFill>
                          <a:latin typeface="Manrope" pitchFamily="34" charset="0"/>
                          <a:ea typeface="Manrope" pitchFamily="34" charset="-122"/>
                          <a:cs typeface="Manrope" pitchFamily="34" charset="-120"/>
                        </a:rPr>
                        <a:t>float</a:t>
                      </a:r>
                      <a:endParaRPr lang="en-US" sz="1100" dirty="0">
                        <a:latin typeface="Manrope" charset="0"/>
                        <a:ea typeface="Manrope" charset="0"/>
                        <a:cs typeface="Manrope" charset="0"/>
                      </a:endParaRPr>
                    </a:p>
                  </a:txBody>
                  <a:tcPr marL="140582" marR="14058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00" dirty="0">
                          <a:solidFill>
                            <a:srgbClr val="FFFFFF"/>
                          </a:solidFill>
                          <a:latin typeface="Manrope" pitchFamily="34" charset="0"/>
                          <a:ea typeface="Manrope" pitchFamily="34" charset="-122"/>
                          <a:cs typeface="Manrope" pitchFamily="34" charset="-120"/>
                        </a:rPr>
                        <a:t>Importe de una venta: 124.50</a:t>
                      </a:r>
                      <a:endParaRPr lang="en-US" sz="1100" dirty="0">
                        <a:latin typeface="Manrope" charset="0"/>
                        <a:ea typeface="Manrope" charset="0"/>
                        <a:cs typeface="Manrope" charset="0"/>
                      </a:endParaRPr>
                    </a:p>
                  </a:txBody>
                  <a:tcPr marL="140582" marR="14058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370374">
                <a:tc>
                  <a:txBody>
                    <a:bodyPr/>
                    <a:lstStyle/>
                    <a:p>
                      <a:pPr indent="0" marL="0">
                        <a:buNone/>
                      </a:pPr>
                      <a:r>
                        <a:rPr lang="en-US" sz="1100" dirty="0">
                          <a:solidFill>
                            <a:srgbClr val="FFFFFF"/>
                          </a:solidFill>
                          <a:latin typeface="Manrope" pitchFamily="34" charset="0"/>
                          <a:ea typeface="Manrope" pitchFamily="34" charset="-122"/>
                          <a:cs typeface="Manrope" pitchFamily="34" charset="-120"/>
                        </a:rPr>
                        <a:t>string</a:t>
                      </a:r>
                      <a:endParaRPr lang="en-US" sz="1100" dirty="0">
                        <a:latin typeface="Manrope" charset="0"/>
                        <a:ea typeface="Manrope" charset="0"/>
                        <a:cs typeface="Manrope" charset="0"/>
                      </a:endParaRPr>
                    </a:p>
                  </a:txBody>
                  <a:tcPr marL="140582" marR="14058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00" dirty="0">
                          <a:solidFill>
                            <a:srgbClr val="FFFFFF"/>
                          </a:solidFill>
                          <a:latin typeface="Manrope" pitchFamily="34" charset="0"/>
                          <a:ea typeface="Manrope" pitchFamily="34" charset="-122"/>
                          <a:cs typeface="Manrope" pitchFamily="34" charset="-120"/>
                        </a:rPr>
                        <a:t>Nombre de ciudad, descripción de producto</a:t>
                      </a:r>
                      <a:endParaRPr lang="en-US" sz="1100" dirty="0">
                        <a:latin typeface="Manrope" charset="0"/>
                        <a:ea typeface="Manrope" charset="0"/>
                        <a:cs typeface="Manrope" charset="0"/>
                      </a:endParaRPr>
                    </a:p>
                  </a:txBody>
                  <a:tcPr marL="140582" marR="14058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370374">
                <a:tc>
                  <a:txBody>
                    <a:bodyPr/>
                    <a:lstStyle/>
                    <a:p>
                      <a:pPr indent="0" marL="0">
                        <a:buNone/>
                      </a:pPr>
                      <a:r>
                        <a:rPr lang="en-US" sz="1100" dirty="0">
                          <a:solidFill>
                            <a:srgbClr val="FFFFFF"/>
                          </a:solidFill>
                          <a:latin typeface="Manrope" pitchFamily="34" charset="0"/>
                          <a:ea typeface="Manrope" pitchFamily="34" charset="-122"/>
                          <a:cs typeface="Manrope" pitchFamily="34" charset="-120"/>
                        </a:rPr>
                        <a:t>boolean</a:t>
                      </a:r>
                      <a:endParaRPr lang="en-US" sz="1100" dirty="0">
                        <a:latin typeface="Manrope" charset="0"/>
                        <a:ea typeface="Manrope" charset="0"/>
                        <a:cs typeface="Manrope" charset="0"/>
                      </a:endParaRPr>
                    </a:p>
                  </a:txBody>
                  <a:tcPr marL="140582" marR="14058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00" dirty="0">
                          <a:solidFill>
                            <a:srgbClr val="FFFFFF"/>
                          </a:solidFill>
                          <a:latin typeface="Manrope" pitchFamily="34" charset="0"/>
                          <a:ea typeface="Manrope" pitchFamily="34" charset="-122"/>
                          <a:cs typeface="Manrope" pitchFamily="34" charset="-120"/>
                        </a:rPr>
                        <a:t>Cliente VIP: True/False</a:t>
                      </a:r>
                      <a:endParaRPr lang="en-US" sz="1100" dirty="0">
                        <a:latin typeface="Manrope" charset="0"/>
                        <a:ea typeface="Manrope" charset="0"/>
                        <a:cs typeface="Manrope" charset="0"/>
                      </a:endParaRPr>
                    </a:p>
                  </a:txBody>
                  <a:tcPr marL="140582" marR="14058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370374">
                <a:tc>
                  <a:txBody>
                    <a:bodyPr/>
                    <a:lstStyle/>
                    <a:p>
                      <a:pPr indent="0" marL="0">
                        <a:buNone/>
                      </a:pPr>
                      <a:r>
                        <a:rPr lang="en-US" sz="1100" dirty="0">
                          <a:solidFill>
                            <a:srgbClr val="FFFFFF"/>
                          </a:solidFill>
                          <a:latin typeface="Manrope" pitchFamily="34" charset="0"/>
                          <a:ea typeface="Manrope" pitchFamily="34" charset="-122"/>
                          <a:cs typeface="Manrope" pitchFamily="34" charset="-120"/>
                        </a:rPr>
                        <a:t>datetime</a:t>
                      </a:r>
                      <a:endParaRPr lang="en-US" sz="1100" dirty="0">
                        <a:latin typeface="Manrope" charset="0"/>
                        <a:ea typeface="Manrope" charset="0"/>
                        <a:cs typeface="Manrope" charset="0"/>
                      </a:endParaRPr>
                    </a:p>
                  </a:txBody>
                  <a:tcPr marL="140582" marR="14058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00" dirty="0">
                          <a:solidFill>
                            <a:srgbClr val="FFFFFF"/>
                          </a:solidFill>
                          <a:latin typeface="Manrope" pitchFamily="34" charset="0"/>
                          <a:ea typeface="Manrope" pitchFamily="34" charset="-122"/>
                          <a:cs typeface="Manrope" pitchFamily="34" charset="-120"/>
                        </a:rPr>
                        <a:t>Fecha y hora de la compra</a:t>
                      </a:r>
                      <a:endParaRPr lang="en-US" sz="1100" dirty="0">
                        <a:latin typeface="Manrope" charset="0"/>
                        <a:ea typeface="Manrope" charset="0"/>
                        <a:cs typeface="Manrope" charset="0"/>
                      </a:endParaRPr>
                    </a:p>
                  </a:txBody>
                  <a:tcPr marL="140582" marR="14058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367199">
                <a:tc>
                  <a:txBody>
                    <a:bodyPr/>
                    <a:lstStyle/>
                    <a:p>
                      <a:pPr indent="0" marL="0">
                        <a:buNone/>
                      </a:pPr>
                      <a:r>
                        <a:rPr lang="en-US" sz="1100" dirty="0">
                          <a:solidFill>
                            <a:srgbClr val="FFFFFF"/>
                          </a:solidFill>
                          <a:latin typeface="Manrope" pitchFamily="34" charset="0"/>
                          <a:ea typeface="Manrope" pitchFamily="34" charset="-122"/>
                          <a:cs typeface="Manrope" pitchFamily="34" charset="-120"/>
                        </a:rPr>
                        <a:t>category</a:t>
                      </a:r>
                      <a:endParaRPr lang="en-US" sz="1100" dirty="0">
                        <a:latin typeface="Manrope" charset="0"/>
                        <a:ea typeface="Manrope" charset="0"/>
                        <a:cs typeface="Manrope" charset="0"/>
                      </a:endParaRPr>
                    </a:p>
                  </a:txBody>
                  <a:tcPr marL="140582" marR="14058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00" dirty="0">
                          <a:solidFill>
                            <a:srgbClr val="FFFFFF"/>
                          </a:solidFill>
                          <a:latin typeface="Manrope" pitchFamily="34" charset="0"/>
                          <a:ea typeface="Manrope" pitchFamily="34" charset="-122"/>
                          <a:cs typeface="Manrope" pitchFamily="34" charset="-120"/>
                        </a:rPr>
                        <a:t>Canal: Web / App / Tienda (valores fijos)</a:t>
                      </a:r>
                      <a:endParaRPr lang="en-US" sz="1100" dirty="0">
                        <a:latin typeface="Manrope" charset="0"/>
                        <a:ea typeface="Manrope" charset="0"/>
                        <a:cs typeface="Manrope" charset="0"/>
                      </a:endParaRPr>
                    </a:p>
                  </a:txBody>
                  <a:tcPr marL="140582" marR="14058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bl>
          </a:graphicData>
        </a:graphic>
      </p:graphicFrame>
      <p:sp>
        <p:nvSpPr>
          <p:cNvPr id="5" name="Text 2"/>
          <p:cNvSpPr/>
          <p:nvPr/>
        </p:nvSpPr>
        <p:spPr>
          <a:xfrm>
            <a:off x="6273643" y="1682452"/>
            <a:ext cx="5262927"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¿Por qué importa?</a:t>
            </a:r>
            <a:endParaRPr lang="en-US" sz="1350" dirty="0"/>
          </a:p>
        </p:txBody>
      </p:sp>
      <p:sp>
        <p:nvSpPr>
          <p:cNvPr id="6" name="Shape 3"/>
          <p:cNvSpPr/>
          <p:nvPr/>
        </p:nvSpPr>
        <p:spPr>
          <a:xfrm>
            <a:off x="6273643" y="2036366"/>
            <a:ext cx="5262927" cy="3654921"/>
          </a:xfrm>
          <a:prstGeom prst="roundRect">
            <a:avLst>
              <a:gd name="adj" fmla="val 5770"/>
            </a:avLst>
          </a:prstGeom>
          <a:solidFill>
            <a:srgbClr val="583592"/>
          </a:solidFill>
          <a:ln/>
        </p:spPr>
      </p:sp>
      <p:sp>
        <p:nvSpPr>
          <p:cNvPr id="7" name="Text 4"/>
          <p:cNvSpPr/>
          <p:nvPr/>
        </p:nvSpPr>
        <p:spPr>
          <a:xfrm>
            <a:off x="6442311" y="2176859"/>
            <a:ext cx="4925592" cy="3373934"/>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8B949E"/>
                </a:solidFill>
                <a:latin typeface="Consolas" pitchFamily="34" charset="0"/>
                <a:ea typeface="Consolas" pitchFamily="34" charset="-122"/>
                <a:cs typeface="Consolas" pitchFamily="34" charset="-120"/>
              </a:rPr>
              <a:t># "100" no es lo mismo que 100</a:t>
            </a:r>
            <a:endParaRPr lang="en-US" sz="1100" dirty="0"/>
          </a:p>
          <a:p>
            <a:pPr algn="l" indent="0" marL="0">
              <a:lnSpc>
                <a:spcPct val="133000"/>
              </a:lnSpc>
              <a:buNone/>
            </a:pPr>
            <a:r>
              <a:rPr lang="en-US" sz="1100" dirty="0">
                <a:solidFill>
                  <a:srgbClr val="8B949E"/>
                </a:solidFill>
                <a:latin typeface="Consolas" pitchFamily="34" charset="0"/>
                <a:ea typeface="Consolas" pitchFamily="34" charset="-122"/>
                <a:cs typeface="Consolas" pitchFamily="34" charset="-120"/>
              </a:rPr>
              <a:t>precio_texto = "100"</a:t>
            </a:r>
            <a:endParaRPr lang="en-US" sz="1100" dirty="0"/>
          </a:p>
          <a:p>
            <a:pPr algn="l" indent="0" marL="0">
              <a:lnSpc>
                <a:spcPct val="133000"/>
              </a:lnSpc>
              <a:buNone/>
            </a:pPr>
            <a:r>
              <a:rPr lang="en-US" sz="1100" dirty="0">
                <a:solidFill>
                  <a:srgbClr val="8B949E"/>
                </a:solidFill>
                <a:latin typeface="Consolas" pitchFamily="34" charset="0"/>
                <a:ea typeface="Consolas" pitchFamily="34" charset="-122"/>
                <a:cs typeface="Consolas" pitchFamily="34" charset="-120"/>
              </a:rPr>
              <a:t>precio_numero = 100</a:t>
            </a:r>
            <a:endParaRPr lang="en-US" sz="1100" dirty="0"/>
          </a:p>
          <a:p>
            <a:pPr algn="l" indent="0" marL="0">
              <a:lnSpc>
                <a:spcPct val="133000"/>
              </a:lnSpc>
              <a:buNone/>
            </a:pPr>
            <a:r>
              <a:rPr lang="en-US" sz="1100" dirty="0">
                <a:solidFill>
                  <a:srgbClr val="8B949E"/>
                </a:solidFill>
                <a:latin typeface="Consolas" pitchFamily="34" charset="0"/>
                <a:ea typeface="Consolas" pitchFamily="34" charset="-122"/>
                <a:cs typeface="Consolas" pitchFamily="34" charset="-120"/>
              </a:rPr>
              <a:t># Esto falla o da resultado incorrecto:</a:t>
            </a:r>
            <a:endParaRPr lang="en-US" sz="1100" dirty="0"/>
          </a:p>
          <a:p>
            <a:pPr algn="l" indent="0" marL="0">
              <a:lnSpc>
                <a:spcPct val="133000"/>
              </a:lnSpc>
              <a:buNone/>
            </a:pPr>
            <a:r>
              <a:rPr lang="en-US" sz="1100" dirty="0">
                <a:solidFill>
                  <a:srgbClr val="8B949E"/>
                </a:solidFill>
                <a:latin typeface="Consolas" pitchFamily="34" charset="0"/>
                <a:ea typeface="Consolas" pitchFamily="34" charset="-122"/>
                <a:cs typeface="Consolas" pitchFamily="34" charset="-120"/>
              </a:rPr>
              <a:t>precio_texto + 50 # Error o "10050"</a:t>
            </a:r>
            <a:endParaRPr lang="en-US" sz="1100" dirty="0"/>
          </a:p>
          <a:p>
            <a:pPr algn="l" indent="0" marL="0">
              <a:lnSpc>
                <a:spcPct val="133000"/>
              </a:lnSpc>
              <a:buNone/>
            </a:pPr>
            <a:r>
              <a:rPr lang="en-US" sz="1100" dirty="0">
                <a:solidFill>
                  <a:srgbClr val="8B949E"/>
                </a:solidFill>
                <a:latin typeface="Consolas" pitchFamily="34" charset="0"/>
                <a:ea typeface="Consolas" pitchFamily="34" charset="-122"/>
                <a:cs typeface="Consolas" pitchFamily="34" charset="-120"/>
              </a:rPr>
              <a:t># Esto funciona:</a:t>
            </a:r>
            <a:endParaRPr lang="en-US" sz="1100" dirty="0"/>
          </a:p>
          <a:p>
            <a:pPr algn="l" indent="0" marL="0">
              <a:lnSpc>
                <a:spcPct val="133000"/>
              </a:lnSpc>
              <a:buNone/>
            </a:pPr>
            <a:r>
              <a:rPr lang="en-US" sz="1100" dirty="0">
                <a:solidFill>
                  <a:srgbClr val="8B949E"/>
                </a:solidFill>
                <a:latin typeface="Consolas" pitchFamily="34" charset="0"/>
                <a:ea typeface="Consolas" pitchFamily="34" charset="-122"/>
                <a:cs typeface="Consolas" pitchFamily="34" charset="-120"/>
              </a:rPr>
              <a:t>precio_numero + 50 # 150</a:t>
            </a:r>
            <a:endParaRPr lang="en-US" sz="1100" dirty="0"/>
          </a:p>
          <a:p>
            <a:pPr algn="l" indent="0" marL="0">
              <a:lnSpc>
                <a:spcPct val="133000"/>
              </a:lnSpc>
              <a:buNone/>
            </a:pPr>
            <a:r>
              <a:rPr lang="en-US" sz="1100" dirty="0">
                <a:solidFill>
                  <a:srgbClr val="8B949E"/>
                </a:solidFill>
                <a:latin typeface="Consolas" pitchFamily="34" charset="0"/>
                <a:ea typeface="Consolas" pitchFamily="34" charset="-122"/>
                <a:cs typeface="Consolas" pitchFamily="34" charset="-120"/>
              </a:rPr>
              <a:t># En Pandas: detectar el problema</a:t>
            </a:r>
            <a:endParaRPr lang="en-US" sz="1100" dirty="0"/>
          </a:p>
          <a:p>
            <a:pPr algn="l" indent="0" marL="0">
              <a:lnSpc>
                <a:spcPct val="133000"/>
              </a:lnSpc>
              <a:buNone/>
            </a:pPr>
            <a:r>
              <a:rPr lang="en-US" sz="1100" dirty="0">
                <a:solidFill>
                  <a:srgbClr val="8B949E"/>
                </a:solidFill>
                <a:latin typeface="Consolas" pitchFamily="34" charset="0"/>
                <a:ea typeface="Consolas" pitchFamily="34" charset="-122"/>
                <a:cs typeface="Consolas" pitchFamily="34" charset="-120"/>
              </a:rPr>
              <a:t>df["gasto"].dtype # object (texto)</a:t>
            </a:r>
            <a:endParaRPr lang="en-US" sz="1100" dirty="0"/>
          </a:p>
          <a:p>
            <a:pPr algn="l" indent="0" marL="0">
              <a:lnSpc>
                <a:spcPct val="133000"/>
              </a:lnSpc>
              <a:buNone/>
            </a:pPr>
            <a:r>
              <a:rPr lang="en-US" sz="1100" dirty="0">
                <a:solidFill>
                  <a:srgbClr val="8B949E"/>
                </a:solidFill>
                <a:latin typeface="Consolas" pitchFamily="34" charset="0"/>
                <a:ea typeface="Consolas" pitchFamily="34" charset="-122"/>
                <a:cs typeface="Consolas" pitchFamily="34" charset="-120"/>
              </a:rPr>
              <a:t># Solución:</a:t>
            </a:r>
            <a:endParaRPr lang="en-US" sz="1100" dirty="0"/>
          </a:p>
          <a:p>
            <a:pPr algn="l" indent="0" marL="0">
              <a:lnSpc>
                <a:spcPct val="133000"/>
              </a:lnSpc>
              <a:buNone/>
            </a:pPr>
            <a:r>
              <a:rPr lang="en-US" sz="1100" dirty="0">
                <a:solidFill>
                  <a:srgbClr val="8B949E"/>
                </a:solidFill>
                <a:latin typeface="Consolas" pitchFamily="34" charset="0"/>
                <a:ea typeface="Consolas" pitchFamily="34" charset="-122"/>
                <a:cs typeface="Consolas" pitchFamily="34" charset="-120"/>
              </a:rPr>
              <a:t>df["gasto"] = pd.to_numeric(</a:t>
            </a:r>
            <a:endParaRPr lang="en-US" sz="1100" dirty="0"/>
          </a:p>
          <a:p>
            <a:pPr algn="l" indent="0" marL="0">
              <a:lnSpc>
                <a:spcPct val="133000"/>
              </a:lnSpc>
              <a:buNone/>
            </a:pPr>
            <a:r>
              <a:rPr lang="en-US" sz="1100" dirty="0">
                <a:solidFill>
                  <a:srgbClr val="8B949E"/>
                </a:solidFill>
                <a:latin typeface="Consolas" pitchFamily="34" charset="0"/>
                <a:ea typeface="Consolas" pitchFamily="34" charset="-122"/>
                <a:cs typeface="Consolas" pitchFamily="34" charset="-120"/>
              </a:rPr>
              <a:t> df["gasto"].str.replace("€","")</a:t>
            </a:r>
            <a:endParaRPr lang="en-US" sz="1100" dirty="0"/>
          </a:p>
          <a:p>
            <a:pPr algn="l" indent="0" marL="0">
              <a:lnSpc>
                <a:spcPct val="133000"/>
              </a:lnSpc>
              <a:buNone/>
            </a:pPr>
            <a:r>
              <a:rPr lang="en-US" sz="1100" dirty="0">
                <a:solidFill>
                  <a:srgbClr val="8B949E"/>
                </a:solidFill>
                <a:latin typeface="Consolas" pitchFamily="34" charset="0"/>
                <a:ea typeface="Consolas" pitchFamily="34" charset="-122"/>
                <a:cs typeface="Consolas" pitchFamily="34" charset="-120"/>
              </a:rPr>
              <a:t> .str.replace(",","."),</a:t>
            </a:r>
            <a:endParaRPr lang="en-US" sz="1100" dirty="0"/>
          </a:p>
          <a:p>
            <a:pPr algn="l" indent="0" marL="0">
              <a:lnSpc>
                <a:spcPct val="133000"/>
              </a:lnSpc>
              <a:buNone/>
            </a:pPr>
            <a:r>
              <a:rPr lang="en-US" sz="1100" dirty="0">
                <a:solidFill>
                  <a:srgbClr val="8B949E"/>
                </a:solidFill>
                <a:latin typeface="Consolas" pitchFamily="34" charset="0"/>
                <a:ea typeface="Consolas" pitchFamily="34" charset="-122"/>
                <a:cs typeface="Consolas" pitchFamily="34" charset="-120"/>
              </a:rPr>
              <a:t> errors="coerce"</a:t>
            </a:r>
            <a:endParaRPr lang="en-US" sz="1100" dirty="0"/>
          </a:p>
          <a:p>
            <a:pPr algn="l" indent="0" marL="0">
              <a:lnSpc>
                <a:spcPct val="133000"/>
              </a:lnSpc>
              <a:buNone/>
            </a:pPr>
            <a:r>
              <a:rPr lang="en-US" sz="1100" dirty="0">
                <a:solidFill>
                  <a:srgbClr val="8B949E"/>
                </a:solidFill>
                <a:latin typeface="Consolas" pitchFamily="34" charset="0"/>
                <a:ea typeface="Consolas" pitchFamily="34" charset="-122"/>
                <a:cs typeface="Consolas" pitchFamily="34" charset="-120"/>
              </a:rPr>
              <a:t>)</a:t>
            </a:r>
            <a:endParaRPr lang="en-US" sz="1100" dirty="0"/>
          </a:p>
        </p:txBody>
      </p:sp>
      <p:pic>
        <p:nvPicPr>
          <p:cNvPr id="8"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9"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10" name="Text 5"/>
          <p:cNvSpPr/>
          <p:nvPr/>
        </p:nvSpPr>
        <p:spPr>
          <a:xfrm>
            <a:off x="10832035" y="6300589"/>
            <a:ext cx="1161227"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661475" y="988120"/>
            <a:ext cx="10868745" cy="351433"/>
          </a:xfrm>
          <a:prstGeom prst="rect">
            <a:avLst/>
          </a:prstGeom>
          <a:noFill/>
          <a:ln/>
        </p:spPr>
        <p:txBody>
          <a:bodyPr wrap="none" lIns="0" tIns="0" rIns="0" bIns="0" rtlCol="0" anchor="t"/>
          <a:lstStyle/>
          <a:p>
            <a:pPr algn="l" indent="0" marL="0">
              <a:lnSpc>
                <a:spcPct val="104000"/>
              </a:lnSpc>
              <a:buNone/>
            </a:pPr>
            <a:r>
              <a:rPr lang="en-US" sz="2200" spc="-22" kern="0" dirty="0">
                <a:solidFill>
                  <a:srgbClr val="FFFFFF"/>
                </a:solidFill>
                <a:latin typeface="Alexandria Medium" pitchFamily="34" charset="0"/>
                <a:ea typeface="Alexandria Medium" pitchFamily="34" charset="-122"/>
                <a:cs typeface="Alexandria Medium" pitchFamily="34" charset="-120"/>
              </a:rPr>
              <a:t>Fechas y timestamps</a:t>
            </a:r>
            <a:endParaRPr lang="en-US" sz="2200" dirty="0"/>
          </a:p>
        </p:txBody>
      </p:sp>
      <p:sp>
        <p:nvSpPr>
          <p:cNvPr id="3" name="Text 1"/>
          <p:cNvSpPr/>
          <p:nvPr/>
        </p:nvSpPr>
        <p:spPr>
          <a:xfrm>
            <a:off x="661475" y="1578471"/>
            <a:ext cx="11478330" cy="208062"/>
          </a:xfrm>
          <a:prstGeom prst="rect">
            <a:avLst/>
          </a:prstGeom>
          <a:noFill/>
          <a:ln/>
        </p:spPr>
        <p:txBody>
          <a:bodyPr wrap="none" lIns="0" tIns="0" rIns="0" bIns="0" rtlCol="0" anchor="t"/>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Las fechas son especialmente problemáticas porque el mismo momento puede representarse de formas muy distintas.</a:t>
            </a:r>
            <a:endParaRPr lang="en-US" sz="1100" dirty="0"/>
          </a:p>
        </p:txBody>
      </p:sp>
      <p:sp>
        <p:nvSpPr>
          <p:cNvPr id="4" name="Text 2"/>
          <p:cNvSpPr/>
          <p:nvPr/>
        </p:nvSpPr>
        <p:spPr>
          <a:xfrm>
            <a:off x="661475" y="2040334"/>
            <a:ext cx="4814370"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Formatos que pueden llegar a ShopData</a:t>
            </a:r>
            <a:endParaRPr lang="en-US" sz="1350" dirty="0"/>
          </a:p>
        </p:txBody>
      </p:sp>
      <p:sp>
        <p:nvSpPr>
          <p:cNvPr id="5" name="Shape 3"/>
          <p:cNvSpPr/>
          <p:nvPr/>
        </p:nvSpPr>
        <p:spPr>
          <a:xfrm>
            <a:off x="661475" y="2394248"/>
            <a:ext cx="2347457" cy="1256903"/>
          </a:xfrm>
          <a:prstGeom prst="roundRect">
            <a:avLst>
              <a:gd name="adj" fmla="val 16777"/>
            </a:avLst>
          </a:prstGeom>
          <a:solidFill>
            <a:srgbClr val="3F2077"/>
          </a:solidFill>
          <a:ln w="6350">
            <a:solidFill>
              <a:srgbClr val="4B3082"/>
            </a:solidFill>
            <a:prstDash val="solid"/>
          </a:ln>
        </p:spPr>
      </p:sp>
      <p:sp>
        <p:nvSpPr>
          <p:cNvPr id="6" name="Text 4"/>
          <p:cNvSpPr/>
          <p:nvPr/>
        </p:nvSpPr>
        <p:spPr>
          <a:xfrm>
            <a:off x="808315" y="2541091"/>
            <a:ext cx="2053777"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21/08/2026</a:t>
            </a:r>
            <a:endParaRPr lang="en-US" sz="1350" dirty="0"/>
          </a:p>
        </p:txBody>
      </p:sp>
      <p:sp>
        <p:nvSpPr>
          <p:cNvPr id="7" name="Text 5"/>
          <p:cNvSpPr/>
          <p:nvPr/>
        </p:nvSpPr>
        <p:spPr>
          <a:xfrm>
            <a:off x="808315" y="2880122"/>
            <a:ext cx="2053777" cy="41612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Formato europeo: día/mes/año. ¿O americano: mes/día/año?</a:t>
            </a:r>
            <a:endParaRPr lang="en-US" sz="1100" dirty="0"/>
          </a:p>
        </p:txBody>
      </p:sp>
      <p:sp>
        <p:nvSpPr>
          <p:cNvPr id="8" name="Shape 6"/>
          <p:cNvSpPr/>
          <p:nvPr/>
        </p:nvSpPr>
        <p:spPr>
          <a:xfrm>
            <a:off x="3128388" y="2394248"/>
            <a:ext cx="2347457" cy="1256903"/>
          </a:xfrm>
          <a:prstGeom prst="roundRect">
            <a:avLst>
              <a:gd name="adj" fmla="val 16777"/>
            </a:avLst>
          </a:prstGeom>
          <a:solidFill>
            <a:srgbClr val="3F2077"/>
          </a:solidFill>
          <a:ln w="6350">
            <a:solidFill>
              <a:srgbClr val="4B3082"/>
            </a:solidFill>
            <a:prstDash val="solid"/>
          </a:ln>
        </p:spPr>
      </p:sp>
      <p:sp>
        <p:nvSpPr>
          <p:cNvPr id="9" name="Text 7"/>
          <p:cNvSpPr/>
          <p:nvPr/>
        </p:nvSpPr>
        <p:spPr>
          <a:xfrm>
            <a:off x="3275228" y="2541091"/>
            <a:ext cx="2053777"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2026-08-21</a:t>
            </a:r>
            <a:endParaRPr lang="en-US" sz="1350" dirty="0"/>
          </a:p>
        </p:txBody>
      </p:sp>
      <p:sp>
        <p:nvSpPr>
          <p:cNvPr id="10" name="Text 8"/>
          <p:cNvSpPr/>
          <p:nvPr/>
        </p:nvSpPr>
        <p:spPr>
          <a:xfrm>
            <a:off x="3275228" y="2880122"/>
            <a:ext cx="2053777" cy="624185"/>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ISO 8601. El formato estándar internacional. El más recomendado.</a:t>
            </a:r>
            <a:endParaRPr lang="en-US" sz="1100" dirty="0"/>
          </a:p>
        </p:txBody>
      </p:sp>
      <p:sp>
        <p:nvSpPr>
          <p:cNvPr id="11" name="Shape 9"/>
          <p:cNvSpPr/>
          <p:nvPr/>
        </p:nvSpPr>
        <p:spPr>
          <a:xfrm>
            <a:off x="661475" y="3770610"/>
            <a:ext cx="2347457" cy="1256903"/>
          </a:xfrm>
          <a:prstGeom prst="roundRect">
            <a:avLst>
              <a:gd name="adj" fmla="val 16777"/>
            </a:avLst>
          </a:prstGeom>
          <a:solidFill>
            <a:srgbClr val="3F2077"/>
          </a:solidFill>
          <a:ln w="6350">
            <a:solidFill>
              <a:srgbClr val="4B3082"/>
            </a:solidFill>
            <a:prstDash val="solid"/>
          </a:ln>
        </p:spPr>
      </p:sp>
      <p:sp>
        <p:nvSpPr>
          <p:cNvPr id="12" name="Text 10"/>
          <p:cNvSpPr/>
          <p:nvPr/>
        </p:nvSpPr>
        <p:spPr>
          <a:xfrm>
            <a:off x="808315" y="3917454"/>
            <a:ext cx="2053777"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08/21/2026</a:t>
            </a:r>
            <a:endParaRPr lang="en-US" sz="1350" dirty="0"/>
          </a:p>
        </p:txBody>
      </p:sp>
      <p:sp>
        <p:nvSpPr>
          <p:cNvPr id="13" name="Text 11"/>
          <p:cNvSpPr/>
          <p:nvPr/>
        </p:nvSpPr>
        <p:spPr>
          <a:xfrm>
            <a:off x="808315" y="4256484"/>
            <a:ext cx="2053777" cy="624185"/>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Formato americano: mes/día/año. Puede confundirse con el europeo.</a:t>
            </a:r>
            <a:endParaRPr lang="en-US" sz="1100" dirty="0"/>
          </a:p>
        </p:txBody>
      </p:sp>
      <p:sp>
        <p:nvSpPr>
          <p:cNvPr id="14" name="Shape 12"/>
          <p:cNvSpPr/>
          <p:nvPr/>
        </p:nvSpPr>
        <p:spPr>
          <a:xfrm>
            <a:off x="3128388" y="3770610"/>
            <a:ext cx="2347457" cy="1256903"/>
          </a:xfrm>
          <a:prstGeom prst="roundRect">
            <a:avLst>
              <a:gd name="adj" fmla="val 16777"/>
            </a:avLst>
          </a:prstGeom>
          <a:solidFill>
            <a:srgbClr val="3F2077"/>
          </a:solidFill>
          <a:ln w="6350">
            <a:solidFill>
              <a:srgbClr val="4B3082"/>
            </a:solidFill>
            <a:prstDash val="solid"/>
          </a:ln>
        </p:spPr>
      </p:sp>
      <p:sp>
        <p:nvSpPr>
          <p:cNvPr id="15" name="Text 13"/>
          <p:cNvSpPr/>
          <p:nvPr/>
        </p:nvSpPr>
        <p:spPr>
          <a:xfrm>
            <a:off x="3275228" y="3917454"/>
            <a:ext cx="2053777"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2026-08-21T17:30:00Z</a:t>
            </a:r>
            <a:endParaRPr lang="en-US" sz="1350" dirty="0"/>
          </a:p>
        </p:txBody>
      </p:sp>
      <p:sp>
        <p:nvSpPr>
          <p:cNvPr id="16" name="Text 14"/>
          <p:cNvSpPr/>
          <p:nvPr/>
        </p:nvSpPr>
        <p:spPr>
          <a:xfrm>
            <a:off x="3275228" y="4256484"/>
            <a:ext cx="2053777" cy="41612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Timestamp ISO 8601 con hora y zona horaria UTC.</a:t>
            </a:r>
            <a:endParaRPr lang="en-US" sz="1100" dirty="0"/>
          </a:p>
        </p:txBody>
      </p:sp>
      <p:sp>
        <p:nvSpPr>
          <p:cNvPr id="17" name="Text 15"/>
          <p:cNvSpPr/>
          <p:nvPr/>
        </p:nvSpPr>
        <p:spPr>
          <a:xfrm>
            <a:off x="5825086" y="2040334"/>
            <a:ext cx="5711384"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Conceptos a distinguir</a:t>
            </a:r>
            <a:endParaRPr lang="en-US" sz="1350" dirty="0"/>
          </a:p>
        </p:txBody>
      </p:sp>
      <p:pic>
        <p:nvPicPr>
          <p:cNvPr id="1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825086" y="2394248"/>
            <a:ext cx="2795914" cy="1074241"/>
          </a:xfrm>
          <a:prstGeom prst="rect">
            <a:avLst/>
          </a:prstGeom>
        </p:spPr>
      </p:pic>
      <p:sp>
        <p:nvSpPr>
          <p:cNvPr id="19" name="Text 16"/>
          <p:cNvSpPr/>
          <p:nvPr/>
        </p:nvSpPr>
        <p:spPr>
          <a:xfrm>
            <a:off x="6060824" y="2553791"/>
            <a:ext cx="2400637"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Fecha</a:t>
            </a:r>
            <a:endParaRPr lang="en-US" sz="1350" dirty="0"/>
          </a:p>
        </p:txBody>
      </p:sp>
      <p:sp>
        <p:nvSpPr>
          <p:cNvPr id="20" name="Text 17"/>
          <p:cNvSpPr/>
          <p:nvPr/>
        </p:nvSpPr>
        <p:spPr>
          <a:xfrm>
            <a:off x="6060824" y="2892822"/>
            <a:ext cx="2400637" cy="41612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Día, mes, año. Sin información horaria.</a:t>
            </a:r>
            <a:endParaRPr lang="en-US" sz="1100" dirty="0"/>
          </a:p>
        </p:txBody>
      </p:sp>
      <p:pic>
        <p:nvPicPr>
          <p:cNvPr id="2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40457" y="2394248"/>
            <a:ext cx="2796014" cy="1074241"/>
          </a:xfrm>
          <a:prstGeom prst="rect">
            <a:avLst/>
          </a:prstGeom>
        </p:spPr>
      </p:pic>
      <p:sp>
        <p:nvSpPr>
          <p:cNvPr id="22" name="Text 18"/>
          <p:cNvSpPr/>
          <p:nvPr/>
        </p:nvSpPr>
        <p:spPr>
          <a:xfrm>
            <a:off x="8976195" y="2553791"/>
            <a:ext cx="2400736"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Hora</a:t>
            </a:r>
            <a:endParaRPr lang="en-US" sz="1350" dirty="0"/>
          </a:p>
        </p:txBody>
      </p:sp>
      <p:sp>
        <p:nvSpPr>
          <p:cNvPr id="23" name="Text 19"/>
          <p:cNvSpPr/>
          <p:nvPr/>
        </p:nvSpPr>
        <p:spPr>
          <a:xfrm>
            <a:off x="8976195" y="2892822"/>
            <a:ext cx="2400736" cy="41612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Hora, minutos, segundos dentro de un día.</a:t>
            </a:r>
            <a:endParaRPr lang="en-US" sz="1100" dirty="0"/>
          </a:p>
        </p:txBody>
      </p:sp>
      <p:pic>
        <p:nvPicPr>
          <p:cNvPr id="2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825086" y="3587948"/>
            <a:ext cx="2795914" cy="1282303"/>
          </a:xfrm>
          <a:prstGeom prst="rect">
            <a:avLst/>
          </a:prstGeom>
        </p:spPr>
      </p:pic>
      <p:sp>
        <p:nvSpPr>
          <p:cNvPr id="25" name="Text 20"/>
          <p:cNvSpPr/>
          <p:nvPr/>
        </p:nvSpPr>
        <p:spPr>
          <a:xfrm>
            <a:off x="6060824" y="3747492"/>
            <a:ext cx="2400637"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Timestamp</a:t>
            </a:r>
            <a:endParaRPr lang="en-US" sz="1350" dirty="0"/>
          </a:p>
        </p:txBody>
      </p:sp>
      <p:sp>
        <p:nvSpPr>
          <p:cNvPr id="26" name="Text 21"/>
          <p:cNvSpPr/>
          <p:nvPr/>
        </p:nvSpPr>
        <p:spPr>
          <a:xfrm>
            <a:off x="6060824" y="4086523"/>
            <a:ext cx="2400637" cy="41612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Fecha + hora juntos. Permite ordenar eventos con precisión.</a:t>
            </a:r>
            <a:endParaRPr lang="en-US" sz="1100" dirty="0"/>
          </a:p>
        </p:txBody>
      </p:sp>
      <p:pic>
        <p:nvPicPr>
          <p:cNvPr id="27"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40457" y="3587948"/>
            <a:ext cx="2796014" cy="1282303"/>
          </a:xfrm>
          <a:prstGeom prst="rect">
            <a:avLst/>
          </a:prstGeom>
        </p:spPr>
      </p:pic>
      <p:sp>
        <p:nvSpPr>
          <p:cNvPr id="28" name="Text 22"/>
          <p:cNvSpPr/>
          <p:nvPr/>
        </p:nvSpPr>
        <p:spPr>
          <a:xfrm>
            <a:off x="8976195" y="3747492"/>
            <a:ext cx="2400736"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Zona horaria</a:t>
            </a:r>
            <a:endParaRPr lang="en-US" sz="1350" dirty="0"/>
          </a:p>
        </p:txBody>
      </p:sp>
      <p:sp>
        <p:nvSpPr>
          <p:cNvPr id="29" name="Text 23"/>
          <p:cNvSpPr/>
          <p:nvPr/>
        </p:nvSpPr>
        <p:spPr>
          <a:xfrm>
            <a:off x="8976195" y="4086523"/>
            <a:ext cx="2400736" cy="624185"/>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El mismo timestamp puede ser las 17:30 en España y las 11:30 en Nueva York.</a:t>
            </a:r>
            <a:endParaRPr lang="en-US" sz="1100" dirty="0"/>
          </a:p>
        </p:txBody>
      </p:sp>
      <p:sp>
        <p:nvSpPr>
          <p:cNvPr id="30" name="Shape 24"/>
          <p:cNvSpPr/>
          <p:nvPr/>
        </p:nvSpPr>
        <p:spPr>
          <a:xfrm>
            <a:off x="5825086" y="5004594"/>
            <a:ext cx="5711384" cy="730845"/>
          </a:xfrm>
          <a:prstGeom prst="roundRect">
            <a:avLst>
              <a:gd name="adj" fmla="val 28853"/>
            </a:avLst>
          </a:prstGeom>
          <a:solidFill>
            <a:srgbClr val="583592"/>
          </a:solidFill>
          <a:ln/>
        </p:spPr>
      </p:sp>
      <p:sp>
        <p:nvSpPr>
          <p:cNvPr id="31" name="Text 25"/>
          <p:cNvSpPr/>
          <p:nvPr/>
        </p:nvSpPr>
        <p:spPr>
          <a:xfrm>
            <a:off x="5993754" y="5145088"/>
            <a:ext cx="5374049" cy="44985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E6EDF3"/>
                </a:solidFill>
                <a:latin typeface="Consolas" pitchFamily="34" charset="0"/>
                <a:ea typeface="Consolas" pitchFamily="34" charset="-122"/>
                <a:cs typeface="Consolas" pitchFamily="34" charset="-120"/>
              </a:rPr>
              <a:t>pd.to_datetime(df["fecha"],</a:t>
            </a:r>
            <a:endParaRPr lang="en-US" sz="1100" dirty="0"/>
          </a:p>
          <a:p>
            <a:pPr algn="l" indent="0" marL="0">
              <a:lnSpc>
                <a:spcPct val="133000"/>
              </a:lnSpc>
              <a:buNone/>
            </a:pPr>
            <a:r>
              <a:rPr lang="en-US" sz="1100" dirty="0">
                <a:solidFill>
                  <a:srgbClr val="E6EDF3"/>
                </a:solidFill>
                <a:latin typeface="Consolas" pitchFamily="34" charset="0"/>
                <a:ea typeface="Consolas" pitchFamily="34" charset="-122"/>
                <a:cs typeface="Consolas" pitchFamily="34" charset="-120"/>
              </a:rPr>
              <a:t> dayfirst=True)</a:t>
            </a:r>
            <a:endParaRPr lang="en-US" sz="1100" dirty="0"/>
          </a:p>
        </p:txBody>
      </p:sp>
      <p:pic>
        <p:nvPicPr>
          <p:cNvPr id="32" name="Image 4" descr="preencoded.png">    </p:cNvPr>
          <p:cNvPicPr>
            <a:picLocks noChangeAspect="1"/>
          </p:cNvPicPr>
          <p:nvPr/>
        </p:nvPicPr>
        <p:blipFill>
          <a:blip r:embed="rId9"/>
          <a:stretch>
            <a:fillRect/>
          </a:stretch>
        </p:blipFill>
        <p:spPr>
          <a:xfrm>
            <a:off x="198433" y="203597"/>
            <a:ext cx="676357" cy="568623"/>
          </a:xfrm>
          <a:prstGeom prst="rect">
            <a:avLst/>
          </a:prstGeom>
        </p:spPr>
      </p:pic>
      <p:pic>
        <p:nvPicPr>
          <p:cNvPr id="33" name="Image 5" descr="preencoded.png">    </p:cNvPr>
          <p:cNvPicPr>
            <a:picLocks noChangeAspect="1"/>
          </p:cNvPicPr>
          <p:nvPr/>
        </p:nvPicPr>
        <p:blipFill>
          <a:blip r:embed="rId10"/>
          <a:stretch>
            <a:fillRect/>
          </a:stretch>
        </p:blipFill>
        <p:spPr>
          <a:xfrm>
            <a:off x="11386357" y="268784"/>
            <a:ext cx="606906" cy="438249"/>
          </a:xfrm>
          <a:prstGeom prst="rect">
            <a:avLst/>
          </a:prstGeom>
        </p:spPr>
      </p:pic>
      <p:sp>
        <p:nvSpPr>
          <p:cNvPr id="34" name="Text 26"/>
          <p:cNvSpPr/>
          <p:nvPr/>
        </p:nvSpPr>
        <p:spPr>
          <a:xfrm>
            <a:off x="10827769" y="6300589"/>
            <a:ext cx="1165493"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661475" y="1007269"/>
            <a:ext cx="10868745" cy="310059"/>
          </a:xfrm>
          <a:prstGeom prst="rect">
            <a:avLst/>
          </a:prstGeom>
          <a:noFill/>
          <a:ln/>
        </p:spPr>
        <p:txBody>
          <a:bodyPr wrap="none" lIns="0" tIns="0" rIns="0" bIns="0" rtlCol="0" anchor="t"/>
          <a:lstStyle/>
          <a:p>
            <a:pPr algn="l" indent="0" marL="0">
              <a:lnSpc>
                <a:spcPct val="104000"/>
              </a:lnSpc>
              <a:buNone/>
            </a:pPr>
            <a:r>
              <a:rPr lang="en-US" sz="1950" spc="-20" kern="0" dirty="0">
                <a:solidFill>
                  <a:srgbClr val="FFFFFF"/>
                </a:solidFill>
                <a:latin typeface="Alexandria Medium" pitchFamily="34" charset="0"/>
                <a:ea typeface="Alexandria Medium" pitchFamily="34" charset="-122"/>
                <a:cs typeface="Alexandria Medium" pitchFamily="34" charset="-120"/>
              </a:rPr>
              <a:t>Normalización de categorías y unidades</a:t>
            </a:r>
            <a:endParaRPr lang="en-US" sz="1950" dirty="0"/>
          </a:p>
        </p:txBody>
      </p:sp>
      <p:sp>
        <p:nvSpPr>
          <p:cNvPr id="3" name="Text 1"/>
          <p:cNvSpPr/>
          <p:nvPr/>
        </p:nvSpPr>
        <p:spPr>
          <a:xfrm>
            <a:off x="661475" y="1503363"/>
            <a:ext cx="11478330" cy="173633"/>
          </a:xfrm>
          <a:prstGeom prst="rect">
            <a:avLst/>
          </a:prstGeom>
          <a:noFill/>
          <a:ln/>
        </p:spPr>
        <p:txBody>
          <a:bodyPr wrap="none" lIns="0" tIns="0" rIns="0" bIns="0" rtlCol="0" anchor="t"/>
          <a:lstStyle/>
          <a:p>
            <a:pPr algn="l" indent="0" marL="0">
              <a:lnSpc>
                <a:spcPct val="117000"/>
              </a:lnSpc>
              <a:buNone/>
            </a:pPr>
            <a:r>
              <a:rPr lang="en-US" sz="950" dirty="0">
                <a:solidFill>
                  <a:srgbClr val="FFFFFF"/>
                </a:solidFill>
                <a:latin typeface="Manrope" pitchFamily="34" charset="0"/>
                <a:ea typeface="Manrope" pitchFamily="34" charset="-122"/>
                <a:cs typeface="Manrope" pitchFamily="34" charset="-120"/>
              </a:rPr>
              <a:t>Antes de combinar fuentes necesitamos que cada valor esté representado de </a:t>
            </a:r>
            <a:pPr algn="l" indent="0" marL="0">
              <a:lnSpc>
                <a:spcPct val="117000"/>
              </a:lnSpc>
              <a:buNone/>
            </a:pPr>
            <a:r>
              <a:rPr lang="en-US" sz="950" b="1" dirty="0">
                <a:solidFill>
                  <a:srgbClr val="FFFFFF"/>
                </a:solidFill>
                <a:latin typeface="Manrope Bold" pitchFamily="34" charset="0"/>
                <a:ea typeface="Manrope Bold" pitchFamily="34" charset="-122"/>
                <a:cs typeface="Manrope Bold" pitchFamily="34" charset="-120"/>
              </a:rPr>
              <a:t>la misma manera</a:t>
            </a:r>
            <a:pPr algn="l" indent="0" marL="0">
              <a:lnSpc>
                <a:spcPct val="117000"/>
              </a:lnSpc>
              <a:buNone/>
            </a:pPr>
            <a:r>
              <a:rPr lang="en-US" sz="950" dirty="0">
                <a:solidFill>
                  <a:srgbClr val="FFFFFF"/>
                </a:solidFill>
                <a:latin typeface="Manrope" pitchFamily="34" charset="0"/>
                <a:ea typeface="Manrope" pitchFamily="34" charset="-122"/>
                <a:cs typeface="Manrope" pitchFamily="34" charset="-120"/>
              </a:rPr>
              <a:t> en todas ellas.</a:t>
            </a:r>
            <a:endParaRPr lang="en-US" sz="950" dirty="0"/>
          </a:p>
        </p:txBody>
      </p:sp>
      <p:sp>
        <p:nvSpPr>
          <p:cNvPr id="4" name="Text 2"/>
          <p:cNvSpPr/>
          <p:nvPr/>
        </p:nvSpPr>
        <p:spPr>
          <a:xfrm>
            <a:off x="661475" y="1874540"/>
            <a:ext cx="5283068" cy="193774"/>
          </a:xfrm>
          <a:prstGeom prst="rect">
            <a:avLst/>
          </a:prstGeom>
          <a:noFill/>
          <a:ln/>
        </p:spPr>
        <p:txBody>
          <a:bodyPr wrap="none" lIns="0" tIns="0" rIns="0" bIns="0" rtlCol="0" anchor="t"/>
          <a:lstStyle/>
          <a:p>
            <a:pPr algn="l" indent="0" marL="0">
              <a:lnSpc>
                <a:spcPct val="104000"/>
              </a:lnSpc>
              <a:buNone/>
            </a:pPr>
            <a:r>
              <a:rPr lang="en-US" sz="1200" spc="-12" kern="0" dirty="0">
                <a:solidFill>
                  <a:srgbClr val="FFFFFF"/>
                </a:solidFill>
                <a:latin typeface="Alexandria Medium" pitchFamily="34" charset="0"/>
                <a:ea typeface="Alexandria Medium" pitchFamily="34" charset="-122"/>
                <a:cs typeface="Alexandria Medium" pitchFamily="34" charset="-120"/>
              </a:rPr>
              <a:t>Problema: ciudad con múltiples representaciones</a:t>
            </a:r>
            <a:endParaRPr lang="en-US" sz="12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661475" y="2172891"/>
          <a:ext cx="9143771" cy="914400"/>
        </p:xfrm>
        <a:graphic>
          <a:graphicData uri="http://schemas.openxmlformats.org/drawingml/2006/table">
            <a:tbl>
              <a:tblPr/>
              <a:tblGrid>
                <a:gridCol w="2641534"/>
                <a:gridCol w="2641534"/>
              </a:tblGrid>
              <a:tr h="301022">
                <a:tc>
                  <a:txBody>
                    <a:bodyPr/>
                    <a:lstStyle/>
                    <a:p>
                      <a:pPr indent="0" marL="0">
                        <a:buNone/>
                      </a:pPr>
                      <a:r>
                        <a:rPr lang="en-US" sz="950" b="1" dirty="0">
                          <a:solidFill>
                            <a:srgbClr val="FFFFFF"/>
                          </a:solidFill>
                          <a:latin typeface="Manrope" pitchFamily="34" charset="0"/>
                          <a:ea typeface="Manrope" pitchFamily="34" charset="-122"/>
                          <a:cs typeface="Manrope" pitchFamily="34" charset="-120"/>
                        </a:rPr>
                        <a:t>Valor original</a:t>
                      </a:r>
                      <a:endParaRPr lang="en-US" sz="950" dirty="0">
                        <a:latin typeface="Manrope" charset="0"/>
                        <a:ea typeface="Manrope" charset="0"/>
                        <a:cs typeface="Manrope" charset="0"/>
                      </a:endParaRPr>
                    </a:p>
                  </a:txBody>
                  <a:tcPr marL="124044" marR="124044"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c>
                  <a:txBody>
                    <a:bodyPr/>
                    <a:lstStyle/>
                    <a:p>
                      <a:pPr indent="0" marL="0">
                        <a:buNone/>
                      </a:pPr>
                      <a:r>
                        <a:rPr lang="en-US" sz="950" b="1" dirty="0">
                          <a:solidFill>
                            <a:srgbClr val="FFFFFF"/>
                          </a:solidFill>
                          <a:latin typeface="Manrope" pitchFamily="34" charset="0"/>
                          <a:ea typeface="Manrope" pitchFamily="34" charset="-122"/>
                          <a:cs typeface="Manrope" pitchFamily="34" charset="-120"/>
                        </a:rPr>
                        <a:t>¿Son iguales?</a:t>
                      </a:r>
                      <a:endParaRPr lang="en-US" sz="950" dirty="0">
                        <a:latin typeface="Manrope" charset="0"/>
                        <a:ea typeface="Manrope" charset="0"/>
                        <a:cs typeface="Manrope" charset="0"/>
                      </a:endParaRPr>
                    </a:p>
                  </a:txBody>
                  <a:tcPr marL="124044" marR="124044"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r>
              <a:tr h="304197">
                <a:tc>
                  <a:txBody>
                    <a:bodyPr/>
                    <a:lstStyle/>
                    <a:p>
                      <a:pPr indent="0" marL="0">
                        <a:buNone/>
                      </a:pPr>
                      <a:r>
                        <a:rPr lang="en-US" sz="950" dirty="0">
                          <a:solidFill>
                            <a:srgbClr val="FFFFFF"/>
                          </a:solidFill>
                          <a:latin typeface="Manrope" pitchFamily="34" charset="0"/>
                          <a:ea typeface="Manrope" pitchFamily="34" charset="-122"/>
                          <a:cs typeface="Manrope" pitchFamily="34" charset="-120"/>
                        </a:rPr>
                        <a:t>Barcelona</a:t>
                      </a:r>
                      <a:endParaRPr lang="en-US" sz="950" dirty="0">
                        <a:latin typeface="Manrope" charset="0"/>
                        <a:ea typeface="Manrope" charset="0"/>
                        <a:cs typeface="Manrope" charset="0"/>
                      </a:endParaRPr>
                    </a:p>
                  </a:txBody>
                  <a:tcPr marL="124044" marR="124044"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950" dirty="0">
                          <a:solidFill>
                            <a:srgbClr val="FFFFFF"/>
                          </a:solidFill>
                          <a:latin typeface="Manrope" pitchFamily="34" charset="0"/>
                          <a:ea typeface="Manrope" pitchFamily="34" charset="-122"/>
                          <a:cs typeface="Manrope" pitchFamily="34" charset="-120"/>
                        </a:rPr>
                        <a:t>Referencia</a:t>
                      </a:r>
                      <a:endParaRPr lang="en-US" sz="950" dirty="0">
                        <a:latin typeface="Manrope" charset="0"/>
                        <a:ea typeface="Manrope" charset="0"/>
                        <a:cs typeface="Manrope" charset="0"/>
                      </a:endParaRPr>
                    </a:p>
                  </a:txBody>
                  <a:tcPr marL="124044" marR="124044"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304197">
                <a:tc>
                  <a:txBody>
                    <a:bodyPr/>
                    <a:lstStyle/>
                    <a:p>
                      <a:pPr indent="0" marL="0">
                        <a:buNone/>
                      </a:pPr>
                      <a:r>
                        <a:rPr lang="en-US" sz="950" dirty="0">
                          <a:solidFill>
                            <a:srgbClr val="FFFFFF"/>
                          </a:solidFill>
                          <a:latin typeface="Manrope" pitchFamily="34" charset="0"/>
                          <a:ea typeface="Manrope" pitchFamily="34" charset="-122"/>
                          <a:cs typeface="Manrope" pitchFamily="34" charset="-120"/>
                        </a:rPr>
                        <a:t>barcelona</a:t>
                      </a:r>
                      <a:endParaRPr lang="en-US" sz="950" dirty="0">
                        <a:latin typeface="Manrope" charset="0"/>
                        <a:ea typeface="Manrope" charset="0"/>
                        <a:cs typeface="Manrope" charset="0"/>
                      </a:endParaRPr>
                    </a:p>
                  </a:txBody>
                  <a:tcPr marL="124044" marR="124044"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950" dirty="0">
                          <a:solidFill>
                            <a:srgbClr val="FFFFFF"/>
                          </a:solidFill>
                          <a:latin typeface="Manrope" pitchFamily="34" charset="0"/>
                          <a:ea typeface="Manrope" pitchFamily="34" charset="-122"/>
                          <a:cs typeface="Manrope" pitchFamily="34" charset="-120"/>
                        </a:rPr>
                        <a:t>Distinto para el sistema</a:t>
                      </a:r>
                      <a:endParaRPr lang="en-US" sz="950" dirty="0">
                        <a:latin typeface="Manrope" charset="0"/>
                        <a:ea typeface="Manrope" charset="0"/>
                        <a:cs typeface="Manrope" charset="0"/>
                      </a:endParaRPr>
                    </a:p>
                  </a:txBody>
                  <a:tcPr marL="124044" marR="124044"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304197">
                <a:tc>
                  <a:txBody>
                    <a:bodyPr/>
                    <a:lstStyle/>
                    <a:p>
                      <a:pPr indent="0" marL="0">
                        <a:buNone/>
                      </a:pPr>
                      <a:r>
                        <a:rPr lang="en-US" sz="950" dirty="0">
                          <a:solidFill>
                            <a:srgbClr val="FFFFFF"/>
                          </a:solidFill>
                          <a:latin typeface="Manrope" pitchFamily="34" charset="0"/>
                          <a:ea typeface="Manrope" pitchFamily="34" charset="-122"/>
                          <a:cs typeface="Manrope" pitchFamily="34" charset="-120"/>
                        </a:rPr>
                        <a:t>BCN</a:t>
                      </a:r>
                      <a:endParaRPr lang="en-US" sz="950" dirty="0">
                        <a:latin typeface="Manrope" charset="0"/>
                        <a:ea typeface="Manrope" charset="0"/>
                        <a:cs typeface="Manrope" charset="0"/>
                      </a:endParaRPr>
                    </a:p>
                  </a:txBody>
                  <a:tcPr marL="124044" marR="124044"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950" dirty="0">
                          <a:solidFill>
                            <a:srgbClr val="FFFFFF"/>
                          </a:solidFill>
                          <a:latin typeface="Manrope" pitchFamily="34" charset="0"/>
                          <a:ea typeface="Manrope" pitchFamily="34" charset="-122"/>
                          <a:cs typeface="Manrope" pitchFamily="34" charset="-120"/>
                        </a:rPr>
                        <a:t>Abreviatura no estándar</a:t>
                      </a:r>
                      <a:endParaRPr lang="en-US" sz="950" dirty="0">
                        <a:latin typeface="Manrope" charset="0"/>
                        <a:ea typeface="Manrope" charset="0"/>
                        <a:cs typeface="Manrope" charset="0"/>
                      </a:endParaRPr>
                    </a:p>
                  </a:txBody>
                  <a:tcPr marL="124044" marR="124044"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304197">
                <a:tc>
                  <a:txBody>
                    <a:bodyPr/>
                    <a:lstStyle/>
                    <a:p>
                      <a:pPr indent="0" marL="0">
                        <a:buNone/>
                      </a:pPr>
                      <a:r>
                        <a:rPr lang="en-US" sz="950" dirty="0">
                          <a:solidFill>
                            <a:srgbClr val="FFFFFF"/>
                          </a:solidFill>
                          <a:latin typeface="Manrope" pitchFamily="34" charset="0"/>
                          <a:ea typeface="Manrope" pitchFamily="34" charset="-122"/>
                          <a:cs typeface="Manrope" pitchFamily="34" charset="-120"/>
                        </a:rPr>
                        <a:t>BARCELONA</a:t>
                      </a:r>
                      <a:endParaRPr lang="en-US" sz="950" dirty="0">
                        <a:latin typeface="Manrope" charset="0"/>
                        <a:ea typeface="Manrope" charset="0"/>
                        <a:cs typeface="Manrope" charset="0"/>
                      </a:endParaRPr>
                    </a:p>
                  </a:txBody>
                  <a:tcPr marL="124044" marR="124044"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950" dirty="0">
                          <a:solidFill>
                            <a:srgbClr val="FFFFFF"/>
                          </a:solidFill>
                          <a:latin typeface="Manrope" pitchFamily="34" charset="0"/>
                          <a:ea typeface="Manrope" pitchFamily="34" charset="-122"/>
                          <a:cs typeface="Manrope" pitchFamily="34" charset="-120"/>
                        </a:rPr>
                        <a:t>Mayúsculas distintas</a:t>
                      </a:r>
                      <a:endParaRPr lang="en-US" sz="950" dirty="0">
                        <a:latin typeface="Manrope" charset="0"/>
                        <a:ea typeface="Manrope" charset="0"/>
                        <a:cs typeface="Manrope" charset="0"/>
                      </a:endParaRPr>
                    </a:p>
                  </a:txBody>
                  <a:tcPr marL="124044" marR="124044"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301022">
                <a:tc>
                  <a:txBody>
                    <a:bodyPr/>
                    <a:lstStyle/>
                    <a:p>
                      <a:pPr indent="0" marL="0">
                        <a:buNone/>
                      </a:pPr>
                      <a:r>
                        <a:rPr lang="en-US" sz="950" dirty="0">
                          <a:solidFill>
                            <a:srgbClr val="FFFFFF"/>
                          </a:solidFill>
                          <a:latin typeface="Manrope" pitchFamily="34" charset="0"/>
                          <a:ea typeface="Manrope" pitchFamily="34" charset="-122"/>
                          <a:cs typeface="Manrope" pitchFamily="34" charset="-120"/>
                        </a:rPr>
                        <a:t>Barcelona </a:t>
                      </a:r>
                      <a:endParaRPr lang="en-US" sz="950" dirty="0">
                        <a:latin typeface="Manrope" charset="0"/>
                        <a:ea typeface="Manrope" charset="0"/>
                        <a:cs typeface="Manrope" charset="0"/>
                      </a:endParaRPr>
                    </a:p>
                  </a:txBody>
                  <a:tcPr marL="124044" marR="124044"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950" dirty="0">
                          <a:solidFill>
                            <a:srgbClr val="FFFFFF"/>
                          </a:solidFill>
                          <a:latin typeface="Manrope" pitchFamily="34" charset="0"/>
                          <a:ea typeface="Manrope" pitchFamily="34" charset="-122"/>
                          <a:cs typeface="Manrope" pitchFamily="34" charset="-120"/>
                        </a:rPr>
                        <a:t>Espacio en blanco al final</a:t>
                      </a:r>
                      <a:endParaRPr lang="en-US" sz="950" dirty="0">
                        <a:latin typeface="Manrope" charset="0"/>
                        <a:ea typeface="Manrope" charset="0"/>
                        <a:cs typeface="Manrope" charset="0"/>
                      </a:endParaRPr>
                    </a:p>
                  </a:txBody>
                  <a:tcPr marL="124044" marR="124044"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bl>
          </a:graphicData>
        </a:graphic>
      </p:graphicFrame>
      <p:sp>
        <p:nvSpPr>
          <p:cNvPr id="6" name="Shape 3"/>
          <p:cNvSpPr/>
          <p:nvPr/>
        </p:nvSpPr>
        <p:spPr>
          <a:xfrm>
            <a:off x="661475" y="4109045"/>
            <a:ext cx="5283068" cy="1637109"/>
          </a:xfrm>
          <a:prstGeom prst="roundRect">
            <a:avLst>
              <a:gd name="adj" fmla="val 11365"/>
            </a:avLst>
          </a:prstGeom>
          <a:solidFill>
            <a:srgbClr val="583592"/>
          </a:solidFill>
          <a:ln/>
        </p:spPr>
      </p:sp>
      <p:sp>
        <p:nvSpPr>
          <p:cNvPr id="7" name="Text 4"/>
          <p:cNvSpPr/>
          <p:nvPr/>
        </p:nvSpPr>
        <p:spPr>
          <a:xfrm>
            <a:off x="810299" y="4233069"/>
            <a:ext cx="4985419" cy="1389063"/>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6EDF3"/>
                </a:solidFill>
                <a:latin typeface="Consolas" pitchFamily="34" charset="0"/>
                <a:ea typeface="Consolas" pitchFamily="34" charset="-122"/>
                <a:cs typeface="Consolas" pitchFamily="34" charset="-120"/>
              </a:rPr>
              <a:t>df["ciudad"] = (</a:t>
            </a:r>
            <a:endParaRPr lang="en-US" sz="950" dirty="0"/>
          </a:p>
          <a:p>
            <a:pPr algn="l" indent="0" marL="0">
              <a:lnSpc>
                <a:spcPct val="133000"/>
              </a:lnSpc>
              <a:buNone/>
            </a:pPr>
            <a:r>
              <a:rPr lang="en-US" sz="950" dirty="0">
                <a:solidFill>
                  <a:srgbClr val="E6EDF3"/>
                </a:solidFill>
                <a:latin typeface="Consolas" pitchFamily="34" charset="0"/>
                <a:ea typeface="Consolas" pitchFamily="34" charset="-122"/>
                <a:cs typeface="Consolas" pitchFamily="34" charset="-120"/>
              </a:rPr>
              <a:t>  df["ciudad"]</a:t>
            </a:r>
            <a:endParaRPr lang="en-US" sz="950" dirty="0"/>
          </a:p>
          <a:p>
            <a:pPr algn="l" indent="0" marL="0">
              <a:lnSpc>
                <a:spcPct val="133000"/>
              </a:lnSpc>
              <a:buNone/>
            </a:pPr>
            <a:r>
              <a:rPr lang="en-US" sz="950" dirty="0">
                <a:solidFill>
                  <a:srgbClr val="E6EDF3"/>
                </a:solidFill>
                <a:latin typeface="Consolas" pitchFamily="34" charset="0"/>
                <a:ea typeface="Consolas" pitchFamily="34" charset="-122"/>
                <a:cs typeface="Consolas" pitchFamily="34" charset="-120"/>
              </a:rPr>
              <a:t>    .str.strip()</a:t>
            </a:r>
            <a:endParaRPr lang="en-US" sz="950" dirty="0"/>
          </a:p>
          <a:p>
            <a:pPr algn="l" indent="0" marL="0">
              <a:lnSpc>
                <a:spcPct val="133000"/>
              </a:lnSpc>
              <a:buNone/>
            </a:pPr>
            <a:r>
              <a:rPr lang="en-US" sz="950" dirty="0">
                <a:solidFill>
                  <a:srgbClr val="E6EDF3"/>
                </a:solidFill>
                <a:latin typeface="Consolas" pitchFamily="34" charset="0"/>
                <a:ea typeface="Consolas" pitchFamily="34" charset="-122"/>
                <a:cs typeface="Consolas" pitchFamily="34" charset="-120"/>
              </a:rPr>
              <a:t>    .str.title()</a:t>
            </a:r>
            <a:endParaRPr lang="en-US" sz="950" dirty="0"/>
          </a:p>
          <a:p>
            <a:pPr algn="l" indent="0" marL="0">
              <a:lnSpc>
                <a:spcPct val="133000"/>
              </a:lnSpc>
              <a:buNone/>
            </a:pPr>
            <a:r>
              <a:rPr lang="en-US" sz="950" dirty="0">
                <a:solidFill>
                  <a:srgbClr val="E6EDF3"/>
                </a:solidFill>
                <a:latin typeface="Consolas" pitchFamily="34" charset="0"/>
                <a:ea typeface="Consolas" pitchFamily="34" charset="-122"/>
                <a:cs typeface="Consolas" pitchFamily="34" charset="-120"/>
              </a:rPr>
              <a:t>    .replace({"BCN": "Barcelona",</a:t>
            </a:r>
            <a:endParaRPr lang="en-US" sz="950" dirty="0"/>
          </a:p>
          <a:p>
            <a:pPr algn="l" indent="0" marL="0">
              <a:lnSpc>
                <a:spcPct val="133000"/>
              </a:lnSpc>
              <a:buNone/>
            </a:pPr>
            <a:r>
              <a:rPr lang="en-US" sz="950" dirty="0">
                <a:solidFill>
                  <a:srgbClr val="E6EDF3"/>
                </a:solidFill>
                <a:latin typeface="Consolas" pitchFamily="34" charset="0"/>
                <a:ea typeface="Consolas" pitchFamily="34" charset="-122"/>
                <a:cs typeface="Consolas" pitchFamily="34" charset="-120"/>
              </a:rPr>
              <a:t>              "Bcn": "Barcelona"})</a:t>
            </a:r>
            <a:endParaRPr lang="en-US" sz="950" dirty="0"/>
          </a:p>
          <a:p>
            <a:pPr algn="l" indent="0" marL="0">
              <a:lnSpc>
                <a:spcPct val="133000"/>
              </a:lnSpc>
              <a:buNone/>
            </a:pPr>
            <a:r>
              <a:rPr lang="en-US" sz="950" dirty="0">
                <a:solidFill>
                  <a:srgbClr val="E6EDF3"/>
                </a:solidFill>
                <a:latin typeface="Consolas" pitchFamily="34" charset="0"/>
                <a:ea typeface="Consolas" pitchFamily="34" charset="-122"/>
                <a:cs typeface="Consolas" pitchFamily="34" charset="-120"/>
              </a:rPr>
              <a:t>)</a:t>
            </a:r>
            <a:endParaRPr lang="en-US" sz="950" dirty="0"/>
          </a:p>
        </p:txBody>
      </p:sp>
      <p:sp>
        <p:nvSpPr>
          <p:cNvPr id="8" name="Text 5"/>
          <p:cNvSpPr/>
          <p:nvPr/>
        </p:nvSpPr>
        <p:spPr>
          <a:xfrm>
            <a:off x="6253502" y="1874540"/>
            <a:ext cx="5283068" cy="193774"/>
          </a:xfrm>
          <a:prstGeom prst="rect">
            <a:avLst/>
          </a:prstGeom>
          <a:noFill/>
          <a:ln/>
        </p:spPr>
        <p:txBody>
          <a:bodyPr wrap="none" lIns="0" tIns="0" rIns="0" bIns="0" rtlCol="0" anchor="t"/>
          <a:lstStyle/>
          <a:p>
            <a:pPr algn="l" indent="0" marL="0">
              <a:lnSpc>
                <a:spcPct val="104000"/>
              </a:lnSpc>
              <a:buNone/>
            </a:pPr>
            <a:r>
              <a:rPr lang="en-US" sz="1200" spc="-12" kern="0" dirty="0">
                <a:solidFill>
                  <a:srgbClr val="FFFFFF"/>
                </a:solidFill>
                <a:latin typeface="Alexandria Medium" pitchFamily="34" charset="0"/>
                <a:ea typeface="Alexandria Medium" pitchFamily="34" charset="-122"/>
                <a:cs typeface="Alexandria Medium" pitchFamily="34" charset="-120"/>
              </a:rPr>
              <a:t>Problema: unidades distintas entre fuentes</a:t>
            </a:r>
            <a:endParaRPr lang="en-US" sz="1200" dirty="0"/>
          </a:p>
        </p:txBody>
      </p:sp>
      <p:sp>
        <p:nvSpPr>
          <p:cNvPr id="9" name="Text 6"/>
          <p:cNvSpPr/>
          <p:nvPr/>
        </p:nvSpPr>
        <p:spPr>
          <a:xfrm>
            <a:off x="6253502" y="2161282"/>
            <a:ext cx="5892653" cy="173633"/>
          </a:xfrm>
          <a:prstGeom prst="rect">
            <a:avLst/>
          </a:prstGeom>
          <a:noFill/>
          <a:ln/>
        </p:spPr>
        <p:txBody>
          <a:bodyPr wrap="none" lIns="0" tIns="0" rIns="0" bIns="0" rtlCol="0" anchor="t"/>
          <a:lstStyle/>
          <a:p>
            <a:pPr algn="l" indent="0" marL="0">
              <a:lnSpc>
                <a:spcPct val="117000"/>
              </a:lnSpc>
              <a:buNone/>
            </a:pPr>
            <a:r>
              <a:rPr lang="en-US" sz="950" dirty="0">
                <a:solidFill>
                  <a:srgbClr val="FFFFFF"/>
                </a:solidFill>
                <a:latin typeface="Manrope" pitchFamily="34" charset="0"/>
                <a:ea typeface="Manrope" pitchFamily="34" charset="-122"/>
                <a:cs typeface="Manrope" pitchFamily="34" charset="-120"/>
              </a:rPr>
              <a:t>El sensor del almacén usa </a:t>
            </a:r>
            <a:pPr algn="l" indent="0" marL="0">
              <a:lnSpc>
                <a:spcPct val="117000"/>
              </a:lnSpc>
              <a:buNone/>
            </a:pPr>
            <a:r>
              <a:rPr lang="en-US" sz="950" b="1" dirty="0">
                <a:solidFill>
                  <a:srgbClr val="FFFFFF"/>
                </a:solidFill>
                <a:latin typeface="Manrope Bold" pitchFamily="34" charset="0"/>
                <a:ea typeface="Manrope Bold" pitchFamily="34" charset="-122"/>
                <a:cs typeface="Manrope Bold" pitchFamily="34" charset="-120"/>
              </a:rPr>
              <a:t>°C</a:t>
            </a:r>
            <a:pPr algn="l" indent="0" marL="0">
              <a:lnSpc>
                <a:spcPct val="117000"/>
              </a:lnSpc>
              <a:buNone/>
            </a:pPr>
            <a:r>
              <a:rPr lang="en-US" sz="950" dirty="0">
                <a:solidFill>
                  <a:srgbClr val="FFFFFF"/>
                </a:solidFill>
                <a:latin typeface="Manrope" pitchFamily="34" charset="0"/>
                <a:ea typeface="Manrope" pitchFamily="34" charset="-122"/>
                <a:cs typeface="Manrope" pitchFamily="34" charset="-120"/>
              </a:rPr>
              <a:t>. El proveedor extranjero reporta en </a:t>
            </a:r>
            <a:pPr algn="l" indent="0" marL="0">
              <a:lnSpc>
                <a:spcPct val="117000"/>
              </a:lnSpc>
              <a:buNone/>
            </a:pPr>
            <a:r>
              <a:rPr lang="en-US" sz="950" b="1" dirty="0">
                <a:solidFill>
                  <a:srgbClr val="FFFFFF"/>
                </a:solidFill>
                <a:latin typeface="Manrope Bold" pitchFamily="34" charset="0"/>
                <a:ea typeface="Manrope Bold" pitchFamily="34" charset="-122"/>
                <a:cs typeface="Manrope Bold" pitchFamily="34" charset="-120"/>
              </a:rPr>
              <a:t>°F</a:t>
            </a:r>
            <a:pPr algn="l" indent="0" marL="0">
              <a:lnSpc>
                <a:spcPct val="117000"/>
              </a:lnSpc>
              <a:buNone/>
            </a:pPr>
            <a:r>
              <a:rPr lang="en-US" sz="950" dirty="0">
                <a:solidFill>
                  <a:srgbClr val="FFFFFF"/>
                </a:solidFill>
                <a:latin typeface="Manrope" pitchFamily="34" charset="0"/>
                <a:ea typeface="Manrope" pitchFamily="34" charset="-122"/>
                <a:cs typeface="Manrope" pitchFamily="34" charset="-120"/>
              </a:rPr>
              <a:t>.</a:t>
            </a:r>
            <a:endParaRPr lang="en-US" sz="950" dirty="0"/>
          </a:p>
        </p:txBody>
      </p:sp>
      <p:sp>
        <p:nvSpPr>
          <p:cNvPr id="10" name="Shape 7"/>
          <p:cNvSpPr/>
          <p:nvPr/>
        </p:nvSpPr>
        <p:spPr>
          <a:xfrm>
            <a:off x="6253502" y="2439491"/>
            <a:ext cx="5283068" cy="644922"/>
          </a:xfrm>
          <a:prstGeom prst="roundRect">
            <a:avLst>
              <a:gd name="adj" fmla="val 28851"/>
            </a:avLst>
          </a:prstGeom>
          <a:solidFill>
            <a:srgbClr val="583592"/>
          </a:solidFill>
          <a:ln/>
        </p:spPr>
      </p:sp>
      <p:sp>
        <p:nvSpPr>
          <p:cNvPr id="11" name="Text 8"/>
          <p:cNvSpPr/>
          <p:nvPr/>
        </p:nvSpPr>
        <p:spPr>
          <a:xfrm>
            <a:off x="6402327" y="2563515"/>
            <a:ext cx="4985419" cy="39687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8B949E"/>
                </a:solidFill>
                <a:latin typeface="Consolas" pitchFamily="34" charset="0"/>
                <a:ea typeface="Consolas" pitchFamily="34" charset="-122"/>
                <a:cs typeface="Consolas" pitchFamily="34" charset="-120"/>
              </a:rPr>
              <a:t># Convertir °F a °C</a:t>
            </a:r>
            <a:endParaRPr lang="en-US" sz="950" dirty="0"/>
          </a:p>
          <a:p>
            <a:pPr algn="l" indent="0" marL="0">
              <a:lnSpc>
                <a:spcPct val="133000"/>
              </a:lnSpc>
              <a:buNone/>
            </a:pPr>
            <a:r>
              <a:rPr lang="en-US" sz="950" dirty="0">
                <a:solidFill>
                  <a:srgbClr val="8B949E"/>
                </a:solidFill>
                <a:latin typeface="Consolas" pitchFamily="34" charset="0"/>
                <a:ea typeface="Consolas" pitchFamily="34" charset="-122"/>
                <a:cs typeface="Consolas" pitchFamily="34" charset="-120"/>
              </a:rPr>
              <a:t>df["temp_c"] = (df["temp_f"] - 32) * 5/9</a:t>
            </a:r>
            <a:endParaRPr lang="en-US" sz="950" dirty="0"/>
          </a:p>
        </p:txBody>
      </p:sp>
      <p:sp>
        <p:nvSpPr>
          <p:cNvPr id="12" name="Text 9"/>
          <p:cNvSpPr/>
          <p:nvPr/>
        </p:nvSpPr>
        <p:spPr>
          <a:xfrm>
            <a:off x="6253502" y="3188990"/>
            <a:ext cx="5283068" cy="193774"/>
          </a:xfrm>
          <a:prstGeom prst="rect">
            <a:avLst/>
          </a:prstGeom>
          <a:noFill/>
          <a:ln/>
        </p:spPr>
        <p:txBody>
          <a:bodyPr wrap="none" lIns="0" tIns="0" rIns="0" bIns="0" rtlCol="0" anchor="t"/>
          <a:lstStyle/>
          <a:p>
            <a:pPr algn="l" indent="0" marL="0">
              <a:lnSpc>
                <a:spcPct val="104000"/>
              </a:lnSpc>
              <a:buNone/>
            </a:pPr>
            <a:r>
              <a:rPr lang="en-US" sz="1200" spc="-12" kern="0" dirty="0">
                <a:solidFill>
                  <a:srgbClr val="FFFFFF"/>
                </a:solidFill>
                <a:latin typeface="Alexandria Medium" pitchFamily="34" charset="0"/>
                <a:ea typeface="Alexandria Medium" pitchFamily="34" charset="-122"/>
                <a:cs typeface="Alexandria Medium" pitchFamily="34" charset="-120"/>
              </a:rPr>
              <a:t>Problema: formatos numéricos</a:t>
            </a:r>
            <a:endParaRPr lang="en-US" sz="1200" dirty="0"/>
          </a:p>
        </p:txBody>
      </p:sp>
      <p:sp>
        <p:nvSpPr>
          <p:cNvPr id="13" name="Text 10"/>
          <p:cNvSpPr/>
          <p:nvPr/>
        </p:nvSpPr>
        <p:spPr>
          <a:xfrm>
            <a:off x="6253502" y="3475732"/>
            <a:ext cx="5283068" cy="347266"/>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FFFFFF"/>
                </a:solidFill>
                <a:latin typeface="Manrope" pitchFamily="34" charset="0"/>
                <a:ea typeface="Manrope" pitchFamily="34" charset="-122"/>
                <a:cs typeface="Manrope" pitchFamily="34" charset="-120"/>
              </a:rPr>
              <a:t>Fuente española: </a:t>
            </a:r>
            <a:pPr algn="l" indent="0" marL="0">
              <a:lnSpc>
                <a:spcPct val="117000"/>
              </a:lnSpc>
              <a:buNone/>
            </a:pPr>
            <a:r>
              <a:rPr lang="en-US" sz="950" dirty="0">
                <a:solidFill>
                  <a:srgbClr val="FFFFFF"/>
                </a:solidFill>
                <a:highlight>
                  <a:srgbClr val="583592"/>
                </a:highlight>
                <a:latin typeface="Consolas" pitchFamily="34" charset="0"/>
                <a:ea typeface="Consolas" pitchFamily="34" charset="-122"/>
                <a:cs typeface="Consolas" pitchFamily="34" charset="-120"/>
              </a:rPr>
              <a:t>50,20 €</a:t>
            </a:r>
            <a:endParaRPr lang="en-US" sz="950" dirty="0"/>
          </a:p>
          <a:p>
            <a:pPr algn="l" indent="0" marL="0">
              <a:lnSpc>
                <a:spcPct val="117000"/>
              </a:lnSpc>
              <a:buNone/>
            </a:pPr>
            <a:r>
              <a:rPr lang="en-US" sz="950" dirty="0">
                <a:solidFill>
                  <a:srgbClr val="FFFFFF"/>
                </a:solidFill>
                <a:latin typeface="Manrope" pitchFamily="34" charset="0"/>
                <a:ea typeface="Manrope" pitchFamily="34" charset="-122"/>
                <a:cs typeface="Manrope" pitchFamily="34" charset="-120"/>
              </a:rPr>
              <a:t>Fuente inglesa: </a:t>
            </a:r>
            <a:pPr algn="l" indent="0" marL="0">
              <a:lnSpc>
                <a:spcPct val="117000"/>
              </a:lnSpc>
              <a:buNone/>
            </a:pPr>
            <a:r>
              <a:rPr lang="en-US" sz="950" dirty="0">
                <a:solidFill>
                  <a:srgbClr val="FFFFFF"/>
                </a:solidFill>
                <a:highlight>
                  <a:srgbClr val="583592"/>
                </a:highlight>
                <a:latin typeface="Consolas" pitchFamily="34" charset="0"/>
                <a:ea typeface="Consolas" pitchFamily="34" charset="-122"/>
                <a:cs typeface="Consolas" pitchFamily="34" charset="-120"/>
              </a:rPr>
              <a:t>50.20</a:t>
            </a:r>
            <a:endParaRPr lang="en-US" sz="950" dirty="0"/>
          </a:p>
        </p:txBody>
      </p:sp>
      <p:sp>
        <p:nvSpPr>
          <p:cNvPr id="14" name="Shape 11"/>
          <p:cNvSpPr/>
          <p:nvPr/>
        </p:nvSpPr>
        <p:spPr>
          <a:xfrm>
            <a:off x="6253502" y="3927574"/>
            <a:ext cx="5283068" cy="1438672"/>
          </a:xfrm>
          <a:prstGeom prst="roundRect">
            <a:avLst>
              <a:gd name="adj" fmla="val 12933"/>
            </a:avLst>
          </a:prstGeom>
          <a:solidFill>
            <a:srgbClr val="583592"/>
          </a:solidFill>
          <a:ln/>
        </p:spPr>
      </p:sp>
      <p:sp>
        <p:nvSpPr>
          <p:cNvPr id="15" name="Text 12"/>
          <p:cNvSpPr/>
          <p:nvPr/>
        </p:nvSpPr>
        <p:spPr>
          <a:xfrm>
            <a:off x="6402327" y="4051598"/>
            <a:ext cx="4985419" cy="11906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7EE787"/>
                </a:solidFill>
                <a:latin typeface="Consolas" pitchFamily="34" charset="0"/>
                <a:ea typeface="Consolas" pitchFamily="34" charset="-122"/>
                <a:cs typeface="Consolas" pitchFamily="34" charset="-120"/>
              </a:rPr>
              <a:t>df["gasto"] = (</a:t>
            </a:r>
            <a:endParaRPr lang="en-US" sz="950" dirty="0"/>
          </a:p>
          <a:p>
            <a:pPr algn="l" indent="0" marL="0">
              <a:lnSpc>
                <a:spcPct val="133000"/>
              </a:lnSpc>
              <a:buNone/>
            </a:pPr>
            <a:r>
              <a:rPr lang="en-US" sz="950" dirty="0">
                <a:solidFill>
                  <a:srgbClr val="7EE787"/>
                </a:solidFill>
                <a:latin typeface="Consolas" pitchFamily="34" charset="0"/>
                <a:ea typeface="Consolas" pitchFamily="34" charset="-122"/>
                <a:cs typeface="Consolas" pitchFamily="34" charset="-120"/>
              </a:rPr>
              <a:t>  df["gasto_raw"]</a:t>
            </a:r>
            <a:endParaRPr lang="en-US" sz="950" dirty="0"/>
          </a:p>
          <a:p>
            <a:pPr algn="l" indent="0" marL="0">
              <a:lnSpc>
                <a:spcPct val="133000"/>
              </a:lnSpc>
              <a:buNone/>
            </a:pPr>
            <a:r>
              <a:rPr lang="en-US" sz="950" dirty="0">
                <a:solidFill>
                  <a:srgbClr val="7EE787"/>
                </a:solidFill>
                <a:latin typeface="Consolas" pitchFamily="34" charset="0"/>
                <a:ea typeface="Consolas" pitchFamily="34" charset="-122"/>
                <a:cs typeface="Consolas" pitchFamily="34" charset="-120"/>
              </a:rPr>
              <a:t>    .str.replace("€","")</a:t>
            </a:r>
            <a:endParaRPr lang="en-US" sz="950" dirty="0"/>
          </a:p>
          <a:p>
            <a:pPr algn="l" indent="0" marL="0">
              <a:lnSpc>
                <a:spcPct val="133000"/>
              </a:lnSpc>
              <a:buNone/>
            </a:pPr>
            <a:r>
              <a:rPr lang="en-US" sz="950" dirty="0">
                <a:solidFill>
                  <a:srgbClr val="7EE787"/>
                </a:solidFill>
                <a:latin typeface="Consolas" pitchFamily="34" charset="0"/>
                <a:ea typeface="Consolas" pitchFamily="34" charset="-122"/>
                <a:cs typeface="Consolas" pitchFamily="34" charset="-120"/>
              </a:rPr>
              <a:t>    .str.replace(",",".")</a:t>
            </a:r>
            <a:endParaRPr lang="en-US" sz="950" dirty="0"/>
          </a:p>
          <a:p>
            <a:pPr algn="l" indent="0" marL="0">
              <a:lnSpc>
                <a:spcPct val="133000"/>
              </a:lnSpc>
              <a:buNone/>
            </a:pPr>
            <a:r>
              <a:rPr lang="en-US" sz="950" dirty="0">
                <a:solidFill>
                  <a:srgbClr val="7EE787"/>
                </a:solidFill>
                <a:latin typeface="Consolas" pitchFamily="34" charset="0"/>
                <a:ea typeface="Consolas" pitchFamily="34" charset="-122"/>
                <a:cs typeface="Consolas" pitchFamily="34" charset="-120"/>
              </a:rPr>
              <a:t>    .astype(float)</a:t>
            </a:r>
            <a:endParaRPr lang="en-US" sz="950" dirty="0"/>
          </a:p>
          <a:p>
            <a:pPr algn="l" indent="0" marL="0">
              <a:lnSpc>
                <a:spcPct val="133000"/>
              </a:lnSpc>
              <a:buNone/>
            </a:pPr>
            <a:r>
              <a:rPr lang="en-US" sz="950" dirty="0">
                <a:solidFill>
                  <a:srgbClr val="7EE787"/>
                </a:solidFill>
                <a:latin typeface="Consolas" pitchFamily="34" charset="0"/>
                <a:ea typeface="Consolas" pitchFamily="34" charset="-122"/>
                <a:cs typeface="Consolas" pitchFamily="34" charset="-120"/>
              </a:rPr>
              <a:t>)</a:t>
            </a:r>
            <a:endParaRPr lang="en-US" sz="950" dirty="0"/>
          </a:p>
        </p:txBody>
      </p:sp>
      <p:pic>
        <p:nvPicPr>
          <p:cNvPr id="16"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17"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18" name="Text 13"/>
          <p:cNvSpPr/>
          <p:nvPr/>
        </p:nvSpPr>
        <p:spPr>
          <a:xfrm>
            <a:off x="10829158" y="6300589"/>
            <a:ext cx="1164104"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661475" y="1085056"/>
            <a:ext cx="10868745" cy="351433"/>
          </a:xfrm>
          <a:prstGeom prst="rect">
            <a:avLst/>
          </a:prstGeom>
          <a:noFill/>
          <a:ln/>
        </p:spPr>
        <p:txBody>
          <a:bodyPr wrap="none" lIns="0" tIns="0" rIns="0" bIns="0" rtlCol="0" anchor="t"/>
          <a:lstStyle/>
          <a:p>
            <a:pPr algn="l" indent="0" marL="0">
              <a:lnSpc>
                <a:spcPct val="104000"/>
              </a:lnSpc>
              <a:buNone/>
            </a:pPr>
            <a:r>
              <a:rPr lang="en-US" sz="2200" spc="-22" kern="0" dirty="0">
                <a:solidFill>
                  <a:srgbClr val="FFFFFF"/>
                </a:solidFill>
                <a:latin typeface="Alexandria Medium" pitchFamily="34" charset="0"/>
                <a:ea typeface="Alexandria Medium" pitchFamily="34" charset="-122"/>
                <a:cs typeface="Alexandria Medium" pitchFamily="34" charset="-120"/>
              </a:rPr>
              <a:t>Valores ausentes</a:t>
            </a:r>
            <a:endParaRPr lang="en-US" sz="2200" dirty="0"/>
          </a:p>
        </p:txBody>
      </p:sp>
      <p:sp>
        <p:nvSpPr>
          <p:cNvPr id="3" name="Text 1"/>
          <p:cNvSpPr/>
          <p:nvPr/>
        </p:nvSpPr>
        <p:spPr>
          <a:xfrm>
            <a:off x="661475" y="1675408"/>
            <a:ext cx="11478330" cy="214412"/>
          </a:xfrm>
          <a:prstGeom prst="rect">
            <a:avLst/>
          </a:prstGeom>
          <a:noFill/>
          <a:ln/>
        </p:spPr>
        <p:txBody>
          <a:bodyPr wrap="none" lIns="0" tIns="0" rIns="0" bIns="0" rtlCol="0" anchor="t"/>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Los valores ausentes (</a:t>
            </a:r>
            <a:pPr algn="l" indent="0" marL="0">
              <a:lnSpc>
                <a:spcPct val="123000"/>
              </a:lnSpc>
              <a:buNone/>
            </a:pPr>
            <a:r>
              <a:rPr lang="en-US" sz="1100" dirty="0">
                <a:solidFill>
                  <a:srgbClr val="FFFFFF"/>
                </a:solidFill>
                <a:highlight>
                  <a:srgbClr val="583592"/>
                </a:highlight>
                <a:latin typeface="Consolas" pitchFamily="34" charset="0"/>
                <a:ea typeface="Consolas" pitchFamily="34" charset="-122"/>
                <a:cs typeface="Consolas" pitchFamily="34" charset="-120"/>
              </a:rPr>
              <a:t>NaN</a:t>
            </a:r>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 </a:t>
            </a:r>
            <a:pPr algn="l" indent="0" marL="0">
              <a:lnSpc>
                <a:spcPct val="123000"/>
              </a:lnSpc>
              <a:buNone/>
            </a:pPr>
            <a:r>
              <a:rPr lang="en-US" sz="1100" dirty="0">
                <a:solidFill>
                  <a:srgbClr val="FFFFFF"/>
                </a:solidFill>
                <a:highlight>
                  <a:srgbClr val="583592"/>
                </a:highlight>
                <a:latin typeface="Consolas" pitchFamily="34" charset="0"/>
                <a:ea typeface="Consolas" pitchFamily="34" charset="-122"/>
                <a:cs typeface="Consolas" pitchFamily="34" charset="-120"/>
              </a:rPr>
              <a:t>None</a:t>
            </a:r>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 vacíos) son inevitables en datos reales. La estrategia para tratarlos depende del </a:t>
            </a:r>
            <a:pPr algn="l" indent="0" marL="0">
              <a:lnSpc>
                <a:spcPct val="123000"/>
              </a:lnSpc>
              <a:buNone/>
            </a:pPr>
            <a:r>
              <a:rPr lang="en-US" sz="1100" b="1" dirty="0">
                <a:solidFill>
                  <a:srgbClr val="FFFFFF"/>
                </a:solidFill>
                <a:latin typeface="Manrope Bold" pitchFamily="34" charset="0"/>
                <a:ea typeface="Manrope Bold" pitchFamily="34" charset="-122"/>
                <a:cs typeface="Manrope Bold" pitchFamily="34" charset="-120"/>
              </a:rPr>
              <a:t>significado del dato</a:t>
            </a:r>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a:t>
            </a:r>
            <a:endParaRPr lang="en-US" sz="1100" dirty="0"/>
          </a:p>
        </p:txBody>
      </p:sp>
      <p:sp>
        <p:nvSpPr>
          <p:cNvPr id="4" name="Text 2"/>
          <p:cNvSpPr/>
          <p:nvPr/>
        </p:nvSpPr>
        <p:spPr>
          <a:xfrm>
            <a:off x="661475" y="2143621"/>
            <a:ext cx="5262927"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Detectar en Pandas</a:t>
            </a:r>
            <a:endParaRPr lang="en-US" sz="1350" dirty="0"/>
          </a:p>
        </p:txBody>
      </p:sp>
      <p:sp>
        <p:nvSpPr>
          <p:cNvPr id="5" name="Shape 3"/>
          <p:cNvSpPr/>
          <p:nvPr/>
        </p:nvSpPr>
        <p:spPr>
          <a:xfrm>
            <a:off x="661475" y="2497534"/>
            <a:ext cx="5262927" cy="2305348"/>
          </a:xfrm>
          <a:prstGeom prst="roundRect">
            <a:avLst>
              <a:gd name="adj" fmla="val 9147"/>
            </a:avLst>
          </a:prstGeom>
          <a:solidFill>
            <a:srgbClr val="583592"/>
          </a:solidFill>
          <a:ln/>
        </p:spPr>
      </p:sp>
      <p:sp>
        <p:nvSpPr>
          <p:cNvPr id="6" name="Text 4"/>
          <p:cNvSpPr/>
          <p:nvPr/>
        </p:nvSpPr>
        <p:spPr>
          <a:xfrm>
            <a:off x="830143" y="2638028"/>
            <a:ext cx="4925592" cy="2024360"/>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E6EDF3"/>
                </a:solidFill>
                <a:latin typeface="Consolas" pitchFamily="34" charset="0"/>
                <a:ea typeface="Consolas" pitchFamily="34" charset="-122"/>
                <a:cs typeface="Consolas" pitchFamily="34" charset="-120"/>
              </a:rPr>
              <a:t>df.isna().sum()</a:t>
            </a:r>
            <a:endParaRPr lang="en-US" sz="1100" dirty="0"/>
          </a:p>
          <a:p>
            <a:pPr algn="l" indent="0" marL="0">
              <a:lnSpc>
                <a:spcPct val="133000"/>
              </a:lnSpc>
              <a:buNone/>
            </a:pPr>
            <a:r>
              <a:rPr lang="en-US" sz="1100" dirty="0">
                <a:solidFill>
                  <a:srgbClr val="E6EDF3"/>
                </a:solidFill>
                <a:latin typeface="Consolas" pitchFamily="34" charset="0"/>
                <a:ea typeface="Consolas" pitchFamily="34" charset="-122"/>
                <a:cs typeface="Consolas" pitchFamily="34" charset="-120"/>
              </a:rPr>
              <a:t># customer_id      0</a:t>
            </a:r>
            <a:endParaRPr lang="en-US" sz="1100" dirty="0"/>
          </a:p>
          <a:p>
            <a:pPr algn="l" indent="0" marL="0">
              <a:lnSpc>
                <a:spcPct val="133000"/>
              </a:lnSpc>
              <a:buNone/>
            </a:pPr>
            <a:r>
              <a:rPr lang="en-US" sz="1100" dirty="0">
                <a:solidFill>
                  <a:srgbClr val="E6EDF3"/>
                </a:solidFill>
                <a:latin typeface="Consolas" pitchFamily="34" charset="0"/>
                <a:ea typeface="Consolas" pitchFamily="34" charset="-122"/>
                <a:cs typeface="Consolas" pitchFamily="34" charset="-120"/>
              </a:rPr>
              <a:t># ciudad           3</a:t>
            </a:r>
            <a:endParaRPr lang="en-US" sz="1100" dirty="0"/>
          </a:p>
          <a:p>
            <a:pPr algn="l" indent="0" marL="0">
              <a:lnSpc>
                <a:spcPct val="133000"/>
              </a:lnSpc>
              <a:buNone/>
            </a:pPr>
            <a:r>
              <a:rPr lang="en-US" sz="1100" dirty="0">
                <a:solidFill>
                  <a:srgbClr val="E6EDF3"/>
                </a:solidFill>
                <a:latin typeface="Consolas" pitchFamily="34" charset="0"/>
                <a:ea typeface="Consolas" pitchFamily="34" charset="-122"/>
                <a:cs typeface="Consolas" pitchFamily="34" charset="-120"/>
              </a:rPr>
              <a:t># edad             1</a:t>
            </a:r>
            <a:endParaRPr lang="en-US" sz="1100" dirty="0"/>
          </a:p>
          <a:p>
            <a:pPr algn="l" indent="0" marL="0">
              <a:lnSpc>
                <a:spcPct val="133000"/>
              </a:lnSpc>
              <a:buNone/>
            </a:pPr>
            <a:r>
              <a:rPr lang="en-US" sz="1100" dirty="0">
                <a:solidFill>
                  <a:srgbClr val="E6EDF3"/>
                </a:solidFill>
                <a:latin typeface="Consolas" pitchFamily="34" charset="0"/>
                <a:ea typeface="Consolas" pitchFamily="34" charset="-122"/>
                <a:cs typeface="Consolas" pitchFamily="34" charset="-120"/>
              </a:rPr>
              <a:t># gasto           12</a:t>
            </a:r>
            <a:endParaRPr lang="en-US" sz="1100" dirty="0"/>
          </a:p>
          <a:p>
            <a:pPr algn="l" indent="0" marL="0">
              <a:lnSpc>
                <a:spcPct val="133000"/>
              </a:lnSpc>
              <a:buNone/>
            </a:pPr>
            <a:r>
              <a:rPr lang="en-US" sz="1100" dirty="0">
                <a:solidFill>
                  <a:srgbClr val="E6EDF3"/>
                </a:solidFill>
                <a:latin typeface="Consolas" pitchFamily="34" charset="0"/>
                <a:ea typeface="Consolas" pitchFamily="34" charset="-122"/>
                <a:cs typeface="Consolas" pitchFamily="34" charset="-120"/>
              </a:rPr>
              <a:t># fecha            0</a:t>
            </a:r>
            <a:endParaRPr lang="en-US" sz="1100" dirty="0"/>
          </a:p>
          <a:p>
            <a:pPr algn="l" indent="0" marL="0">
              <a:lnSpc>
                <a:spcPct val="133000"/>
              </a:lnSpc>
              <a:buNone/>
            </a:pPr>
            <a:endParaRPr lang="en-US" sz="1100" dirty="0"/>
          </a:p>
          <a:p>
            <a:pPr algn="l" indent="0" marL="0">
              <a:lnSpc>
                <a:spcPct val="133000"/>
              </a:lnSpc>
              <a:buNone/>
            </a:pPr>
            <a:r>
              <a:rPr lang="en-US" sz="1100" dirty="0">
                <a:solidFill>
                  <a:srgbClr val="E6EDF3"/>
                </a:solidFill>
                <a:latin typeface="Consolas" pitchFamily="34" charset="0"/>
                <a:ea typeface="Consolas" pitchFamily="34" charset="-122"/>
                <a:cs typeface="Consolas" pitchFamily="34" charset="-120"/>
              </a:rPr>
              <a:t># Porcentaje de nulos por columna</a:t>
            </a:r>
            <a:endParaRPr lang="en-US" sz="1100" dirty="0"/>
          </a:p>
          <a:p>
            <a:pPr algn="l" indent="0" marL="0">
              <a:lnSpc>
                <a:spcPct val="133000"/>
              </a:lnSpc>
              <a:buNone/>
            </a:pPr>
            <a:r>
              <a:rPr lang="en-US" sz="1100" dirty="0">
                <a:solidFill>
                  <a:srgbClr val="E6EDF3"/>
                </a:solidFill>
                <a:latin typeface="Consolas" pitchFamily="34" charset="0"/>
                <a:ea typeface="Consolas" pitchFamily="34" charset="-122"/>
                <a:cs typeface="Consolas" pitchFamily="34" charset="-120"/>
              </a:rPr>
              <a:t>(df.isna().sum() / len(df)) * 100</a:t>
            </a:r>
            <a:endParaRPr lang="en-US" sz="1100" dirty="0"/>
          </a:p>
        </p:txBody>
      </p:sp>
      <p:sp>
        <p:nvSpPr>
          <p:cNvPr id="7" name="Shape 5"/>
          <p:cNvSpPr/>
          <p:nvPr/>
        </p:nvSpPr>
        <p:spPr>
          <a:xfrm>
            <a:off x="661475" y="4937224"/>
            <a:ext cx="5262927" cy="701278"/>
          </a:xfrm>
          <a:prstGeom prst="roundRect">
            <a:avLst>
              <a:gd name="adj" fmla="val 30070"/>
            </a:avLst>
          </a:prstGeom>
          <a:solidFill>
            <a:srgbClr val="321769"/>
          </a:solidFill>
          <a:ln/>
        </p:spPr>
      </p:sp>
      <p:pic>
        <p:nvPicPr>
          <p:cNvPr id="8" name="Image 0" descr="preencoded.png">    </p:cNvPr>
          <p:cNvPicPr>
            <a:picLocks noChangeAspect="1"/>
          </p:cNvPicPr>
          <p:nvPr/>
        </p:nvPicPr>
        <p:blipFill>
          <a:blip r:embed="rId1"/>
          <a:stretch>
            <a:fillRect/>
          </a:stretch>
        </p:blipFill>
        <p:spPr>
          <a:xfrm>
            <a:off x="801965" y="5121275"/>
            <a:ext cx="175712" cy="140494"/>
          </a:xfrm>
          <a:prstGeom prst="rect">
            <a:avLst/>
          </a:prstGeom>
        </p:spPr>
      </p:pic>
      <p:sp>
        <p:nvSpPr>
          <p:cNvPr id="9" name="Text 6"/>
          <p:cNvSpPr/>
          <p:nvPr/>
        </p:nvSpPr>
        <p:spPr>
          <a:xfrm>
            <a:off x="1118167" y="5079802"/>
            <a:ext cx="4665744" cy="416123"/>
          </a:xfrm>
          <a:prstGeom prst="rect">
            <a:avLst/>
          </a:prstGeom>
          <a:noFill/>
          <a:ln/>
        </p:spPr>
        <p:txBody>
          <a:bodyPr wrap="square" lIns="0" tIns="0" rIns="0" bIns="0" rtlCol="0" anchor="t">
            <a:normAutofit/>
          </a:bodyPr>
          <a:lstStyle/>
          <a:p>
            <a:pPr algn="l" indent="0" marL="0">
              <a:lnSpc>
                <a:spcPct val="123000"/>
              </a:lnSpc>
              <a:buNone/>
            </a:pPr>
            <a:r>
              <a:rPr lang="en-US" sz="1100" b="1" dirty="0">
                <a:solidFill>
                  <a:srgbClr val="FFFFFF"/>
                </a:solidFill>
                <a:latin typeface="Manrope Bold" pitchFamily="34" charset="0"/>
                <a:ea typeface="Manrope Bold" pitchFamily="34" charset="-122"/>
                <a:cs typeface="Manrope Bold" pitchFamily="34" charset="-120"/>
              </a:rPr>
              <a:t>La estrategia depende del significado del dato.</a:t>
            </a:r>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 No existe una respuesta universal. Un nulo en "gasto" es distinto a un nulo en "edad".</a:t>
            </a:r>
            <a:endParaRPr lang="en-US" sz="1100" dirty="0"/>
          </a:p>
        </p:txBody>
      </p:sp>
      <p:sp>
        <p:nvSpPr>
          <p:cNvPr id="10" name="Text 7"/>
          <p:cNvSpPr/>
          <p:nvPr/>
        </p:nvSpPr>
        <p:spPr>
          <a:xfrm>
            <a:off x="6273643" y="2143621"/>
            <a:ext cx="5262927"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¿Qué hacemos con los nulos?</a:t>
            </a:r>
            <a:endParaRPr lang="en-US" sz="1350" dirty="0"/>
          </a:p>
        </p:txBody>
      </p:sp>
      <p:pic>
        <p:nvPicPr>
          <p:cNvPr id="11"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73643" y="2497534"/>
            <a:ext cx="2571686" cy="1282303"/>
          </a:xfrm>
          <a:prstGeom prst="rect">
            <a:avLst/>
          </a:prstGeom>
        </p:spPr>
      </p:pic>
      <p:sp>
        <p:nvSpPr>
          <p:cNvPr id="12" name="Text 8"/>
          <p:cNvSpPr/>
          <p:nvPr/>
        </p:nvSpPr>
        <p:spPr>
          <a:xfrm>
            <a:off x="6509381" y="2657078"/>
            <a:ext cx="2176408"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Eliminar</a:t>
            </a:r>
            <a:endParaRPr lang="en-US" sz="1350" dirty="0"/>
          </a:p>
        </p:txBody>
      </p:sp>
      <p:sp>
        <p:nvSpPr>
          <p:cNvPr id="13" name="Text 9"/>
          <p:cNvSpPr/>
          <p:nvPr/>
        </p:nvSpPr>
        <p:spPr>
          <a:xfrm>
            <a:off x="6509381" y="2996109"/>
            <a:ext cx="2176408" cy="624185"/>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Si el registro sin ese campo no tiene sentido. Cuidado: podemos perder muchas filas.</a:t>
            </a:r>
            <a:endParaRPr lang="en-US" sz="1100" dirty="0"/>
          </a:p>
        </p:txBody>
      </p:sp>
      <p:pic>
        <p:nvPicPr>
          <p:cNvPr id="14"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964785" y="2497534"/>
            <a:ext cx="2571785" cy="1282303"/>
          </a:xfrm>
          <a:prstGeom prst="rect">
            <a:avLst/>
          </a:prstGeom>
        </p:spPr>
      </p:pic>
      <p:sp>
        <p:nvSpPr>
          <p:cNvPr id="15" name="Text 10"/>
          <p:cNvSpPr/>
          <p:nvPr/>
        </p:nvSpPr>
        <p:spPr>
          <a:xfrm>
            <a:off x="9200523" y="2657078"/>
            <a:ext cx="2176507"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Rellenar (imputar)</a:t>
            </a:r>
            <a:endParaRPr lang="en-US" sz="1350" dirty="0"/>
          </a:p>
        </p:txBody>
      </p:sp>
      <p:sp>
        <p:nvSpPr>
          <p:cNvPr id="16" name="Text 11"/>
          <p:cNvSpPr/>
          <p:nvPr/>
        </p:nvSpPr>
        <p:spPr>
          <a:xfrm>
            <a:off x="9200523" y="2996109"/>
            <a:ext cx="2176507" cy="624185"/>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Con la media, la moda, un valor por defecto. Introduce una suposición: hay que justificarla.</a:t>
            </a:r>
            <a:endParaRPr lang="en-US" sz="1100" dirty="0"/>
          </a:p>
        </p:txBody>
      </p:sp>
      <p:pic>
        <p:nvPicPr>
          <p:cNvPr id="17"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73643" y="3899297"/>
            <a:ext cx="2571686" cy="1282303"/>
          </a:xfrm>
          <a:prstGeom prst="rect">
            <a:avLst/>
          </a:prstGeom>
        </p:spPr>
      </p:pic>
      <p:sp>
        <p:nvSpPr>
          <p:cNvPr id="18" name="Text 12"/>
          <p:cNvSpPr/>
          <p:nvPr/>
        </p:nvSpPr>
        <p:spPr>
          <a:xfrm>
            <a:off x="6509381" y="4058841"/>
            <a:ext cx="2176408"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Mantener como nulo</a:t>
            </a:r>
            <a:endParaRPr lang="en-US" sz="1350" dirty="0"/>
          </a:p>
        </p:txBody>
      </p:sp>
      <p:sp>
        <p:nvSpPr>
          <p:cNvPr id="19" name="Text 13"/>
          <p:cNvSpPr/>
          <p:nvPr/>
        </p:nvSpPr>
        <p:spPr>
          <a:xfrm>
            <a:off x="6509381" y="4397871"/>
            <a:ext cx="2176408" cy="624185"/>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Si el dato faltante </a:t>
            </a:r>
            <a:pPr algn="l" indent="0" marL="0">
              <a:lnSpc>
                <a:spcPct val="123000"/>
              </a:lnSpc>
              <a:buNone/>
            </a:pPr>
            <a:r>
              <a:rPr lang="en-US" sz="1100" i="1" dirty="0">
                <a:solidFill>
                  <a:srgbClr val="FFFFFF"/>
                </a:solidFill>
                <a:latin typeface="Manrope" pitchFamily="34" charset="0"/>
                <a:ea typeface="Manrope" pitchFamily="34" charset="-122"/>
                <a:cs typeface="Manrope" pitchFamily="34" charset="-120"/>
              </a:rPr>
              <a:t>tiene significado</a:t>
            </a:r>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 "cliente que no indicó ciudad" es información.</a:t>
            </a:r>
            <a:endParaRPr lang="en-US" sz="1100" dirty="0"/>
          </a:p>
        </p:txBody>
      </p:sp>
      <p:pic>
        <p:nvPicPr>
          <p:cNvPr id="2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964785" y="3899297"/>
            <a:ext cx="2571785" cy="1282303"/>
          </a:xfrm>
          <a:prstGeom prst="rect">
            <a:avLst/>
          </a:prstGeom>
        </p:spPr>
      </p:pic>
      <p:sp>
        <p:nvSpPr>
          <p:cNvPr id="21" name="Text 14"/>
          <p:cNvSpPr/>
          <p:nvPr/>
        </p:nvSpPr>
        <p:spPr>
          <a:xfrm>
            <a:off x="9200523" y="4058841"/>
            <a:ext cx="2176507"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Investigar por qué faltan</a:t>
            </a:r>
            <a:endParaRPr lang="en-US" sz="1350" dirty="0"/>
          </a:p>
        </p:txBody>
      </p:sp>
      <p:sp>
        <p:nvSpPr>
          <p:cNvPr id="22" name="Text 15"/>
          <p:cNvSpPr/>
          <p:nvPr/>
        </p:nvSpPr>
        <p:spPr>
          <a:xfrm>
            <a:off x="9200523" y="4397871"/>
            <a:ext cx="2176507" cy="624185"/>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¿Error en la ingesta? ¿Campo no obligatorio? La causa determina el tratamiento.</a:t>
            </a:r>
            <a:endParaRPr lang="en-US" sz="1100" dirty="0"/>
          </a:p>
        </p:txBody>
      </p:sp>
      <p:pic>
        <p:nvPicPr>
          <p:cNvPr id="23" name="Image 5" descr="preencoded.png">    </p:cNvPr>
          <p:cNvPicPr>
            <a:picLocks noChangeAspect="1"/>
          </p:cNvPicPr>
          <p:nvPr/>
        </p:nvPicPr>
        <p:blipFill>
          <a:blip r:embed="rId10"/>
          <a:stretch>
            <a:fillRect/>
          </a:stretch>
        </p:blipFill>
        <p:spPr>
          <a:xfrm>
            <a:off x="198433" y="203597"/>
            <a:ext cx="676357" cy="568623"/>
          </a:xfrm>
          <a:prstGeom prst="rect">
            <a:avLst/>
          </a:prstGeom>
        </p:spPr>
      </p:pic>
      <p:pic>
        <p:nvPicPr>
          <p:cNvPr id="24" name="Image 6" descr="preencoded.png">    </p:cNvPr>
          <p:cNvPicPr>
            <a:picLocks noChangeAspect="1"/>
          </p:cNvPicPr>
          <p:nvPr/>
        </p:nvPicPr>
        <p:blipFill>
          <a:blip r:embed="rId11"/>
          <a:stretch>
            <a:fillRect/>
          </a:stretch>
        </p:blipFill>
        <p:spPr>
          <a:xfrm>
            <a:off x="11386357" y="268784"/>
            <a:ext cx="606906" cy="438249"/>
          </a:xfrm>
          <a:prstGeom prst="rect">
            <a:avLst/>
          </a:prstGeom>
        </p:spPr>
      </p:pic>
      <p:sp>
        <p:nvSpPr>
          <p:cNvPr id="25" name="Text 16"/>
          <p:cNvSpPr/>
          <p:nvPr/>
        </p:nvSpPr>
        <p:spPr>
          <a:xfrm>
            <a:off x="10824197" y="6300589"/>
            <a:ext cx="1169065"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661475" y="1070570"/>
            <a:ext cx="10868745" cy="372170"/>
          </a:xfrm>
          <a:prstGeom prst="rect">
            <a:avLst/>
          </a:prstGeom>
          <a:noFill/>
          <a:ln/>
        </p:spPr>
        <p:txBody>
          <a:bodyPr wrap="none" lIns="0" tIns="0" rIns="0" bIns="0" rtlCol="0" anchor="t"/>
          <a:lstStyle/>
          <a:p>
            <a:pPr algn="l" indent="0" marL="0">
              <a:lnSpc>
                <a:spcPct val="104000"/>
              </a:lnSpc>
              <a:buNone/>
            </a:pPr>
            <a:r>
              <a:rPr lang="en-US" sz="2300" spc="-23" kern="0" dirty="0">
                <a:solidFill>
                  <a:srgbClr val="FFFFFF"/>
                </a:solidFill>
                <a:latin typeface="Alexandria Medium" pitchFamily="34" charset="0"/>
                <a:ea typeface="Alexandria Medium" pitchFamily="34" charset="-122"/>
                <a:cs typeface="Alexandria Medium" pitchFamily="34" charset="-120"/>
              </a:rPr>
              <a:t>Duplicados</a:t>
            </a:r>
            <a:endParaRPr lang="en-US" sz="2300" dirty="0"/>
          </a:p>
        </p:txBody>
      </p:sp>
      <p:sp>
        <p:nvSpPr>
          <p:cNvPr id="3" name="Text 1"/>
          <p:cNvSpPr/>
          <p:nvPr/>
        </p:nvSpPr>
        <p:spPr>
          <a:xfrm>
            <a:off x="661475" y="1710630"/>
            <a:ext cx="11478330" cy="226219"/>
          </a:xfrm>
          <a:prstGeom prst="rect">
            <a:avLst/>
          </a:prstGeom>
          <a:noFill/>
          <a:ln/>
        </p:spPr>
        <p:txBody>
          <a:bodyPr wrap="none" lIns="0" tIns="0" rIns="0" bIns="0" rtlCol="0" anchor="t"/>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No todos los duplicados son iguales. Diferenciarlos es fundamental para no perder datos legítimos.</a:t>
            </a:r>
            <a:endParaRPr lang="en-US" sz="1150" dirty="0"/>
          </a:p>
        </p:txBody>
      </p:sp>
      <p:sp>
        <p:nvSpPr>
          <p:cNvPr id="4" name="Shape 2"/>
          <p:cNvSpPr/>
          <p:nvPr/>
        </p:nvSpPr>
        <p:spPr>
          <a:xfrm>
            <a:off x="554321" y="2087563"/>
            <a:ext cx="5130076" cy="3699768"/>
          </a:xfrm>
          <a:prstGeom prst="roundRect">
            <a:avLst>
              <a:gd name="adj" fmla="val 9656"/>
            </a:avLst>
          </a:prstGeom>
          <a:solidFill>
            <a:srgbClr val="324C85"/>
          </a:solidFill>
          <a:ln/>
        </p:spPr>
      </p:sp>
      <p:sp>
        <p:nvSpPr>
          <p:cNvPr id="5" name="Text 3"/>
          <p:cNvSpPr/>
          <p:nvPr/>
        </p:nvSpPr>
        <p:spPr>
          <a:xfrm>
            <a:off x="703146" y="2221508"/>
            <a:ext cx="4832428"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Duplicado exacto</a:t>
            </a:r>
            <a:endParaRPr lang="en-US" sz="1450" dirty="0"/>
          </a:p>
        </p:txBody>
      </p:sp>
      <p:sp>
        <p:nvSpPr>
          <p:cNvPr id="6" name="Text 4"/>
          <p:cNvSpPr/>
          <p:nvPr/>
        </p:nvSpPr>
        <p:spPr>
          <a:xfrm>
            <a:off x="703146" y="2587923"/>
            <a:ext cx="4832428" cy="452438"/>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Todo el registro está repetido byte a byte. Probablemente un error de carga.</a:t>
            </a:r>
            <a:endParaRPr lang="en-US" sz="115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703146" y="3191073"/>
          <a:ext cx="9143771" cy="914400"/>
        </p:xfrm>
        <a:graphic>
          <a:graphicData uri="http://schemas.openxmlformats.org/drawingml/2006/table">
            <a:tbl>
              <a:tblPr/>
              <a:tblGrid>
                <a:gridCol w="966486"/>
                <a:gridCol w="1449728"/>
                <a:gridCol w="1208107"/>
                <a:gridCol w="1208107"/>
              </a:tblGrid>
              <a:tr h="402818">
                <a:tc>
                  <a:txBody>
                    <a:bodyPr/>
                    <a:lstStyle/>
                    <a:p>
                      <a:pPr indent="0" marL="0">
                        <a:buNone/>
                      </a:pPr>
                      <a:r>
                        <a:rPr lang="en-US" sz="1150" b="1" dirty="0">
                          <a:solidFill>
                            <a:srgbClr val="FFFFFF"/>
                          </a:solidFill>
                          <a:latin typeface="Manrope" pitchFamily="34" charset="0"/>
                          <a:ea typeface="Manrope" pitchFamily="34" charset="-122"/>
                          <a:cs typeface="Manrope" pitchFamily="34" charset="-120"/>
                        </a:rPr>
                        <a:t>id</a:t>
                      </a:r>
                      <a:endParaRPr lang="en-US" sz="1150" dirty="0">
                        <a:latin typeface="Manrope" charset="0"/>
                        <a:ea typeface="Manrope" charset="0"/>
                        <a:cs typeface="Manrope" charset="0"/>
                      </a:endParaRPr>
                    </a:p>
                  </a:txBody>
                  <a:tcPr marL="148852" marR="148852" marT="6350" marB="6350" anchor="ctr">
                    <a:lnL w="12700" cap="flat" cmpd="sng" algn="ctr">
                      <a:solidFill>
                        <a:srgbClr val="6377A2"/>
                      </a:solidFill>
                      <a:prstDash val="solid"/>
                      <a:round/>
                      <a:headEnd type="none" w="med" len="med"/>
                      <a:tailEnd type="none" w="med" len="med"/>
                    </a:lnL>
                    <a:lnR w="12700" cap="flat" cmpd="sng" algn="ctr">
                      <a:solidFill>
                        <a:srgbClr val="6377A2"/>
                      </a:solidFill>
                      <a:prstDash val="solid"/>
                      <a:round/>
                      <a:headEnd type="none" w="med" len="med"/>
                      <a:tailEnd type="none" w="med" len="med"/>
                    </a:lnR>
                    <a:lnT w="12700" cap="flat" cmpd="sng" algn="ctr">
                      <a:solidFill>
                        <a:srgbClr val="6377A2"/>
                      </a:solidFill>
                      <a:prstDash val="solid"/>
                      <a:round/>
                      <a:headEnd type="none" w="med" len="med"/>
                      <a:tailEnd type="none" w="med" len="med"/>
                    </a:lnT>
                    <a:lnB w="12700" cap="flat" cmpd="sng" algn="ctr">
                      <a:solidFill>
                        <a:srgbClr val="6377A2"/>
                      </a:solidFill>
                      <a:prstDash val="solid"/>
                      <a:round/>
                      <a:headEnd type="none" w="med" len="med"/>
                      <a:tailEnd type="none" w="med" len="med"/>
                    </a:lnB>
                    <a:solidFill>
                      <a:srgbClr val="324C85"/>
                    </a:solidFill>
                  </a:tcPr>
                </a:tc>
                <a:tc>
                  <a:txBody>
                    <a:bodyPr/>
                    <a:lstStyle/>
                    <a:p>
                      <a:pPr indent="0" marL="0">
                        <a:buNone/>
                      </a:pPr>
                      <a:r>
                        <a:rPr lang="en-US" sz="1150" b="1" dirty="0">
                          <a:solidFill>
                            <a:srgbClr val="FFFFFF"/>
                          </a:solidFill>
                          <a:latin typeface="Manrope" pitchFamily="34" charset="0"/>
                          <a:ea typeface="Manrope" pitchFamily="34" charset="-122"/>
                          <a:cs typeface="Manrope" pitchFamily="34" charset="-120"/>
                        </a:rPr>
                        <a:t>ciudad</a:t>
                      </a:r>
                      <a:endParaRPr lang="en-US" sz="1150" dirty="0">
                        <a:latin typeface="Manrope" charset="0"/>
                        <a:ea typeface="Manrope" charset="0"/>
                        <a:cs typeface="Manrope" charset="0"/>
                      </a:endParaRPr>
                    </a:p>
                  </a:txBody>
                  <a:tcPr marL="148852" marR="148852" marT="6350" marB="6350" anchor="ctr">
                    <a:lnL w="12700" cap="flat" cmpd="sng" algn="ctr">
                      <a:solidFill>
                        <a:srgbClr val="6377A2"/>
                      </a:solidFill>
                      <a:prstDash val="solid"/>
                      <a:round/>
                      <a:headEnd type="none" w="med" len="med"/>
                      <a:tailEnd type="none" w="med" len="med"/>
                    </a:lnL>
                    <a:lnR w="12700" cap="flat" cmpd="sng" algn="ctr">
                      <a:solidFill>
                        <a:srgbClr val="6377A2"/>
                      </a:solidFill>
                      <a:prstDash val="solid"/>
                      <a:round/>
                      <a:headEnd type="none" w="med" len="med"/>
                      <a:tailEnd type="none" w="med" len="med"/>
                    </a:lnR>
                    <a:lnT w="12700" cap="flat" cmpd="sng" algn="ctr">
                      <a:solidFill>
                        <a:srgbClr val="6377A2"/>
                      </a:solidFill>
                      <a:prstDash val="solid"/>
                      <a:round/>
                      <a:headEnd type="none" w="med" len="med"/>
                      <a:tailEnd type="none" w="med" len="med"/>
                    </a:lnT>
                    <a:lnB w="12700" cap="flat" cmpd="sng" algn="ctr">
                      <a:solidFill>
                        <a:srgbClr val="6377A2"/>
                      </a:solidFill>
                      <a:prstDash val="solid"/>
                      <a:round/>
                      <a:headEnd type="none" w="med" len="med"/>
                      <a:tailEnd type="none" w="med" len="med"/>
                    </a:lnB>
                    <a:solidFill>
                      <a:srgbClr val="324C85"/>
                    </a:solidFill>
                  </a:tcPr>
                </a:tc>
                <a:tc>
                  <a:txBody>
                    <a:bodyPr/>
                    <a:lstStyle/>
                    <a:p>
                      <a:pPr indent="0" marL="0">
                        <a:buNone/>
                      </a:pPr>
                      <a:r>
                        <a:rPr lang="en-US" sz="1150" b="1" dirty="0">
                          <a:solidFill>
                            <a:srgbClr val="FFFFFF"/>
                          </a:solidFill>
                          <a:latin typeface="Manrope" pitchFamily="34" charset="0"/>
                          <a:ea typeface="Manrope" pitchFamily="34" charset="-122"/>
                          <a:cs typeface="Manrope" pitchFamily="34" charset="-120"/>
                        </a:rPr>
                        <a:t>edad</a:t>
                      </a:r>
                      <a:endParaRPr lang="en-US" sz="1150" dirty="0">
                        <a:latin typeface="Manrope" charset="0"/>
                        <a:ea typeface="Manrope" charset="0"/>
                        <a:cs typeface="Manrope" charset="0"/>
                      </a:endParaRPr>
                    </a:p>
                  </a:txBody>
                  <a:tcPr marL="148852" marR="148852" marT="6350" marB="6350" anchor="ctr">
                    <a:lnL w="12700" cap="flat" cmpd="sng" algn="ctr">
                      <a:solidFill>
                        <a:srgbClr val="6377A2"/>
                      </a:solidFill>
                      <a:prstDash val="solid"/>
                      <a:round/>
                      <a:headEnd type="none" w="med" len="med"/>
                      <a:tailEnd type="none" w="med" len="med"/>
                    </a:lnL>
                    <a:lnR w="12700" cap="flat" cmpd="sng" algn="ctr">
                      <a:solidFill>
                        <a:srgbClr val="6377A2"/>
                      </a:solidFill>
                      <a:prstDash val="solid"/>
                      <a:round/>
                      <a:headEnd type="none" w="med" len="med"/>
                      <a:tailEnd type="none" w="med" len="med"/>
                    </a:lnR>
                    <a:lnT w="12700" cap="flat" cmpd="sng" algn="ctr">
                      <a:solidFill>
                        <a:srgbClr val="6377A2"/>
                      </a:solidFill>
                      <a:prstDash val="solid"/>
                      <a:round/>
                      <a:headEnd type="none" w="med" len="med"/>
                      <a:tailEnd type="none" w="med" len="med"/>
                    </a:lnT>
                    <a:lnB w="12700" cap="flat" cmpd="sng" algn="ctr">
                      <a:solidFill>
                        <a:srgbClr val="6377A2"/>
                      </a:solidFill>
                      <a:prstDash val="solid"/>
                      <a:round/>
                      <a:headEnd type="none" w="med" len="med"/>
                      <a:tailEnd type="none" w="med" len="med"/>
                    </a:lnB>
                    <a:solidFill>
                      <a:srgbClr val="324C85"/>
                    </a:solidFill>
                  </a:tcPr>
                </a:tc>
                <a:tc>
                  <a:txBody>
                    <a:bodyPr/>
                    <a:lstStyle/>
                    <a:p>
                      <a:pPr indent="0" marL="0">
                        <a:buNone/>
                      </a:pPr>
                      <a:r>
                        <a:rPr lang="en-US" sz="1150" b="1" dirty="0">
                          <a:solidFill>
                            <a:srgbClr val="FFFFFF"/>
                          </a:solidFill>
                          <a:latin typeface="Manrope" pitchFamily="34" charset="0"/>
                          <a:ea typeface="Manrope" pitchFamily="34" charset="-122"/>
                          <a:cs typeface="Manrope" pitchFamily="34" charset="-120"/>
                        </a:rPr>
                        <a:t>gasto</a:t>
                      </a:r>
                      <a:endParaRPr lang="en-US" sz="1150" dirty="0">
                        <a:latin typeface="Manrope" charset="0"/>
                        <a:ea typeface="Manrope" charset="0"/>
                        <a:cs typeface="Manrope" charset="0"/>
                      </a:endParaRPr>
                    </a:p>
                  </a:txBody>
                  <a:tcPr marL="148852" marR="148852" marT="6350" marB="6350" anchor="ctr">
                    <a:lnL w="12700" cap="flat" cmpd="sng" algn="ctr">
                      <a:solidFill>
                        <a:srgbClr val="6377A2"/>
                      </a:solidFill>
                      <a:prstDash val="solid"/>
                      <a:round/>
                      <a:headEnd type="none" w="med" len="med"/>
                      <a:tailEnd type="none" w="med" len="med"/>
                    </a:lnL>
                    <a:lnR w="12700" cap="flat" cmpd="sng" algn="ctr">
                      <a:solidFill>
                        <a:srgbClr val="6377A2"/>
                      </a:solidFill>
                      <a:prstDash val="solid"/>
                      <a:round/>
                      <a:headEnd type="none" w="med" len="med"/>
                      <a:tailEnd type="none" w="med" len="med"/>
                    </a:lnR>
                    <a:lnT w="12700" cap="flat" cmpd="sng" algn="ctr">
                      <a:solidFill>
                        <a:srgbClr val="6377A2"/>
                      </a:solidFill>
                      <a:prstDash val="solid"/>
                      <a:round/>
                      <a:headEnd type="none" w="med" len="med"/>
                      <a:tailEnd type="none" w="med" len="med"/>
                    </a:lnT>
                    <a:lnB w="12700" cap="flat" cmpd="sng" algn="ctr">
                      <a:solidFill>
                        <a:srgbClr val="6377A2"/>
                      </a:solidFill>
                      <a:prstDash val="solid"/>
                      <a:round/>
                      <a:headEnd type="none" w="med" len="med"/>
                      <a:tailEnd type="none" w="med" len="med"/>
                    </a:lnB>
                    <a:solidFill>
                      <a:srgbClr val="324C85"/>
                    </a:solidFill>
                  </a:tcPr>
                </a:tc>
              </a:tr>
              <a:tr h="405993">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C01</a:t>
                      </a:r>
                      <a:endParaRPr lang="en-US" sz="1150" dirty="0">
                        <a:latin typeface="Manrope" charset="0"/>
                        <a:ea typeface="Manrope" charset="0"/>
                        <a:cs typeface="Manrope" charset="0"/>
                      </a:endParaRPr>
                    </a:p>
                  </a:txBody>
                  <a:tcPr marL="148852" marR="148852" marT="6350" marB="6350" anchor="ctr">
                    <a:lnL w="12700" cap="flat" cmpd="sng" algn="ctr">
                      <a:solidFill>
                        <a:srgbClr val="6377A2"/>
                      </a:solidFill>
                      <a:prstDash val="solid"/>
                      <a:round/>
                      <a:headEnd type="none" w="med" len="med"/>
                      <a:tailEnd type="none" w="med" len="med"/>
                    </a:lnL>
                    <a:lnR w="12700" cap="flat" cmpd="sng" algn="ctr">
                      <a:solidFill>
                        <a:srgbClr val="6377A2"/>
                      </a:solidFill>
                      <a:prstDash val="solid"/>
                      <a:round/>
                      <a:headEnd type="none" w="med" len="med"/>
                      <a:tailEnd type="none" w="med" len="med"/>
                    </a:lnR>
                    <a:lnT w="12700" cap="flat" cmpd="sng" algn="ctr">
                      <a:solidFill>
                        <a:srgbClr val="6377A2"/>
                      </a:solidFill>
                      <a:prstDash val="solid"/>
                      <a:round/>
                      <a:headEnd type="none" w="med" len="med"/>
                      <a:tailEnd type="none" w="med" len="med"/>
                    </a:lnT>
                    <a:lnB w="12700" cap="flat" cmpd="sng" algn="ctr">
                      <a:solidFill>
                        <a:srgbClr val="6377A2"/>
                      </a:solidFill>
                      <a:prstDash val="solid"/>
                      <a:round/>
                      <a:headEnd type="none" w="med" len="med"/>
                      <a:tailEnd type="none" w="med" len="med"/>
                    </a:lnB>
                    <a:solidFill>
                      <a:srgbClr val="324C85"/>
                    </a:solidFill>
                  </a:tcPr>
                </a:tc>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Barcelona</a:t>
                      </a:r>
                      <a:endParaRPr lang="en-US" sz="1150" dirty="0">
                        <a:latin typeface="Manrope" charset="0"/>
                        <a:ea typeface="Manrope" charset="0"/>
                        <a:cs typeface="Manrope" charset="0"/>
                      </a:endParaRPr>
                    </a:p>
                  </a:txBody>
                  <a:tcPr marL="148852" marR="148852" marT="6350" marB="6350" anchor="ctr">
                    <a:lnL w="12700" cap="flat" cmpd="sng" algn="ctr">
                      <a:solidFill>
                        <a:srgbClr val="6377A2"/>
                      </a:solidFill>
                      <a:prstDash val="solid"/>
                      <a:round/>
                      <a:headEnd type="none" w="med" len="med"/>
                      <a:tailEnd type="none" w="med" len="med"/>
                    </a:lnL>
                    <a:lnR w="12700" cap="flat" cmpd="sng" algn="ctr">
                      <a:solidFill>
                        <a:srgbClr val="6377A2"/>
                      </a:solidFill>
                      <a:prstDash val="solid"/>
                      <a:round/>
                      <a:headEnd type="none" w="med" len="med"/>
                      <a:tailEnd type="none" w="med" len="med"/>
                    </a:lnR>
                    <a:lnT w="12700" cap="flat" cmpd="sng" algn="ctr">
                      <a:solidFill>
                        <a:srgbClr val="6377A2"/>
                      </a:solidFill>
                      <a:prstDash val="solid"/>
                      <a:round/>
                      <a:headEnd type="none" w="med" len="med"/>
                      <a:tailEnd type="none" w="med" len="med"/>
                    </a:lnT>
                    <a:lnB w="12700" cap="flat" cmpd="sng" algn="ctr">
                      <a:solidFill>
                        <a:srgbClr val="6377A2"/>
                      </a:solidFill>
                      <a:prstDash val="solid"/>
                      <a:round/>
                      <a:headEnd type="none" w="med" len="med"/>
                      <a:tailEnd type="none" w="med" len="med"/>
                    </a:lnB>
                    <a:solidFill>
                      <a:srgbClr val="324C85"/>
                    </a:solidFill>
                  </a:tcPr>
                </a:tc>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32</a:t>
                      </a:r>
                      <a:endParaRPr lang="en-US" sz="1150" dirty="0">
                        <a:latin typeface="Manrope" charset="0"/>
                        <a:ea typeface="Manrope" charset="0"/>
                        <a:cs typeface="Manrope" charset="0"/>
                      </a:endParaRPr>
                    </a:p>
                  </a:txBody>
                  <a:tcPr marL="148852" marR="148852" marT="6350" marB="6350" anchor="ctr">
                    <a:lnL w="12700" cap="flat" cmpd="sng" algn="ctr">
                      <a:solidFill>
                        <a:srgbClr val="6377A2"/>
                      </a:solidFill>
                      <a:prstDash val="solid"/>
                      <a:round/>
                      <a:headEnd type="none" w="med" len="med"/>
                      <a:tailEnd type="none" w="med" len="med"/>
                    </a:lnL>
                    <a:lnR w="12700" cap="flat" cmpd="sng" algn="ctr">
                      <a:solidFill>
                        <a:srgbClr val="6377A2"/>
                      </a:solidFill>
                      <a:prstDash val="solid"/>
                      <a:round/>
                      <a:headEnd type="none" w="med" len="med"/>
                      <a:tailEnd type="none" w="med" len="med"/>
                    </a:lnR>
                    <a:lnT w="12700" cap="flat" cmpd="sng" algn="ctr">
                      <a:solidFill>
                        <a:srgbClr val="6377A2"/>
                      </a:solidFill>
                      <a:prstDash val="solid"/>
                      <a:round/>
                      <a:headEnd type="none" w="med" len="med"/>
                      <a:tailEnd type="none" w="med" len="med"/>
                    </a:lnT>
                    <a:lnB w="12700" cap="flat" cmpd="sng" algn="ctr">
                      <a:solidFill>
                        <a:srgbClr val="6377A2"/>
                      </a:solidFill>
                      <a:prstDash val="solid"/>
                      <a:round/>
                      <a:headEnd type="none" w="med" len="med"/>
                      <a:tailEnd type="none" w="med" len="med"/>
                    </a:lnB>
                    <a:solidFill>
                      <a:srgbClr val="324C85"/>
                    </a:solidFill>
                  </a:tcPr>
                </a:tc>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124.5</a:t>
                      </a:r>
                      <a:endParaRPr lang="en-US" sz="1150" dirty="0">
                        <a:latin typeface="Manrope" charset="0"/>
                        <a:ea typeface="Manrope" charset="0"/>
                        <a:cs typeface="Manrope" charset="0"/>
                      </a:endParaRPr>
                    </a:p>
                  </a:txBody>
                  <a:tcPr marL="148852" marR="148852" marT="6350" marB="6350" anchor="ctr">
                    <a:lnL w="12700" cap="flat" cmpd="sng" algn="ctr">
                      <a:solidFill>
                        <a:srgbClr val="6377A2"/>
                      </a:solidFill>
                      <a:prstDash val="solid"/>
                      <a:round/>
                      <a:headEnd type="none" w="med" len="med"/>
                      <a:tailEnd type="none" w="med" len="med"/>
                    </a:lnL>
                    <a:lnR w="12700" cap="flat" cmpd="sng" algn="ctr">
                      <a:solidFill>
                        <a:srgbClr val="6377A2"/>
                      </a:solidFill>
                      <a:prstDash val="solid"/>
                      <a:round/>
                      <a:headEnd type="none" w="med" len="med"/>
                      <a:tailEnd type="none" w="med" len="med"/>
                    </a:lnR>
                    <a:lnT w="12700" cap="flat" cmpd="sng" algn="ctr">
                      <a:solidFill>
                        <a:srgbClr val="6377A2"/>
                      </a:solidFill>
                      <a:prstDash val="solid"/>
                      <a:round/>
                      <a:headEnd type="none" w="med" len="med"/>
                      <a:tailEnd type="none" w="med" len="med"/>
                    </a:lnT>
                    <a:lnB w="12700" cap="flat" cmpd="sng" algn="ctr">
                      <a:solidFill>
                        <a:srgbClr val="6377A2"/>
                      </a:solidFill>
                      <a:prstDash val="solid"/>
                      <a:round/>
                      <a:headEnd type="none" w="med" len="med"/>
                      <a:tailEnd type="none" w="med" len="med"/>
                    </a:lnB>
                    <a:solidFill>
                      <a:srgbClr val="324C85"/>
                    </a:solidFill>
                  </a:tcPr>
                </a:tc>
              </a:tr>
              <a:tr h="402818">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C01</a:t>
                      </a:r>
                      <a:endParaRPr lang="en-US" sz="1150" dirty="0">
                        <a:latin typeface="Manrope" charset="0"/>
                        <a:ea typeface="Manrope" charset="0"/>
                        <a:cs typeface="Manrope" charset="0"/>
                      </a:endParaRPr>
                    </a:p>
                  </a:txBody>
                  <a:tcPr marL="148852" marR="148852" marT="6350" marB="6350" anchor="ctr">
                    <a:lnL w="12700" cap="flat" cmpd="sng" algn="ctr">
                      <a:solidFill>
                        <a:srgbClr val="6377A2"/>
                      </a:solidFill>
                      <a:prstDash val="solid"/>
                      <a:round/>
                      <a:headEnd type="none" w="med" len="med"/>
                      <a:tailEnd type="none" w="med" len="med"/>
                    </a:lnL>
                    <a:lnR w="12700" cap="flat" cmpd="sng" algn="ctr">
                      <a:solidFill>
                        <a:srgbClr val="6377A2"/>
                      </a:solidFill>
                      <a:prstDash val="solid"/>
                      <a:round/>
                      <a:headEnd type="none" w="med" len="med"/>
                      <a:tailEnd type="none" w="med" len="med"/>
                    </a:lnR>
                    <a:lnT w="12700" cap="flat" cmpd="sng" algn="ctr">
                      <a:solidFill>
                        <a:srgbClr val="6377A2"/>
                      </a:solidFill>
                      <a:prstDash val="solid"/>
                      <a:round/>
                      <a:headEnd type="none" w="med" len="med"/>
                      <a:tailEnd type="none" w="med" len="med"/>
                    </a:lnT>
                    <a:lnB w="12700" cap="flat" cmpd="sng" algn="ctr">
                      <a:solidFill>
                        <a:srgbClr val="6377A2"/>
                      </a:solidFill>
                      <a:prstDash val="solid"/>
                      <a:round/>
                      <a:headEnd type="none" w="med" len="med"/>
                      <a:tailEnd type="none" w="med" len="med"/>
                    </a:lnB>
                    <a:solidFill>
                      <a:srgbClr val="324C85"/>
                    </a:solidFill>
                  </a:tcPr>
                </a:tc>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Barcelona</a:t>
                      </a:r>
                      <a:endParaRPr lang="en-US" sz="1150" dirty="0">
                        <a:latin typeface="Manrope" charset="0"/>
                        <a:ea typeface="Manrope" charset="0"/>
                        <a:cs typeface="Manrope" charset="0"/>
                      </a:endParaRPr>
                    </a:p>
                  </a:txBody>
                  <a:tcPr marL="148852" marR="148852" marT="6350" marB="6350" anchor="ctr">
                    <a:lnL w="12700" cap="flat" cmpd="sng" algn="ctr">
                      <a:solidFill>
                        <a:srgbClr val="6377A2"/>
                      </a:solidFill>
                      <a:prstDash val="solid"/>
                      <a:round/>
                      <a:headEnd type="none" w="med" len="med"/>
                      <a:tailEnd type="none" w="med" len="med"/>
                    </a:lnL>
                    <a:lnR w="12700" cap="flat" cmpd="sng" algn="ctr">
                      <a:solidFill>
                        <a:srgbClr val="6377A2"/>
                      </a:solidFill>
                      <a:prstDash val="solid"/>
                      <a:round/>
                      <a:headEnd type="none" w="med" len="med"/>
                      <a:tailEnd type="none" w="med" len="med"/>
                    </a:lnR>
                    <a:lnT w="12700" cap="flat" cmpd="sng" algn="ctr">
                      <a:solidFill>
                        <a:srgbClr val="6377A2"/>
                      </a:solidFill>
                      <a:prstDash val="solid"/>
                      <a:round/>
                      <a:headEnd type="none" w="med" len="med"/>
                      <a:tailEnd type="none" w="med" len="med"/>
                    </a:lnT>
                    <a:lnB w="12700" cap="flat" cmpd="sng" algn="ctr">
                      <a:solidFill>
                        <a:srgbClr val="6377A2"/>
                      </a:solidFill>
                      <a:prstDash val="solid"/>
                      <a:round/>
                      <a:headEnd type="none" w="med" len="med"/>
                      <a:tailEnd type="none" w="med" len="med"/>
                    </a:lnB>
                    <a:solidFill>
                      <a:srgbClr val="324C85"/>
                    </a:solidFill>
                  </a:tcPr>
                </a:tc>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32</a:t>
                      </a:r>
                      <a:endParaRPr lang="en-US" sz="1150" dirty="0">
                        <a:latin typeface="Manrope" charset="0"/>
                        <a:ea typeface="Manrope" charset="0"/>
                        <a:cs typeface="Manrope" charset="0"/>
                      </a:endParaRPr>
                    </a:p>
                  </a:txBody>
                  <a:tcPr marL="148852" marR="148852" marT="6350" marB="6350" anchor="ctr">
                    <a:lnL w="12700" cap="flat" cmpd="sng" algn="ctr">
                      <a:solidFill>
                        <a:srgbClr val="6377A2"/>
                      </a:solidFill>
                      <a:prstDash val="solid"/>
                      <a:round/>
                      <a:headEnd type="none" w="med" len="med"/>
                      <a:tailEnd type="none" w="med" len="med"/>
                    </a:lnL>
                    <a:lnR w="12700" cap="flat" cmpd="sng" algn="ctr">
                      <a:solidFill>
                        <a:srgbClr val="6377A2"/>
                      </a:solidFill>
                      <a:prstDash val="solid"/>
                      <a:round/>
                      <a:headEnd type="none" w="med" len="med"/>
                      <a:tailEnd type="none" w="med" len="med"/>
                    </a:lnR>
                    <a:lnT w="12700" cap="flat" cmpd="sng" algn="ctr">
                      <a:solidFill>
                        <a:srgbClr val="6377A2"/>
                      </a:solidFill>
                      <a:prstDash val="solid"/>
                      <a:round/>
                      <a:headEnd type="none" w="med" len="med"/>
                      <a:tailEnd type="none" w="med" len="med"/>
                    </a:lnT>
                    <a:lnB w="12700" cap="flat" cmpd="sng" algn="ctr">
                      <a:solidFill>
                        <a:srgbClr val="6377A2"/>
                      </a:solidFill>
                      <a:prstDash val="solid"/>
                      <a:round/>
                      <a:headEnd type="none" w="med" len="med"/>
                      <a:tailEnd type="none" w="med" len="med"/>
                    </a:lnB>
                    <a:solidFill>
                      <a:srgbClr val="324C85"/>
                    </a:solidFill>
                  </a:tcPr>
                </a:tc>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124.5</a:t>
                      </a:r>
                      <a:endParaRPr lang="en-US" sz="1150" dirty="0">
                        <a:latin typeface="Manrope" charset="0"/>
                        <a:ea typeface="Manrope" charset="0"/>
                        <a:cs typeface="Manrope" charset="0"/>
                      </a:endParaRPr>
                    </a:p>
                  </a:txBody>
                  <a:tcPr marL="148852" marR="148852" marT="6350" marB="6350" anchor="ctr">
                    <a:lnL w="12700" cap="flat" cmpd="sng" algn="ctr">
                      <a:solidFill>
                        <a:srgbClr val="6377A2"/>
                      </a:solidFill>
                      <a:prstDash val="solid"/>
                      <a:round/>
                      <a:headEnd type="none" w="med" len="med"/>
                      <a:tailEnd type="none" w="med" len="med"/>
                    </a:lnL>
                    <a:lnR w="12700" cap="flat" cmpd="sng" algn="ctr">
                      <a:solidFill>
                        <a:srgbClr val="6377A2"/>
                      </a:solidFill>
                      <a:prstDash val="solid"/>
                      <a:round/>
                      <a:headEnd type="none" w="med" len="med"/>
                      <a:tailEnd type="none" w="med" len="med"/>
                    </a:lnR>
                    <a:lnT w="12700" cap="flat" cmpd="sng" algn="ctr">
                      <a:solidFill>
                        <a:srgbClr val="6377A2"/>
                      </a:solidFill>
                      <a:prstDash val="solid"/>
                      <a:round/>
                      <a:headEnd type="none" w="med" len="med"/>
                      <a:tailEnd type="none" w="med" len="med"/>
                    </a:lnT>
                    <a:lnB w="12700" cap="flat" cmpd="sng" algn="ctr">
                      <a:solidFill>
                        <a:srgbClr val="6377A2"/>
                      </a:solidFill>
                      <a:prstDash val="solid"/>
                      <a:round/>
                      <a:headEnd type="none" w="med" len="med"/>
                      <a:tailEnd type="none" w="med" len="med"/>
                    </a:lnB>
                    <a:solidFill>
                      <a:srgbClr val="324C85"/>
                    </a:solidFill>
                  </a:tcPr>
                </a:tc>
              </a:tr>
            </a:tbl>
          </a:graphicData>
        </a:graphic>
      </p:graphicFrame>
      <p:sp>
        <p:nvSpPr>
          <p:cNvPr id="8" name="Text 5"/>
          <p:cNvSpPr/>
          <p:nvPr/>
        </p:nvSpPr>
        <p:spPr>
          <a:xfrm>
            <a:off x="703146" y="4566146"/>
            <a:ext cx="5442012" cy="226219"/>
          </a:xfrm>
          <a:prstGeom prst="rect">
            <a:avLst/>
          </a:prstGeom>
          <a:noFill/>
          <a:ln/>
        </p:spPr>
        <p:txBody>
          <a:bodyPr wrap="none" lIns="0" tIns="0" rIns="0" bIns="0" rtlCol="0" anchor="t"/>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Solución: </a:t>
            </a:r>
            <a:pPr algn="l" indent="0" marL="0">
              <a:lnSpc>
                <a:spcPct val="127000"/>
              </a:lnSpc>
              <a:buNone/>
            </a:pPr>
            <a:r>
              <a:rPr lang="en-US" sz="1150" dirty="0">
                <a:solidFill>
                  <a:srgbClr val="FFFFFF"/>
                </a:solidFill>
                <a:highlight>
                  <a:srgbClr val="3F5992"/>
                </a:highlight>
                <a:latin typeface="Consolas" pitchFamily="34" charset="0"/>
                <a:ea typeface="Consolas" pitchFamily="34" charset="-122"/>
                <a:cs typeface="Consolas" pitchFamily="34" charset="-120"/>
              </a:rPr>
              <a:t>df.drop_duplicates()</a:t>
            </a:r>
            <a:endParaRPr lang="en-US" sz="1150" dirty="0"/>
          </a:p>
        </p:txBody>
      </p:sp>
      <p:sp>
        <p:nvSpPr>
          <p:cNvPr id="9" name="Text 6"/>
          <p:cNvSpPr/>
          <p:nvPr/>
        </p:nvSpPr>
        <p:spPr>
          <a:xfrm>
            <a:off x="5946725" y="2221508"/>
            <a:ext cx="5589745"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Duplicado lógico</a:t>
            </a:r>
            <a:endParaRPr lang="en-US" sz="1450" dirty="0"/>
          </a:p>
        </p:txBody>
      </p:sp>
      <p:sp>
        <p:nvSpPr>
          <p:cNvPr id="10" name="Text 7"/>
          <p:cNvSpPr/>
          <p:nvPr/>
        </p:nvSpPr>
        <p:spPr>
          <a:xfrm>
            <a:off x="5946725" y="2587923"/>
            <a:ext cx="6199330" cy="226219"/>
          </a:xfrm>
          <a:prstGeom prst="rect">
            <a:avLst/>
          </a:prstGeom>
          <a:noFill/>
          <a:ln/>
        </p:spPr>
        <p:txBody>
          <a:bodyPr wrap="none" lIns="0" tIns="0" rIns="0" bIns="0" rtlCol="0" anchor="t"/>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Dos registros aparentemente diferentes representan la misma entidad real.</a:t>
            </a:r>
            <a:endParaRPr lang="en-US" sz="1150" dirty="0"/>
          </a:p>
        </p:txBody>
      </p:sp>
      <p:graphicFrame>
        <p:nvGraphicFramePr>
          <p:cNvPr id="75" name="Table 1"/>
          <p:cNvGraphicFramePr>
            <a:graphicFrameLocks noGrp="1"/>
          </p:cNvGraphicFramePr>
          <p:nvPr>
            <p:extLst>
              <p:ext uri="{D42A27DB-BD31-4B8C-83A1-F6EECF244321}">
                <p14:modId xmlns:p14="http://schemas.microsoft.com/office/powerpoint/2010/main" val="1579011935"/>
              </p:ext>
            </p:extLst>
          </p:nvPr>
        </p:nvGraphicFramePr>
        <p:xfrm>
          <a:off x="5946725" y="2964855"/>
          <a:ext cx="9143771" cy="914400"/>
        </p:xfrm>
        <a:graphic>
          <a:graphicData uri="http://schemas.openxmlformats.org/drawingml/2006/table">
            <a:tbl>
              <a:tblPr/>
              <a:tblGrid>
                <a:gridCol w="1117949"/>
                <a:gridCol w="1676924"/>
                <a:gridCol w="1397436"/>
                <a:gridCol w="1397436"/>
              </a:tblGrid>
              <a:tr h="402818">
                <a:tc>
                  <a:txBody>
                    <a:bodyPr/>
                    <a:lstStyle/>
                    <a:p>
                      <a:pPr indent="0" marL="0">
                        <a:buNone/>
                      </a:pPr>
                      <a:r>
                        <a:rPr lang="en-US" sz="1150" b="1" dirty="0">
                          <a:solidFill>
                            <a:srgbClr val="FFFFFF"/>
                          </a:solidFill>
                          <a:latin typeface="Manrope" pitchFamily="34" charset="0"/>
                          <a:ea typeface="Manrope" pitchFamily="34" charset="-122"/>
                          <a:cs typeface="Manrope" pitchFamily="34" charset="-120"/>
                        </a:rPr>
                        <a:t>id</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c>
                  <a:txBody>
                    <a:bodyPr/>
                    <a:lstStyle/>
                    <a:p>
                      <a:pPr indent="0" marL="0">
                        <a:buNone/>
                      </a:pPr>
                      <a:r>
                        <a:rPr lang="en-US" sz="1150" b="1" dirty="0">
                          <a:solidFill>
                            <a:srgbClr val="FFFFFF"/>
                          </a:solidFill>
                          <a:latin typeface="Manrope" pitchFamily="34" charset="0"/>
                          <a:ea typeface="Manrope" pitchFamily="34" charset="-122"/>
                          <a:cs typeface="Manrope" pitchFamily="34" charset="-120"/>
                        </a:rPr>
                        <a:t>nombre</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c>
                  <a:txBody>
                    <a:bodyPr/>
                    <a:lstStyle/>
                    <a:p>
                      <a:pPr indent="0" marL="0">
                        <a:buNone/>
                      </a:pPr>
                      <a:r>
                        <a:rPr lang="en-US" sz="1150" b="1" dirty="0">
                          <a:solidFill>
                            <a:srgbClr val="FFFFFF"/>
                          </a:solidFill>
                          <a:latin typeface="Manrope" pitchFamily="34" charset="0"/>
                          <a:ea typeface="Manrope" pitchFamily="34" charset="-122"/>
                          <a:cs typeface="Manrope" pitchFamily="34" charset="-120"/>
                        </a:rPr>
                        <a:t>ciudad</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c>
                  <a:txBody>
                    <a:bodyPr/>
                    <a:lstStyle/>
                    <a:p>
                      <a:pPr indent="0" marL="0">
                        <a:buNone/>
                      </a:pPr>
                      <a:r>
                        <a:rPr lang="en-US" sz="1150" b="1" dirty="0">
                          <a:solidFill>
                            <a:srgbClr val="FFFFFF"/>
                          </a:solidFill>
                          <a:latin typeface="Manrope" pitchFamily="34" charset="0"/>
                          <a:ea typeface="Manrope" pitchFamily="34" charset="-122"/>
                          <a:cs typeface="Manrope" pitchFamily="34" charset="-120"/>
                        </a:rPr>
                        <a:t>gasto</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r>
              <a:tr h="405993">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C99</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Rubén Gasque</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Barcelona</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124.5</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402818">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C143</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R. Gasque</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BCN</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124.5</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bl>
          </a:graphicData>
        </a:graphic>
      </p:graphicFrame>
      <p:sp>
        <p:nvSpPr>
          <p:cNvPr id="12" name="Text 8"/>
          <p:cNvSpPr/>
          <p:nvPr/>
        </p:nvSpPr>
        <p:spPr>
          <a:xfrm>
            <a:off x="5946725" y="4339927"/>
            <a:ext cx="5589745" cy="452438"/>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Este problema es mucho más difícil. No hay una clave que los identifique como el mismo.</a:t>
            </a:r>
            <a:endParaRPr lang="en-US" sz="1150" dirty="0"/>
          </a:p>
        </p:txBody>
      </p:sp>
      <p:sp>
        <p:nvSpPr>
          <p:cNvPr id="13" name="Text 9"/>
          <p:cNvSpPr/>
          <p:nvPr/>
        </p:nvSpPr>
        <p:spPr>
          <a:xfrm>
            <a:off x="6169962" y="5063629"/>
            <a:ext cx="5366509" cy="452438"/>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Este tipo de problema se denomina </a:t>
            </a:r>
            <a:pPr algn="l" indent="0" marL="0">
              <a:lnSpc>
                <a:spcPct val="127000"/>
              </a:lnSpc>
              <a:buNone/>
            </a:pPr>
            <a:r>
              <a:rPr lang="en-US" sz="1150" b="1" dirty="0">
                <a:solidFill>
                  <a:srgbClr val="FFFFFF"/>
                </a:solidFill>
                <a:latin typeface="Manrope Bold" pitchFamily="34" charset="0"/>
                <a:ea typeface="Manrope Bold" pitchFamily="34" charset="-122"/>
                <a:cs typeface="Manrope Bold" pitchFamily="34" charset="-120"/>
              </a:rPr>
              <a:t>entity resolution</a:t>
            </a:r>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 o </a:t>
            </a:r>
            <a:pPr algn="l" indent="0" marL="0">
              <a:lnSpc>
                <a:spcPct val="127000"/>
              </a:lnSpc>
              <a:buNone/>
            </a:pPr>
            <a:r>
              <a:rPr lang="en-US" sz="1150" i="1" dirty="0">
                <a:solidFill>
                  <a:srgbClr val="FFFFFF"/>
                </a:solidFill>
                <a:latin typeface="Manrope" pitchFamily="34" charset="0"/>
                <a:ea typeface="Manrope" pitchFamily="34" charset="-122"/>
                <a:cs typeface="Manrope" pitchFamily="34" charset="-120"/>
              </a:rPr>
              <a:t>record linkage</a:t>
            </a:r>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 Es un campo complejo que se estudiará en profundidad más adelante.</a:t>
            </a:r>
            <a:endParaRPr lang="en-US" sz="1150" dirty="0"/>
          </a:p>
        </p:txBody>
      </p:sp>
      <p:sp>
        <p:nvSpPr>
          <p:cNvPr id="14" name="Shape 10"/>
          <p:cNvSpPr/>
          <p:nvPr/>
        </p:nvSpPr>
        <p:spPr>
          <a:xfrm>
            <a:off x="5946725" y="4943078"/>
            <a:ext cx="19050" cy="693539"/>
          </a:xfrm>
          <a:prstGeom prst="roundRect">
            <a:avLst>
              <a:gd name="adj" fmla="val 49999"/>
            </a:avLst>
          </a:prstGeom>
          <a:solidFill>
            <a:srgbClr val="B499E9"/>
          </a:solidFill>
          <a:ln/>
        </p:spPr>
      </p:sp>
      <p:pic>
        <p:nvPicPr>
          <p:cNvPr id="15"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16"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17" name="Text 11"/>
          <p:cNvSpPr/>
          <p:nvPr/>
        </p:nvSpPr>
        <p:spPr>
          <a:xfrm>
            <a:off x="10837889" y="6300589"/>
            <a:ext cx="1155373"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661475" y="1172666"/>
            <a:ext cx="10868745" cy="330696"/>
          </a:xfrm>
          <a:prstGeom prst="rect">
            <a:avLst/>
          </a:prstGeom>
          <a:noFill/>
          <a:ln/>
        </p:spPr>
        <p:txBody>
          <a:bodyPr wrap="none" lIns="0" tIns="0" rIns="0" bIns="0" rtlCol="0" anchor="t"/>
          <a:lstStyle/>
          <a:p>
            <a:pPr algn="l" indent="0" marL="0">
              <a:lnSpc>
                <a:spcPct val="104000"/>
              </a:lnSpc>
              <a:buNone/>
            </a:pPr>
            <a:r>
              <a:rPr lang="en-US" sz="2050" spc="-21" kern="0" dirty="0">
                <a:solidFill>
                  <a:srgbClr val="FFFFFF"/>
                </a:solidFill>
                <a:latin typeface="Alexandria Medium" pitchFamily="34" charset="0"/>
                <a:ea typeface="Alexandria Medium" pitchFamily="34" charset="-122"/>
                <a:cs typeface="Alexandria Medium" pitchFamily="34" charset="-120"/>
              </a:rPr>
              <a:t>El verdadero reto: combinar fuentes</a:t>
            </a:r>
            <a:endParaRPr lang="en-US" sz="2050" dirty="0"/>
          </a:p>
        </p:txBody>
      </p:sp>
      <p:sp>
        <p:nvSpPr>
          <p:cNvPr id="3" name="Text 1"/>
          <p:cNvSpPr/>
          <p:nvPr/>
        </p:nvSpPr>
        <p:spPr>
          <a:xfrm>
            <a:off x="661475" y="1714996"/>
            <a:ext cx="11478330" cy="190500"/>
          </a:xfrm>
          <a:prstGeom prst="rect">
            <a:avLst/>
          </a:prstGeom>
          <a:noFill/>
          <a:ln/>
        </p:spPr>
        <p:txBody>
          <a:bodyPr wrap="none" lIns="0" tIns="0" rIns="0" bIns="0" rtlCol="0" anchor="t"/>
          <a:lstStyle/>
          <a:p>
            <a:pPr algn="l" indent="0" marL="0">
              <a:lnSpc>
                <a:spcPct val="120000"/>
              </a:lnSpc>
              <a:buNone/>
            </a:pPr>
            <a:r>
              <a:rPr lang="en-US" sz="1000" dirty="0">
                <a:solidFill>
                  <a:srgbClr val="FFFFFF"/>
                </a:solidFill>
                <a:latin typeface="Manrope" pitchFamily="34" charset="0"/>
                <a:ea typeface="Manrope" pitchFamily="34" charset="-122"/>
                <a:cs typeface="Manrope" pitchFamily="34" charset="-120"/>
              </a:rPr>
              <a:t>Tenemos los datos de cada fuente limpios por separado. Ahora hay que </a:t>
            </a:r>
            <a:pPr algn="l" indent="0" marL="0">
              <a:lnSpc>
                <a:spcPct val="120000"/>
              </a:lnSpc>
              <a:buNone/>
            </a:pPr>
            <a:r>
              <a:rPr lang="en-US" sz="1000" b="1" dirty="0">
                <a:solidFill>
                  <a:srgbClr val="FFFFFF"/>
                </a:solidFill>
                <a:latin typeface="Manrope Bold" pitchFamily="34" charset="0"/>
                <a:ea typeface="Manrope Bold" pitchFamily="34" charset="-122"/>
                <a:cs typeface="Manrope Bold" pitchFamily="34" charset="-120"/>
              </a:rPr>
              <a:t>relacionarlos</a:t>
            </a:r>
            <a:pPr algn="l" indent="0" marL="0">
              <a:lnSpc>
                <a:spcPct val="120000"/>
              </a:lnSpc>
              <a:buNone/>
            </a:pPr>
            <a:r>
              <a:rPr lang="en-US" sz="1000" dirty="0">
                <a:solidFill>
                  <a:srgbClr val="FFFFFF"/>
                </a:solidFill>
                <a:latin typeface="Manrope" pitchFamily="34" charset="0"/>
                <a:ea typeface="Manrope" pitchFamily="34" charset="-122"/>
                <a:cs typeface="Manrope" pitchFamily="34" charset="-120"/>
              </a:rPr>
              <a:t>.</a:t>
            </a:r>
            <a:endParaRPr lang="en-US" sz="1000" dirty="0"/>
          </a:p>
        </p:txBody>
      </p:sp>
      <p:pic>
        <p:nvPicPr>
          <p:cNvPr id="4" name="Image 0" descr="preencoded.png">    </p:cNvPr>
          <p:cNvPicPr>
            <a:picLocks noChangeAspect="1"/>
          </p:cNvPicPr>
          <p:nvPr/>
        </p:nvPicPr>
        <p:blipFill>
          <a:blip r:embed="rId1"/>
          <a:stretch>
            <a:fillRect/>
          </a:stretch>
        </p:blipFill>
        <p:spPr>
          <a:xfrm>
            <a:off x="4743331" y="2024559"/>
            <a:ext cx="2705032" cy="1829991"/>
          </a:xfrm>
          <a:prstGeom prst="rect">
            <a:avLst/>
          </a:prstGeom>
        </p:spPr>
      </p:pic>
      <p:sp>
        <p:nvSpPr>
          <p:cNvPr id="5" name="Text 2"/>
          <p:cNvSpPr/>
          <p:nvPr/>
        </p:nvSpPr>
        <p:spPr>
          <a:xfrm>
            <a:off x="5843161" y="2740829"/>
            <a:ext cx="492545" cy="337882"/>
          </a:xfrm>
          <a:prstGeom prst="rect">
            <a:avLst/>
          </a:prstGeom>
          <a:noFill/>
          <a:ln/>
        </p:spPr>
        <p:txBody>
          <a:bodyPr wrap="square" lIns="0" tIns="0" rIns="0" bIns="0" rtlCol="0" anchor="t">
            <a:normAutofit/>
          </a:bodyPr>
          <a:lstStyle/>
          <a:p>
            <a:pPr algn="ctr" indent="0" marL="0">
              <a:lnSpc>
                <a:spcPct val="104000"/>
              </a:lnSpc>
              <a:buNone/>
            </a:pPr>
            <a:r>
              <a:rPr lang="en-US" sz="700" spc="-7" kern="0" dirty="0">
                <a:solidFill>
                  <a:srgbClr val="000000"/>
                </a:solidFill>
                <a:latin typeface="Alexandria Medium" pitchFamily="34" charset="0"/>
                <a:ea typeface="Alexandria Medium" pitchFamily="34" charset="-122"/>
                <a:cs typeface="Alexandria Medium" pitchFamily="34" charset="-120"/>
              </a:rPr>
              <a:t>Dataset analítico integrado</a:t>
            </a:r>
            <a:endParaRPr lang="en-US" sz="700" dirty="0"/>
          </a:p>
        </p:txBody>
      </p:sp>
      <p:sp>
        <p:nvSpPr>
          <p:cNvPr id="6" name="Text 3"/>
          <p:cNvSpPr/>
          <p:nvPr/>
        </p:nvSpPr>
        <p:spPr>
          <a:xfrm>
            <a:off x="6579288" y="3326929"/>
            <a:ext cx="732748" cy="112628"/>
          </a:xfrm>
          <a:prstGeom prst="rect">
            <a:avLst/>
          </a:prstGeom>
          <a:noFill/>
          <a:ln/>
        </p:spPr>
        <p:txBody>
          <a:bodyPr wrap="none" lIns="0" tIns="0" rIns="0" bIns="0" rtlCol="0" anchor="t"/>
          <a:lstStyle/>
          <a:p>
            <a:pPr algn="ctr" indent="0" marL="0">
              <a:lnSpc>
                <a:spcPct val="104000"/>
              </a:lnSpc>
              <a:buNone/>
            </a:pPr>
            <a:r>
              <a:rPr lang="en-US" sz="700" spc="-7" kern="0" dirty="0">
                <a:solidFill>
                  <a:srgbClr val="FFFFFF"/>
                </a:solidFill>
                <a:latin typeface="Alexandria Medium" pitchFamily="34" charset="0"/>
                <a:ea typeface="Alexandria Medium" pitchFamily="34" charset="-122"/>
                <a:cs typeface="Alexandria Medium" pitchFamily="34" charset="-120"/>
              </a:rPr>
              <a:t>ventas.sql</a:t>
            </a:r>
            <a:endParaRPr lang="en-US" sz="700" dirty="0"/>
          </a:p>
        </p:txBody>
      </p:sp>
      <p:sp>
        <p:nvSpPr>
          <p:cNvPr id="7" name="Text 4"/>
          <p:cNvSpPr/>
          <p:nvPr/>
        </p:nvSpPr>
        <p:spPr>
          <a:xfrm>
            <a:off x="6579288" y="3471594"/>
            <a:ext cx="732748" cy="162183"/>
          </a:xfrm>
          <a:prstGeom prst="rect">
            <a:avLst/>
          </a:prstGeom>
          <a:noFill/>
          <a:ln/>
        </p:spPr>
        <p:txBody>
          <a:bodyPr wrap="square" lIns="0" tIns="0" rIns="0" bIns="0" rtlCol="0" anchor="t">
            <a:normAutofit/>
          </a:bodyPr>
          <a:lstStyle/>
          <a:p>
            <a:pPr algn="ctr" indent="0" marL="0">
              <a:lnSpc>
                <a:spcPct val="94000"/>
              </a:lnSpc>
              <a:buNone/>
            </a:pPr>
            <a:r>
              <a:rPr lang="en-US" sz="550" dirty="0">
                <a:solidFill>
                  <a:srgbClr val="FFFFFF"/>
                </a:solidFill>
                <a:latin typeface="Manrope" pitchFamily="34" charset="0"/>
                <a:ea typeface="Manrope" pitchFamily="34" charset="-122"/>
                <a:cs typeface="Manrope" pitchFamily="34" charset="-120"/>
              </a:rPr>
              <a:t>Transacciones y montos</a:t>
            </a:r>
            <a:endParaRPr lang="en-US" sz="550" dirty="0"/>
          </a:p>
        </p:txBody>
      </p:sp>
      <p:sp>
        <p:nvSpPr>
          <p:cNvPr id="8" name="Text 5"/>
          <p:cNvSpPr/>
          <p:nvPr/>
        </p:nvSpPr>
        <p:spPr>
          <a:xfrm>
            <a:off x="4862075" y="3367475"/>
            <a:ext cx="732748" cy="112628"/>
          </a:xfrm>
          <a:prstGeom prst="rect">
            <a:avLst/>
          </a:prstGeom>
          <a:noFill/>
          <a:ln/>
        </p:spPr>
        <p:txBody>
          <a:bodyPr wrap="none" lIns="0" tIns="0" rIns="0" bIns="0" rtlCol="0" anchor="t"/>
          <a:lstStyle/>
          <a:p>
            <a:pPr algn="ctr" indent="0" marL="0">
              <a:lnSpc>
                <a:spcPct val="104000"/>
              </a:lnSpc>
              <a:buNone/>
            </a:pPr>
            <a:r>
              <a:rPr lang="en-US" sz="700" spc="-7" kern="0" dirty="0">
                <a:solidFill>
                  <a:srgbClr val="FFFFFF"/>
                </a:solidFill>
                <a:latin typeface="Alexandria Medium" pitchFamily="34" charset="0"/>
                <a:ea typeface="Alexandria Medium" pitchFamily="34" charset="-122"/>
                <a:cs typeface="Alexandria Medium" pitchFamily="34" charset="-120"/>
              </a:rPr>
              <a:t>productos.json</a:t>
            </a:r>
            <a:endParaRPr lang="en-US" sz="700" dirty="0"/>
          </a:p>
        </p:txBody>
      </p:sp>
      <p:sp>
        <p:nvSpPr>
          <p:cNvPr id="9" name="Text 6"/>
          <p:cNvSpPr/>
          <p:nvPr/>
        </p:nvSpPr>
        <p:spPr>
          <a:xfrm>
            <a:off x="4862075" y="3512139"/>
            <a:ext cx="732748" cy="81092"/>
          </a:xfrm>
          <a:prstGeom prst="rect">
            <a:avLst/>
          </a:prstGeom>
          <a:noFill/>
          <a:ln/>
        </p:spPr>
        <p:txBody>
          <a:bodyPr wrap="none" lIns="0" tIns="0" rIns="0" bIns="0" rtlCol="0" anchor="t"/>
          <a:lstStyle/>
          <a:p>
            <a:pPr algn="ctr" indent="0" marL="0">
              <a:lnSpc>
                <a:spcPct val="94000"/>
              </a:lnSpc>
              <a:buNone/>
            </a:pPr>
            <a:r>
              <a:rPr lang="en-US" sz="550" dirty="0">
                <a:solidFill>
                  <a:srgbClr val="FFFFFF"/>
                </a:solidFill>
                <a:latin typeface="Manrope" pitchFamily="34" charset="0"/>
                <a:ea typeface="Manrope" pitchFamily="34" charset="-122"/>
                <a:cs typeface="Manrope" pitchFamily="34" charset="-120"/>
              </a:rPr>
              <a:t>Catálogo y atributos</a:t>
            </a:r>
            <a:endParaRPr lang="en-US" sz="550" dirty="0"/>
          </a:p>
        </p:txBody>
      </p:sp>
      <p:sp>
        <p:nvSpPr>
          <p:cNvPr id="10" name="Text 7"/>
          <p:cNvSpPr/>
          <p:nvPr/>
        </p:nvSpPr>
        <p:spPr>
          <a:xfrm>
            <a:off x="4862075" y="2185388"/>
            <a:ext cx="732748" cy="225255"/>
          </a:xfrm>
          <a:prstGeom prst="rect">
            <a:avLst/>
          </a:prstGeom>
          <a:noFill/>
          <a:ln/>
        </p:spPr>
        <p:txBody>
          <a:bodyPr wrap="square" lIns="0" tIns="0" rIns="0" bIns="0" rtlCol="0" anchor="t">
            <a:normAutofit/>
          </a:bodyPr>
          <a:lstStyle/>
          <a:p>
            <a:pPr algn="ctr" indent="0" marL="0">
              <a:lnSpc>
                <a:spcPct val="104000"/>
              </a:lnSpc>
              <a:buNone/>
            </a:pPr>
            <a:r>
              <a:rPr lang="en-US" sz="700" spc="-7" kern="0" dirty="0">
                <a:solidFill>
                  <a:srgbClr val="FFFFFF"/>
                </a:solidFill>
                <a:latin typeface="Alexandria Medium" pitchFamily="34" charset="0"/>
                <a:ea typeface="Alexandria Medium" pitchFamily="34" charset="-122"/>
                <a:cs typeface="Alexandria Medium" pitchFamily="34" charset="-120"/>
              </a:rPr>
              <a:t>Operaciones en Python</a:t>
            </a:r>
            <a:endParaRPr lang="en-US" sz="700" dirty="0"/>
          </a:p>
        </p:txBody>
      </p:sp>
      <p:sp>
        <p:nvSpPr>
          <p:cNvPr id="11" name="Text 8"/>
          <p:cNvSpPr/>
          <p:nvPr/>
        </p:nvSpPr>
        <p:spPr>
          <a:xfrm>
            <a:off x="4862075" y="2442679"/>
            <a:ext cx="732748" cy="162184"/>
          </a:xfrm>
          <a:prstGeom prst="rect">
            <a:avLst/>
          </a:prstGeom>
          <a:noFill/>
          <a:ln/>
        </p:spPr>
        <p:txBody>
          <a:bodyPr wrap="square" lIns="0" tIns="0" rIns="0" bIns="0" rtlCol="0" anchor="t">
            <a:normAutofit/>
          </a:bodyPr>
          <a:lstStyle/>
          <a:p>
            <a:pPr algn="ctr" indent="0" marL="0">
              <a:lnSpc>
                <a:spcPct val="94000"/>
              </a:lnSpc>
              <a:buNone/>
            </a:pPr>
            <a:r>
              <a:rPr lang="en-US" sz="550" dirty="0">
                <a:solidFill>
                  <a:srgbClr val="FFFFFF"/>
                </a:solidFill>
                <a:latin typeface="Manrope" pitchFamily="34" charset="0"/>
                <a:ea typeface="Manrope" pitchFamily="34" charset="-122"/>
                <a:cs typeface="Manrope" pitchFamily="34" charset="-120"/>
              </a:rPr>
              <a:t>Merge, limpieza y mapeo</a:t>
            </a:r>
            <a:endParaRPr lang="en-US" sz="550" dirty="0"/>
          </a:p>
        </p:txBody>
      </p:sp>
      <p:sp>
        <p:nvSpPr>
          <p:cNvPr id="12" name="Text 9"/>
          <p:cNvSpPr/>
          <p:nvPr/>
        </p:nvSpPr>
        <p:spPr>
          <a:xfrm>
            <a:off x="6583981" y="2282248"/>
            <a:ext cx="732748" cy="112627"/>
          </a:xfrm>
          <a:prstGeom prst="rect">
            <a:avLst/>
          </a:prstGeom>
          <a:noFill/>
          <a:ln/>
        </p:spPr>
        <p:txBody>
          <a:bodyPr wrap="none" lIns="0" tIns="0" rIns="0" bIns="0" rtlCol="0" anchor="t"/>
          <a:lstStyle/>
          <a:p>
            <a:pPr algn="ctr" indent="0" marL="0">
              <a:lnSpc>
                <a:spcPct val="104000"/>
              </a:lnSpc>
              <a:buNone/>
            </a:pPr>
            <a:r>
              <a:rPr lang="en-US" sz="700" spc="-7" kern="0" dirty="0">
                <a:solidFill>
                  <a:srgbClr val="FFFFFF"/>
                </a:solidFill>
                <a:latin typeface="Alexandria Medium" pitchFamily="34" charset="0"/>
                <a:ea typeface="Alexandria Medium" pitchFamily="34" charset="-122"/>
                <a:cs typeface="Alexandria Medium" pitchFamily="34" charset="-120"/>
              </a:rPr>
              <a:t>clientes.csv</a:t>
            </a:r>
            <a:endParaRPr lang="en-US" sz="700" dirty="0"/>
          </a:p>
        </p:txBody>
      </p:sp>
      <p:sp>
        <p:nvSpPr>
          <p:cNvPr id="13" name="Text 10"/>
          <p:cNvSpPr/>
          <p:nvPr/>
        </p:nvSpPr>
        <p:spPr>
          <a:xfrm>
            <a:off x="6583981" y="2426911"/>
            <a:ext cx="732748" cy="81092"/>
          </a:xfrm>
          <a:prstGeom prst="rect">
            <a:avLst/>
          </a:prstGeom>
          <a:noFill/>
          <a:ln/>
        </p:spPr>
        <p:txBody>
          <a:bodyPr wrap="none" lIns="0" tIns="0" rIns="0" bIns="0" rtlCol="0" anchor="t"/>
          <a:lstStyle/>
          <a:p>
            <a:pPr algn="ctr" indent="0" marL="0">
              <a:lnSpc>
                <a:spcPct val="94000"/>
              </a:lnSpc>
              <a:buNone/>
            </a:pPr>
            <a:r>
              <a:rPr lang="en-US" sz="550" dirty="0">
                <a:solidFill>
                  <a:srgbClr val="FFFFFF"/>
                </a:solidFill>
                <a:latin typeface="Manrope" pitchFamily="34" charset="0"/>
                <a:ea typeface="Manrope" pitchFamily="34" charset="-122"/>
                <a:cs typeface="Manrope" pitchFamily="34" charset="-120"/>
              </a:rPr>
              <a:t>Registros de clientes</a:t>
            </a:r>
            <a:endParaRPr lang="en-US" sz="550" dirty="0"/>
          </a:p>
        </p:txBody>
      </p:sp>
      <p:sp>
        <p:nvSpPr>
          <p:cNvPr id="14" name="Text 11"/>
          <p:cNvSpPr/>
          <p:nvPr/>
        </p:nvSpPr>
        <p:spPr>
          <a:xfrm>
            <a:off x="661475" y="4079379"/>
            <a:ext cx="5273047" cy="206673"/>
          </a:xfrm>
          <a:prstGeom prst="rect">
            <a:avLst/>
          </a:prstGeom>
          <a:noFill/>
          <a:ln/>
        </p:spPr>
        <p:txBody>
          <a:bodyPr wrap="none" lIns="0" tIns="0" rIns="0" bIns="0" rtlCol="0" anchor="t"/>
          <a:lstStyle/>
          <a:p>
            <a:pPr algn="l" indent="0" marL="0">
              <a:lnSpc>
                <a:spcPct val="104000"/>
              </a:lnSpc>
              <a:buNone/>
            </a:pPr>
            <a:r>
              <a:rPr lang="en-US" sz="1300" spc="-13" kern="0" dirty="0">
                <a:solidFill>
                  <a:srgbClr val="FFFFFF"/>
                </a:solidFill>
                <a:latin typeface="Alexandria Medium" pitchFamily="34" charset="0"/>
                <a:ea typeface="Alexandria Medium" pitchFamily="34" charset="-122"/>
                <a:cs typeface="Alexandria Medium" pitchFamily="34" charset="-120"/>
              </a:rPr>
              <a:t>El problema central</a:t>
            </a:r>
            <a:endParaRPr lang="en-US" sz="1300" dirty="0"/>
          </a:p>
        </p:txBody>
      </p:sp>
      <p:sp>
        <p:nvSpPr>
          <p:cNvPr id="15" name="Text 12"/>
          <p:cNvSpPr/>
          <p:nvPr/>
        </p:nvSpPr>
        <p:spPr>
          <a:xfrm>
            <a:off x="661475" y="4391819"/>
            <a:ext cx="5273047" cy="5715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FFFFFF"/>
                </a:solidFill>
                <a:latin typeface="Manrope" pitchFamily="34" charset="0"/>
                <a:ea typeface="Manrope" pitchFamily="34" charset="-122"/>
                <a:cs typeface="Manrope" pitchFamily="34" charset="-120"/>
              </a:rPr>
              <a:t>Para combinar fuentes necesitamos saber </a:t>
            </a:r>
            <a:pPr algn="l" indent="0" marL="0">
              <a:lnSpc>
                <a:spcPct val="120000"/>
              </a:lnSpc>
              <a:buNone/>
            </a:pPr>
            <a:r>
              <a:rPr lang="en-US" sz="1000" b="1" dirty="0">
                <a:solidFill>
                  <a:srgbClr val="FFFFFF"/>
                </a:solidFill>
                <a:latin typeface="Manrope Bold" pitchFamily="34" charset="0"/>
                <a:ea typeface="Manrope Bold" pitchFamily="34" charset="-122"/>
                <a:cs typeface="Manrope Bold" pitchFamily="34" charset="-120"/>
              </a:rPr>
              <a:t>cómo se relacionan las entidades</a:t>
            </a:r>
            <a:pPr algn="l" indent="0" marL="0">
              <a:lnSpc>
                <a:spcPct val="120000"/>
              </a:lnSpc>
              <a:buNone/>
            </a:pPr>
            <a:r>
              <a:rPr lang="en-US" sz="1000" dirty="0">
                <a:solidFill>
                  <a:srgbClr val="FFFFFF"/>
                </a:solidFill>
                <a:latin typeface="Manrope" pitchFamily="34" charset="0"/>
                <a:ea typeface="Manrope" pitchFamily="34" charset="-122"/>
                <a:cs typeface="Manrope" pitchFamily="34" charset="-120"/>
              </a:rPr>
              <a:t>. Un cliente tiene pedidos. Un pedido contiene productos. Sin esta comprensión, la integración es imposible.</a:t>
            </a:r>
            <a:endParaRPr lang="en-US" sz="1000" dirty="0"/>
          </a:p>
        </p:txBody>
      </p:sp>
      <p:sp>
        <p:nvSpPr>
          <p:cNvPr id="16" name="Text 13"/>
          <p:cNvSpPr/>
          <p:nvPr/>
        </p:nvSpPr>
        <p:spPr>
          <a:xfrm>
            <a:off x="6263523" y="4079379"/>
            <a:ext cx="5273047" cy="206673"/>
          </a:xfrm>
          <a:prstGeom prst="rect">
            <a:avLst/>
          </a:prstGeom>
          <a:noFill/>
          <a:ln/>
        </p:spPr>
        <p:txBody>
          <a:bodyPr wrap="none" lIns="0" tIns="0" rIns="0" bIns="0" rtlCol="0" anchor="t"/>
          <a:lstStyle/>
          <a:p>
            <a:pPr algn="l" indent="0" marL="0">
              <a:lnSpc>
                <a:spcPct val="104000"/>
              </a:lnSpc>
              <a:buNone/>
            </a:pPr>
            <a:r>
              <a:rPr lang="en-US" sz="1300" spc="-13" kern="0" dirty="0">
                <a:solidFill>
                  <a:srgbClr val="FFFFFF"/>
                </a:solidFill>
                <a:latin typeface="Alexandria Medium" pitchFamily="34" charset="0"/>
                <a:ea typeface="Alexandria Medium" pitchFamily="34" charset="-122"/>
                <a:cs typeface="Alexandria Medium" pitchFamily="34" charset="-120"/>
              </a:rPr>
              <a:t>Integrar ≠ concatenar</a:t>
            </a:r>
            <a:endParaRPr lang="en-US" sz="1300" dirty="0"/>
          </a:p>
        </p:txBody>
      </p:sp>
      <p:sp>
        <p:nvSpPr>
          <p:cNvPr id="17" name="Shape 14"/>
          <p:cNvSpPr/>
          <p:nvPr/>
        </p:nvSpPr>
        <p:spPr>
          <a:xfrm>
            <a:off x="6263523" y="4405114"/>
            <a:ext cx="5273047" cy="1161157"/>
          </a:xfrm>
          <a:prstGeom prst="roundRect">
            <a:avLst>
              <a:gd name="adj" fmla="val 17092"/>
            </a:avLst>
          </a:prstGeom>
          <a:solidFill>
            <a:srgbClr val="3F2077"/>
          </a:solidFill>
          <a:ln w="6350">
            <a:solidFill>
              <a:srgbClr val="4B3082"/>
            </a:solidFill>
            <a:prstDash val="solid"/>
          </a:ln>
        </p:spPr>
      </p:sp>
      <p:sp>
        <p:nvSpPr>
          <p:cNvPr id="18" name="Shape 15"/>
          <p:cNvSpPr/>
          <p:nvPr/>
        </p:nvSpPr>
        <p:spPr>
          <a:xfrm>
            <a:off x="6269873" y="4411464"/>
            <a:ext cx="2630124" cy="1148457"/>
          </a:xfrm>
          <a:custGeom>
            <a:avLst/>
            <a:gdLst/>
            <a:ahLst/>
            <a:cxnLst/>
            <a:rect l="l" t="t" r="r" b="b"/>
            <a:pathLst>
              <a:path w="2630124" h="1148457">
                <a:moveTo>
                  <a:pt x="165391" y="0"/>
                </a:moveTo>
                <a:lnTo>
                  <a:pt x="2630124" y="0"/>
                </a:lnTo>
                <a:lnTo>
                  <a:pt x="2630124" y="1148457"/>
                </a:lnTo>
                <a:lnTo>
                  <a:pt x="165391" y="1148457"/>
                </a:lnTo>
                <a:arcTo hR="165395" wR="165391" stAng="5400000" swAng="5400000"/>
                <a:lnTo>
                  <a:pt x="0" y="165395"/>
                </a:lnTo>
                <a:arcTo hR="165395" wR="165391" stAng="10800000" swAng="5400000"/>
                <a:close/>
              </a:path>
            </a:pathLst>
          </a:custGeom>
          <a:solidFill>
            <a:srgbClr val="3F2077"/>
          </a:solidFill>
          <a:ln/>
        </p:spPr>
      </p:sp>
      <p:sp>
        <p:nvSpPr>
          <p:cNvPr id="19" name="Text 16"/>
          <p:cNvSpPr/>
          <p:nvPr/>
        </p:nvSpPr>
        <p:spPr>
          <a:xfrm>
            <a:off x="6402128" y="4543723"/>
            <a:ext cx="2365613" cy="206673"/>
          </a:xfrm>
          <a:prstGeom prst="rect">
            <a:avLst/>
          </a:prstGeom>
          <a:noFill/>
          <a:ln/>
        </p:spPr>
        <p:txBody>
          <a:bodyPr wrap="none" lIns="0" tIns="0" rIns="0" bIns="0" rtlCol="0" anchor="t"/>
          <a:lstStyle/>
          <a:p>
            <a:pPr algn="l" indent="0" marL="0">
              <a:lnSpc>
                <a:spcPct val="104000"/>
              </a:lnSpc>
              <a:buNone/>
            </a:pPr>
            <a:r>
              <a:rPr lang="en-US" sz="1300" spc="-13" kern="0" dirty="0">
                <a:solidFill>
                  <a:srgbClr val="FFFFFF"/>
                </a:solidFill>
                <a:latin typeface="Alexandria Medium" pitchFamily="34" charset="0"/>
                <a:ea typeface="Alexandria Medium" pitchFamily="34" charset="-122"/>
                <a:cs typeface="Alexandria Medium" pitchFamily="34" charset="-120"/>
              </a:rPr>
              <a:t>Concatenar</a:t>
            </a:r>
            <a:endParaRPr lang="en-US" sz="1300" dirty="0"/>
          </a:p>
        </p:txBody>
      </p:sp>
      <p:sp>
        <p:nvSpPr>
          <p:cNvPr id="20" name="Text 17"/>
          <p:cNvSpPr/>
          <p:nvPr/>
        </p:nvSpPr>
        <p:spPr>
          <a:xfrm>
            <a:off x="6402128" y="4856163"/>
            <a:ext cx="2365613" cy="5715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FFFFFF"/>
                </a:solidFill>
                <a:latin typeface="Manrope" pitchFamily="34" charset="0"/>
                <a:ea typeface="Manrope" pitchFamily="34" charset="-122"/>
                <a:cs typeface="Manrope" pitchFamily="34" charset="-120"/>
              </a:rPr>
              <a:t>Apilar filas de la misma estructura. Útil para unir el mismo tipo de dato de distintos períodos.</a:t>
            </a:r>
            <a:endParaRPr lang="en-US" sz="1000" dirty="0"/>
          </a:p>
        </p:txBody>
      </p:sp>
      <p:sp>
        <p:nvSpPr>
          <p:cNvPr id="21" name="Shape 18"/>
          <p:cNvSpPr/>
          <p:nvPr/>
        </p:nvSpPr>
        <p:spPr>
          <a:xfrm>
            <a:off x="8899997" y="4411464"/>
            <a:ext cx="2630223" cy="1148457"/>
          </a:xfrm>
          <a:custGeom>
            <a:avLst/>
            <a:gdLst/>
            <a:ahLst/>
            <a:cxnLst/>
            <a:rect l="l" t="t" r="r" b="b"/>
            <a:pathLst>
              <a:path w="2630223" h="1148457">
                <a:moveTo>
                  <a:pt x="0" y="0"/>
                </a:moveTo>
                <a:lnTo>
                  <a:pt x="2464832" y="0"/>
                </a:lnTo>
                <a:arcTo hR="165395" wR="165391" stAng="16200000" swAng="5400000"/>
                <a:lnTo>
                  <a:pt x="2630223" y="983062"/>
                </a:lnTo>
                <a:arcTo hR="165395" wR="165391" stAng="0" swAng="5400000"/>
                <a:lnTo>
                  <a:pt x="0" y="1148457"/>
                </a:lnTo>
                <a:lnTo>
                  <a:pt x="0" y="0"/>
                </a:lnTo>
                <a:close/>
              </a:path>
            </a:pathLst>
          </a:custGeom>
          <a:solidFill>
            <a:srgbClr val="3F2077"/>
          </a:solidFill>
          <a:ln/>
        </p:spPr>
      </p:sp>
      <p:sp>
        <p:nvSpPr>
          <p:cNvPr id="22" name="Shape 19"/>
          <p:cNvSpPr/>
          <p:nvPr/>
        </p:nvSpPr>
        <p:spPr>
          <a:xfrm>
            <a:off x="8899997" y="4411464"/>
            <a:ext cx="19050" cy="1148457"/>
          </a:xfrm>
          <a:prstGeom prst="roundRect">
            <a:avLst>
              <a:gd name="adj" fmla="val 49999"/>
            </a:avLst>
          </a:prstGeom>
          <a:solidFill>
            <a:srgbClr val="4B3082"/>
          </a:solidFill>
          <a:ln/>
        </p:spPr>
      </p:sp>
      <p:sp>
        <p:nvSpPr>
          <p:cNvPr id="23" name="Text 20"/>
          <p:cNvSpPr/>
          <p:nvPr/>
        </p:nvSpPr>
        <p:spPr>
          <a:xfrm>
            <a:off x="9032252" y="4543723"/>
            <a:ext cx="2365713" cy="206673"/>
          </a:xfrm>
          <a:prstGeom prst="rect">
            <a:avLst/>
          </a:prstGeom>
          <a:noFill/>
          <a:ln/>
        </p:spPr>
        <p:txBody>
          <a:bodyPr wrap="none" lIns="0" tIns="0" rIns="0" bIns="0" rtlCol="0" anchor="t"/>
          <a:lstStyle/>
          <a:p>
            <a:pPr algn="l" indent="0" marL="0">
              <a:lnSpc>
                <a:spcPct val="104000"/>
              </a:lnSpc>
              <a:buNone/>
            </a:pPr>
            <a:r>
              <a:rPr lang="en-US" sz="1300" spc="-13" kern="0" dirty="0">
                <a:solidFill>
                  <a:srgbClr val="FFFFFF"/>
                </a:solidFill>
                <a:latin typeface="Alexandria Medium" pitchFamily="34" charset="0"/>
                <a:ea typeface="Alexandria Medium" pitchFamily="34" charset="-122"/>
                <a:cs typeface="Alexandria Medium" pitchFamily="34" charset="-120"/>
              </a:rPr>
              <a:t>Integrar</a:t>
            </a:r>
            <a:endParaRPr lang="en-US" sz="1300" dirty="0"/>
          </a:p>
        </p:txBody>
      </p:sp>
      <p:sp>
        <p:nvSpPr>
          <p:cNvPr id="24" name="Text 21"/>
          <p:cNvSpPr/>
          <p:nvPr/>
        </p:nvSpPr>
        <p:spPr>
          <a:xfrm>
            <a:off x="9032252" y="4856163"/>
            <a:ext cx="2365713" cy="5715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FFFFFF"/>
                </a:solidFill>
                <a:latin typeface="Manrope" pitchFamily="34" charset="0"/>
                <a:ea typeface="Manrope" pitchFamily="34" charset="-122"/>
                <a:cs typeface="Manrope" pitchFamily="34" charset="-120"/>
              </a:rPr>
              <a:t>Relacionar entidades de fuentes distintas usando claves comunes. Requiere entender el modelo de datos.</a:t>
            </a:r>
            <a:endParaRPr lang="en-US" sz="1000" dirty="0"/>
          </a:p>
        </p:txBody>
      </p:sp>
      <p:pic>
        <p:nvPicPr>
          <p:cNvPr id="25" name="Image 1" descr="preencoded.png">    </p:cNvPr>
          <p:cNvPicPr>
            <a:picLocks noChangeAspect="1"/>
          </p:cNvPicPr>
          <p:nvPr/>
        </p:nvPicPr>
        <p:blipFill>
          <a:blip r:embed="rId2"/>
          <a:stretch>
            <a:fillRect/>
          </a:stretch>
        </p:blipFill>
        <p:spPr>
          <a:xfrm>
            <a:off x="198433" y="203597"/>
            <a:ext cx="676357" cy="568623"/>
          </a:xfrm>
          <a:prstGeom prst="rect">
            <a:avLst/>
          </a:prstGeom>
        </p:spPr>
      </p:pic>
      <p:pic>
        <p:nvPicPr>
          <p:cNvPr id="26" name="Image 2" descr="preencoded.png">    </p:cNvPr>
          <p:cNvPicPr>
            <a:picLocks noChangeAspect="1"/>
          </p:cNvPicPr>
          <p:nvPr/>
        </p:nvPicPr>
        <p:blipFill>
          <a:blip r:embed="rId3"/>
          <a:stretch>
            <a:fillRect/>
          </a:stretch>
        </p:blipFill>
        <p:spPr>
          <a:xfrm>
            <a:off x="11386357" y="268784"/>
            <a:ext cx="606906" cy="438249"/>
          </a:xfrm>
          <a:prstGeom prst="rect">
            <a:avLst/>
          </a:prstGeom>
        </p:spPr>
      </p:pic>
      <p:sp>
        <p:nvSpPr>
          <p:cNvPr id="27" name="Text 22"/>
          <p:cNvSpPr/>
          <p:nvPr/>
        </p:nvSpPr>
        <p:spPr>
          <a:xfrm>
            <a:off x="10828860" y="6300589"/>
            <a:ext cx="1164402"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661475" y="1092895"/>
            <a:ext cx="10868745" cy="413445"/>
          </a:xfrm>
          <a:prstGeom prst="rect">
            <a:avLst/>
          </a:prstGeom>
          <a:noFill/>
          <a:ln/>
        </p:spPr>
        <p:txBody>
          <a:bodyPr wrap="none" lIns="0" tIns="0" rIns="0" bIns="0" rtlCol="0" anchor="t"/>
          <a:lstStyle/>
          <a:p>
            <a:pPr algn="l" indent="0" marL="0">
              <a:lnSpc>
                <a:spcPct val="104000"/>
              </a:lnSpc>
              <a:buNone/>
            </a:pPr>
            <a:r>
              <a:rPr lang="en-US" sz="2600" spc="-26" kern="0" dirty="0">
                <a:solidFill>
                  <a:srgbClr val="FFFFFF"/>
                </a:solidFill>
                <a:latin typeface="Alexandria Medium" pitchFamily="34" charset="0"/>
                <a:ea typeface="Alexandria Medium" pitchFamily="34" charset="-122"/>
                <a:cs typeface="Alexandria Medium" pitchFamily="34" charset="-120"/>
              </a:rPr>
              <a:t>Identificadores y claves</a:t>
            </a:r>
            <a:endParaRPr lang="en-US" sz="2600" dirty="0"/>
          </a:p>
        </p:txBody>
      </p:sp>
      <p:sp>
        <p:nvSpPr>
          <p:cNvPr id="3" name="Text 1"/>
          <p:cNvSpPr/>
          <p:nvPr/>
        </p:nvSpPr>
        <p:spPr>
          <a:xfrm>
            <a:off x="661475" y="1837035"/>
            <a:ext cx="11478330" cy="264616"/>
          </a:xfrm>
          <a:prstGeom prst="rect">
            <a:avLst/>
          </a:prstGeom>
          <a:noFill/>
          <a:ln/>
        </p:spPr>
        <p:txBody>
          <a:bodyPr wrap="none" lIns="0" tIns="0" rIns="0" bIns="0" rtlCol="0" anchor="t"/>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Para relacionar fuentes necesitamos </a:t>
            </a:r>
            <a:pPr algn="l" indent="0" marL="0">
              <a:lnSpc>
                <a:spcPct val="133000"/>
              </a:lnSpc>
              <a:buNone/>
            </a:pPr>
            <a:r>
              <a:rPr lang="en-US" sz="1300" b="1" dirty="0">
                <a:solidFill>
                  <a:srgbClr val="FFFFFF"/>
                </a:solidFill>
                <a:latin typeface="Manrope Bold" pitchFamily="34" charset="0"/>
                <a:ea typeface="Manrope Bold" pitchFamily="34" charset="-122"/>
                <a:cs typeface="Manrope Bold" pitchFamily="34" charset="-120"/>
              </a:rPr>
              <a:t>identificadores únicos</a:t>
            </a:r>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 en cada entidad.</a:t>
            </a:r>
            <a:endParaRPr lang="en-US" sz="1300" dirty="0"/>
          </a:p>
        </p:txBody>
      </p:sp>
      <p:sp>
        <p:nvSpPr>
          <p:cNvPr id="4" name="Text 2"/>
          <p:cNvSpPr/>
          <p:nvPr/>
        </p:nvSpPr>
        <p:spPr>
          <a:xfrm>
            <a:off x="661475" y="2452985"/>
            <a:ext cx="5458085"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Tipos de clave</a:t>
            </a:r>
            <a:endParaRPr lang="en-US" sz="1600" dirty="0"/>
          </a:p>
        </p:txBody>
      </p:sp>
      <p:sp>
        <p:nvSpPr>
          <p:cNvPr id="5" name="Shape 3"/>
          <p:cNvSpPr/>
          <p:nvPr/>
        </p:nvSpPr>
        <p:spPr>
          <a:xfrm>
            <a:off x="661475" y="2897485"/>
            <a:ext cx="2646396" cy="2090142"/>
          </a:xfrm>
          <a:prstGeom prst="roundRect">
            <a:avLst>
              <a:gd name="adj" fmla="val 11869"/>
            </a:avLst>
          </a:prstGeom>
          <a:solidFill>
            <a:srgbClr val="3F2077"/>
          </a:solidFill>
          <a:ln w="6350">
            <a:solidFill>
              <a:srgbClr val="4B3082"/>
            </a:solidFill>
            <a:prstDash val="solid"/>
          </a:ln>
        </p:spPr>
      </p:sp>
      <p:sp>
        <p:nvSpPr>
          <p:cNvPr id="6" name="Text 4"/>
          <p:cNvSpPr/>
          <p:nvPr/>
        </p:nvSpPr>
        <p:spPr>
          <a:xfrm>
            <a:off x="833119" y="3069134"/>
            <a:ext cx="2303107"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Clave primaria (PK)</a:t>
            </a:r>
            <a:endParaRPr lang="en-US" sz="1600" dirty="0"/>
          </a:p>
        </p:txBody>
      </p:sp>
      <p:sp>
        <p:nvSpPr>
          <p:cNvPr id="7" name="Text 5"/>
          <p:cNvSpPr/>
          <p:nvPr/>
        </p:nvSpPr>
        <p:spPr>
          <a:xfrm>
            <a:off x="833119" y="3492897"/>
            <a:ext cx="2303107"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Identifica de forma única cada registro dentro de una tabla. Ejemplo: </a:t>
            </a:r>
            <a:pPr algn="l" indent="0" marL="0">
              <a:lnSpc>
                <a:spcPct val="133000"/>
              </a:lnSpc>
              <a:buNone/>
            </a:pPr>
            <a:r>
              <a:rPr lang="en-US" sz="1300" dirty="0">
                <a:solidFill>
                  <a:srgbClr val="FFFFFF"/>
                </a:solidFill>
                <a:highlight>
                  <a:srgbClr val="583592"/>
                </a:highlight>
                <a:latin typeface="Consolas" pitchFamily="34" charset="0"/>
                <a:ea typeface="Consolas" pitchFamily="34" charset="-122"/>
                <a:cs typeface="Consolas" pitchFamily="34" charset="-120"/>
              </a:rPr>
              <a:t>customer_id</a:t>
            </a:r>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 en la tabla de clientes.</a:t>
            </a:r>
            <a:endParaRPr lang="en-US" sz="1300" dirty="0"/>
          </a:p>
        </p:txBody>
      </p:sp>
      <p:sp>
        <p:nvSpPr>
          <p:cNvPr id="8" name="Shape 6"/>
          <p:cNvSpPr/>
          <p:nvPr/>
        </p:nvSpPr>
        <p:spPr>
          <a:xfrm>
            <a:off x="3473165" y="2897485"/>
            <a:ext cx="2646396" cy="2090142"/>
          </a:xfrm>
          <a:prstGeom prst="roundRect">
            <a:avLst>
              <a:gd name="adj" fmla="val 11869"/>
            </a:avLst>
          </a:prstGeom>
          <a:solidFill>
            <a:srgbClr val="3F2077"/>
          </a:solidFill>
          <a:ln w="6350">
            <a:solidFill>
              <a:srgbClr val="4B3082"/>
            </a:solidFill>
            <a:prstDash val="solid"/>
          </a:ln>
        </p:spPr>
      </p:sp>
      <p:sp>
        <p:nvSpPr>
          <p:cNvPr id="9" name="Text 7"/>
          <p:cNvSpPr/>
          <p:nvPr/>
        </p:nvSpPr>
        <p:spPr>
          <a:xfrm>
            <a:off x="3644809" y="3069134"/>
            <a:ext cx="2303107"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Clave externa (FK)</a:t>
            </a:r>
            <a:endParaRPr lang="en-US" sz="1600" dirty="0"/>
          </a:p>
        </p:txBody>
      </p:sp>
      <p:sp>
        <p:nvSpPr>
          <p:cNvPr id="10" name="Text 8"/>
          <p:cNvSpPr/>
          <p:nvPr/>
        </p:nvSpPr>
        <p:spPr>
          <a:xfrm>
            <a:off x="3644809" y="3492897"/>
            <a:ext cx="2303107" cy="1323082"/>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Referencia a la clave primaria de otra tabla. Ejemplo: </a:t>
            </a:r>
            <a:pPr algn="l" indent="0" marL="0">
              <a:lnSpc>
                <a:spcPct val="133000"/>
              </a:lnSpc>
              <a:buNone/>
            </a:pPr>
            <a:r>
              <a:rPr lang="en-US" sz="1300" dirty="0">
                <a:solidFill>
                  <a:srgbClr val="FFFFFF"/>
                </a:solidFill>
                <a:highlight>
                  <a:srgbClr val="583592"/>
                </a:highlight>
                <a:latin typeface="Consolas" pitchFamily="34" charset="0"/>
                <a:ea typeface="Consolas" pitchFamily="34" charset="-122"/>
                <a:cs typeface="Consolas" pitchFamily="34" charset="-120"/>
              </a:rPr>
              <a:t>customer_id</a:t>
            </a:r>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 en la tabla de ventas apunta al cliente correspondiente.</a:t>
            </a:r>
            <a:endParaRPr lang="en-US" sz="1300" dirty="0"/>
          </a:p>
        </p:txBody>
      </p:sp>
      <p:sp>
        <p:nvSpPr>
          <p:cNvPr id="11" name="Text 9"/>
          <p:cNvSpPr/>
          <p:nvPr/>
        </p:nvSpPr>
        <p:spPr>
          <a:xfrm>
            <a:off x="6529323" y="2452985"/>
            <a:ext cx="5007147"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Relaciones en ShopData</a:t>
            </a:r>
            <a:endParaRPr lang="en-US" sz="16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6529323" y="2897485"/>
          <a:ext cx="9143771" cy="914400"/>
        </p:xfrm>
        <a:graphic>
          <a:graphicData uri="http://schemas.openxmlformats.org/drawingml/2006/table">
            <a:tbl>
              <a:tblPr/>
              <a:tblGrid>
                <a:gridCol w="1752502"/>
                <a:gridCol w="1752502"/>
                <a:gridCol w="1502144"/>
              </a:tblGrid>
              <a:tr h="478917">
                <a:tc>
                  <a:txBody>
                    <a:bodyPr/>
                    <a:lstStyle/>
                    <a:p>
                      <a:pPr indent="0" marL="0">
                        <a:buNone/>
                      </a:pPr>
                      <a:r>
                        <a:rPr lang="en-US" sz="1300" b="1" dirty="0">
                          <a:solidFill>
                            <a:srgbClr val="FFFFFF"/>
                          </a:solidFill>
                          <a:latin typeface="Manrope" pitchFamily="34" charset="0"/>
                          <a:ea typeface="Manrope" pitchFamily="34" charset="-122"/>
                          <a:cs typeface="Manrope" pitchFamily="34" charset="-120"/>
                        </a:rPr>
                        <a:t>Tabla</a:t>
                      </a:r>
                      <a:endParaRPr lang="en-US" sz="1300" dirty="0">
                        <a:latin typeface="Manrope" charset="0"/>
                        <a:ea typeface="Manrope" charset="0"/>
                        <a:cs typeface="Manrope" charset="0"/>
                      </a:endParaRPr>
                    </a:p>
                  </a:txBody>
                  <a:tcPr marL="165391" marR="165391"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c>
                  <a:txBody>
                    <a:bodyPr/>
                    <a:lstStyle/>
                    <a:p>
                      <a:pPr indent="0" marL="0">
                        <a:buNone/>
                      </a:pPr>
                      <a:r>
                        <a:rPr lang="en-US" sz="1300" b="1" dirty="0">
                          <a:solidFill>
                            <a:srgbClr val="FFFFFF"/>
                          </a:solidFill>
                          <a:latin typeface="Manrope" pitchFamily="34" charset="0"/>
                          <a:ea typeface="Manrope" pitchFamily="34" charset="-122"/>
                          <a:cs typeface="Manrope" pitchFamily="34" charset="-120"/>
                        </a:rPr>
                        <a:t>Clave primaria</a:t>
                      </a:r>
                      <a:endParaRPr lang="en-US" sz="1300" dirty="0">
                        <a:latin typeface="Manrope" charset="0"/>
                        <a:ea typeface="Manrope" charset="0"/>
                        <a:cs typeface="Manrope" charset="0"/>
                      </a:endParaRPr>
                    </a:p>
                  </a:txBody>
                  <a:tcPr marL="165391" marR="165391"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c>
                  <a:txBody>
                    <a:bodyPr/>
                    <a:lstStyle/>
                    <a:p>
                      <a:pPr indent="0" marL="0">
                        <a:buNone/>
                      </a:pPr>
                      <a:r>
                        <a:rPr lang="en-US" sz="1300" b="1" dirty="0">
                          <a:solidFill>
                            <a:srgbClr val="FFFFFF"/>
                          </a:solidFill>
                          <a:latin typeface="Manrope" pitchFamily="34" charset="0"/>
                          <a:ea typeface="Manrope" pitchFamily="34" charset="-122"/>
                          <a:cs typeface="Manrope" pitchFamily="34" charset="-120"/>
                        </a:rPr>
                        <a:t>Clave externa</a:t>
                      </a:r>
                      <a:endParaRPr lang="en-US" sz="1300" dirty="0">
                        <a:latin typeface="Manrope" charset="0"/>
                        <a:ea typeface="Manrope" charset="0"/>
                        <a:cs typeface="Manrope" charset="0"/>
                      </a:endParaRPr>
                    </a:p>
                  </a:txBody>
                  <a:tcPr marL="165391" marR="165391"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r>
              <a:tr h="482092">
                <a:tc>
                  <a:txBody>
                    <a:bodyPr/>
                    <a:lstStyle/>
                    <a:p>
                      <a:pPr indent="0" marL="0">
                        <a:buNone/>
                      </a:pPr>
                      <a:r>
                        <a:rPr lang="en-US" sz="1300" dirty="0">
                          <a:solidFill>
                            <a:srgbClr val="FFFFFF"/>
                          </a:solidFill>
                          <a:latin typeface="Manrope" pitchFamily="34" charset="0"/>
                          <a:ea typeface="Manrope" pitchFamily="34" charset="-122"/>
                          <a:cs typeface="Manrope" pitchFamily="34" charset="-120"/>
                        </a:rPr>
                        <a:t>clientes</a:t>
                      </a:r>
                      <a:endParaRPr lang="en-US" sz="1300" dirty="0">
                        <a:latin typeface="Manrope" charset="0"/>
                        <a:ea typeface="Manrope" charset="0"/>
                        <a:cs typeface="Manrope" charset="0"/>
                      </a:endParaRPr>
                    </a:p>
                  </a:txBody>
                  <a:tcPr marL="165391" marR="165391"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300" dirty="0">
                          <a:solidFill>
                            <a:srgbClr val="FFFFFF"/>
                          </a:solidFill>
                          <a:latin typeface="Manrope" pitchFamily="34" charset="0"/>
                          <a:ea typeface="Manrope" pitchFamily="34" charset="-122"/>
                          <a:cs typeface="Manrope" pitchFamily="34" charset="-120"/>
                        </a:rPr>
                        <a:t>customer_id</a:t>
                      </a:r>
                      <a:endParaRPr lang="en-US" sz="1300" dirty="0">
                        <a:latin typeface="Manrope" charset="0"/>
                        <a:ea typeface="Manrope" charset="0"/>
                        <a:cs typeface="Manrope" charset="0"/>
                      </a:endParaRPr>
                    </a:p>
                  </a:txBody>
                  <a:tcPr marL="165391" marR="165391"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300" dirty="0">
                          <a:solidFill>
                            <a:srgbClr val="FFFFFF"/>
                          </a:solidFill>
                          <a:latin typeface="Manrope" pitchFamily="34" charset="0"/>
                          <a:ea typeface="Manrope" pitchFamily="34" charset="-122"/>
                          <a:cs typeface="Manrope" pitchFamily="34" charset="-120"/>
                        </a:rPr>
                        <a:t>—</a:t>
                      </a:r>
                      <a:endParaRPr lang="en-US" sz="1300" dirty="0">
                        <a:latin typeface="Manrope" charset="0"/>
                        <a:ea typeface="Manrope" charset="0"/>
                        <a:cs typeface="Manrope" charset="0"/>
                      </a:endParaRPr>
                    </a:p>
                  </a:txBody>
                  <a:tcPr marL="165391" marR="165391"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482092">
                <a:tc>
                  <a:txBody>
                    <a:bodyPr/>
                    <a:lstStyle/>
                    <a:p>
                      <a:pPr indent="0" marL="0">
                        <a:buNone/>
                      </a:pPr>
                      <a:r>
                        <a:rPr lang="en-US" sz="1300" dirty="0">
                          <a:solidFill>
                            <a:srgbClr val="FFFFFF"/>
                          </a:solidFill>
                          <a:latin typeface="Manrope" pitchFamily="34" charset="0"/>
                          <a:ea typeface="Manrope" pitchFamily="34" charset="-122"/>
                          <a:cs typeface="Manrope" pitchFamily="34" charset="-120"/>
                        </a:rPr>
                        <a:t>pedidos</a:t>
                      </a:r>
                      <a:endParaRPr lang="en-US" sz="1300" dirty="0">
                        <a:latin typeface="Manrope" charset="0"/>
                        <a:ea typeface="Manrope" charset="0"/>
                        <a:cs typeface="Manrope" charset="0"/>
                      </a:endParaRPr>
                    </a:p>
                  </a:txBody>
                  <a:tcPr marL="165391" marR="165391"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300" dirty="0">
                          <a:solidFill>
                            <a:srgbClr val="FFFFFF"/>
                          </a:solidFill>
                          <a:latin typeface="Manrope" pitchFamily="34" charset="0"/>
                          <a:ea typeface="Manrope" pitchFamily="34" charset="-122"/>
                          <a:cs typeface="Manrope" pitchFamily="34" charset="-120"/>
                        </a:rPr>
                        <a:t>order_id</a:t>
                      </a:r>
                      <a:endParaRPr lang="en-US" sz="1300" dirty="0">
                        <a:latin typeface="Manrope" charset="0"/>
                        <a:ea typeface="Manrope" charset="0"/>
                        <a:cs typeface="Manrope" charset="0"/>
                      </a:endParaRPr>
                    </a:p>
                  </a:txBody>
                  <a:tcPr marL="165391" marR="165391"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300" dirty="0">
                          <a:solidFill>
                            <a:srgbClr val="FFFFFF"/>
                          </a:solidFill>
                          <a:latin typeface="Manrope" pitchFamily="34" charset="0"/>
                          <a:ea typeface="Manrope" pitchFamily="34" charset="-122"/>
                          <a:cs typeface="Manrope" pitchFamily="34" charset="-120"/>
                        </a:rPr>
                        <a:t>customer_id</a:t>
                      </a:r>
                      <a:endParaRPr lang="en-US" sz="1300" dirty="0">
                        <a:latin typeface="Manrope" charset="0"/>
                        <a:ea typeface="Manrope" charset="0"/>
                        <a:cs typeface="Manrope" charset="0"/>
                      </a:endParaRPr>
                    </a:p>
                  </a:txBody>
                  <a:tcPr marL="165391" marR="165391"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746702">
                <a:tc>
                  <a:txBody>
                    <a:bodyPr/>
                    <a:lstStyle/>
                    <a:p>
                      <a:pPr indent="0" marL="0">
                        <a:buNone/>
                      </a:pPr>
                      <a:r>
                        <a:rPr lang="en-US" sz="1300" dirty="0">
                          <a:solidFill>
                            <a:srgbClr val="FFFFFF"/>
                          </a:solidFill>
                          <a:latin typeface="Manrope" pitchFamily="34" charset="0"/>
                          <a:ea typeface="Manrope" pitchFamily="34" charset="-122"/>
                          <a:cs typeface="Manrope" pitchFamily="34" charset="-120"/>
                        </a:rPr>
                        <a:t>detalle_pedido</a:t>
                      </a:r>
                      <a:endParaRPr lang="en-US" sz="1300" dirty="0">
                        <a:latin typeface="Manrope" charset="0"/>
                        <a:ea typeface="Manrope" charset="0"/>
                        <a:cs typeface="Manrope" charset="0"/>
                      </a:endParaRPr>
                    </a:p>
                  </a:txBody>
                  <a:tcPr marL="165391" marR="165391"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300" dirty="0">
                          <a:solidFill>
                            <a:srgbClr val="FFFFFF"/>
                          </a:solidFill>
                          <a:latin typeface="Manrope" pitchFamily="34" charset="0"/>
                          <a:ea typeface="Manrope" pitchFamily="34" charset="-122"/>
                          <a:cs typeface="Manrope" pitchFamily="34" charset="-120"/>
                        </a:rPr>
                        <a:t>line_id</a:t>
                      </a:r>
                      <a:endParaRPr lang="en-US" sz="1300" dirty="0">
                        <a:latin typeface="Manrope" charset="0"/>
                        <a:ea typeface="Manrope" charset="0"/>
                        <a:cs typeface="Manrope" charset="0"/>
                      </a:endParaRPr>
                    </a:p>
                  </a:txBody>
                  <a:tcPr marL="165391" marR="165391"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300" dirty="0">
                          <a:solidFill>
                            <a:srgbClr val="FFFFFF"/>
                          </a:solidFill>
                          <a:latin typeface="Manrope" pitchFamily="34" charset="0"/>
                          <a:ea typeface="Manrope" pitchFamily="34" charset="-122"/>
                          <a:cs typeface="Manrope" pitchFamily="34" charset="-120"/>
                        </a:rPr>
                        <a:t>order_id, product_id</a:t>
                      </a:r>
                      <a:endParaRPr lang="en-US" sz="1300" dirty="0">
                        <a:latin typeface="Manrope" charset="0"/>
                        <a:ea typeface="Manrope" charset="0"/>
                        <a:cs typeface="Manrope" charset="0"/>
                      </a:endParaRPr>
                    </a:p>
                  </a:txBody>
                  <a:tcPr marL="165391" marR="165391"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478917">
                <a:tc>
                  <a:txBody>
                    <a:bodyPr/>
                    <a:lstStyle/>
                    <a:p>
                      <a:pPr indent="0" marL="0">
                        <a:buNone/>
                      </a:pPr>
                      <a:r>
                        <a:rPr lang="en-US" sz="1300" dirty="0">
                          <a:solidFill>
                            <a:srgbClr val="FFFFFF"/>
                          </a:solidFill>
                          <a:latin typeface="Manrope" pitchFamily="34" charset="0"/>
                          <a:ea typeface="Manrope" pitchFamily="34" charset="-122"/>
                          <a:cs typeface="Manrope" pitchFamily="34" charset="-120"/>
                        </a:rPr>
                        <a:t>productos</a:t>
                      </a:r>
                      <a:endParaRPr lang="en-US" sz="1300" dirty="0">
                        <a:latin typeface="Manrope" charset="0"/>
                        <a:ea typeface="Manrope" charset="0"/>
                        <a:cs typeface="Manrope" charset="0"/>
                      </a:endParaRPr>
                    </a:p>
                  </a:txBody>
                  <a:tcPr marL="165391" marR="165391"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300" dirty="0">
                          <a:solidFill>
                            <a:srgbClr val="FFFFFF"/>
                          </a:solidFill>
                          <a:latin typeface="Manrope" pitchFamily="34" charset="0"/>
                          <a:ea typeface="Manrope" pitchFamily="34" charset="-122"/>
                          <a:cs typeface="Manrope" pitchFamily="34" charset="-120"/>
                        </a:rPr>
                        <a:t>product_id</a:t>
                      </a:r>
                      <a:endParaRPr lang="en-US" sz="1300" dirty="0">
                        <a:latin typeface="Manrope" charset="0"/>
                        <a:ea typeface="Manrope" charset="0"/>
                        <a:cs typeface="Manrope" charset="0"/>
                      </a:endParaRPr>
                    </a:p>
                  </a:txBody>
                  <a:tcPr marL="165391" marR="165391"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300" dirty="0">
                          <a:solidFill>
                            <a:srgbClr val="FFFFFF"/>
                          </a:solidFill>
                          <a:latin typeface="Manrope" pitchFamily="34" charset="0"/>
                          <a:ea typeface="Manrope" pitchFamily="34" charset="-122"/>
                          <a:cs typeface="Manrope" pitchFamily="34" charset="-120"/>
                        </a:rPr>
                        <a:t>—</a:t>
                      </a:r>
                      <a:endParaRPr lang="en-US" sz="1300" dirty="0">
                        <a:latin typeface="Manrope" charset="0"/>
                        <a:ea typeface="Manrope" charset="0"/>
                        <a:cs typeface="Manrope" charset="0"/>
                      </a:endParaRPr>
                    </a:p>
                  </a:txBody>
                  <a:tcPr marL="165391" marR="165391"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bl>
          </a:graphicData>
        </a:graphic>
      </p:graphicFrame>
      <p:pic>
        <p:nvPicPr>
          <p:cNvPr id="13"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14"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15" name="Text 10"/>
          <p:cNvSpPr/>
          <p:nvPr/>
        </p:nvSpPr>
        <p:spPr>
          <a:xfrm>
            <a:off x="10824197" y="6300589"/>
            <a:ext cx="1169065"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661475" y="978495"/>
            <a:ext cx="10868745" cy="392708"/>
          </a:xfrm>
          <a:prstGeom prst="rect">
            <a:avLst/>
          </a:prstGeom>
          <a:noFill/>
          <a:ln/>
        </p:spPr>
        <p:txBody>
          <a:bodyPr wrap="none" lIns="0" tIns="0" rIns="0" bIns="0" rtlCol="0" anchor="t"/>
          <a:lstStyle/>
          <a:p>
            <a:pPr algn="l" indent="0" marL="0">
              <a:lnSpc>
                <a:spcPct val="104000"/>
              </a:lnSpc>
              <a:buNone/>
            </a:pPr>
            <a:r>
              <a:rPr lang="en-US" sz="2450" spc="-25" kern="0" dirty="0">
                <a:solidFill>
                  <a:srgbClr val="FFFFFF"/>
                </a:solidFill>
                <a:latin typeface="Alexandria Medium" pitchFamily="34" charset="0"/>
                <a:ea typeface="Alexandria Medium" pitchFamily="34" charset="-122"/>
                <a:cs typeface="Alexandria Medium" pitchFamily="34" charset="-120"/>
              </a:rPr>
              <a:t>Join y Merge: tipos de combinación</a:t>
            </a:r>
            <a:endParaRPr lang="en-US" sz="2450" dirty="0"/>
          </a:p>
        </p:txBody>
      </p:sp>
      <p:sp>
        <p:nvSpPr>
          <p:cNvPr id="3" name="Text 1"/>
          <p:cNvSpPr/>
          <p:nvPr/>
        </p:nvSpPr>
        <p:spPr>
          <a:xfrm>
            <a:off x="661475" y="1744266"/>
            <a:ext cx="5242687" cy="245566"/>
          </a:xfrm>
          <a:prstGeom prst="rect">
            <a:avLst/>
          </a:prstGeom>
          <a:noFill/>
          <a:ln/>
        </p:spPr>
        <p:txBody>
          <a:bodyPr wrap="none" lIns="0" tIns="0" rIns="0" bIns="0" rtlCol="0" anchor="t"/>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Los cuatro tipos de JOIN</a:t>
            </a:r>
            <a:endParaRPr lang="en-US" sz="1500" dirty="0"/>
          </a:p>
        </p:txBody>
      </p:sp>
      <p:sp>
        <p:nvSpPr>
          <p:cNvPr id="4" name="Shape 2"/>
          <p:cNvSpPr/>
          <p:nvPr/>
        </p:nvSpPr>
        <p:spPr>
          <a:xfrm>
            <a:off x="661475" y="2157710"/>
            <a:ext cx="2546683" cy="1702296"/>
          </a:xfrm>
          <a:prstGeom prst="roundRect">
            <a:avLst>
              <a:gd name="adj" fmla="val 13845"/>
            </a:avLst>
          </a:prstGeom>
          <a:solidFill>
            <a:srgbClr val="3F2077"/>
          </a:solidFill>
          <a:ln w="6350">
            <a:solidFill>
              <a:srgbClr val="4B3082"/>
            </a:solidFill>
            <a:prstDash val="solid"/>
          </a:ln>
        </p:spPr>
      </p:sp>
      <p:sp>
        <p:nvSpPr>
          <p:cNvPr id="5" name="Text 3"/>
          <p:cNvSpPr/>
          <p:nvPr/>
        </p:nvSpPr>
        <p:spPr>
          <a:xfrm>
            <a:off x="824884" y="2321123"/>
            <a:ext cx="2219865" cy="245566"/>
          </a:xfrm>
          <a:prstGeom prst="rect">
            <a:avLst/>
          </a:prstGeom>
          <a:noFill/>
          <a:ln/>
        </p:spPr>
        <p:txBody>
          <a:bodyPr wrap="none" lIns="0" tIns="0" rIns="0" bIns="0" rtlCol="0" anchor="t"/>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INNER JOIN</a:t>
            </a:r>
            <a:endParaRPr lang="en-US" sz="1500" dirty="0"/>
          </a:p>
        </p:txBody>
      </p:sp>
      <p:sp>
        <p:nvSpPr>
          <p:cNvPr id="6" name="Text 4"/>
          <p:cNvSpPr/>
          <p:nvPr/>
        </p:nvSpPr>
        <p:spPr>
          <a:xfrm>
            <a:off x="824884" y="2715915"/>
            <a:ext cx="2219865" cy="980678"/>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Solo registros que tienen coincidencia en </a:t>
            </a:r>
            <a:pPr algn="l" indent="0" marL="0">
              <a:lnSpc>
                <a:spcPct val="130000"/>
              </a:lnSpc>
              <a:buNone/>
            </a:pPr>
            <a:r>
              <a:rPr lang="en-US" sz="1200" b="1" dirty="0">
                <a:solidFill>
                  <a:srgbClr val="FFFFFF"/>
                </a:solidFill>
                <a:latin typeface="Manrope Bold" pitchFamily="34" charset="0"/>
                <a:ea typeface="Manrope Bold" pitchFamily="34" charset="-122"/>
                <a:cs typeface="Manrope Bold" pitchFamily="34" charset="-120"/>
              </a:rPr>
              <a:t>ambas</a:t>
            </a:r>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 tablas. Clientes que tienen al menos un pedido.</a:t>
            </a:r>
            <a:endParaRPr lang="en-US" sz="1200" dirty="0"/>
          </a:p>
        </p:txBody>
      </p:sp>
      <p:sp>
        <p:nvSpPr>
          <p:cNvPr id="7" name="Shape 5"/>
          <p:cNvSpPr/>
          <p:nvPr/>
        </p:nvSpPr>
        <p:spPr>
          <a:xfrm>
            <a:off x="3357379" y="2157710"/>
            <a:ext cx="2546782" cy="1702296"/>
          </a:xfrm>
          <a:prstGeom prst="roundRect">
            <a:avLst>
              <a:gd name="adj" fmla="val 13845"/>
            </a:avLst>
          </a:prstGeom>
          <a:solidFill>
            <a:srgbClr val="3F2077"/>
          </a:solidFill>
          <a:ln w="6350">
            <a:solidFill>
              <a:srgbClr val="4B3082"/>
            </a:solidFill>
            <a:prstDash val="solid"/>
          </a:ln>
        </p:spPr>
      </p:sp>
      <p:sp>
        <p:nvSpPr>
          <p:cNvPr id="8" name="Text 6"/>
          <p:cNvSpPr/>
          <p:nvPr/>
        </p:nvSpPr>
        <p:spPr>
          <a:xfrm>
            <a:off x="3520788" y="2321123"/>
            <a:ext cx="2219964" cy="245566"/>
          </a:xfrm>
          <a:prstGeom prst="rect">
            <a:avLst/>
          </a:prstGeom>
          <a:noFill/>
          <a:ln/>
        </p:spPr>
        <p:txBody>
          <a:bodyPr wrap="none" lIns="0" tIns="0" rIns="0" bIns="0" rtlCol="0" anchor="t"/>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LEFT JOIN</a:t>
            </a:r>
            <a:endParaRPr lang="en-US" sz="1500" dirty="0"/>
          </a:p>
        </p:txBody>
      </p:sp>
      <p:sp>
        <p:nvSpPr>
          <p:cNvPr id="9" name="Text 7"/>
          <p:cNvSpPr/>
          <p:nvPr/>
        </p:nvSpPr>
        <p:spPr>
          <a:xfrm>
            <a:off x="3520788" y="2715915"/>
            <a:ext cx="2219964" cy="980678"/>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Todos los de la izquierda + los coincidentes de la derecha. </a:t>
            </a:r>
            <a:pPr algn="l" indent="0" marL="0">
              <a:lnSpc>
                <a:spcPct val="130000"/>
              </a:lnSpc>
              <a:buNone/>
            </a:pPr>
            <a:r>
              <a:rPr lang="en-US" sz="1200" b="1" dirty="0">
                <a:solidFill>
                  <a:srgbClr val="FFFFFF"/>
                </a:solidFill>
                <a:latin typeface="Manrope Bold" pitchFamily="34" charset="0"/>
                <a:ea typeface="Manrope Bold" pitchFamily="34" charset="-122"/>
                <a:cs typeface="Manrope Bold" pitchFamily="34" charset="-120"/>
              </a:rPr>
              <a:t>Todos los clientes</a:t>
            </a:r>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 aunque no tengan pedidos.</a:t>
            </a:r>
            <a:endParaRPr lang="en-US" sz="1200" dirty="0"/>
          </a:p>
        </p:txBody>
      </p:sp>
      <p:sp>
        <p:nvSpPr>
          <p:cNvPr id="10" name="Shape 8"/>
          <p:cNvSpPr/>
          <p:nvPr/>
        </p:nvSpPr>
        <p:spPr>
          <a:xfrm>
            <a:off x="661475" y="4009231"/>
            <a:ext cx="2546683" cy="1702296"/>
          </a:xfrm>
          <a:prstGeom prst="roundRect">
            <a:avLst>
              <a:gd name="adj" fmla="val 13845"/>
            </a:avLst>
          </a:prstGeom>
          <a:solidFill>
            <a:srgbClr val="3F2077"/>
          </a:solidFill>
          <a:ln w="6350">
            <a:solidFill>
              <a:srgbClr val="4B3082"/>
            </a:solidFill>
            <a:prstDash val="solid"/>
          </a:ln>
        </p:spPr>
      </p:sp>
      <p:sp>
        <p:nvSpPr>
          <p:cNvPr id="11" name="Text 9"/>
          <p:cNvSpPr/>
          <p:nvPr/>
        </p:nvSpPr>
        <p:spPr>
          <a:xfrm>
            <a:off x="824884" y="4172645"/>
            <a:ext cx="2219865" cy="245566"/>
          </a:xfrm>
          <a:prstGeom prst="rect">
            <a:avLst/>
          </a:prstGeom>
          <a:noFill/>
          <a:ln/>
        </p:spPr>
        <p:txBody>
          <a:bodyPr wrap="none" lIns="0" tIns="0" rIns="0" bIns="0" rtlCol="0" anchor="t"/>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RIGHT JOIN</a:t>
            </a:r>
            <a:endParaRPr lang="en-US" sz="1500" dirty="0"/>
          </a:p>
        </p:txBody>
      </p:sp>
      <p:sp>
        <p:nvSpPr>
          <p:cNvPr id="12" name="Text 10"/>
          <p:cNvSpPr/>
          <p:nvPr/>
        </p:nvSpPr>
        <p:spPr>
          <a:xfrm>
            <a:off x="824884" y="4567436"/>
            <a:ext cx="2219865" cy="980678"/>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Todos los de la derecha + los coincidentes de la izquierda. Todos los pedidos, incluso los de clientes borrados.</a:t>
            </a:r>
            <a:endParaRPr lang="en-US" sz="1200" dirty="0"/>
          </a:p>
        </p:txBody>
      </p:sp>
      <p:sp>
        <p:nvSpPr>
          <p:cNvPr id="13" name="Shape 11"/>
          <p:cNvSpPr/>
          <p:nvPr/>
        </p:nvSpPr>
        <p:spPr>
          <a:xfrm>
            <a:off x="3357379" y="4009231"/>
            <a:ext cx="2546782" cy="1702296"/>
          </a:xfrm>
          <a:prstGeom prst="roundRect">
            <a:avLst>
              <a:gd name="adj" fmla="val 13845"/>
            </a:avLst>
          </a:prstGeom>
          <a:solidFill>
            <a:srgbClr val="3F2077"/>
          </a:solidFill>
          <a:ln w="6350">
            <a:solidFill>
              <a:srgbClr val="4B3082"/>
            </a:solidFill>
            <a:prstDash val="solid"/>
          </a:ln>
        </p:spPr>
      </p:sp>
      <p:sp>
        <p:nvSpPr>
          <p:cNvPr id="14" name="Text 12"/>
          <p:cNvSpPr/>
          <p:nvPr/>
        </p:nvSpPr>
        <p:spPr>
          <a:xfrm>
            <a:off x="3520788" y="4172645"/>
            <a:ext cx="2219964" cy="245566"/>
          </a:xfrm>
          <a:prstGeom prst="rect">
            <a:avLst/>
          </a:prstGeom>
          <a:noFill/>
          <a:ln/>
        </p:spPr>
        <p:txBody>
          <a:bodyPr wrap="none" lIns="0" tIns="0" rIns="0" bIns="0" rtlCol="0" anchor="t"/>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FULL OUTER JOIN</a:t>
            </a:r>
            <a:endParaRPr lang="en-US" sz="1500" dirty="0"/>
          </a:p>
        </p:txBody>
      </p:sp>
      <p:sp>
        <p:nvSpPr>
          <p:cNvPr id="15" name="Text 13"/>
          <p:cNvSpPr/>
          <p:nvPr/>
        </p:nvSpPr>
        <p:spPr>
          <a:xfrm>
            <a:off x="3520788" y="4567436"/>
            <a:ext cx="2219964" cy="980678"/>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Todos los registros de ambas tablas. Los que no coinciden quedan con nulos en las columnas del otro lado.</a:t>
            </a:r>
            <a:endParaRPr lang="en-US" sz="1200" dirty="0"/>
          </a:p>
        </p:txBody>
      </p:sp>
      <p:sp>
        <p:nvSpPr>
          <p:cNvPr id="16" name="Text 14"/>
          <p:cNvSpPr/>
          <p:nvPr/>
        </p:nvSpPr>
        <p:spPr>
          <a:xfrm>
            <a:off x="6293883" y="1744266"/>
            <a:ext cx="5242687" cy="245566"/>
          </a:xfrm>
          <a:prstGeom prst="rect">
            <a:avLst/>
          </a:prstGeom>
          <a:noFill/>
          <a:ln/>
        </p:spPr>
        <p:txBody>
          <a:bodyPr wrap="none" lIns="0" tIns="0" rIns="0" bIns="0" rtlCol="0" anchor="t"/>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Relación con operaciones de conjuntos</a:t>
            </a:r>
            <a:endParaRPr lang="en-US" sz="15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6293883" y="2157710"/>
          <a:ext cx="9143771" cy="914400"/>
        </p:xfrm>
        <a:graphic>
          <a:graphicData uri="http://schemas.openxmlformats.org/drawingml/2006/table">
            <a:tbl>
              <a:tblPr/>
              <a:tblGrid>
                <a:gridCol w="2097075"/>
                <a:gridCol w="3145612"/>
              </a:tblGrid>
              <a:tr h="440024">
                <a:tc>
                  <a:txBody>
                    <a:bodyPr/>
                    <a:lstStyle/>
                    <a:p>
                      <a:pPr indent="0" marL="0">
                        <a:buNone/>
                      </a:pPr>
                      <a:r>
                        <a:rPr lang="en-US" sz="1200" b="1" dirty="0">
                          <a:solidFill>
                            <a:srgbClr val="FFFFFF"/>
                          </a:solidFill>
                          <a:latin typeface="Manrope" pitchFamily="34" charset="0"/>
                          <a:ea typeface="Manrope" pitchFamily="34" charset="-122"/>
                          <a:cs typeface="Manrope" pitchFamily="34" charset="-120"/>
                        </a:rPr>
                        <a:t>JOIN</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c>
                  <a:txBody>
                    <a:bodyPr/>
                    <a:lstStyle/>
                    <a:p>
                      <a:pPr indent="0" marL="0">
                        <a:buNone/>
                      </a:pPr>
                      <a:r>
                        <a:rPr lang="en-US" sz="1200" b="1" dirty="0">
                          <a:solidFill>
                            <a:srgbClr val="FFFFFF"/>
                          </a:solidFill>
                          <a:latin typeface="Manrope" pitchFamily="34" charset="0"/>
                          <a:ea typeface="Manrope" pitchFamily="34" charset="-122"/>
                          <a:cs typeface="Manrope" pitchFamily="34" charset="-120"/>
                        </a:rPr>
                        <a:t>Equivalente en conjuntos</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r>
              <a:tr h="443199">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INNER JOIN</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Intersección A ∩ B</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443199">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LEFT JOIN</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A completo + lo que A ∩ B aporta de B</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440024">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FULL OUTER</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Unión A ∪ B</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bl>
          </a:graphicData>
        </a:graphic>
      </p:graphicFrame>
      <p:pic>
        <p:nvPicPr>
          <p:cNvPr id="18"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19"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20" name="Text 15"/>
          <p:cNvSpPr/>
          <p:nvPr/>
        </p:nvSpPr>
        <p:spPr>
          <a:xfrm>
            <a:off x="10821221" y="6300589"/>
            <a:ext cx="1172042"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661475" y="1008955"/>
            <a:ext cx="10868745" cy="351433"/>
          </a:xfrm>
          <a:prstGeom prst="rect">
            <a:avLst/>
          </a:prstGeom>
          <a:noFill/>
          <a:ln/>
        </p:spPr>
        <p:txBody>
          <a:bodyPr wrap="none" lIns="0" tIns="0" rIns="0" bIns="0" rtlCol="0" anchor="t"/>
          <a:lstStyle/>
          <a:p>
            <a:pPr algn="l" indent="0" marL="0">
              <a:lnSpc>
                <a:spcPct val="104000"/>
              </a:lnSpc>
              <a:buNone/>
            </a:pPr>
            <a:r>
              <a:rPr lang="en-US" sz="2200" spc="-22" kern="0" dirty="0">
                <a:solidFill>
                  <a:srgbClr val="FFFFFF"/>
                </a:solidFill>
                <a:latin typeface="Alexandria Medium" pitchFamily="34" charset="0"/>
                <a:ea typeface="Alexandria Medium" pitchFamily="34" charset="-122"/>
                <a:cs typeface="Alexandria Medium" pitchFamily="34" charset="-120"/>
              </a:rPr>
              <a:t>Merge con Pandas</a:t>
            </a:r>
            <a:endParaRPr lang="en-US" sz="2200" dirty="0"/>
          </a:p>
        </p:txBody>
      </p:sp>
      <p:sp>
        <p:nvSpPr>
          <p:cNvPr id="3" name="Text 1"/>
          <p:cNvSpPr/>
          <p:nvPr/>
        </p:nvSpPr>
        <p:spPr>
          <a:xfrm>
            <a:off x="661475" y="1599307"/>
            <a:ext cx="11478330" cy="208062"/>
          </a:xfrm>
          <a:prstGeom prst="rect">
            <a:avLst/>
          </a:prstGeom>
          <a:noFill/>
          <a:ln/>
        </p:spPr>
        <p:txBody>
          <a:bodyPr wrap="none" lIns="0" tIns="0" rIns="0" bIns="0" rtlCol="0" anchor="t"/>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Construyendo el dataset analítico de ShopData paso a paso.</a:t>
            </a:r>
            <a:endParaRPr lang="en-US" sz="1100" dirty="0"/>
          </a:p>
        </p:txBody>
      </p:sp>
      <p:sp>
        <p:nvSpPr>
          <p:cNvPr id="4" name="Text 2"/>
          <p:cNvSpPr/>
          <p:nvPr/>
        </p:nvSpPr>
        <p:spPr>
          <a:xfrm>
            <a:off x="661475" y="2061170"/>
            <a:ext cx="6496185"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Paso 1 — Ventas + Clientes</a:t>
            </a:r>
            <a:endParaRPr lang="en-US" sz="1350" dirty="0"/>
          </a:p>
        </p:txBody>
      </p:sp>
      <p:sp>
        <p:nvSpPr>
          <p:cNvPr id="5" name="Shape 3"/>
          <p:cNvSpPr/>
          <p:nvPr/>
        </p:nvSpPr>
        <p:spPr>
          <a:xfrm>
            <a:off x="661475" y="2415084"/>
            <a:ext cx="6496185" cy="1405632"/>
          </a:xfrm>
          <a:prstGeom prst="roundRect">
            <a:avLst>
              <a:gd name="adj" fmla="val 15002"/>
            </a:avLst>
          </a:prstGeom>
          <a:solidFill>
            <a:srgbClr val="583592"/>
          </a:solidFill>
          <a:ln/>
        </p:spPr>
      </p:sp>
      <p:sp>
        <p:nvSpPr>
          <p:cNvPr id="6" name="Text 4"/>
          <p:cNvSpPr/>
          <p:nvPr/>
        </p:nvSpPr>
        <p:spPr>
          <a:xfrm>
            <a:off x="830143" y="2555577"/>
            <a:ext cx="6158850" cy="1124645"/>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E6EDF3"/>
                </a:solidFill>
                <a:latin typeface="Consolas" pitchFamily="34" charset="0"/>
                <a:ea typeface="Consolas" pitchFamily="34" charset="-122"/>
                <a:cs typeface="Consolas" pitchFamily="34" charset="-120"/>
              </a:rPr>
              <a:t>dataset = ventas.merge(</a:t>
            </a:r>
            <a:endParaRPr lang="en-US" sz="1100" dirty="0"/>
          </a:p>
          <a:p>
            <a:pPr algn="l" indent="0" marL="0">
              <a:lnSpc>
                <a:spcPct val="133000"/>
              </a:lnSpc>
              <a:buNone/>
            </a:pPr>
            <a:r>
              <a:rPr lang="en-US" sz="1100" dirty="0">
                <a:solidFill>
                  <a:srgbClr val="E6EDF3"/>
                </a:solidFill>
                <a:latin typeface="Consolas" pitchFamily="34" charset="0"/>
                <a:ea typeface="Consolas" pitchFamily="34" charset="-122"/>
                <a:cs typeface="Consolas" pitchFamily="34" charset="-120"/>
              </a:rPr>
              <a:t>    clientes,</a:t>
            </a:r>
            <a:endParaRPr lang="en-US" sz="1100" dirty="0"/>
          </a:p>
          <a:p>
            <a:pPr algn="l" indent="0" marL="0">
              <a:lnSpc>
                <a:spcPct val="133000"/>
              </a:lnSpc>
              <a:buNone/>
            </a:pPr>
            <a:r>
              <a:rPr lang="en-US" sz="1100" dirty="0">
                <a:solidFill>
                  <a:srgbClr val="E6EDF3"/>
                </a:solidFill>
                <a:latin typeface="Consolas" pitchFamily="34" charset="0"/>
                <a:ea typeface="Consolas" pitchFamily="34" charset="-122"/>
                <a:cs typeface="Consolas" pitchFamily="34" charset="-120"/>
              </a:rPr>
              <a:t>    on="customer_id",</a:t>
            </a:r>
            <a:endParaRPr lang="en-US" sz="1100" dirty="0"/>
          </a:p>
          <a:p>
            <a:pPr algn="l" indent="0" marL="0">
              <a:lnSpc>
                <a:spcPct val="133000"/>
              </a:lnSpc>
              <a:buNone/>
            </a:pPr>
            <a:r>
              <a:rPr lang="en-US" sz="1100" dirty="0">
                <a:solidFill>
                  <a:srgbClr val="E6EDF3"/>
                </a:solidFill>
                <a:latin typeface="Consolas" pitchFamily="34" charset="0"/>
                <a:ea typeface="Consolas" pitchFamily="34" charset="-122"/>
                <a:cs typeface="Consolas" pitchFamily="34" charset="-120"/>
              </a:rPr>
              <a:t>    how="left"</a:t>
            </a:r>
            <a:endParaRPr lang="en-US" sz="1100" dirty="0"/>
          </a:p>
          <a:p>
            <a:pPr algn="l" indent="0" marL="0">
              <a:lnSpc>
                <a:spcPct val="133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p:txBody>
      </p:sp>
      <p:sp>
        <p:nvSpPr>
          <p:cNvPr id="7" name="Text 5"/>
          <p:cNvSpPr/>
          <p:nvPr/>
        </p:nvSpPr>
        <p:spPr>
          <a:xfrm>
            <a:off x="661475" y="3955058"/>
            <a:ext cx="6496185"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Paso 2 — Añadir Productos</a:t>
            </a:r>
            <a:endParaRPr lang="en-US" sz="1350" dirty="0"/>
          </a:p>
        </p:txBody>
      </p:sp>
      <p:sp>
        <p:nvSpPr>
          <p:cNvPr id="8" name="Shape 6"/>
          <p:cNvSpPr/>
          <p:nvPr/>
        </p:nvSpPr>
        <p:spPr>
          <a:xfrm>
            <a:off x="661475" y="4308971"/>
            <a:ext cx="6496185" cy="1405632"/>
          </a:xfrm>
          <a:prstGeom prst="roundRect">
            <a:avLst>
              <a:gd name="adj" fmla="val 15002"/>
            </a:avLst>
          </a:prstGeom>
          <a:solidFill>
            <a:srgbClr val="583592"/>
          </a:solidFill>
          <a:ln/>
        </p:spPr>
      </p:sp>
      <p:sp>
        <p:nvSpPr>
          <p:cNvPr id="9" name="Text 7"/>
          <p:cNvSpPr/>
          <p:nvPr/>
        </p:nvSpPr>
        <p:spPr>
          <a:xfrm>
            <a:off x="830143" y="4449465"/>
            <a:ext cx="6158850" cy="1124645"/>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E6EDF3"/>
                </a:solidFill>
                <a:latin typeface="Consolas" pitchFamily="34" charset="0"/>
                <a:ea typeface="Consolas" pitchFamily="34" charset="-122"/>
                <a:cs typeface="Consolas" pitchFamily="34" charset="-120"/>
              </a:rPr>
              <a:t>dataset = dataset.merge(</a:t>
            </a:r>
            <a:endParaRPr lang="en-US" sz="1100" dirty="0"/>
          </a:p>
          <a:p>
            <a:pPr algn="l" indent="0" marL="0">
              <a:lnSpc>
                <a:spcPct val="133000"/>
              </a:lnSpc>
              <a:buNone/>
            </a:pPr>
            <a:r>
              <a:rPr lang="en-US" sz="1100" dirty="0">
                <a:solidFill>
                  <a:srgbClr val="E6EDF3"/>
                </a:solidFill>
                <a:latin typeface="Consolas" pitchFamily="34" charset="0"/>
                <a:ea typeface="Consolas" pitchFamily="34" charset="-122"/>
                <a:cs typeface="Consolas" pitchFamily="34" charset="-120"/>
              </a:rPr>
              <a:t>    productos,</a:t>
            </a:r>
            <a:endParaRPr lang="en-US" sz="1100" dirty="0"/>
          </a:p>
          <a:p>
            <a:pPr algn="l" indent="0" marL="0">
              <a:lnSpc>
                <a:spcPct val="133000"/>
              </a:lnSpc>
              <a:buNone/>
            </a:pPr>
            <a:r>
              <a:rPr lang="en-US" sz="1100" dirty="0">
                <a:solidFill>
                  <a:srgbClr val="E6EDF3"/>
                </a:solidFill>
                <a:latin typeface="Consolas" pitchFamily="34" charset="0"/>
                <a:ea typeface="Consolas" pitchFamily="34" charset="-122"/>
                <a:cs typeface="Consolas" pitchFamily="34" charset="-120"/>
              </a:rPr>
              <a:t>    on="product_id",</a:t>
            </a:r>
            <a:endParaRPr lang="en-US" sz="1100" dirty="0"/>
          </a:p>
          <a:p>
            <a:pPr algn="l" indent="0" marL="0">
              <a:lnSpc>
                <a:spcPct val="133000"/>
              </a:lnSpc>
              <a:buNone/>
            </a:pPr>
            <a:r>
              <a:rPr lang="en-US" sz="1100" dirty="0">
                <a:solidFill>
                  <a:srgbClr val="E6EDF3"/>
                </a:solidFill>
                <a:latin typeface="Consolas" pitchFamily="34" charset="0"/>
                <a:ea typeface="Consolas" pitchFamily="34" charset="-122"/>
                <a:cs typeface="Consolas" pitchFamily="34" charset="-120"/>
              </a:rPr>
              <a:t>    how="left"</a:t>
            </a:r>
            <a:endParaRPr lang="en-US" sz="1100" dirty="0"/>
          </a:p>
          <a:p>
            <a:pPr algn="l" indent="0" marL="0">
              <a:lnSpc>
                <a:spcPct val="133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p:txBody>
      </p:sp>
      <p:sp>
        <p:nvSpPr>
          <p:cNvPr id="10" name="Text 8"/>
          <p:cNvSpPr/>
          <p:nvPr/>
        </p:nvSpPr>
        <p:spPr>
          <a:xfrm>
            <a:off x="7506901" y="2061170"/>
            <a:ext cx="4029570"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Resultado</a:t>
            </a:r>
            <a:endParaRPr lang="en-US" sz="1350" dirty="0"/>
          </a:p>
        </p:txBody>
      </p:sp>
      <p:sp>
        <p:nvSpPr>
          <p:cNvPr id="11" name="Shape 9"/>
          <p:cNvSpPr/>
          <p:nvPr/>
        </p:nvSpPr>
        <p:spPr>
          <a:xfrm>
            <a:off x="7506901" y="2415084"/>
            <a:ext cx="4029570" cy="2530277"/>
          </a:xfrm>
          <a:prstGeom prst="roundRect">
            <a:avLst>
              <a:gd name="adj" fmla="val 8334"/>
            </a:avLst>
          </a:prstGeom>
          <a:solidFill>
            <a:srgbClr val="583592"/>
          </a:solidFill>
          <a:ln/>
        </p:spPr>
      </p:sp>
      <p:sp>
        <p:nvSpPr>
          <p:cNvPr id="12" name="Text 10"/>
          <p:cNvSpPr/>
          <p:nvPr/>
        </p:nvSpPr>
        <p:spPr>
          <a:xfrm>
            <a:off x="7675569" y="2555577"/>
            <a:ext cx="3692234" cy="2249289"/>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FFA657"/>
                </a:solidFill>
                <a:latin typeface="Consolas" pitchFamily="34" charset="0"/>
                <a:ea typeface="Consolas" pitchFamily="34" charset="-122"/>
                <a:cs typeface="Consolas" pitchFamily="34" charset="-120"/>
              </a:rPr>
              <a:t>print(dataset.columns)</a:t>
            </a:r>
            <a:endParaRPr lang="en-US" sz="1100" dirty="0"/>
          </a:p>
          <a:p>
            <a:pPr algn="l" indent="0" marL="0">
              <a:lnSpc>
                <a:spcPct val="133000"/>
              </a:lnSpc>
              <a:buNone/>
            </a:pPr>
            <a:r>
              <a:rPr lang="en-US" sz="1100" dirty="0">
                <a:solidFill>
                  <a:srgbClr val="FFA657"/>
                </a:solidFill>
                <a:latin typeface="Consolas" pitchFamily="34" charset="0"/>
                <a:ea typeface="Consolas" pitchFamily="34" charset="-122"/>
                <a:cs typeface="Consolas" pitchFamily="34" charset="-120"/>
              </a:rPr>
              <a:t># order_id, customer_id,</a:t>
            </a:r>
            <a:endParaRPr lang="en-US" sz="1100" dirty="0"/>
          </a:p>
          <a:p>
            <a:pPr algn="l" indent="0" marL="0">
              <a:lnSpc>
                <a:spcPct val="133000"/>
              </a:lnSpc>
              <a:buNone/>
            </a:pPr>
            <a:r>
              <a:rPr lang="en-US" sz="1100" dirty="0">
                <a:solidFill>
                  <a:srgbClr val="FFA657"/>
                </a:solidFill>
                <a:latin typeface="Consolas" pitchFamily="34" charset="0"/>
                <a:ea typeface="Consolas" pitchFamily="34" charset="-122"/>
                <a:cs typeface="Consolas" pitchFamily="34" charset="-120"/>
              </a:rPr>
              <a:t># product_id, total, fecha,</a:t>
            </a:r>
            <a:endParaRPr lang="en-US" sz="1100" dirty="0"/>
          </a:p>
          <a:p>
            <a:pPr algn="l" indent="0" marL="0">
              <a:lnSpc>
                <a:spcPct val="133000"/>
              </a:lnSpc>
              <a:buNone/>
            </a:pPr>
            <a:r>
              <a:rPr lang="en-US" sz="1100" dirty="0">
                <a:solidFill>
                  <a:srgbClr val="FFA657"/>
                </a:solidFill>
                <a:latin typeface="Consolas" pitchFamily="34" charset="0"/>
                <a:ea typeface="Consolas" pitchFamily="34" charset="-122"/>
                <a:cs typeface="Consolas" pitchFamily="34" charset="-120"/>
              </a:rPr>
              <a:t># customer_name, ciudad, edad,</a:t>
            </a:r>
            <a:endParaRPr lang="en-US" sz="1100" dirty="0"/>
          </a:p>
          <a:p>
            <a:pPr algn="l" indent="0" marL="0">
              <a:lnSpc>
                <a:spcPct val="133000"/>
              </a:lnSpc>
              <a:buNone/>
            </a:pPr>
            <a:r>
              <a:rPr lang="en-US" sz="1100" dirty="0">
                <a:solidFill>
                  <a:srgbClr val="FFA657"/>
                </a:solidFill>
                <a:latin typeface="Consolas" pitchFamily="34" charset="0"/>
                <a:ea typeface="Consolas" pitchFamily="34" charset="-122"/>
                <a:cs typeface="Consolas" pitchFamily="34" charset="-120"/>
              </a:rPr>
              <a:t># product_name, category, price</a:t>
            </a:r>
            <a:endParaRPr lang="en-US" sz="1100" dirty="0"/>
          </a:p>
          <a:p>
            <a:pPr algn="l" indent="0" marL="0">
              <a:lnSpc>
                <a:spcPct val="133000"/>
              </a:lnSpc>
              <a:buNone/>
            </a:pPr>
            <a:endParaRPr lang="en-US" sz="1100" dirty="0"/>
          </a:p>
          <a:p>
            <a:pPr algn="l" indent="0" marL="0">
              <a:lnSpc>
                <a:spcPct val="133000"/>
              </a:lnSpc>
              <a:buNone/>
            </a:pPr>
            <a:r>
              <a:rPr lang="en-US" sz="1100" dirty="0">
                <a:solidFill>
                  <a:srgbClr val="FFA657"/>
                </a:solidFill>
                <a:latin typeface="Consolas" pitchFamily="34" charset="0"/>
                <a:ea typeface="Consolas" pitchFamily="34" charset="-122"/>
                <a:cs typeface="Consolas" pitchFamily="34" charset="-120"/>
              </a:rPr>
              <a:t>print(dataset.shape)</a:t>
            </a:r>
            <a:endParaRPr lang="en-US" sz="1100" dirty="0"/>
          </a:p>
          <a:p>
            <a:pPr algn="l" indent="0" marL="0">
              <a:lnSpc>
                <a:spcPct val="133000"/>
              </a:lnSpc>
              <a:buNone/>
            </a:pPr>
            <a:r>
              <a:rPr lang="en-US" sz="1100" dirty="0">
                <a:solidFill>
                  <a:srgbClr val="FFA657"/>
                </a:solidFill>
                <a:latin typeface="Consolas" pitchFamily="34" charset="0"/>
                <a:ea typeface="Consolas" pitchFamily="34" charset="-122"/>
                <a:cs typeface="Consolas" pitchFamily="34" charset="-120"/>
              </a:rPr>
              <a:t># (100000, 12)</a:t>
            </a:r>
            <a:endParaRPr lang="en-US" sz="1100" dirty="0"/>
          </a:p>
          <a:p>
            <a:pPr algn="l" indent="0" marL="0">
              <a:lnSpc>
                <a:spcPct val="133000"/>
              </a:lnSpc>
              <a:buNone/>
            </a:pPr>
            <a:r>
              <a:rPr lang="en-US" sz="1100" dirty="0">
                <a:solidFill>
                  <a:srgbClr val="FFA657"/>
                </a:solidFill>
                <a:latin typeface="Consolas" pitchFamily="34" charset="0"/>
                <a:ea typeface="Consolas" pitchFamily="34" charset="-122"/>
                <a:cs typeface="Consolas" pitchFamily="34" charset="-120"/>
              </a:rPr>
              <a:t># 100.000 ventas con toda</a:t>
            </a:r>
            <a:endParaRPr lang="en-US" sz="1100" dirty="0"/>
          </a:p>
          <a:p>
            <a:pPr algn="l" indent="0" marL="0">
              <a:lnSpc>
                <a:spcPct val="133000"/>
              </a:lnSpc>
              <a:buNone/>
            </a:pPr>
            <a:r>
              <a:rPr lang="en-US" sz="1100" dirty="0">
                <a:solidFill>
                  <a:srgbClr val="FFA657"/>
                </a:solidFill>
                <a:latin typeface="Consolas" pitchFamily="34" charset="0"/>
                <a:ea typeface="Consolas" pitchFamily="34" charset="-122"/>
                <a:cs typeface="Consolas" pitchFamily="34" charset="-120"/>
              </a:rPr>
              <a:t># la info de cliente y producto</a:t>
            </a:r>
            <a:endParaRPr lang="en-US" sz="1100" dirty="0"/>
          </a:p>
        </p:txBody>
      </p:sp>
      <p:pic>
        <p:nvPicPr>
          <p:cNvPr id="13"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14"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15" name="Text 11"/>
          <p:cNvSpPr/>
          <p:nvPr/>
        </p:nvSpPr>
        <p:spPr>
          <a:xfrm>
            <a:off x="10846620" y="6300589"/>
            <a:ext cx="1146642"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661475" y="1067792"/>
            <a:ext cx="10868745" cy="351433"/>
          </a:xfrm>
          <a:prstGeom prst="rect">
            <a:avLst/>
          </a:prstGeom>
          <a:noFill/>
          <a:ln/>
        </p:spPr>
        <p:txBody>
          <a:bodyPr wrap="none" lIns="0" tIns="0" rIns="0" bIns="0" rtlCol="0" anchor="t"/>
          <a:lstStyle/>
          <a:p>
            <a:pPr algn="l" indent="0" marL="0">
              <a:lnSpc>
                <a:spcPct val="104000"/>
              </a:lnSpc>
              <a:buNone/>
            </a:pPr>
            <a:r>
              <a:rPr lang="en-US" sz="2200" spc="-22" kern="0" dirty="0">
                <a:solidFill>
                  <a:srgbClr val="FFFFFF"/>
                </a:solidFill>
                <a:latin typeface="Alexandria Medium" pitchFamily="34" charset="0"/>
                <a:ea typeface="Alexandria Medium" pitchFamily="34" charset="-122"/>
                <a:cs typeface="Alexandria Medium" pitchFamily="34" charset="-120"/>
              </a:rPr>
              <a:t>¿Qué puede salir mal en un merge?</a:t>
            </a:r>
            <a:endParaRPr lang="en-US" sz="2200" dirty="0"/>
          </a:p>
        </p:txBody>
      </p:sp>
      <p:sp>
        <p:nvSpPr>
          <p:cNvPr id="3" name="Text 1"/>
          <p:cNvSpPr/>
          <p:nvPr/>
        </p:nvSpPr>
        <p:spPr>
          <a:xfrm>
            <a:off x="661475" y="1717873"/>
            <a:ext cx="5375041"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Problemas frecuentes</a:t>
            </a:r>
            <a:endParaRPr lang="en-US" sz="13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071787"/>
            <a:ext cx="2627743" cy="1716286"/>
          </a:xfrm>
          <a:prstGeom prst="rect">
            <a:avLst/>
          </a:prstGeom>
        </p:spPr>
      </p:pic>
      <p:sp>
        <p:nvSpPr>
          <p:cNvPr id="5" name="Text 2"/>
          <p:cNvSpPr/>
          <p:nvPr/>
        </p:nvSpPr>
        <p:spPr>
          <a:xfrm>
            <a:off x="897213" y="2231330"/>
            <a:ext cx="2232465" cy="439142"/>
          </a:xfrm>
          <a:prstGeom prst="rect">
            <a:avLst/>
          </a:prstGeom>
          <a:noFill/>
          <a:ln/>
        </p:spPr>
        <p:txBody>
          <a:bodyPr wrap="square" lIns="0" tIns="0" rIns="0" bIns="0" rtlCol="0" anchor="t">
            <a:normAutofit/>
          </a:bodyPr>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Claves duplicadas en una tabla</a:t>
            </a:r>
            <a:endParaRPr lang="en-US" sz="1350" dirty="0"/>
          </a:p>
        </p:txBody>
      </p:sp>
      <p:sp>
        <p:nvSpPr>
          <p:cNvPr id="6" name="Text 3"/>
          <p:cNvSpPr/>
          <p:nvPr/>
        </p:nvSpPr>
        <p:spPr>
          <a:xfrm>
            <a:off x="897213" y="2789932"/>
            <a:ext cx="2232465" cy="838597"/>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Si </a:t>
            </a:r>
            <a:pPr algn="l" indent="0" marL="0">
              <a:lnSpc>
                <a:spcPct val="123000"/>
              </a:lnSpc>
              <a:buNone/>
            </a:pPr>
            <a:r>
              <a:rPr lang="en-US" sz="1100" dirty="0">
                <a:solidFill>
                  <a:srgbClr val="FFFFFF"/>
                </a:solidFill>
                <a:highlight>
                  <a:srgbClr val="583592"/>
                </a:highlight>
                <a:latin typeface="Consolas" pitchFamily="34" charset="0"/>
                <a:ea typeface="Consolas" pitchFamily="34" charset="-122"/>
                <a:cs typeface="Consolas" pitchFamily="34" charset="-120"/>
              </a:rPr>
              <a:t>product_id</a:t>
            </a:r>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 aparece dos veces en la tabla de productos, cada venta que tenga ese producto se multiplicará.</a:t>
            </a:r>
            <a:endParaRPr lang="en-US" sz="110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08674" y="2071787"/>
            <a:ext cx="2627842" cy="1716286"/>
          </a:xfrm>
          <a:prstGeom prst="rect">
            <a:avLst/>
          </a:prstGeom>
        </p:spPr>
      </p:pic>
      <p:sp>
        <p:nvSpPr>
          <p:cNvPr id="8" name="Text 4"/>
          <p:cNvSpPr/>
          <p:nvPr/>
        </p:nvSpPr>
        <p:spPr>
          <a:xfrm>
            <a:off x="3644412" y="2231330"/>
            <a:ext cx="2232564"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Tipos de clave distintos</a:t>
            </a:r>
            <a:endParaRPr lang="en-US" sz="1350" dirty="0"/>
          </a:p>
        </p:txBody>
      </p:sp>
      <p:sp>
        <p:nvSpPr>
          <p:cNvPr id="9" name="Text 5"/>
          <p:cNvSpPr/>
          <p:nvPr/>
        </p:nvSpPr>
        <p:spPr>
          <a:xfrm>
            <a:off x="3644412" y="2570361"/>
            <a:ext cx="2232564" cy="838597"/>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highlight>
                  <a:srgbClr val="583592"/>
                </a:highlight>
                <a:latin typeface="Consolas" pitchFamily="34" charset="0"/>
                <a:ea typeface="Consolas" pitchFamily="34" charset="-122"/>
                <a:cs typeface="Consolas" pitchFamily="34" charset="-120"/>
              </a:rPr>
              <a:t>"C001"</a:t>
            </a:r>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 (string) vs. </a:t>
            </a:r>
            <a:pPr algn="l" indent="0" marL="0">
              <a:lnSpc>
                <a:spcPct val="123000"/>
              </a:lnSpc>
              <a:buNone/>
            </a:pPr>
            <a:r>
              <a:rPr lang="en-US" sz="1100" dirty="0">
                <a:solidFill>
                  <a:srgbClr val="FFFFFF"/>
                </a:solidFill>
                <a:highlight>
                  <a:srgbClr val="583592"/>
                </a:highlight>
                <a:latin typeface="Consolas" pitchFamily="34" charset="0"/>
                <a:ea typeface="Consolas" pitchFamily="34" charset="-122"/>
                <a:cs typeface="Consolas" pitchFamily="34" charset="-120"/>
              </a:rPr>
              <a:t>1</a:t>
            </a:r>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 (integer). El merge no encontrará coincidencias aunque sean el mismo cliente.</a:t>
            </a:r>
            <a:endParaRPr lang="en-US" sz="110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907532"/>
            <a:ext cx="2627743" cy="1501874"/>
          </a:xfrm>
          <a:prstGeom prst="rect">
            <a:avLst/>
          </a:prstGeom>
        </p:spPr>
      </p:pic>
      <p:sp>
        <p:nvSpPr>
          <p:cNvPr id="11" name="Text 6"/>
          <p:cNvSpPr/>
          <p:nvPr/>
        </p:nvSpPr>
        <p:spPr>
          <a:xfrm>
            <a:off x="897213" y="4067076"/>
            <a:ext cx="2232465" cy="439142"/>
          </a:xfrm>
          <a:prstGeom prst="rect">
            <a:avLst/>
          </a:prstGeom>
          <a:noFill/>
          <a:ln/>
        </p:spPr>
        <p:txBody>
          <a:bodyPr wrap="square" lIns="0" tIns="0" rIns="0" bIns="0" rtlCol="0" anchor="t">
            <a:normAutofit/>
          </a:bodyPr>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Espacios o formatos distintos</a:t>
            </a:r>
            <a:endParaRPr lang="en-US" sz="1350" dirty="0"/>
          </a:p>
        </p:txBody>
      </p:sp>
      <p:sp>
        <p:nvSpPr>
          <p:cNvPr id="12" name="Text 7"/>
          <p:cNvSpPr/>
          <p:nvPr/>
        </p:nvSpPr>
        <p:spPr>
          <a:xfrm>
            <a:off x="897213" y="4625677"/>
            <a:ext cx="2232465" cy="42247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highlight>
                  <a:srgbClr val="583592"/>
                </a:highlight>
                <a:latin typeface="Consolas" pitchFamily="34" charset="0"/>
                <a:ea typeface="Consolas" pitchFamily="34" charset="-122"/>
                <a:cs typeface="Consolas" pitchFamily="34" charset="-120"/>
              </a:rPr>
              <a:t>"C001 "</a:t>
            </a:r>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 vs. </a:t>
            </a:r>
            <a:pPr algn="l" indent="0" marL="0">
              <a:lnSpc>
                <a:spcPct val="123000"/>
              </a:lnSpc>
              <a:buNone/>
            </a:pPr>
            <a:r>
              <a:rPr lang="en-US" sz="1100" dirty="0">
                <a:solidFill>
                  <a:srgbClr val="FFFFFF"/>
                </a:solidFill>
                <a:highlight>
                  <a:srgbClr val="583592"/>
                </a:highlight>
                <a:latin typeface="Consolas" pitchFamily="34" charset="0"/>
                <a:ea typeface="Consolas" pitchFamily="34" charset="-122"/>
                <a:cs typeface="Consolas" pitchFamily="34" charset="-120"/>
              </a:rPr>
              <a:t>"C001"</a:t>
            </a:r>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 Un espacio invisible rompe la coincidencia.</a:t>
            </a:r>
            <a:endParaRPr lang="en-US" sz="110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408674" y="3907532"/>
            <a:ext cx="2627842" cy="1501874"/>
          </a:xfrm>
          <a:prstGeom prst="rect">
            <a:avLst/>
          </a:prstGeom>
        </p:spPr>
      </p:pic>
      <p:sp>
        <p:nvSpPr>
          <p:cNvPr id="14" name="Text 8"/>
          <p:cNvSpPr/>
          <p:nvPr/>
        </p:nvSpPr>
        <p:spPr>
          <a:xfrm>
            <a:off x="3644412" y="4067076"/>
            <a:ext cx="2232564" cy="439142"/>
          </a:xfrm>
          <a:prstGeom prst="rect">
            <a:avLst/>
          </a:prstGeom>
          <a:noFill/>
          <a:ln/>
        </p:spPr>
        <p:txBody>
          <a:bodyPr wrap="square" lIns="0" tIns="0" rIns="0" bIns="0" rtlCol="0" anchor="t">
            <a:normAutofit/>
          </a:bodyPr>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Relación muchos a muchos inesperada</a:t>
            </a:r>
            <a:endParaRPr lang="en-US" sz="1350" dirty="0"/>
          </a:p>
        </p:txBody>
      </p:sp>
      <p:sp>
        <p:nvSpPr>
          <p:cNvPr id="15" name="Text 9"/>
          <p:cNvSpPr/>
          <p:nvPr/>
        </p:nvSpPr>
        <p:spPr>
          <a:xfrm>
            <a:off x="3644412" y="4625677"/>
            <a:ext cx="2232564" cy="624185"/>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Si ambas tablas tienen duplicados en la clave, el resultado puede explotar en tamaño.</a:t>
            </a:r>
            <a:endParaRPr lang="en-US" sz="1100" dirty="0"/>
          </a:p>
        </p:txBody>
      </p:sp>
      <p:sp>
        <p:nvSpPr>
          <p:cNvPr id="16" name="Text 10"/>
          <p:cNvSpPr/>
          <p:nvPr/>
        </p:nvSpPr>
        <p:spPr>
          <a:xfrm>
            <a:off x="6385757" y="1717873"/>
            <a:ext cx="5150713"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El síntoma más peligroso</a:t>
            </a:r>
            <a:endParaRPr lang="en-US" sz="135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6385757" y="2071787"/>
          <a:ext cx="9143771" cy="914400"/>
        </p:xfrm>
        <a:graphic>
          <a:graphicData uri="http://schemas.openxmlformats.org/drawingml/2006/table">
            <a:tbl>
              <a:tblPr/>
              <a:tblGrid>
                <a:gridCol w="2575357"/>
                <a:gridCol w="2575357"/>
              </a:tblGrid>
              <a:tr h="367199">
                <a:tc>
                  <a:txBody>
                    <a:bodyPr/>
                    <a:lstStyle/>
                    <a:p>
                      <a:pPr indent="0" marL="0">
                        <a:buNone/>
                      </a:pPr>
                      <a:r>
                        <a:rPr lang="en-US" sz="1100" b="1" dirty="0">
                          <a:solidFill>
                            <a:srgbClr val="FFFFFF"/>
                          </a:solidFill>
                          <a:latin typeface="Manrope" pitchFamily="34" charset="0"/>
                          <a:ea typeface="Manrope" pitchFamily="34" charset="-122"/>
                          <a:cs typeface="Manrope" pitchFamily="34" charset="-120"/>
                        </a:rPr>
                        <a:t>Antes del merge</a:t>
                      </a:r>
                      <a:endParaRPr lang="en-US" sz="1100" dirty="0">
                        <a:latin typeface="Manrope" charset="0"/>
                        <a:ea typeface="Manrope" charset="0"/>
                        <a:cs typeface="Manrope" charset="0"/>
                      </a:endParaRPr>
                    </a:p>
                  </a:txBody>
                  <a:tcPr marL="140582" marR="14058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c>
                  <a:txBody>
                    <a:bodyPr/>
                    <a:lstStyle/>
                    <a:p>
                      <a:pPr indent="0" marL="0">
                        <a:buNone/>
                      </a:pPr>
                      <a:r>
                        <a:rPr lang="en-US" sz="1100" b="1" dirty="0">
                          <a:solidFill>
                            <a:srgbClr val="FFFFFF"/>
                          </a:solidFill>
                          <a:latin typeface="Manrope" pitchFamily="34" charset="0"/>
                          <a:ea typeface="Manrope" pitchFamily="34" charset="-122"/>
                          <a:cs typeface="Manrope" pitchFamily="34" charset="-120"/>
                        </a:rPr>
                        <a:t>Después del merge</a:t>
                      </a:r>
                      <a:endParaRPr lang="en-US" sz="1100" dirty="0">
                        <a:latin typeface="Manrope" charset="0"/>
                        <a:ea typeface="Manrope" charset="0"/>
                        <a:cs typeface="Manrope" charset="0"/>
                      </a:endParaRPr>
                    </a:p>
                  </a:txBody>
                  <a:tcPr marL="140582" marR="14058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r>
              <a:tr h="367199">
                <a:tc>
                  <a:txBody>
                    <a:bodyPr/>
                    <a:lstStyle/>
                    <a:p>
                      <a:pPr indent="0" marL="0">
                        <a:buNone/>
                      </a:pPr>
                      <a:r>
                        <a:rPr lang="en-US" sz="1100" dirty="0">
                          <a:solidFill>
                            <a:srgbClr val="FFFFFF"/>
                          </a:solidFill>
                          <a:latin typeface="Manrope" pitchFamily="34" charset="0"/>
                          <a:ea typeface="Manrope" pitchFamily="34" charset="-122"/>
                          <a:cs typeface="Manrope" pitchFamily="34" charset="-120"/>
                        </a:rPr>
                        <a:t>100.000 ventas</a:t>
                      </a:r>
                      <a:endParaRPr lang="en-US" sz="1100" dirty="0">
                        <a:latin typeface="Manrope" charset="0"/>
                        <a:ea typeface="Manrope" charset="0"/>
                        <a:cs typeface="Manrope" charset="0"/>
                      </a:endParaRPr>
                    </a:p>
                  </a:txBody>
                  <a:tcPr marL="140582" marR="14058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00" dirty="0">
                          <a:solidFill>
                            <a:srgbClr val="FFFFFF"/>
                          </a:solidFill>
                          <a:latin typeface="Manrope" pitchFamily="34" charset="0"/>
                          <a:ea typeface="Manrope" pitchFamily="34" charset="-122"/>
                          <a:cs typeface="Manrope" pitchFamily="34" charset="-120"/>
                        </a:rPr>
                        <a:t>347.000 filas</a:t>
                      </a:r>
                      <a:endParaRPr lang="en-US" sz="1100" dirty="0">
                        <a:latin typeface="Manrope" charset="0"/>
                        <a:ea typeface="Manrope" charset="0"/>
                        <a:cs typeface="Manrope" charset="0"/>
                      </a:endParaRPr>
                    </a:p>
                  </a:txBody>
                  <a:tcPr marL="140582" marR="14058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bl>
          </a:graphicData>
        </a:graphic>
      </p:graphicFrame>
      <p:sp>
        <p:nvSpPr>
          <p:cNvPr id="18" name="Text 11"/>
          <p:cNvSpPr/>
          <p:nvPr/>
        </p:nvSpPr>
        <p:spPr>
          <a:xfrm>
            <a:off x="6596592" y="3060700"/>
            <a:ext cx="4939879" cy="416123"/>
          </a:xfrm>
          <a:prstGeom prst="rect">
            <a:avLst/>
          </a:prstGeom>
          <a:noFill/>
          <a:ln/>
        </p:spPr>
        <p:txBody>
          <a:bodyPr wrap="square" lIns="0" tIns="0" rIns="0" bIns="0" rtlCol="0" anchor="t">
            <a:normAutofit/>
          </a:bodyPr>
          <a:lstStyle/>
          <a:p>
            <a:pPr algn="l" indent="0" marL="0">
              <a:lnSpc>
                <a:spcPct val="123000"/>
              </a:lnSpc>
              <a:buNone/>
            </a:pPr>
            <a:r>
              <a:rPr lang="en-US" sz="1100" b="1" dirty="0">
                <a:solidFill>
                  <a:srgbClr val="FFFFFF"/>
                </a:solidFill>
                <a:latin typeface="Manrope Bold" pitchFamily="34" charset="0"/>
                <a:ea typeface="Manrope Bold" pitchFamily="34" charset="-122"/>
                <a:cs typeface="Manrope Bold" pitchFamily="34" charset="-120"/>
              </a:rPr>
              <a:t>¿Qué ha ocurrido?</a:t>
            </a:r>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 Alguna clave tenía duplicados. Cada venta se ha multiplicado por el número de coincidencias en la otra tabla.</a:t>
            </a:r>
            <a:endParaRPr lang="en-US" sz="1100" dirty="0"/>
          </a:p>
        </p:txBody>
      </p:sp>
      <p:sp>
        <p:nvSpPr>
          <p:cNvPr id="19" name="Shape 12"/>
          <p:cNvSpPr/>
          <p:nvPr/>
        </p:nvSpPr>
        <p:spPr>
          <a:xfrm>
            <a:off x="6385757" y="2953246"/>
            <a:ext cx="19050" cy="631031"/>
          </a:xfrm>
          <a:prstGeom prst="roundRect">
            <a:avLst>
              <a:gd name="adj" fmla="val 49999"/>
            </a:avLst>
          </a:prstGeom>
          <a:solidFill>
            <a:srgbClr val="B499E9"/>
          </a:solidFill>
          <a:ln/>
        </p:spPr>
      </p:sp>
      <p:sp>
        <p:nvSpPr>
          <p:cNvPr id="20" name="Text 13"/>
          <p:cNvSpPr/>
          <p:nvPr/>
        </p:nvSpPr>
        <p:spPr>
          <a:xfrm>
            <a:off x="6385757" y="3718620"/>
            <a:ext cx="5150713"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Siempre verificar tras el merge</a:t>
            </a:r>
            <a:endParaRPr lang="en-US" sz="1350" dirty="0"/>
          </a:p>
        </p:txBody>
      </p:sp>
      <p:sp>
        <p:nvSpPr>
          <p:cNvPr id="21" name="Shape 14"/>
          <p:cNvSpPr/>
          <p:nvPr/>
        </p:nvSpPr>
        <p:spPr>
          <a:xfrm>
            <a:off x="6385757" y="4072533"/>
            <a:ext cx="5150713" cy="955774"/>
          </a:xfrm>
          <a:prstGeom prst="roundRect">
            <a:avLst>
              <a:gd name="adj" fmla="val 22063"/>
            </a:avLst>
          </a:prstGeom>
          <a:solidFill>
            <a:srgbClr val="583592"/>
          </a:solidFill>
          <a:ln/>
        </p:spPr>
      </p:sp>
      <p:sp>
        <p:nvSpPr>
          <p:cNvPr id="22" name="Text 15"/>
          <p:cNvSpPr/>
          <p:nvPr/>
        </p:nvSpPr>
        <p:spPr>
          <a:xfrm>
            <a:off x="6554425" y="4213027"/>
            <a:ext cx="4813378" cy="674787"/>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FFA657"/>
                </a:solidFill>
                <a:latin typeface="Consolas" pitchFamily="34" charset="0"/>
                <a:ea typeface="Consolas" pitchFamily="34" charset="-122"/>
                <a:cs typeface="Consolas" pitchFamily="34" charset="-120"/>
              </a:rPr>
              <a:t>print(f"Ventas originales: {len(ventas)}")</a:t>
            </a:r>
            <a:endParaRPr lang="en-US" sz="1100" dirty="0"/>
          </a:p>
          <a:p>
            <a:pPr algn="l" indent="0" marL="0">
              <a:lnSpc>
                <a:spcPct val="133000"/>
              </a:lnSpc>
              <a:buNone/>
            </a:pPr>
            <a:r>
              <a:rPr lang="en-US" sz="1100" dirty="0">
                <a:solidFill>
                  <a:srgbClr val="FFA657"/>
                </a:solidFill>
                <a:latin typeface="Consolas" pitchFamily="34" charset="0"/>
                <a:ea typeface="Consolas" pitchFamily="34" charset="-122"/>
                <a:cs typeface="Consolas" pitchFamily="34" charset="-120"/>
              </a:rPr>
              <a:t>print(f"Dataset final: {len(dataset)}")</a:t>
            </a:r>
            <a:endParaRPr lang="en-US" sz="1100" dirty="0"/>
          </a:p>
          <a:p>
            <a:pPr algn="l" indent="0" marL="0">
              <a:lnSpc>
                <a:spcPct val="133000"/>
              </a:lnSpc>
              <a:buNone/>
            </a:pPr>
            <a:r>
              <a:rPr lang="en-US" sz="1100" dirty="0">
                <a:solidFill>
                  <a:srgbClr val="FFA657"/>
                </a:solidFill>
                <a:latin typeface="Consolas" pitchFamily="34" charset="0"/>
                <a:ea typeface="Consolas" pitchFamily="34" charset="-122"/>
                <a:cs typeface="Consolas" pitchFamily="34" charset="-120"/>
              </a:rPr>
              <a:t># ¿Son iguales? Si no, investigar por qué.</a:t>
            </a:r>
            <a:endParaRPr lang="en-US" sz="1100" dirty="0"/>
          </a:p>
        </p:txBody>
      </p:sp>
      <p:sp>
        <p:nvSpPr>
          <p:cNvPr id="23" name="Shape 16"/>
          <p:cNvSpPr/>
          <p:nvPr/>
        </p:nvSpPr>
        <p:spPr>
          <a:xfrm>
            <a:off x="6385757" y="5162649"/>
            <a:ext cx="5150713" cy="493216"/>
          </a:xfrm>
          <a:prstGeom prst="roundRect">
            <a:avLst>
              <a:gd name="adj" fmla="val 42755"/>
            </a:avLst>
          </a:prstGeom>
          <a:solidFill>
            <a:srgbClr val="321769"/>
          </a:solidFill>
          <a:ln/>
        </p:spPr>
      </p:sp>
      <p:pic>
        <p:nvPicPr>
          <p:cNvPr id="24" name="Image 4" descr="preencoded.png">    </p:cNvPr>
          <p:cNvPicPr>
            <a:picLocks noChangeAspect="1"/>
          </p:cNvPicPr>
          <p:nvPr/>
        </p:nvPicPr>
        <p:blipFill>
          <a:blip r:embed="rId9"/>
          <a:stretch>
            <a:fillRect/>
          </a:stretch>
        </p:blipFill>
        <p:spPr>
          <a:xfrm>
            <a:off x="6526248" y="5346700"/>
            <a:ext cx="175712" cy="140494"/>
          </a:xfrm>
          <a:prstGeom prst="rect">
            <a:avLst/>
          </a:prstGeom>
        </p:spPr>
      </p:pic>
      <p:sp>
        <p:nvSpPr>
          <p:cNvPr id="25" name="Text 17"/>
          <p:cNvSpPr/>
          <p:nvPr/>
        </p:nvSpPr>
        <p:spPr>
          <a:xfrm>
            <a:off x="6842450" y="5305227"/>
            <a:ext cx="5163115" cy="208062"/>
          </a:xfrm>
          <a:prstGeom prst="rect">
            <a:avLst/>
          </a:prstGeom>
          <a:noFill/>
          <a:ln/>
        </p:spPr>
        <p:txBody>
          <a:bodyPr wrap="none" lIns="0" tIns="0" rIns="0" bIns="0" rtlCol="0" anchor="t"/>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Siempre hay que verificar el número de filas.</a:t>
            </a:r>
            <a:endParaRPr lang="en-US" sz="1100" dirty="0"/>
          </a:p>
        </p:txBody>
      </p:sp>
      <p:pic>
        <p:nvPicPr>
          <p:cNvPr id="26" name="Image 5" descr="preencoded.png">    </p:cNvPr>
          <p:cNvPicPr>
            <a:picLocks noChangeAspect="1"/>
          </p:cNvPicPr>
          <p:nvPr/>
        </p:nvPicPr>
        <p:blipFill>
          <a:blip r:embed="rId10"/>
          <a:stretch>
            <a:fillRect/>
          </a:stretch>
        </p:blipFill>
        <p:spPr>
          <a:xfrm>
            <a:off x="198433" y="203597"/>
            <a:ext cx="676357" cy="568623"/>
          </a:xfrm>
          <a:prstGeom prst="rect">
            <a:avLst/>
          </a:prstGeom>
        </p:spPr>
      </p:pic>
      <p:pic>
        <p:nvPicPr>
          <p:cNvPr id="27" name="Image 6" descr="preencoded.png">    </p:cNvPr>
          <p:cNvPicPr>
            <a:picLocks noChangeAspect="1"/>
          </p:cNvPicPr>
          <p:nvPr/>
        </p:nvPicPr>
        <p:blipFill>
          <a:blip r:embed="rId11"/>
          <a:stretch>
            <a:fillRect/>
          </a:stretch>
        </p:blipFill>
        <p:spPr>
          <a:xfrm>
            <a:off x="11386357" y="268784"/>
            <a:ext cx="606906" cy="438249"/>
          </a:xfrm>
          <a:prstGeom prst="rect">
            <a:avLst/>
          </a:prstGeom>
        </p:spPr>
      </p:pic>
      <p:sp>
        <p:nvSpPr>
          <p:cNvPr id="28" name="Text 18"/>
          <p:cNvSpPr/>
          <p:nvPr/>
        </p:nvSpPr>
        <p:spPr>
          <a:xfrm>
            <a:off x="10825884" y="6300589"/>
            <a:ext cx="1167379"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661475" y="985143"/>
            <a:ext cx="10868745" cy="330696"/>
          </a:xfrm>
          <a:prstGeom prst="rect">
            <a:avLst/>
          </a:prstGeom>
          <a:noFill/>
          <a:ln/>
        </p:spPr>
        <p:txBody>
          <a:bodyPr wrap="none" lIns="0" tIns="0" rIns="0" bIns="0" rtlCol="0" anchor="t"/>
          <a:lstStyle/>
          <a:p>
            <a:pPr algn="l" indent="0" marL="0">
              <a:lnSpc>
                <a:spcPct val="104000"/>
              </a:lnSpc>
              <a:buNone/>
            </a:pPr>
            <a:r>
              <a:rPr lang="en-US" sz="2050" spc="-21" kern="0" dirty="0">
                <a:solidFill>
                  <a:srgbClr val="FFFFFF"/>
                </a:solidFill>
                <a:latin typeface="Alexandria Medium" pitchFamily="34" charset="0"/>
                <a:ea typeface="Alexandria Medium" pitchFamily="34" charset="-122"/>
                <a:cs typeface="Alexandria Medium" pitchFamily="34" charset="-120"/>
              </a:rPr>
              <a:t>CSV frente a formatos modernos: Apache Parquet</a:t>
            </a:r>
            <a:endParaRPr lang="en-US" sz="2050" dirty="0"/>
          </a:p>
        </p:txBody>
      </p:sp>
      <p:sp>
        <p:nvSpPr>
          <p:cNvPr id="3" name="Text 1"/>
          <p:cNvSpPr/>
          <p:nvPr/>
        </p:nvSpPr>
        <p:spPr>
          <a:xfrm>
            <a:off x="661475" y="1580356"/>
            <a:ext cx="5273047" cy="206673"/>
          </a:xfrm>
          <a:prstGeom prst="rect">
            <a:avLst/>
          </a:prstGeom>
          <a:noFill/>
          <a:ln/>
        </p:spPr>
        <p:txBody>
          <a:bodyPr wrap="none" lIns="0" tIns="0" rIns="0" bIns="0" rtlCol="0" anchor="t"/>
          <a:lstStyle/>
          <a:p>
            <a:pPr algn="l" indent="0" marL="0">
              <a:lnSpc>
                <a:spcPct val="104000"/>
              </a:lnSpc>
              <a:buNone/>
            </a:pPr>
            <a:r>
              <a:rPr lang="en-US" sz="1300" spc="-13" kern="0" dirty="0">
                <a:solidFill>
                  <a:srgbClr val="FFFFFF"/>
                </a:solidFill>
                <a:latin typeface="Alexandria Medium" pitchFamily="34" charset="0"/>
                <a:ea typeface="Alexandria Medium" pitchFamily="34" charset="-122"/>
                <a:cs typeface="Alexandria Medium" pitchFamily="34" charset="-120"/>
              </a:rPr>
              <a:t>Las limitaciones del CSV a escala</a:t>
            </a:r>
            <a:endParaRPr lang="en-US" sz="1300" dirty="0"/>
          </a:p>
        </p:txBody>
      </p:sp>
      <p:sp>
        <p:nvSpPr>
          <p:cNvPr id="4" name="Text 2"/>
          <p:cNvSpPr/>
          <p:nvPr/>
        </p:nvSpPr>
        <p:spPr>
          <a:xfrm>
            <a:off x="661475" y="1892796"/>
            <a:ext cx="5273047" cy="873026"/>
          </a:xfrm>
          <a:prstGeom prst="rect">
            <a:avLst/>
          </a:prstGeom>
          <a:noFill/>
          <a:ln/>
        </p:spPr>
        <p:txBody>
          <a:bodyPr wrap="square" lIns="0" tIns="0" rIns="0" bIns="0" rtlCol="0" anchor="t">
            <a:normAutofit/>
          </a:bodyPr>
          <a:lstStyle/>
          <a:p>
            <a:pPr algn="l" marL="203200" indent="-203200">
              <a:lnSpc>
                <a:spcPct val="120000"/>
              </a:lnSpc>
              <a:buSzPct val="100000"/>
              <a:buChar char="•"/>
            </a:pPr>
            <a:r>
              <a:rPr lang="en-US" sz="1000" dirty="0">
                <a:solidFill>
                  <a:srgbClr val="FFFFFF"/>
                </a:solidFill>
                <a:latin typeface="Manrope" pitchFamily="34" charset="0"/>
                <a:ea typeface="Manrope" pitchFamily="34" charset="-122"/>
                <a:cs typeface="Manrope" pitchFamily="34" charset="-120"/>
              </a:rPr>
              <a:t>No tiene tipos: todo es texto hasta que se interpreta</a:t>
            </a:r>
            <a:endParaRPr lang="en-US" sz="1000" dirty="0"/>
          </a:p>
          <a:p>
            <a:pPr algn="l" marL="203200" indent="-203200">
              <a:lnSpc>
                <a:spcPct val="120000"/>
              </a:lnSpc>
              <a:buSzPct val="100000"/>
              <a:buChar char="•"/>
            </a:pPr>
            <a:r>
              <a:rPr lang="en-US" sz="1000" dirty="0">
                <a:solidFill>
                  <a:srgbClr val="FFFFFF"/>
                </a:solidFill>
                <a:latin typeface="Manrope" pitchFamily="34" charset="0"/>
                <a:ea typeface="Manrope" pitchFamily="34" charset="-122"/>
                <a:cs typeface="Manrope" pitchFamily="34" charset="-120"/>
              </a:rPr>
              <a:t>Sin compresión nativa: ocupa mucho espacio</a:t>
            </a:r>
            <a:endParaRPr lang="en-US" sz="1000" dirty="0"/>
          </a:p>
          <a:p>
            <a:pPr algn="l" marL="203200" indent="-203200">
              <a:lnSpc>
                <a:spcPct val="120000"/>
              </a:lnSpc>
              <a:buSzPct val="100000"/>
              <a:buChar char="•"/>
            </a:pPr>
            <a:r>
              <a:rPr lang="en-US" sz="1000" dirty="0">
                <a:solidFill>
                  <a:srgbClr val="FFFFFF"/>
                </a:solidFill>
                <a:latin typeface="Manrope" pitchFamily="34" charset="0"/>
                <a:ea typeface="Manrope" pitchFamily="34" charset="-122"/>
                <a:cs typeface="Manrope" pitchFamily="34" charset="-120"/>
              </a:rPr>
              <a:t>Formato orientado a filas: lento para análisis columnar</a:t>
            </a:r>
            <a:endParaRPr lang="en-US" sz="1000" dirty="0"/>
          </a:p>
          <a:p>
            <a:pPr algn="l" marL="203200" indent="-203200">
              <a:lnSpc>
                <a:spcPct val="120000"/>
              </a:lnSpc>
              <a:buSzPct val="100000"/>
              <a:buChar char="•"/>
            </a:pPr>
            <a:r>
              <a:rPr lang="en-US" sz="1000" dirty="0">
                <a:solidFill>
                  <a:srgbClr val="FFFFFF"/>
                </a:solidFill>
                <a:latin typeface="Manrope" pitchFamily="34" charset="0"/>
                <a:ea typeface="Manrope" pitchFamily="34" charset="-122"/>
                <a:cs typeface="Manrope" pitchFamily="34" charset="-120"/>
              </a:rPr>
              <a:t>Sin esquema: cada lector puede interpretarlo diferente</a:t>
            </a:r>
            <a:endParaRPr lang="en-US" sz="1000" dirty="0"/>
          </a:p>
        </p:txBody>
      </p:sp>
      <p:sp>
        <p:nvSpPr>
          <p:cNvPr id="5" name="Text 3"/>
          <p:cNvSpPr/>
          <p:nvPr/>
        </p:nvSpPr>
        <p:spPr>
          <a:xfrm>
            <a:off x="661475" y="2871589"/>
            <a:ext cx="5273047" cy="206673"/>
          </a:xfrm>
          <a:prstGeom prst="rect">
            <a:avLst/>
          </a:prstGeom>
          <a:noFill/>
          <a:ln/>
        </p:spPr>
        <p:txBody>
          <a:bodyPr wrap="none" lIns="0" tIns="0" rIns="0" bIns="0" rtlCol="0" anchor="t"/>
          <a:lstStyle/>
          <a:p>
            <a:pPr algn="l" indent="0" marL="0">
              <a:lnSpc>
                <a:spcPct val="104000"/>
              </a:lnSpc>
              <a:buNone/>
            </a:pPr>
            <a:r>
              <a:rPr lang="en-US" sz="1300" spc="-13" kern="0" dirty="0">
                <a:solidFill>
                  <a:srgbClr val="FFFFFF"/>
                </a:solidFill>
                <a:latin typeface="Alexandria Medium" pitchFamily="34" charset="0"/>
                <a:ea typeface="Alexandria Medium" pitchFamily="34" charset="-122"/>
                <a:cs typeface="Alexandria Medium" pitchFamily="34" charset="-120"/>
              </a:rPr>
              <a:t>Apache Parquet</a:t>
            </a:r>
            <a:endParaRPr lang="en-US" sz="1300" dirty="0"/>
          </a:p>
        </p:txBody>
      </p:sp>
      <p:sp>
        <p:nvSpPr>
          <p:cNvPr id="6" name="Shape 4"/>
          <p:cNvSpPr/>
          <p:nvPr/>
        </p:nvSpPr>
        <p:spPr>
          <a:xfrm>
            <a:off x="661475" y="3197324"/>
            <a:ext cx="2583592" cy="970657"/>
          </a:xfrm>
          <a:prstGeom prst="roundRect">
            <a:avLst>
              <a:gd name="adj" fmla="val 20447"/>
            </a:avLst>
          </a:prstGeom>
          <a:solidFill>
            <a:srgbClr val="3F2077"/>
          </a:solidFill>
          <a:ln w="6350">
            <a:solidFill>
              <a:srgbClr val="4B3082"/>
            </a:solidFill>
            <a:prstDash val="solid"/>
          </a:ln>
        </p:spPr>
      </p:sp>
      <p:sp>
        <p:nvSpPr>
          <p:cNvPr id="7" name="Text 5"/>
          <p:cNvSpPr/>
          <p:nvPr/>
        </p:nvSpPr>
        <p:spPr>
          <a:xfrm>
            <a:off x="800080" y="3335933"/>
            <a:ext cx="2306381" cy="206673"/>
          </a:xfrm>
          <a:prstGeom prst="rect">
            <a:avLst/>
          </a:prstGeom>
          <a:noFill/>
          <a:ln/>
        </p:spPr>
        <p:txBody>
          <a:bodyPr wrap="none" lIns="0" tIns="0" rIns="0" bIns="0" rtlCol="0" anchor="t"/>
          <a:lstStyle/>
          <a:p>
            <a:pPr algn="l" indent="0" marL="0">
              <a:lnSpc>
                <a:spcPct val="104000"/>
              </a:lnSpc>
              <a:buNone/>
            </a:pPr>
            <a:r>
              <a:rPr lang="en-US" sz="1300" spc="-13" kern="0" dirty="0">
                <a:solidFill>
                  <a:srgbClr val="FFFFFF"/>
                </a:solidFill>
                <a:latin typeface="Alexandria Medium" pitchFamily="34" charset="0"/>
                <a:ea typeface="Alexandria Medium" pitchFamily="34" charset="-122"/>
                <a:cs typeface="Alexandria Medium" pitchFamily="34" charset="-120"/>
              </a:rPr>
              <a:t>Columnar</a:t>
            </a:r>
            <a:endParaRPr lang="en-US" sz="1300" dirty="0"/>
          </a:p>
        </p:txBody>
      </p:sp>
      <p:sp>
        <p:nvSpPr>
          <p:cNvPr id="8" name="Text 6"/>
          <p:cNvSpPr/>
          <p:nvPr/>
        </p:nvSpPr>
        <p:spPr>
          <a:xfrm>
            <a:off x="800080" y="3648373"/>
            <a:ext cx="2306381" cy="3810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FFFFFF"/>
                </a:solidFill>
                <a:latin typeface="Manrope" pitchFamily="34" charset="0"/>
                <a:ea typeface="Manrope" pitchFamily="34" charset="-122"/>
                <a:cs typeface="Manrope" pitchFamily="34" charset="-120"/>
              </a:rPr>
              <a:t>Almacena columna por columna, no fila por fila.</a:t>
            </a:r>
            <a:endParaRPr lang="en-US" sz="1000" dirty="0"/>
          </a:p>
        </p:txBody>
      </p:sp>
      <p:sp>
        <p:nvSpPr>
          <p:cNvPr id="9" name="Shape 7"/>
          <p:cNvSpPr/>
          <p:nvPr/>
        </p:nvSpPr>
        <p:spPr>
          <a:xfrm>
            <a:off x="3350831" y="3197324"/>
            <a:ext cx="2583691" cy="970657"/>
          </a:xfrm>
          <a:prstGeom prst="roundRect">
            <a:avLst>
              <a:gd name="adj" fmla="val 20447"/>
            </a:avLst>
          </a:prstGeom>
          <a:solidFill>
            <a:srgbClr val="3F2077"/>
          </a:solidFill>
          <a:ln w="6350">
            <a:solidFill>
              <a:srgbClr val="4B3082"/>
            </a:solidFill>
            <a:prstDash val="solid"/>
          </a:ln>
        </p:spPr>
      </p:sp>
      <p:sp>
        <p:nvSpPr>
          <p:cNvPr id="10" name="Text 8"/>
          <p:cNvSpPr/>
          <p:nvPr/>
        </p:nvSpPr>
        <p:spPr>
          <a:xfrm>
            <a:off x="3489436" y="3335933"/>
            <a:ext cx="2306481" cy="206673"/>
          </a:xfrm>
          <a:prstGeom prst="rect">
            <a:avLst/>
          </a:prstGeom>
          <a:noFill/>
          <a:ln/>
        </p:spPr>
        <p:txBody>
          <a:bodyPr wrap="none" lIns="0" tIns="0" rIns="0" bIns="0" rtlCol="0" anchor="t"/>
          <a:lstStyle/>
          <a:p>
            <a:pPr algn="l" indent="0" marL="0">
              <a:lnSpc>
                <a:spcPct val="104000"/>
              </a:lnSpc>
              <a:buNone/>
            </a:pPr>
            <a:r>
              <a:rPr lang="en-US" sz="1300" spc="-13" kern="0" dirty="0">
                <a:solidFill>
                  <a:srgbClr val="FFFFFF"/>
                </a:solidFill>
                <a:latin typeface="Alexandria Medium" pitchFamily="34" charset="0"/>
                <a:ea typeface="Alexandria Medium" pitchFamily="34" charset="-122"/>
                <a:cs typeface="Alexandria Medium" pitchFamily="34" charset="-120"/>
              </a:rPr>
              <a:t>Tipado</a:t>
            </a:r>
            <a:endParaRPr lang="en-US" sz="1300" dirty="0"/>
          </a:p>
        </p:txBody>
      </p:sp>
      <p:sp>
        <p:nvSpPr>
          <p:cNvPr id="11" name="Text 9"/>
          <p:cNvSpPr/>
          <p:nvPr/>
        </p:nvSpPr>
        <p:spPr>
          <a:xfrm>
            <a:off x="3489436" y="3648373"/>
            <a:ext cx="2306481" cy="3810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FFFFFF"/>
                </a:solidFill>
                <a:latin typeface="Manrope" pitchFamily="34" charset="0"/>
                <a:ea typeface="Manrope" pitchFamily="34" charset="-122"/>
                <a:cs typeface="Manrope" pitchFamily="34" charset="-120"/>
              </a:rPr>
              <a:t>El tipo de cada columna está definido en el esquema del fichero.</a:t>
            </a:r>
            <a:endParaRPr lang="en-US" sz="1000" dirty="0"/>
          </a:p>
        </p:txBody>
      </p:sp>
      <p:sp>
        <p:nvSpPr>
          <p:cNvPr id="12" name="Shape 10"/>
          <p:cNvSpPr/>
          <p:nvPr/>
        </p:nvSpPr>
        <p:spPr>
          <a:xfrm>
            <a:off x="661475" y="4273748"/>
            <a:ext cx="2583592" cy="970657"/>
          </a:xfrm>
          <a:prstGeom prst="roundRect">
            <a:avLst>
              <a:gd name="adj" fmla="val 20447"/>
            </a:avLst>
          </a:prstGeom>
          <a:solidFill>
            <a:srgbClr val="3F2077"/>
          </a:solidFill>
          <a:ln w="6350">
            <a:solidFill>
              <a:srgbClr val="4B3082"/>
            </a:solidFill>
            <a:prstDash val="solid"/>
          </a:ln>
        </p:spPr>
      </p:sp>
      <p:sp>
        <p:nvSpPr>
          <p:cNvPr id="13" name="Text 11"/>
          <p:cNvSpPr/>
          <p:nvPr/>
        </p:nvSpPr>
        <p:spPr>
          <a:xfrm>
            <a:off x="800080" y="4412357"/>
            <a:ext cx="2306381" cy="206673"/>
          </a:xfrm>
          <a:prstGeom prst="rect">
            <a:avLst/>
          </a:prstGeom>
          <a:noFill/>
          <a:ln/>
        </p:spPr>
        <p:txBody>
          <a:bodyPr wrap="none" lIns="0" tIns="0" rIns="0" bIns="0" rtlCol="0" anchor="t"/>
          <a:lstStyle/>
          <a:p>
            <a:pPr algn="l" indent="0" marL="0">
              <a:lnSpc>
                <a:spcPct val="104000"/>
              </a:lnSpc>
              <a:buNone/>
            </a:pPr>
            <a:r>
              <a:rPr lang="en-US" sz="1300" spc="-13" kern="0" dirty="0">
                <a:solidFill>
                  <a:srgbClr val="FFFFFF"/>
                </a:solidFill>
                <a:latin typeface="Alexandria Medium" pitchFamily="34" charset="0"/>
                <a:ea typeface="Alexandria Medium" pitchFamily="34" charset="-122"/>
                <a:cs typeface="Alexandria Medium" pitchFamily="34" charset="-120"/>
              </a:rPr>
              <a:t>Comprimible</a:t>
            </a:r>
            <a:endParaRPr lang="en-US" sz="1300" dirty="0"/>
          </a:p>
        </p:txBody>
      </p:sp>
      <p:sp>
        <p:nvSpPr>
          <p:cNvPr id="14" name="Text 12"/>
          <p:cNvSpPr/>
          <p:nvPr/>
        </p:nvSpPr>
        <p:spPr>
          <a:xfrm>
            <a:off x="800080" y="4724797"/>
            <a:ext cx="2306381" cy="3810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FFFFFF"/>
                </a:solidFill>
                <a:latin typeface="Manrope" pitchFamily="34" charset="0"/>
                <a:ea typeface="Manrope" pitchFamily="34" charset="-122"/>
                <a:cs typeface="Manrope" pitchFamily="34" charset="-120"/>
              </a:rPr>
              <a:t>Columnas con valores repetidos se comprimen muy eficientemente.</a:t>
            </a:r>
            <a:endParaRPr lang="en-US" sz="1000" dirty="0"/>
          </a:p>
        </p:txBody>
      </p:sp>
      <p:sp>
        <p:nvSpPr>
          <p:cNvPr id="15" name="Shape 13"/>
          <p:cNvSpPr/>
          <p:nvPr/>
        </p:nvSpPr>
        <p:spPr>
          <a:xfrm>
            <a:off x="3350831" y="4273748"/>
            <a:ext cx="2583691" cy="970657"/>
          </a:xfrm>
          <a:prstGeom prst="roundRect">
            <a:avLst>
              <a:gd name="adj" fmla="val 20447"/>
            </a:avLst>
          </a:prstGeom>
          <a:solidFill>
            <a:srgbClr val="3F2077"/>
          </a:solidFill>
          <a:ln w="6350">
            <a:solidFill>
              <a:srgbClr val="4B3082"/>
            </a:solidFill>
            <a:prstDash val="solid"/>
          </a:ln>
        </p:spPr>
      </p:sp>
      <p:sp>
        <p:nvSpPr>
          <p:cNvPr id="16" name="Text 14"/>
          <p:cNvSpPr/>
          <p:nvPr/>
        </p:nvSpPr>
        <p:spPr>
          <a:xfrm>
            <a:off x="3489436" y="4412357"/>
            <a:ext cx="2306481" cy="206673"/>
          </a:xfrm>
          <a:prstGeom prst="rect">
            <a:avLst/>
          </a:prstGeom>
          <a:noFill/>
          <a:ln/>
        </p:spPr>
        <p:txBody>
          <a:bodyPr wrap="none" lIns="0" tIns="0" rIns="0" bIns="0" rtlCol="0" anchor="t"/>
          <a:lstStyle/>
          <a:p>
            <a:pPr algn="l" indent="0" marL="0">
              <a:lnSpc>
                <a:spcPct val="104000"/>
              </a:lnSpc>
              <a:buNone/>
            </a:pPr>
            <a:r>
              <a:rPr lang="en-US" sz="1300" spc="-13" kern="0" dirty="0">
                <a:solidFill>
                  <a:srgbClr val="FFFFFF"/>
                </a:solidFill>
                <a:latin typeface="Alexandria Medium" pitchFamily="34" charset="0"/>
                <a:ea typeface="Alexandria Medium" pitchFamily="34" charset="-122"/>
                <a:cs typeface="Alexandria Medium" pitchFamily="34" charset="-120"/>
              </a:rPr>
              <a:t>Analítico</a:t>
            </a:r>
            <a:endParaRPr lang="en-US" sz="1300" dirty="0"/>
          </a:p>
        </p:txBody>
      </p:sp>
      <p:sp>
        <p:nvSpPr>
          <p:cNvPr id="17" name="Text 15"/>
          <p:cNvSpPr/>
          <p:nvPr/>
        </p:nvSpPr>
        <p:spPr>
          <a:xfrm>
            <a:off x="3489436" y="4724797"/>
            <a:ext cx="2306481" cy="3810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FFFFFF"/>
                </a:solidFill>
                <a:latin typeface="Manrope" pitchFamily="34" charset="0"/>
                <a:ea typeface="Manrope" pitchFamily="34" charset="-122"/>
                <a:cs typeface="Manrope" pitchFamily="34" charset="-120"/>
              </a:rPr>
              <a:t>Permite leer solo las columnas necesarias sin leer todo el fichero.</a:t>
            </a:r>
            <a:endParaRPr lang="en-US" sz="1000" dirty="0"/>
          </a:p>
        </p:txBody>
      </p:sp>
      <p:sp>
        <p:nvSpPr>
          <p:cNvPr id="18" name="Text 16"/>
          <p:cNvSpPr/>
          <p:nvPr/>
        </p:nvSpPr>
        <p:spPr>
          <a:xfrm>
            <a:off x="6263523" y="1580356"/>
            <a:ext cx="5273047" cy="206673"/>
          </a:xfrm>
          <a:prstGeom prst="rect">
            <a:avLst/>
          </a:prstGeom>
          <a:noFill/>
          <a:ln/>
        </p:spPr>
        <p:txBody>
          <a:bodyPr wrap="none" lIns="0" tIns="0" rIns="0" bIns="0" rtlCol="0" anchor="t"/>
          <a:lstStyle/>
          <a:p>
            <a:pPr algn="l" indent="0" marL="0">
              <a:lnSpc>
                <a:spcPct val="104000"/>
              </a:lnSpc>
              <a:buNone/>
            </a:pPr>
            <a:r>
              <a:rPr lang="en-US" sz="1300" spc="-13" kern="0" dirty="0">
                <a:solidFill>
                  <a:srgbClr val="FFFFFF"/>
                </a:solidFill>
                <a:latin typeface="Alexandria Medium" pitchFamily="34" charset="0"/>
                <a:ea typeface="Alexandria Medium" pitchFamily="34" charset="-122"/>
                <a:cs typeface="Alexandria Medium" pitchFamily="34" charset="-120"/>
              </a:rPr>
              <a:t>Almacenamiento por filas vs. columnas</a:t>
            </a:r>
            <a:endParaRPr lang="en-US" sz="13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6263523" y="1906091"/>
          <a:ext cx="9143771" cy="914400"/>
        </p:xfrm>
        <a:graphic>
          <a:graphicData uri="http://schemas.openxmlformats.org/drawingml/2006/table">
            <a:tbl>
              <a:tblPr/>
              <a:tblGrid>
                <a:gridCol w="1792836"/>
                <a:gridCol w="1740106"/>
                <a:gridCol w="1740106"/>
              </a:tblGrid>
              <a:tr h="333367">
                <a:tc>
                  <a:txBody>
                    <a:bodyPr/>
                    <a:lstStyle/>
                    <a:p>
                      <a:pPr indent="0" marL="0">
                        <a:buNone/>
                      </a:pPr>
                      <a:r>
                        <a:rPr lang="en-US" sz="1000" b="1" dirty="0">
                          <a:solidFill>
                            <a:srgbClr val="FFFFFF"/>
                          </a:solidFill>
                          <a:latin typeface="Manrope" pitchFamily="34" charset="0"/>
                          <a:ea typeface="Manrope" pitchFamily="34" charset="-122"/>
                          <a:cs typeface="Manrope" pitchFamily="34" charset="-120"/>
                        </a:rPr>
                        <a:t>cliente</a:t>
                      </a:r>
                      <a:endParaRPr lang="en-US" sz="1000" dirty="0">
                        <a:latin typeface="Manrope" charset="0"/>
                        <a:ea typeface="Manrope" charset="0"/>
                        <a:cs typeface="Manrope" charset="0"/>
                      </a:endParaRPr>
                    </a:p>
                  </a:txBody>
                  <a:tcPr marL="132313" marR="132313"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c>
                  <a:txBody>
                    <a:bodyPr/>
                    <a:lstStyle/>
                    <a:p>
                      <a:pPr indent="0" marL="0">
                        <a:buNone/>
                      </a:pPr>
                      <a:r>
                        <a:rPr lang="en-US" sz="1000" b="1" dirty="0">
                          <a:solidFill>
                            <a:srgbClr val="FFFFFF"/>
                          </a:solidFill>
                          <a:latin typeface="Manrope" pitchFamily="34" charset="0"/>
                          <a:ea typeface="Manrope" pitchFamily="34" charset="-122"/>
                          <a:cs typeface="Manrope" pitchFamily="34" charset="-120"/>
                        </a:rPr>
                        <a:t>ciudad</a:t>
                      </a:r>
                      <a:endParaRPr lang="en-US" sz="1000" dirty="0">
                        <a:latin typeface="Manrope" charset="0"/>
                        <a:ea typeface="Manrope" charset="0"/>
                        <a:cs typeface="Manrope" charset="0"/>
                      </a:endParaRPr>
                    </a:p>
                  </a:txBody>
                  <a:tcPr marL="132313" marR="132313"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c>
                  <a:txBody>
                    <a:bodyPr/>
                    <a:lstStyle/>
                    <a:p>
                      <a:pPr indent="0" marL="0">
                        <a:buNone/>
                      </a:pPr>
                      <a:r>
                        <a:rPr lang="en-US" sz="1000" b="1" dirty="0">
                          <a:solidFill>
                            <a:srgbClr val="FFFFFF"/>
                          </a:solidFill>
                          <a:latin typeface="Manrope" pitchFamily="34" charset="0"/>
                          <a:ea typeface="Manrope" pitchFamily="34" charset="-122"/>
                          <a:cs typeface="Manrope" pitchFamily="34" charset="-120"/>
                        </a:rPr>
                        <a:t>gasto</a:t>
                      </a:r>
                      <a:endParaRPr lang="en-US" sz="1000" dirty="0">
                        <a:latin typeface="Manrope" charset="0"/>
                        <a:ea typeface="Manrope" charset="0"/>
                        <a:cs typeface="Manrope" charset="0"/>
                      </a:endParaRPr>
                    </a:p>
                  </a:txBody>
                  <a:tcPr marL="132313" marR="132313"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r>
              <a:tr h="336542">
                <a:tc>
                  <a:txBody>
                    <a:bodyPr/>
                    <a:lstStyle/>
                    <a:p>
                      <a:pPr indent="0" marL="0">
                        <a:buNone/>
                      </a:pPr>
                      <a:r>
                        <a:rPr lang="en-US" sz="1000" dirty="0">
                          <a:solidFill>
                            <a:srgbClr val="FFFFFF"/>
                          </a:solidFill>
                          <a:latin typeface="Manrope" pitchFamily="34" charset="0"/>
                          <a:ea typeface="Manrope" pitchFamily="34" charset="-122"/>
                          <a:cs typeface="Manrope" pitchFamily="34" charset="-120"/>
                        </a:rPr>
                        <a:t>C001</a:t>
                      </a:r>
                      <a:endParaRPr lang="en-US" sz="1000" dirty="0">
                        <a:latin typeface="Manrope" charset="0"/>
                        <a:ea typeface="Manrope" charset="0"/>
                        <a:cs typeface="Manrope" charset="0"/>
                      </a:endParaRPr>
                    </a:p>
                  </a:txBody>
                  <a:tcPr marL="132313" marR="132313"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000" dirty="0">
                          <a:solidFill>
                            <a:srgbClr val="FFFFFF"/>
                          </a:solidFill>
                          <a:latin typeface="Manrope" pitchFamily="34" charset="0"/>
                          <a:ea typeface="Manrope" pitchFamily="34" charset="-122"/>
                          <a:cs typeface="Manrope" pitchFamily="34" charset="-120"/>
                        </a:rPr>
                        <a:t>Barcelona</a:t>
                      </a:r>
                      <a:endParaRPr lang="en-US" sz="1000" dirty="0">
                        <a:latin typeface="Manrope" charset="0"/>
                        <a:ea typeface="Manrope" charset="0"/>
                        <a:cs typeface="Manrope" charset="0"/>
                      </a:endParaRPr>
                    </a:p>
                  </a:txBody>
                  <a:tcPr marL="132313" marR="132313"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000" dirty="0">
                          <a:solidFill>
                            <a:srgbClr val="FFFFFF"/>
                          </a:solidFill>
                          <a:latin typeface="Manrope" pitchFamily="34" charset="0"/>
                          <a:ea typeface="Manrope" pitchFamily="34" charset="-122"/>
                          <a:cs typeface="Manrope" pitchFamily="34" charset="-120"/>
                        </a:rPr>
                        <a:t>124.5</a:t>
                      </a:r>
                      <a:endParaRPr lang="en-US" sz="1000" dirty="0">
                        <a:latin typeface="Manrope" charset="0"/>
                        <a:ea typeface="Manrope" charset="0"/>
                        <a:cs typeface="Manrope" charset="0"/>
                      </a:endParaRPr>
                    </a:p>
                  </a:txBody>
                  <a:tcPr marL="132313" marR="132313"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336542">
                <a:tc>
                  <a:txBody>
                    <a:bodyPr/>
                    <a:lstStyle/>
                    <a:p>
                      <a:pPr indent="0" marL="0">
                        <a:buNone/>
                      </a:pPr>
                      <a:r>
                        <a:rPr lang="en-US" sz="1000" dirty="0">
                          <a:solidFill>
                            <a:srgbClr val="FFFFFF"/>
                          </a:solidFill>
                          <a:latin typeface="Manrope" pitchFamily="34" charset="0"/>
                          <a:ea typeface="Manrope" pitchFamily="34" charset="-122"/>
                          <a:cs typeface="Manrope" pitchFamily="34" charset="-120"/>
                        </a:rPr>
                        <a:t>C002</a:t>
                      </a:r>
                      <a:endParaRPr lang="en-US" sz="1000" dirty="0">
                        <a:latin typeface="Manrope" charset="0"/>
                        <a:ea typeface="Manrope" charset="0"/>
                        <a:cs typeface="Manrope" charset="0"/>
                      </a:endParaRPr>
                    </a:p>
                  </a:txBody>
                  <a:tcPr marL="132313" marR="132313"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000" dirty="0">
                          <a:solidFill>
                            <a:srgbClr val="FFFFFF"/>
                          </a:solidFill>
                          <a:latin typeface="Manrope" pitchFamily="34" charset="0"/>
                          <a:ea typeface="Manrope" pitchFamily="34" charset="-122"/>
                          <a:cs typeface="Manrope" pitchFamily="34" charset="-120"/>
                        </a:rPr>
                        <a:t>Girona</a:t>
                      </a:r>
                      <a:endParaRPr lang="en-US" sz="1000" dirty="0">
                        <a:latin typeface="Manrope" charset="0"/>
                        <a:ea typeface="Manrope" charset="0"/>
                        <a:cs typeface="Manrope" charset="0"/>
                      </a:endParaRPr>
                    </a:p>
                  </a:txBody>
                  <a:tcPr marL="132313" marR="132313"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000" dirty="0">
                          <a:solidFill>
                            <a:srgbClr val="FFFFFF"/>
                          </a:solidFill>
                          <a:latin typeface="Manrope" pitchFamily="34" charset="0"/>
                          <a:ea typeface="Manrope" pitchFamily="34" charset="-122"/>
                          <a:cs typeface="Manrope" pitchFamily="34" charset="-120"/>
                        </a:rPr>
                        <a:t>89.2</a:t>
                      </a:r>
                      <a:endParaRPr lang="en-US" sz="1000" dirty="0">
                        <a:latin typeface="Manrope" charset="0"/>
                        <a:ea typeface="Manrope" charset="0"/>
                        <a:cs typeface="Manrope" charset="0"/>
                      </a:endParaRPr>
                    </a:p>
                  </a:txBody>
                  <a:tcPr marL="132313" marR="132313"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333367">
                <a:tc>
                  <a:txBody>
                    <a:bodyPr/>
                    <a:lstStyle/>
                    <a:p>
                      <a:pPr indent="0" marL="0">
                        <a:buNone/>
                      </a:pPr>
                      <a:r>
                        <a:rPr lang="en-US" sz="1000" dirty="0">
                          <a:solidFill>
                            <a:srgbClr val="FFFFFF"/>
                          </a:solidFill>
                          <a:latin typeface="Manrope" pitchFamily="34" charset="0"/>
                          <a:ea typeface="Manrope" pitchFamily="34" charset="-122"/>
                          <a:cs typeface="Manrope" pitchFamily="34" charset="-120"/>
                        </a:rPr>
                        <a:t>C003</a:t>
                      </a:r>
                      <a:endParaRPr lang="en-US" sz="1000" dirty="0">
                        <a:latin typeface="Manrope" charset="0"/>
                        <a:ea typeface="Manrope" charset="0"/>
                        <a:cs typeface="Manrope" charset="0"/>
                      </a:endParaRPr>
                    </a:p>
                  </a:txBody>
                  <a:tcPr marL="132313" marR="132313"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000" dirty="0">
                          <a:solidFill>
                            <a:srgbClr val="FFFFFF"/>
                          </a:solidFill>
                          <a:latin typeface="Manrope" pitchFamily="34" charset="0"/>
                          <a:ea typeface="Manrope" pitchFamily="34" charset="-122"/>
                          <a:cs typeface="Manrope" pitchFamily="34" charset="-120"/>
                        </a:rPr>
                        <a:t>Madrid</a:t>
                      </a:r>
                      <a:endParaRPr lang="en-US" sz="1000" dirty="0">
                        <a:latin typeface="Manrope" charset="0"/>
                        <a:ea typeface="Manrope" charset="0"/>
                        <a:cs typeface="Manrope" charset="0"/>
                      </a:endParaRPr>
                    </a:p>
                  </a:txBody>
                  <a:tcPr marL="132313" marR="132313"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000" dirty="0">
                          <a:solidFill>
                            <a:srgbClr val="FFFFFF"/>
                          </a:solidFill>
                          <a:latin typeface="Manrope" pitchFamily="34" charset="0"/>
                          <a:ea typeface="Manrope" pitchFamily="34" charset="-122"/>
                          <a:cs typeface="Manrope" pitchFamily="34" charset="-120"/>
                        </a:rPr>
                        <a:t>310.0</a:t>
                      </a:r>
                      <a:endParaRPr lang="en-US" sz="1000" dirty="0">
                        <a:latin typeface="Manrope" charset="0"/>
                        <a:ea typeface="Manrope" charset="0"/>
                        <a:cs typeface="Manrope" charset="0"/>
                      </a:endParaRPr>
                    </a:p>
                  </a:txBody>
                  <a:tcPr marL="132313" marR="132313"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bl>
          </a:graphicData>
        </a:graphic>
      </p:graphicFrame>
      <p:sp>
        <p:nvSpPr>
          <p:cNvPr id="20" name="Text 17"/>
          <p:cNvSpPr/>
          <p:nvPr/>
        </p:nvSpPr>
        <p:spPr>
          <a:xfrm>
            <a:off x="6263523" y="3377704"/>
            <a:ext cx="5273047" cy="666750"/>
          </a:xfrm>
          <a:prstGeom prst="rect">
            <a:avLst/>
          </a:prstGeom>
          <a:noFill/>
          <a:ln/>
        </p:spPr>
        <p:txBody>
          <a:bodyPr wrap="square" lIns="0" tIns="0" rIns="0" bIns="0" rtlCol="0" anchor="t"/>
          <a:lstStyle/>
          <a:p>
            <a:pPr algn="l" indent="0" marL="0">
              <a:lnSpc>
                <a:spcPct val="120000"/>
              </a:lnSpc>
              <a:spcAft>
                <a:spcPts val="700"/>
              </a:spcAft>
              <a:buNone/>
            </a:pPr>
            <a:r>
              <a:rPr lang="en-US" sz="1000" b="1" dirty="0">
                <a:solidFill>
                  <a:srgbClr val="FFFFFF"/>
                </a:solidFill>
                <a:latin typeface="Manrope Bold" pitchFamily="34" charset="0"/>
                <a:ea typeface="Manrope Bold" pitchFamily="34" charset="-122"/>
                <a:cs typeface="Manrope Bold" pitchFamily="34" charset="-120"/>
              </a:rPr>
              <a:t>Row-oriented (CSV):</a:t>
            </a:r>
            <a:pPr algn="l" indent="0" marL="0">
              <a:lnSpc>
                <a:spcPct val="120000"/>
              </a:lnSpc>
              <a:spcAft>
                <a:spcPts val="700"/>
              </a:spcAft>
              <a:buNone/>
            </a:pPr>
            <a:r>
              <a:rPr lang="en-US" sz="1000" dirty="0">
                <a:solidFill>
                  <a:srgbClr val="FFFFFF"/>
                </a:solidFill>
                <a:latin typeface="Manrope" pitchFamily="34" charset="0"/>
                <a:ea typeface="Manrope" pitchFamily="34" charset="-122"/>
                <a:cs typeface="Manrope" pitchFamily="34" charset="-120"/>
              </a:rPr>
              <a:t> almacena [C001, Barcelona, 124.5], [C002, Girona, 89.2]...</a:t>
            </a:r>
            <a:endParaRPr lang="en-US" sz="1000" dirty="0"/>
          </a:p>
          <a:p>
            <a:pPr algn="l" indent="0" marL="0">
              <a:lnSpc>
                <a:spcPct val="120000"/>
              </a:lnSpc>
              <a:buNone/>
            </a:pPr>
            <a:r>
              <a:rPr lang="en-US" sz="1000" b="1" dirty="0">
                <a:solidFill>
                  <a:srgbClr val="FFFFFF"/>
                </a:solidFill>
                <a:latin typeface="Manrope Bold" pitchFamily="34" charset="0"/>
                <a:ea typeface="Manrope Bold" pitchFamily="34" charset="-122"/>
                <a:cs typeface="Manrope Bold" pitchFamily="34" charset="-120"/>
              </a:rPr>
              <a:t>Column-oriented (Parquet):</a:t>
            </a:r>
            <a:pPr algn="l" indent="0" marL="0">
              <a:lnSpc>
                <a:spcPct val="120000"/>
              </a:lnSpc>
              <a:buNone/>
            </a:pPr>
            <a:r>
              <a:rPr lang="en-US" sz="1000" dirty="0">
                <a:solidFill>
                  <a:srgbClr val="FFFFFF"/>
                </a:solidFill>
                <a:latin typeface="Manrope" pitchFamily="34" charset="0"/>
                <a:ea typeface="Manrope" pitchFamily="34" charset="-122"/>
                <a:cs typeface="Manrope" pitchFamily="34" charset="-120"/>
              </a:rPr>
              <a:t> almacena [C001, C002, C003], [Barcelona, Girona, Madrid], [124.5, 89.2, 310.0]...</a:t>
            </a:r>
            <a:endParaRPr lang="en-US" sz="1000" dirty="0"/>
          </a:p>
        </p:txBody>
      </p:sp>
      <p:sp>
        <p:nvSpPr>
          <p:cNvPr id="21" name="Text 18"/>
          <p:cNvSpPr/>
          <p:nvPr/>
        </p:nvSpPr>
        <p:spPr>
          <a:xfrm>
            <a:off x="6461956" y="4258766"/>
            <a:ext cx="5074614" cy="3810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FFFFFF"/>
                </a:solidFill>
                <a:latin typeface="Manrope" pitchFamily="34" charset="0"/>
                <a:ea typeface="Manrope" pitchFamily="34" charset="-122"/>
                <a:cs typeface="Manrope" pitchFamily="34" charset="-120"/>
              </a:rPr>
              <a:t>Calcular la media de </a:t>
            </a:r>
            <a:pPr algn="l" indent="0" marL="0">
              <a:lnSpc>
                <a:spcPct val="120000"/>
              </a:lnSpc>
              <a:buNone/>
            </a:pPr>
            <a:r>
              <a:rPr lang="en-US" sz="1000" dirty="0">
                <a:solidFill>
                  <a:srgbClr val="FFFFFF"/>
                </a:solidFill>
                <a:highlight>
                  <a:srgbClr val="583592"/>
                </a:highlight>
                <a:latin typeface="Consolas" pitchFamily="34" charset="0"/>
                <a:ea typeface="Consolas" pitchFamily="34" charset="-122"/>
                <a:cs typeface="Consolas" pitchFamily="34" charset="-120"/>
              </a:rPr>
              <a:t>gasto</a:t>
            </a:r>
            <a:pPr algn="l" indent="0" marL="0">
              <a:lnSpc>
                <a:spcPct val="120000"/>
              </a:lnSpc>
              <a:buNone/>
            </a:pPr>
            <a:r>
              <a:rPr lang="en-US" sz="1000" dirty="0">
                <a:solidFill>
                  <a:srgbClr val="FFFFFF"/>
                </a:solidFill>
                <a:latin typeface="Manrope" pitchFamily="34" charset="0"/>
                <a:ea typeface="Manrope" pitchFamily="34" charset="-122"/>
                <a:cs typeface="Manrope" pitchFamily="34" charset="-120"/>
              </a:rPr>
              <a:t> solo requiere leer la tercera columna, sin tocar </a:t>
            </a:r>
            <a:pPr algn="l" indent="0" marL="0">
              <a:lnSpc>
                <a:spcPct val="120000"/>
              </a:lnSpc>
              <a:buNone/>
            </a:pPr>
            <a:r>
              <a:rPr lang="en-US" sz="1000" dirty="0">
                <a:solidFill>
                  <a:srgbClr val="FFFFFF"/>
                </a:solidFill>
                <a:highlight>
                  <a:srgbClr val="583592"/>
                </a:highlight>
                <a:latin typeface="Consolas" pitchFamily="34" charset="0"/>
                <a:ea typeface="Consolas" pitchFamily="34" charset="-122"/>
                <a:cs typeface="Consolas" pitchFamily="34" charset="-120"/>
              </a:rPr>
              <a:t>cliente</a:t>
            </a:r>
            <a:pPr algn="l" indent="0" marL="0">
              <a:lnSpc>
                <a:spcPct val="120000"/>
              </a:lnSpc>
              <a:buNone/>
            </a:pPr>
            <a:r>
              <a:rPr lang="en-US" sz="1000" dirty="0">
                <a:solidFill>
                  <a:srgbClr val="FFFFFF"/>
                </a:solidFill>
                <a:latin typeface="Manrope" pitchFamily="34" charset="0"/>
                <a:ea typeface="Manrope" pitchFamily="34" charset="-122"/>
                <a:cs typeface="Manrope" pitchFamily="34" charset="-120"/>
              </a:rPr>
              <a:t> ni </a:t>
            </a:r>
            <a:pPr algn="l" indent="0" marL="0">
              <a:lnSpc>
                <a:spcPct val="120000"/>
              </a:lnSpc>
              <a:buNone/>
            </a:pPr>
            <a:r>
              <a:rPr lang="en-US" sz="1000" dirty="0">
                <a:solidFill>
                  <a:srgbClr val="FFFFFF"/>
                </a:solidFill>
                <a:highlight>
                  <a:srgbClr val="583592"/>
                </a:highlight>
                <a:latin typeface="Consolas" pitchFamily="34" charset="0"/>
                <a:ea typeface="Consolas" pitchFamily="34" charset="-122"/>
                <a:cs typeface="Consolas" pitchFamily="34" charset="-120"/>
              </a:rPr>
              <a:t>ciudad</a:t>
            </a:r>
            <a:pPr algn="l" indent="0" marL="0">
              <a:lnSpc>
                <a:spcPct val="120000"/>
              </a:lnSpc>
              <a:buNone/>
            </a:pPr>
            <a:r>
              <a:rPr lang="en-US" sz="1000" dirty="0">
                <a:solidFill>
                  <a:srgbClr val="FFFFFF"/>
                </a:solidFill>
                <a:latin typeface="Manrope" pitchFamily="34" charset="0"/>
                <a:ea typeface="Manrope" pitchFamily="34" charset="-122"/>
                <a:cs typeface="Manrope" pitchFamily="34" charset="-120"/>
              </a:rPr>
              <a:t>.</a:t>
            </a:r>
            <a:endParaRPr lang="en-US" sz="1000" dirty="0"/>
          </a:p>
        </p:txBody>
      </p:sp>
      <p:sp>
        <p:nvSpPr>
          <p:cNvPr id="22" name="Shape 19"/>
          <p:cNvSpPr/>
          <p:nvPr/>
        </p:nvSpPr>
        <p:spPr>
          <a:xfrm>
            <a:off x="6263523" y="4163516"/>
            <a:ext cx="19050" cy="571500"/>
          </a:xfrm>
          <a:prstGeom prst="roundRect">
            <a:avLst>
              <a:gd name="adj" fmla="val 49999"/>
            </a:avLst>
          </a:prstGeom>
          <a:solidFill>
            <a:srgbClr val="B499E9"/>
          </a:solidFill>
          <a:ln/>
        </p:spPr>
      </p:sp>
      <p:sp>
        <p:nvSpPr>
          <p:cNvPr id="23" name="Shape 20"/>
          <p:cNvSpPr/>
          <p:nvPr/>
        </p:nvSpPr>
        <p:spPr>
          <a:xfrm>
            <a:off x="6263523" y="4854079"/>
            <a:ext cx="5273047" cy="899716"/>
          </a:xfrm>
          <a:prstGeom prst="roundRect">
            <a:avLst>
              <a:gd name="adj" fmla="val 22059"/>
            </a:avLst>
          </a:prstGeom>
          <a:solidFill>
            <a:srgbClr val="583592"/>
          </a:solidFill>
          <a:ln/>
        </p:spPr>
      </p:sp>
      <p:sp>
        <p:nvSpPr>
          <p:cNvPr id="24" name="Text 21"/>
          <p:cNvSpPr/>
          <p:nvPr/>
        </p:nvSpPr>
        <p:spPr>
          <a:xfrm>
            <a:off x="6422269" y="4986338"/>
            <a:ext cx="4955555" cy="635198"/>
          </a:xfrm>
          <a:prstGeom prst="rect">
            <a:avLst/>
          </a:prstGeom>
          <a:noFill/>
          <a:ln/>
        </p:spPr>
        <p:txBody>
          <a:bodyPr wrap="square" lIns="0" tIns="0" rIns="0" bIns="0" rtlCol="0" anchor="t">
            <a:normAutofit/>
          </a:bodyPr>
          <a:lstStyle/>
          <a:p>
            <a:pPr algn="l" indent="0" marL="0">
              <a:lnSpc>
                <a:spcPct val="133000"/>
              </a:lnSpc>
              <a:buNone/>
            </a:pPr>
            <a:r>
              <a:rPr lang="en-US" sz="1000" dirty="0">
                <a:solidFill>
                  <a:srgbClr val="8B949E"/>
                </a:solidFill>
                <a:latin typeface="Consolas" pitchFamily="34" charset="0"/>
                <a:ea typeface="Consolas" pitchFamily="34" charset="-122"/>
                <a:cs typeface="Consolas" pitchFamily="34" charset="-120"/>
              </a:rPr>
              <a:t># Guardar como Parquet en Pandas</a:t>
            </a:r>
            <a:endParaRPr lang="en-US" sz="1000" dirty="0"/>
          </a:p>
          <a:p>
            <a:pPr algn="l" indent="0" marL="0">
              <a:lnSpc>
                <a:spcPct val="133000"/>
              </a:lnSpc>
              <a:buNone/>
            </a:pPr>
            <a:r>
              <a:rPr lang="en-US" sz="1000" dirty="0">
                <a:solidFill>
                  <a:srgbClr val="8B949E"/>
                </a:solidFill>
                <a:latin typeface="Consolas" pitchFamily="34" charset="0"/>
                <a:ea typeface="Consolas" pitchFamily="34" charset="-122"/>
                <a:cs typeface="Consolas" pitchFamily="34" charset="-120"/>
              </a:rPr>
              <a:t>df.to_parquet("dataset_analitico.parquet")</a:t>
            </a:r>
            <a:endParaRPr lang="en-US" sz="1000" dirty="0"/>
          </a:p>
          <a:p>
            <a:pPr algn="l" indent="0" marL="0">
              <a:lnSpc>
                <a:spcPct val="133000"/>
              </a:lnSpc>
              <a:buNone/>
            </a:pPr>
            <a:r>
              <a:rPr lang="en-US" sz="1000" dirty="0">
                <a:solidFill>
                  <a:srgbClr val="8B949E"/>
                </a:solidFill>
                <a:latin typeface="Consolas" pitchFamily="34" charset="0"/>
                <a:ea typeface="Consolas" pitchFamily="34" charset="-122"/>
                <a:cs typeface="Consolas" pitchFamily="34" charset="-120"/>
              </a:rPr>
              <a:t>df2 = pd.read_parquet("dataset_analitico.parquet")</a:t>
            </a:r>
            <a:endParaRPr lang="en-US" sz="1000" dirty="0"/>
          </a:p>
        </p:txBody>
      </p:sp>
      <p:pic>
        <p:nvPicPr>
          <p:cNvPr id="25"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26"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27" name="Text 22"/>
          <p:cNvSpPr/>
          <p:nvPr/>
        </p:nvSpPr>
        <p:spPr>
          <a:xfrm>
            <a:off x="10827769" y="6300589"/>
            <a:ext cx="1165493"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661475" y="1029494"/>
            <a:ext cx="10868745" cy="372170"/>
          </a:xfrm>
          <a:prstGeom prst="rect">
            <a:avLst/>
          </a:prstGeom>
          <a:noFill/>
          <a:ln/>
        </p:spPr>
        <p:txBody>
          <a:bodyPr wrap="none" lIns="0" tIns="0" rIns="0" bIns="0" rtlCol="0" anchor="t"/>
          <a:lstStyle/>
          <a:p>
            <a:pPr algn="l" indent="0" marL="0">
              <a:lnSpc>
                <a:spcPct val="104000"/>
              </a:lnSpc>
              <a:buNone/>
            </a:pPr>
            <a:r>
              <a:rPr lang="en-US" sz="2300" spc="-23" kern="0" dirty="0">
                <a:solidFill>
                  <a:srgbClr val="FFFFFF"/>
                </a:solidFill>
                <a:latin typeface="Alexandria Medium" pitchFamily="34" charset="0"/>
                <a:ea typeface="Alexandria Medium" pitchFamily="34" charset="-122"/>
                <a:cs typeface="Alexandria Medium" pitchFamily="34" charset="-120"/>
              </a:rPr>
              <a:t>CSV vs. Parquet</a:t>
            </a:r>
            <a:endParaRPr lang="en-US" sz="23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661475" y="1669554"/>
          <a:ext cx="9143771" cy="914400"/>
        </p:xfrm>
        <a:graphic>
          <a:graphicData uri="http://schemas.openxmlformats.org/drawingml/2006/table">
            <a:tbl>
              <a:tblPr/>
              <a:tblGrid>
                <a:gridCol w="3804061"/>
                <a:gridCol w="3477999"/>
                <a:gridCol w="3586686"/>
              </a:tblGrid>
              <a:tr h="402818">
                <a:tc>
                  <a:txBody>
                    <a:bodyPr/>
                    <a:lstStyle/>
                    <a:p>
                      <a:pPr indent="0" marL="0">
                        <a:buNone/>
                      </a:pPr>
                      <a:r>
                        <a:rPr lang="en-US" sz="1150" b="1" dirty="0">
                          <a:solidFill>
                            <a:srgbClr val="FFFFFF"/>
                          </a:solidFill>
                          <a:latin typeface="Manrope" pitchFamily="34" charset="0"/>
                          <a:ea typeface="Manrope" pitchFamily="34" charset="-122"/>
                          <a:cs typeface="Manrope" pitchFamily="34" charset="-120"/>
                        </a:rPr>
                        <a:t>Característica</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c>
                  <a:txBody>
                    <a:bodyPr/>
                    <a:lstStyle/>
                    <a:p>
                      <a:pPr indent="0" marL="0">
                        <a:buNone/>
                      </a:pPr>
                      <a:r>
                        <a:rPr lang="en-US" sz="1150" b="1" dirty="0">
                          <a:solidFill>
                            <a:srgbClr val="FFFFFF"/>
                          </a:solidFill>
                          <a:latin typeface="Manrope" pitchFamily="34" charset="0"/>
                          <a:ea typeface="Manrope" pitchFamily="34" charset="-122"/>
                          <a:cs typeface="Manrope" pitchFamily="34" charset="-120"/>
                        </a:rPr>
                        <a:t>CSV</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c>
                  <a:txBody>
                    <a:bodyPr/>
                    <a:lstStyle/>
                    <a:p>
                      <a:pPr indent="0" marL="0">
                        <a:buNone/>
                      </a:pPr>
                      <a:r>
                        <a:rPr lang="en-US" sz="1150" b="1" dirty="0">
                          <a:solidFill>
                            <a:srgbClr val="FFFFFF"/>
                          </a:solidFill>
                          <a:latin typeface="Manrope" pitchFamily="34" charset="0"/>
                          <a:ea typeface="Manrope" pitchFamily="34" charset="-122"/>
                          <a:cs typeface="Manrope" pitchFamily="34" charset="-120"/>
                        </a:rPr>
                        <a:t>Parquet</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r>
              <a:tr h="405993">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Legible por humanos</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Sí, con cualquier editor</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Formato binario</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405993">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Tipos de datos</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Todo es texto</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Tipado en el esquema</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405993">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Compresión</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Solo compresión externa</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Compresión nativa eficiente</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405993">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Almacenamiento</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Por filas</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Por columnas</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405993">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Lectura parcial de columnas</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Hay que leer todo</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Solo las columnas necesarias</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405993">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Análisis a escala</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Limitado</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Adecuado</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402818">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Interoperabilidad simple</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Universal</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Ampliamente soportado</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bl>
          </a:graphicData>
        </a:graphic>
      </p:graphicFrame>
      <p:sp>
        <p:nvSpPr>
          <p:cNvPr id="4" name="Text 1"/>
          <p:cNvSpPr/>
          <p:nvPr/>
        </p:nvSpPr>
        <p:spPr>
          <a:xfrm>
            <a:off x="884711" y="5225355"/>
            <a:ext cx="10645509" cy="452438"/>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Parquet no sustituye al CSV en todos los contextos. Para intercambios simples, el CSV sigue siendo útil. Para pipelines analíticos con datasets grandes, Parquet es la opción adecuada.</a:t>
            </a:r>
            <a:endParaRPr lang="en-US" sz="1150" dirty="0"/>
          </a:p>
        </p:txBody>
      </p:sp>
      <p:sp>
        <p:nvSpPr>
          <p:cNvPr id="5" name="Shape 2"/>
          <p:cNvSpPr/>
          <p:nvPr/>
        </p:nvSpPr>
        <p:spPr>
          <a:xfrm>
            <a:off x="661475" y="5074642"/>
            <a:ext cx="19050" cy="753864"/>
          </a:xfrm>
          <a:prstGeom prst="roundRect">
            <a:avLst>
              <a:gd name="adj" fmla="val 49999"/>
            </a:avLst>
          </a:prstGeom>
          <a:solidFill>
            <a:srgbClr val="B499E9"/>
          </a:solidFill>
          <a:ln/>
        </p:spPr>
      </p:sp>
      <p:pic>
        <p:nvPicPr>
          <p:cNvPr id="6"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7"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8" name="Text 3"/>
          <p:cNvSpPr/>
          <p:nvPr/>
        </p:nvSpPr>
        <p:spPr>
          <a:xfrm>
            <a:off x="10822411" y="6300589"/>
            <a:ext cx="1170851"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661475" y="988814"/>
            <a:ext cx="10868745" cy="345976"/>
          </a:xfrm>
          <a:prstGeom prst="rect">
            <a:avLst/>
          </a:prstGeom>
          <a:noFill/>
          <a:ln/>
        </p:spPr>
        <p:txBody>
          <a:bodyPr wrap="none" lIns="0" tIns="0" rIns="0" bIns="0" rtlCol="0" anchor="t"/>
          <a:lstStyle/>
          <a:p>
            <a:pPr algn="l" indent="0" marL="0">
              <a:lnSpc>
                <a:spcPct val="104000"/>
              </a:lnSpc>
              <a:buNone/>
            </a:pPr>
            <a:r>
              <a:rPr lang="en-US" sz="2150" spc="-22" kern="0" dirty="0">
                <a:solidFill>
                  <a:srgbClr val="FFFFFF"/>
                </a:solidFill>
                <a:latin typeface="Alexandria Medium" pitchFamily="34" charset="0"/>
                <a:ea typeface="Alexandria Medium" pitchFamily="34" charset="-122"/>
                <a:cs typeface="Alexandria Medium" pitchFamily="34" charset="-120"/>
              </a:rPr>
              <a:t>Pandas: la herramienta central</a:t>
            </a:r>
            <a:endParaRPr lang="en-US" sz="2150" dirty="0"/>
          </a:p>
        </p:txBody>
      </p:sp>
      <p:sp>
        <p:nvSpPr>
          <p:cNvPr id="3" name="Text 1"/>
          <p:cNvSpPr/>
          <p:nvPr/>
        </p:nvSpPr>
        <p:spPr>
          <a:xfrm>
            <a:off x="661475" y="1566366"/>
            <a:ext cx="11478330" cy="203299"/>
          </a:xfrm>
          <a:prstGeom prst="rect">
            <a:avLst/>
          </a:prstGeom>
          <a:noFill/>
          <a:ln/>
        </p:spPr>
        <p:txBody>
          <a:bodyPr wrap="none" lIns="0" tIns="0" rIns="0" bIns="0" rtlCol="0" anchor="t"/>
          <a:lstStyle/>
          <a:p>
            <a:pPr algn="l" indent="0" marL="0">
              <a:lnSpc>
                <a:spcPct val="122000"/>
              </a:lnSpc>
              <a:buNone/>
            </a:pPr>
            <a:r>
              <a:rPr lang="en-US" sz="1050" dirty="0">
                <a:solidFill>
                  <a:srgbClr val="FFFFFF"/>
                </a:solidFill>
                <a:latin typeface="Manrope" pitchFamily="34" charset="0"/>
                <a:ea typeface="Manrope" pitchFamily="34" charset="-122"/>
                <a:cs typeface="Manrope" pitchFamily="34" charset="-120"/>
              </a:rPr>
              <a:t>Pandas es la librería de referencia en Python para manipulación de datos tabulares. Nos permite recorrer todo el pipeline.</a:t>
            </a:r>
            <a:endParaRPr lang="en-US" sz="1050" dirty="0"/>
          </a:p>
        </p:txBody>
      </p:sp>
      <p:sp>
        <p:nvSpPr>
          <p:cNvPr id="4" name="Text 2"/>
          <p:cNvSpPr/>
          <p:nvPr/>
        </p:nvSpPr>
        <p:spPr>
          <a:xfrm>
            <a:off x="661475" y="2015629"/>
            <a:ext cx="5265606" cy="216098"/>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Todo lo que Pandas nos permite hacer</a:t>
            </a:r>
            <a:endParaRPr lang="en-US" sz="1350" dirty="0"/>
          </a:p>
        </p:txBody>
      </p:sp>
      <p:sp>
        <p:nvSpPr>
          <p:cNvPr id="5" name="Shape 3"/>
          <p:cNvSpPr/>
          <p:nvPr/>
        </p:nvSpPr>
        <p:spPr>
          <a:xfrm>
            <a:off x="661475" y="2577902"/>
            <a:ext cx="1677946" cy="19050"/>
          </a:xfrm>
          <a:prstGeom prst="rect">
            <a:avLst/>
          </a:prstGeom>
          <a:solidFill>
            <a:srgbClr val="B499E9"/>
          </a:solidFill>
          <a:ln/>
        </p:spPr>
      </p:sp>
      <p:sp>
        <p:nvSpPr>
          <p:cNvPr id="6" name="Text 4"/>
          <p:cNvSpPr/>
          <p:nvPr/>
        </p:nvSpPr>
        <p:spPr>
          <a:xfrm>
            <a:off x="661475" y="2685157"/>
            <a:ext cx="1677946" cy="216098"/>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Cargar</a:t>
            </a:r>
            <a:endParaRPr lang="en-US" sz="1350" dirty="0"/>
          </a:p>
        </p:txBody>
      </p:sp>
      <p:sp>
        <p:nvSpPr>
          <p:cNvPr id="7" name="Text 5"/>
          <p:cNvSpPr/>
          <p:nvPr/>
        </p:nvSpPr>
        <p:spPr>
          <a:xfrm>
            <a:off x="661475" y="3017044"/>
            <a:ext cx="1677946" cy="609898"/>
          </a:xfrm>
          <a:prstGeom prst="rect">
            <a:avLst/>
          </a:prstGeom>
          <a:noFill/>
          <a:ln/>
        </p:spPr>
        <p:txBody>
          <a:bodyPr wrap="square" lIns="0" tIns="0" rIns="0" bIns="0" rtlCol="0" anchor="t">
            <a:normAutofit/>
          </a:bodyPr>
          <a:lstStyle/>
          <a:p>
            <a:pPr algn="l" indent="0" marL="0">
              <a:lnSpc>
                <a:spcPct val="122000"/>
              </a:lnSpc>
              <a:buNone/>
            </a:pPr>
            <a:r>
              <a:rPr lang="en-US" sz="1050" dirty="0">
                <a:solidFill>
                  <a:srgbClr val="FFFFFF"/>
                </a:solidFill>
                <a:highlight>
                  <a:srgbClr val="583592"/>
                </a:highlight>
                <a:latin typeface="Consolas" pitchFamily="34" charset="0"/>
                <a:ea typeface="Consolas" pitchFamily="34" charset="-122"/>
                <a:cs typeface="Consolas" pitchFamily="34" charset="-120"/>
              </a:rPr>
              <a:t>pd.read_csv()</a:t>
            </a:r>
            <a:pPr algn="l" indent="0" marL="0">
              <a:lnSpc>
                <a:spcPct val="122000"/>
              </a:lnSpc>
              <a:buNone/>
            </a:pPr>
            <a:r>
              <a:rPr lang="en-US" sz="1050" dirty="0">
                <a:solidFill>
                  <a:srgbClr val="FFFFFF"/>
                </a:solidFill>
                <a:latin typeface="Manrope" pitchFamily="34" charset="0"/>
                <a:ea typeface="Manrope" pitchFamily="34" charset="-122"/>
                <a:cs typeface="Manrope" pitchFamily="34" charset="-120"/>
              </a:rPr>
              <a:t> · </a:t>
            </a:r>
            <a:pPr algn="l" indent="0" marL="0">
              <a:lnSpc>
                <a:spcPct val="122000"/>
              </a:lnSpc>
              <a:buNone/>
            </a:pPr>
            <a:r>
              <a:rPr lang="en-US" sz="1050" dirty="0">
                <a:solidFill>
                  <a:srgbClr val="FFFFFF"/>
                </a:solidFill>
                <a:highlight>
                  <a:srgbClr val="583592"/>
                </a:highlight>
                <a:latin typeface="Consolas" pitchFamily="34" charset="0"/>
                <a:ea typeface="Consolas" pitchFamily="34" charset="-122"/>
                <a:cs typeface="Consolas" pitchFamily="34" charset="-120"/>
              </a:rPr>
              <a:t>pd.read_json()</a:t>
            </a:r>
            <a:pPr algn="l" indent="0" marL="0">
              <a:lnSpc>
                <a:spcPct val="122000"/>
              </a:lnSpc>
              <a:buNone/>
            </a:pPr>
            <a:r>
              <a:rPr lang="en-US" sz="1050" dirty="0">
                <a:solidFill>
                  <a:srgbClr val="FFFFFF"/>
                </a:solidFill>
                <a:latin typeface="Manrope" pitchFamily="34" charset="0"/>
                <a:ea typeface="Manrope" pitchFamily="34" charset="-122"/>
                <a:cs typeface="Manrope" pitchFamily="34" charset="-120"/>
              </a:rPr>
              <a:t> · </a:t>
            </a:r>
            <a:pPr algn="l" indent="0" marL="0">
              <a:lnSpc>
                <a:spcPct val="122000"/>
              </a:lnSpc>
              <a:buNone/>
            </a:pPr>
            <a:r>
              <a:rPr lang="en-US" sz="1050" dirty="0">
                <a:solidFill>
                  <a:srgbClr val="FFFFFF"/>
                </a:solidFill>
                <a:highlight>
                  <a:srgbClr val="583592"/>
                </a:highlight>
                <a:latin typeface="Consolas" pitchFamily="34" charset="0"/>
                <a:ea typeface="Consolas" pitchFamily="34" charset="-122"/>
                <a:cs typeface="Consolas" pitchFamily="34" charset="-120"/>
              </a:rPr>
              <a:t>pd.read_sql()</a:t>
            </a:r>
            <a:endParaRPr lang="en-US" sz="1050" dirty="0"/>
          </a:p>
        </p:txBody>
      </p:sp>
      <p:sp>
        <p:nvSpPr>
          <p:cNvPr id="8" name="Shape 6"/>
          <p:cNvSpPr/>
          <p:nvPr/>
        </p:nvSpPr>
        <p:spPr>
          <a:xfrm>
            <a:off x="2455206" y="2577902"/>
            <a:ext cx="1678045" cy="19050"/>
          </a:xfrm>
          <a:prstGeom prst="rect">
            <a:avLst/>
          </a:prstGeom>
          <a:solidFill>
            <a:srgbClr val="B499E9"/>
          </a:solidFill>
          <a:ln/>
        </p:spPr>
      </p:sp>
      <p:sp>
        <p:nvSpPr>
          <p:cNvPr id="9" name="Text 7"/>
          <p:cNvSpPr/>
          <p:nvPr/>
        </p:nvSpPr>
        <p:spPr>
          <a:xfrm>
            <a:off x="2455206" y="2685157"/>
            <a:ext cx="1678045" cy="216098"/>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Inspeccionar</a:t>
            </a:r>
            <a:endParaRPr lang="en-US" sz="1350" dirty="0"/>
          </a:p>
        </p:txBody>
      </p:sp>
      <p:sp>
        <p:nvSpPr>
          <p:cNvPr id="10" name="Text 8"/>
          <p:cNvSpPr/>
          <p:nvPr/>
        </p:nvSpPr>
        <p:spPr>
          <a:xfrm>
            <a:off x="2455206" y="3017044"/>
            <a:ext cx="1678045" cy="406598"/>
          </a:xfrm>
          <a:prstGeom prst="rect">
            <a:avLst/>
          </a:prstGeom>
          <a:noFill/>
          <a:ln/>
        </p:spPr>
        <p:txBody>
          <a:bodyPr wrap="square" lIns="0" tIns="0" rIns="0" bIns="0" rtlCol="0" anchor="t">
            <a:normAutofit/>
          </a:bodyPr>
          <a:lstStyle/>
          <a:p>
            <a:pPr algn="l" indent="0" marL="0">
              <a:lnSpc>
                <a:spcPct val="122000"/>
              </a:lnSpc>
              <a:buNone/>
            </a:pPr>
            <a:r>
              <a:rPr lang="en-US" sz="1050" dirty="0">
                <a:solidFill>
                  <a:srgbClr val="FFFFFF"/>
                </a:solidFill>
                <a:highlight>
                  <a:srgbClr val="583592"/>
                </a:highlight>
                <a:latin typeface="Consolas" pitchFamily="34" charset="0"/>
                <a:ea typeface="Consolas" pitchFamily="34" charset="-122"/>
                <a:cs typeface="Consolas" pitchFamily="34" charset="-120"/>
              </a:rPr>
              <a:t>df.info()</a:t>
            </a:r>
            <a:pPr algn="l" indent="0" marL="0">
              <a:lnSpc>
                <a:spcPct val="122000"/>
              </a:lnSpc>
              <a:buNone/>
            </a:pPr>
            <a:r>
              <a:rPr lang="en-US" sz="1050" dirty="0">
                <a:solidFill>
                  <a:srgbClr val="FFFFFF"/>
                </a:solidFill>
                <a:latin typeface="Manrope" pitchFamily="34" charset="0"/>
                <a:ea typeface="Manrope" pitchFamily="34" charset="-122"/>
                <a:cs typeface="Manrope" pitchFamily="34" charset="-120"/>
              </a:rPr>
              <a:t> · </a:t>
            </a:r>
            <a:pPr algn="l" indent="0" marL="0">
              <a:lnSpc>
                <a:spcPct val="122000"/>
              </a:lnSpc>
              <a:buNone/>
            </a:pPr>
            <a:r>
              <a:rPr lang="en-US" sz="1050" dirty="0">
                <a:solidFill>
                  <a:srgbClr val="FFFFFF"/>
                </a:solidFill>
                <a:highlight>
                  <a:srgbClr val="583592"/>
                </a:highlight>
                <a:latin typeface="Consolas" pitchFamily="34" charset="0"/>
                <a:ea typeface="Consolas" pitchFamily="34" charset="-122"/>
                <a:cs typeface="Consolas" pitchFamily="34" charset="-120"/>
              </a:rPr>
              <a:t>df.head()</a:t>
            </a:r>
            <a:pPr algn="l" indent="0" marL="0">
              <a:lnSpc>
                <a:spcPct val="122000"/>
              </a:lnSpc>
              <a:buNone/>
            </a:pPr>
            <a:r>
              <a:rPr lang="en-US" sz="1050" dirty="0">
                <a:solidFill>
                  <a:srgbClr val="FFFFFF"/>
                </a:solidFill>
                <a:latin typeface="Manrope" pitchFamily="34" charset="0"/>
                <a:ea typeface="Manrope" pitchFamily="34" charset="-122"/>
                <a:cs typeface="Manrope" pitchFamily="34" charset="-120"/>
              </a:rPr>
              <a:t> · </a:t>
            </a:r>
            <a:pPr algn="l" indent="0" marL="0">
              <a:lnSpc>
                <a:spcPct val="122000"/>
              </a:lnSpc>
              <a:buNone/>
            </a:pPr>
            <a:r>
              <a:rPr lang="en-US" sz="1050" dirty="0">
                <a:solidFill>
                  <a:srgbClr val="FFFFFF"/>
                </a:solidFill>
                <a:highlight>
                  <a:srgbClr val="583592"/>
                </a:highlight>
                <a:latin typeface="Consolas" pitchFamily="34" charset="0"/>
                <a:ea typeface="Consolas" pitchFamily="34" charset="-122"/>
                <a:cs typeface="Consolas" pitchFamily="34" charset="-120"/>
              </a:rPr>
              <a:t>df.describe()</a:t>
            </a:r>
            <a:endParaRPr lang="en-US" sz="1050" dirty="0"/>
          </a:p>
        </p:txBody>
      </p:sp>
      <p:sp>
        <p:nvSpPr>
          <p:cNvPr id="11" name="Shape 9"/>
          <p:cNvSpPr/>
          <p:nvPr/>
        </p:nvSpPr>
        <p:spPr>
          <a:xfrm>
            <a:off x="4249036" y="2577902"/>
            <a:ext cx="1678045" cy="19050"/>
          </a:xfrm>
          <a:prstGeom prst="rect">
            <a:avLst/>
          </a:prstGeom>
          <a:solidFill>
            <a:srgbClr val="B499E9"/>
          </a:solidFill>
          <a:ln/>
        </p:spPr>
      </p:sp>
      <p:sp>
        <p:nvSpPr>
          <p:cNvPr id="12" name="Text 10"/>
          <p:cNvSpPr/>
          <p:nvPr/>
        </p:nvSpPr>
        <p:spPr>
          <a:xfrm>
            <a:off x="4249036" y="2685157"/>
            <a:ext cx="1678045" cy="216098"/>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Limpiar</a:t>
            </a:r>
            <a:endParaRPr lang="en-US" sz="1350" dirty="0"/>
          </a:p>
        </p:txBody>
      </p:sp>
      <p:sp>
        <p:nvSpPr>
          <p:cNvPr id="13" name="Text 11"/>
          <p:cNvSpPr/>
          <p:nvPr/>
        </p:nvSpPr>
        <p:spPr>
          <a:xfrm>
            <a:off x="4249036" y="3017044"/>
            <a:ext cx="1678045" cy="406598"/>
          </a:xfrm>
          <a:prstGeom prst="rect">
            <a:avLst/>
          </a:prstGeom>
          <a:noFill/>
          <a:ln/>
        </p:spPr>
        <p:txBody>
          <a:bodyPr wrap="square" lIns="0" tIns="0" rIns="0" bIns="0" rtlCol="0" anchor="t">
            <a:normAutofit/>
          </a:bodyPr>
          <a:lstStyle/>
          <a:p>
            <a:pPr algn="l" indent="0" marL="0">
              <a:lnSpc>
                <a:spcPct val="122000"/>
              </a:lnSpc>
              <a:buNone/>
            </a:pPr>
            <a:r>
              <a:rPr lang="en-US" sz="1050" dirty="0">
                <a:solidFill>
                  <a:srgbClr val="FFFFFF"/>
                </a:solidFill>
                <a:highlight>
                  <a:srgbClr val="583592"/>
                </a:highlight>
                <a:latin typeface="Consolas" pitchFamily="34" charset="0"/>
                <a:ea typeface="Consolas" pitchFamily="34" charset="-122"/>
                <a:cs typeface="Consolas" pitchFamily="34" charset="-120"/>
              </a:rPr>
              <a:t>df.dropna()</a:t>
            </a:r>
            <a:pPr algn="l" indent="0" marL="0">
              <a:lnSpc>
                <a:spcPct val="122000"/>
              </a:lnSpc>
              <a:buNone/>
            </a:pPr>
            <a:r>
              <a:rPr lang="en-US" sz="1050" dirty="0">
                <a:solidFill>
                  <a:srgbClr val="FFFFFF"/>
                </a:solidFill>
                <a:latin typeface="Manrope" pitchFamily="34" charset="0"/>
                <a:ea typeface="Manrope" pitchFamily="34" charset="-122"/>
                <a:cs typeface="Manrope" pitchFamily="34" charset="-120"/>
              </a:rPr>
              <a:t> · </a:t>
            </a:r>
            <a:pPr algn="l" indent="0" marL="0">
              <a:lnSpc>
                <a:spcPct val="122000"/>
              </a:lnSpc>
              <a:buNone/>
            </a:pPr>
            <a:r>
              <a:rPr lang="en-US" sz="1050" dirty="0">
                <a:solidFill>
                  <a:srgbClr val="FFFFFF"/>
                </a:solidFill>
                <a:highlight>
                  <a:srgbClr val="583592"/>
                </a:highlight>
                <a:latin typeface="Consolas" pitchFamily="34" charset="0"/>
                <a:ea typeface="Consolas" pitchFamily="34" charset="-122"/>
                <a:cs typeface="Consolas" pitchFamily="34" charset="-120"/>
              </a:rPr>
              <a:t>df.fillna()</a:t>
            </a:r>
            <a:pPr algn="l" indent="0" marL="0">
              <a:lnSpc>
                <a:spcPct val="122000"/>
              </a:lnSpc>
              <a:buNone/>
            </a:pPr>
            <a:r>
              <a:rPr lang="en-US" sz="1050" dirty="0">
                <a:solidFill>
                  <a:srgbClr val="FFFFFF"/>
                </a:solidFill>
                <a:latin typeface="Manrope" pitchFamily="34" charset="0"/>
                <a:ea typeface="Manrope" pitchFamily="34" charset="-122"/>
                <a:cs typeface="Manrope" pitchFamily="34" charset="-120"/>
              </a:rPr>
              <a:t> · </a:t>
            </a:r>
            <a:pPr algn="l" indent="0" marL="0">
              <a:lnSpc>
                <a:spcPct val="122000"/>
              </a:lnSpc>
              <a:buNone/>
            </a:pPr>
            <a:r>
              <a:rPr lang="en-US" sz="1050" dirty="0">
                <a:solidFill>
                  <a:srgbClr val="FFFFFF"/>
                </a:solidFill>
                <a:highlight>
                  <a:srgbClr val="583592"/>
                </a:highlight>
                <a:latin typeface="Consolas" pitchFamily="34" charset="0"/>
                <a:ea typeface="Consolas" pitchFamily="34" charset="-122"/>
                <a:cs typeface="Consolas" pitchFamily="34" charset="-120"/>
              </a:rPr>
              <a:t>df.drop_duplicates()</a:t>
            </a:r>
            <a:endParaRPr lang="en-US" sz="1050" dirty="0"/>
          </a:p>
        </p:txBody>
      </p:sp>
      <p:sp>
        <p:nvSpPr>
          <p:cNvPr id="14" name="Shape 12"/>
          <p:cNvSpPr/>
          <p:nvPr/>
        </p:nvSpPr>
        <p:spPr>
          <a:xfrm>
            <a:off x="661475" y="4062512"/>
            <a:ext cx="1677946" cy="19050"/>
          </a:xfrm>
          <a:prstGeom prst="rect">
            <a:avLst/>
          </a:prstGeom>
          <a:solidFill>
            <a:srgbClr val="B499E9"/>
          </a:solidFill>
          <a:ln/>
        </p:spPr>
      </p:sp>
      <p:sp>
        <p:nvSpPr>
          <p:cNvPr id="15" name="Text 13"/>
          <p:cNvSpPr/>
          <p:nvPr/>
        </p:nvSpPr>
        <p:spPr>
          <a:xfrm>
            <a:off x="661475" y="4169767"/>
            <a:ext cx="1677946" cy="216098"/>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Transformar</a:t>
            </a:r>
            <a:endParaRPr lang="en-US" sz="1350" dirty="0"/>
          </a:p>
        </p:txBody>
      </p:sp>
      <p:sp>
        <p:nvSpPr>
          <p:cNvPr id="16" name="Text 14"/>
          <p:cNvSpPr/>
          <p:nvPr/>
        </p:nvSpPr>
        <p:spPr>
          <a:xfrm>
            <a:off x="661475" y="4501654"/>
            <a:ext cx="1677946" cy="609898"/>
          </a:xfrm>
          <a:prstGeom prst="rect">
            <a:avLst/>
          </a:prstGeom>
          <a:noFill/>
          <a:ln/>
        </p:spPr>
        <p:txBody>
          <a:bodyPr wrap="square" lIns="0" tIns="0" rIns="0" bIns="0" rtlCol="0" anchor="t">
            <a:normAutofit/>
          </a:bodyPr>
          <a:lstStyle/>
          <a:p>
            <a:pPr algn="l" indent="0" marL="0">
              <a:lnSpc>
                <a:spcPct val="122000"/>
              </a:lnSpc>
              <a:buNone/>
            </a:pPr>
            <a:r>
              <a:rPr lang="en-US" sz="1050" dirty="0">
                <a:solidFill>
                  <a:srgbClr val="FFFFFF"/>
                </a:solidFill>
                <a:highlight>
                  <a:srgbClr val="583592"/>
                </a:highlight>
                <a:latin typeface="Consolas" pitchFamily="34" charset="0"/>
                <a:ea typeface="Consolas" pitchFamily="34" charset="-122"/>
                <a:cs typeface="Consolas" pitchFamily="34" charset="-120"/>
              </a:rPr>
              <a:t>df["col"].astype()</a:t>
            </a:r>
            <a:pPr algn="l" indent="0" marL="0">
              <a:lnSpc>
                <a:spcPct val="122000"/>
              </a:lnSpc>
              <a:buNone/>
            </a:pPr>
            <a:r>
              <a:rPr lang="en-US" sz="1050" dirty="0">
                <a:solidFill>
                  <a:srgbClr val="FFFFFF"/>
                </a:solidFill>
                <a:latin typeface="Manrope" pitchFamily="34" charset="0"/>
                <a:ea typeface="Manrope" pitchFamily="34" charset="-122"/>
                <a:cs typeface="Manrope" pitchFamily="34" charset="-120"/>
              </a:rPr>
              <a:t> · </a:t>
            </a:r>
            <a:pPr algn="l" indent="0" marL="0">
              <a:lnSpc>
                <a:spcPct val="122000"/>
              </a:lnSpc>
              <a:buNone/>
            </a:pPr>
            <a:r>
              <a:rPr lang="en-US" sz="1050" dirty="0">
                <a:solidFill>
                  <a:srgbClr val="FFFFFF"/>
                </a:solidFill>
                <a:highlight>
                  <a:srgbClr val="583592"/>
                </a:highlight>
                <a:latin typeface="Consolas" pitchFamily="34" charset="0"/>
                <a:ea typeface="Consolas" pitchFamily="34" charset="-122"/>
                <a:cs typeface="Consolas" pitchFamily="34" charset="-120"/>
              </a:rPr>
              <a:t>pd.to_datetime()</a:t>
            </a:r>
            <a:pPr algn="l" indent="0" marL="0">
              <a:lnSpc>
                <a:spcPct val="122000"/>
              </a:lnSpc>
              <a:buNone/>
            </a:pPr>
            <a:r>
              <a:rPr lang="en-US" sz="1050" dirty="0">
                <a:solidFill>
                  <a:srgbClr val="FFFFFF"/>
                </a:solidFill>
                <a:latin typeface="Manrope" pitchFamily="34" charset="0"/>
                <a:ea typeface="Manrope" pitchFamily="34" charset="-122"/>
                <a:cs typeface="Manrope" pitchFamily="34" charset="-120"/>
              </a:rPr>
              <a:t> · </a:t>
            </a:r>
            <a:pPr algn="l" indent="0" marL="0">
              <a:lnSpc>
                <a:spcPct val="122000"/>
              </a:lnSpc>
              <a:buNone/>
            </a:pPr>
            <a:r>
              <a:rPr lang="en-US" sz="1050" dirty="0">
                <a:solidFill>
                  <a:srgbClr val="FFFFFF"/>
                </a:solidFill>
                <a:highlight>
                  <a:srgbClr val="583592"/>
                </a:highlight>
                <a:latin typeface="Consolas" pitchFamily="34" charset="0"/>
                <a:ea typeface="Consolas" pitchFamily="34" charset="-122"/>
                <a:cs typeface="Consolas" pitchFamily="34" charset="-120"/>
              </a:rPr>
              <a:t>str.strip()</a:t>
            </a:r>
            <a:endParaRPr lang="en-US" sz="1050" dirty="0"/>
          </a:p>
        </p:txBody>
      </p:sp>
      <p:sp>
        <p:nvSpPr>
          <p:cNvPr id="17" name="Shape 15"/>
          <p:cNvSpPr/>
          <p:nvPr/>
        </p:nvSpPr>
        <p:spPr>
          <a:xfrm>
            <a:off x="2455206" y="4062512"/>
            <a:ext cx="1678045" cy="19050"/>
          </a:xfrm>
          <a:prstGeom prst="rect">
            <a:avLst/>
          </a:prstGeom>
          <a:solidFill>
            <a:srgbClr val="B499E9"/>
          </a:solidFill>
          <a:ln/>
        </p:spPr>
      </p:sp>
      <p:sp>
        <p:nvSpPr>
          <p:cNvPr id="18" name="Text 16"/>
          <p:cNvSpPr/>
          <p:nvPr/>
        </p:nvSpPr>
        <p:spPr>
          <a:xfrm>
            <a:off x="2455206" y="4169767"/>
            <a:ext cx="1678045" cy="216098"/>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Combinar</a:t>
            </a:r>
            <a:endParaRPr lang="en-US" sz="1350" dirty="0"/>
          </a:p>
        </p:txBody>
      </p:sp>
      <p:sp>
        <p:nvSpPr>
          <p:cNvPr id="19" name="Text 17"/>
          <p:cNvSpPr/>
          <p:nvPr/>
        </p:nvSpPr>
        <p:spPr>
          <a:xfrm>
            <a:off x="2455206" y="4501654"/>
            <a:ext cx="1678045" cy="203299"/>
          </a:xfrm>
          <a:prstGeom prst="rect">
            <a:avLst/>
          </a:prstGeom>
          <a:noFill/>
          <a:ln/>
        </p:spPr>
        <p:txBody>
          <a:bodyPr wrap="none" lIns="0" tIns="0" rIns="0" bIns="0" rtlCol="0" anchor="t"/>
          <a:lstStyle/>
          <a:p>
            <a:pPr algn="l" indent="0" marL="0">
              <a:lnSpc>
                <a:spcPct val="122000"/>
              </a:lnSpc>
              <a:buNone/>
            </a:pPr>
            <a:r>
              <a:rPr lang="en-US" sz="1050" dirty="0">
                <a:solidFill>
                  <a:srgbClr val="FFFFFF"/>
                </a:solidFill>
                <a:highlight>
                  <a:srgbClr val="583592"/>
                </a:highlight>
                <a:latin typeface="Consolas" pitchFamily="34" charset="0"/>
                <a:ea typeface="Consolas" pitchFamily="34" charset="-122"/>
                <a:cs typeface="Consolas" pitchFamily="34" charset="-120"/>
              </a:rPr>
              <a:t>df.merge()</a:t>
            </a:r>
            <a:pPr algn="l" indent="0" marL="0">
              <a:lnSpc>
                <a:spcPct val="122000"/>
              </a:lnSpc>
              <a:buNone/>
            </a:pPr>
            <a:r>
              <a:rPr lang="en-US" sz="1050" dirty="0">
                <a:solidFill>
                  <a:srgbClr val="FFFFFF"/>
                </a:solidFill>
                <a:latin typeface="Manrope" pitchFamily="34" charset="0"/>
                <a:ea typeface="Manrope" pitchFamily="34" charset="-122"/>
                <a:cs typeface="Manrope" pitchFamily="34" charset="-120"/>
              </a:rPr>
              <a:t> · </a:t>
            </a:r>
            <a:pPr algn="l" indent="0" marL="0">
              <a:lnSpc>
                <a:spcPct val="122000"/>
              </a:lnSpc>
              <a:buNone/>
            </a:pPr>
            <a:r>
              <a:rPr lang="en-US" sz="1050" dirty="0">
                <a:solidFill>
                  <a:srgbClr val="FFFFFF"/>
                </a:solidFill>
                <a:highlight>
                  <a:srgbClr val="583592"/>
                </a:highlight>
                <a:latin typeface="Consolas" pitchFamily="34" charset="0"/>
                <a:ea typeface="Consolas" pitchFamily="34" charset="-122"/>
                <a:cs typeface="Consolas" pitchFamily="34" charset="-120"/>
              </a:rPr>
              <a:t>pd.concat()</a:t>
            </a:r>
            <a:endParaRPr lang="en-US" sz="1050" dirty="0"/>
          </a:p>
        </p:txBody>
      </p:sp>
      <p:sp>
        <p:nvSpPr>
          <p:cNvPr id="20" name="Shape 18"/>
          <p:cNvSpPr/>
          <p:nvPr/>
        </p:nvSpPr>
        <p:spPr>
          <a:xfrm>
            <a:off x="4249036" y="4062512"/>
            <a:ext cx="1678045" cy="19050"/>
          </a:xfrm>
          <a:prstGeom prst="rect">
            <a:avLst/>
          </a:prstGeom>
          <a:solidFill>
            <a:srgbClr val="B499E9"/>
          </a:solidFill>
          <a:ln/>
        </p:spPr>
      </p:sp>
      <p:sp>
        <p:nvSpPr>
          <p:cNvPr id="21" name="Text 19"/>
          <p:cNvSpPr/>
          <p:nvPr/>
        </p:nvSpPr>
        <p:spPr>
          <a:xfrm>
            <a:off x="4249036" y="4169767"/>
            <a:ext cx="1678045" cy="216098"/>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Exportar</a:t>
            </a:r>
            <a:endParaRPr lang="en-US" sz="1350" dirty="0"/>
          </a:p>
        </p:txBody>
      </p:sp>
      <p:sp>
        <p:nvSpPr>
          <p:cNvPr id="22" name="Text 20"/>
          <p:cNvSpPr/>
          <p:nvPr/>
        </p:nvSpPr>
        <p:spPr>
          <a:xfrm>
            <a:off x="4249036" y="4501654"/>
            <a:ext cx="1678045" cy="406598"/>
          </a:xfrm>
          <a:prstGeom prst="rect">
            <a:avLst/>
          </a:prstGeom>
          <a:noFill/>
          <a:ln/>
        </p:spPr>
        <p:txBody>
          <a:bodyPr wrap="square" lIns="0" tIns="0" rIns="0" bIns="0" rtlCol="0" anchor="t">
            <a:normAutofit/>
          </a:bodyPr>
          <a:lstStyle/>
          <a:p>
            <a:pPr algn="l" indent="0" marL="0">
              <a:lnSpc>
                <a:spcPct val="122000"/>
              </a:lnSpc>
              <a:buNone/>
            </a:pPr>
            <a:r>
              <a:rPr lang="en-US" sz="1050" dirty="0">
                <a:solidFill>
                  <a:srgbClr val="FFFFFF"/>
                </a:solidFill>
                <a:highlight>
                  <a:srgbClr val="583592"/>
                </a:highlight>
                <a:latin typeface="Consolas" pitchFamily="34" charset="0"/>
                <a:ea typeface="Consolas" pitchFamily="34" charset="-122"/>
                <a:cs typeface="Consolas" pitchFamily="34" charset="-120"/>
              </a:rPr>
              <a:t>df.to_parquet()</a:t>
            </a:r>
            <a:pPr algn="l" indent="0" marL="0">
              <a:lnSpc>
                <a:spcPct val="122000"/>
              </a:lnSpc>
              <a:buNone/>
            </a:pPr>
            <a:r>
              <a:rPr lang="en-US" sz="1050" dirty="0">
                <a:solidFill>
                  <a:srgbClr val="FFFFFF"/>
                </a:solidFill>
                <a:latin typeface="Manrope" pitchFamily="34" charset="0"/>
                <a:ea typeface="Manrope" pitchFamily="34" charset="-122"/>
                <a:cs typeface="Manrope" pitchFamily="34" charset="-120"/>
              </a:rPr>
              <a:t> · </a:t>
            </a:r>
            <a:pPr algn="l" indent="0" marL="0">
              <a:lnSpc>
                <a:spcPct val="122000"/>
              </a:lnSpc>
              <a:buNone/>
            </a:pPr>
            <a:r>
              <a:rPr lang="en-US" sz="1050" dirty="0">
                <a:solidFill>
                  <a:srgbClr val="FFFFFF"/>
                </a:solidFill>
                <a:highlight>
                  <a:srgbClr val="583592"/>
                </a:highlight>
                <a:latin typeface="Consolas" pitchFamily="34" charset="0"/>
                <a:ea typeface="Consolas" pitchFamily="34" charset="-122"/>
                <a:cs typeface="Consolas" pitchFamily="34" charset="-120"/>
              </a:rPr>
              <a:t>df.to_csv()</a:t>
            </a:r>
            <a:pPr algn="l" indent="0" marL="0">
              <a:lnSpc>
                <a:spcPct val="122000"/>
              </a:lnSpc>
              <a:buNone/>
            </a:pPr>
            <a:r>
              <a:rPr lang="en-US" sz="1050" dirty="0">
                <a:solidFill>
                  <a:srgbClr val="FFFFFF"/>
                </a:solidFill>
                <a:latin typeface="Manrope" pitchFamily="34" charset="0"/>
                <a:ea typeface="Manrope" pitchFamily="34" charset="-122"/>
                <a:cs typeface="Manrope" pitchFamily="34" charset="-120"/>
              </a:rPr>
              <a:t> · </a:t>
            </a:r>
            <a:pPr algn="l" indent="0" marL="0">
              <a:lnSpc>
                <a:spcPct val="122000"/>
              </a:lnSpc>
              <a:buNone/>
            </a:pPr>
            <a:r>
              <a:rPr lang="en-US" sz="1050" dirty="0">
                <a:solidFill>
                  <a:srgbClr val="FFFFFF"/>
                </a:solidFill>
                <a:highlight>
                  <a:srgbClr val="583592"/>
                </a:highlight>
                <a:latin typeface="Consolas" pitchFamily="34" charset="0"/>
                <a:ea typeface="Consolas" pitchFamily="34" charset="-122"/>
                <a:cs typeface="Consolas" pitchFamily="34" charset="-120"/>
              </a:rPr>
              <a:t>df.to_sql()</a:t>
            </a:r>
            <a:endParaRPr lang="en-US" sz="1050" dirty="0"/>
          </a:p>
        </p:txBody>
      </p:sp>
      <p:sp>
        <p:nvSpPr>
          <p:cNvPr id="23" name="Text 21"/>
          <p:cNvSpPr/>
          <p:nvPr/>
        </p:nvSpPr>
        <p:spPr>
          <a:xfrm>
            <a:off x="6270964" y="2015629"/>
            <a:ext cx="5265606" cy="216098"/>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Primeras operaciones de inspección</a:t>
            </a:r>
            <a:endParaRPr lang="en-US" sz="1350" dirty="0"/>
          </a:p>
        </p:txBody>
      </p:sp>
      <p:sp>
        <p:nvSpPr>
          <p:cNvPr id="24" name="Shape 22"/>
          <p:cNvSpPr/>
          <p:nvPr/>
        </p:nvSpPr>
        <p:spPr>
          <a:xfrm>
            <a:off x="6270964" y="2361902"/>
            <a:ext cx="5265606" cy="3377009"/>
          </a:xfrm>
          <a:prstGeom prst="roundRect">
            <a:avLst>
              <a:gd name="adj" fmla="val 6147"/>
            </a:avLst>
          </a:prstGeom>
          <a:solidFill>
            <a:srgbClr val="583592"/>
          </a:solidFill>
          <a:ln/>
        </p:spPr>
      </p:sp>
      <p:sp>
        <p:nvSpPr>
          <p:cNvPr id="25" name="Text 23"/>
          <p:cNvSpPr/>
          <p:nvPr/>
        </p:nvSpPr>
        <p:spPr>
          <a:xfrm>
            <a:off x="6436953" y="2500213"/>
            <a:ext cx="4933628" cy="3100388"/>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FFA657"/>
                </a:solidFill>
                <a:latin typeface="Consolas" pitchFamily="34" charset="0"/>
                <a:ea typeface="Consolas" pitchFamily="34" charset="-122"/>
                <a:cs typeface="Consolas" pitchFamily="34" charset="-120"/>
              </a:rPr>
              <a:t>df = pd.read_csv("ventas.csv")</a:t>
            </a:r>
            <a:endParaRPr lang="en-US" sz="1050" dirty="0"/>
          </a:p>
          <a:p>
            <a:pPr algn="l" indent="0" marL="0">
              <a:lnSpc>
                <a:spcPct val="133000"/>
              </a:lnSpc>
              <a:buNone/>
            </a:pPr>
            <a:r>
              <a:rPr lang="en-US" sz="1050" dirty="0">
                <a:solidFill>
                  <a:srgbClr val="FFA657"/>
                </a:solidFill>
                <a:latin typeface="Consolas" pitchFamily="34" charset="0"/>
                <a:ea typeface="Consolas" pitchFamily="34" charset="-122"/>
                <a:cs typeface="Consolas" pitchFamily="34" charset="-120"/>
              </a:rPr>
              <a:t># Estructura general</a:t>
            </a:r>
            <a:endParaRPr lang="en-US" sz="1050" dirty="0"/>
          </a:p>
          <a:p>
            <a:pPr algn="l" indent="0" marL="0">
              <a:lnSpc>
                <a:spcPct val="133000"/>
              </a:lnSpc>
              <a:buNone/>
            </a:pPr>
            <a:r>
              <a:rPr lang="en-US" sz="1050" dirty="0">
                <a:solidFill>
                  <a:srgbClr val="FFA657"/>
                </a:solidFill>
                <a:latin typeface="Consolas" pitchFamily="34" charset="0"/>
                <a:ea typeface="Consolas" pitchFamily="34" charset="-122"/>
                <a:cs typeface="Consolas" pitchFamily="34" charset="-120"/>
              </a:rPr>
              <a:t>df.info()</a:t>
            </a:r>
            <a:endParaRPr lang="en-US" sz="1050" dirty="0"/>
          </a:p>
          <a:p>
            <a:pPr algn="l" indent="0" marL="0">
              <a:lnSpc>
                <a:spcPct val="133000"/>
              </a:lnSpc>
              <a:buNone/>
            </a:pPr>
            <a:r>
              <a:rPr lang="en-US" sz="1050" dirty="0">
                <a:solidFill>
                  <a:srgbClr val="FFA657"/>
                </a:solidFill>
                <a:latin typeface="Consolas" pitchFamily="34" charset="0"/>
                <a:ea typeface="Consolas" pitchFamily="34" charset="-122"/>
                <a:cs typeface="Consolas" pitchFamily="34" charset="-120"/>
              </a:rPr>
              <a:t># RangeIndex: 100000 entries</a:t>
            </a:r>
            <a:endParaRPr lang="en-US" sz="1050" dirty="0"/>
          </a:p>
          <a:p>
            <a:pPr algn="l" indent="0" marL="0">
              <a:lnSpc>
                <a:spcPct val="133000"/>
              </a:lnSpc>
              <a:buNone/>
            </a:pPr>
            <a:r>
              <a:rPr lang="en-US" sz="1050" dirty="0">
                <a:solidFill>
                  <a:srgbClr val="FFA657"/>
                </a:solidFill>
                <a:latin typeface="Consolas" pitchFamily="34" charset="0"/>
                <a:ea typeface="Consolas" pitchFamily="34" charset="-122"/>
                <a:cs typeface="Consolas" pitchFamily="34" charset="-120"/>
              </a:rPr>
              <a:t># Data columns (5 total):</a:t>
            </a:r>
            <a:endParaRPr lang="en-US" sz="1050" dirty="0"/>
          </a:p>
          <a:p>
            <a:pPr algn="l" indent="0" marL="0">
              <a:lnSpc>
                <a:spcPct val="133000"/>
              </a:lnSpc>
              <a:buNone/>
            </a:pPr>
            <a:r>
              <a:rPr lang="en-US" sz="1050" dirty="0">
                <a:solidFill>
                  <a:srgbClr val="FFA657"/>
                </a:solidFill>
                <a:latin typeface="Consolas" pitchFamily="34" charset="0"/>
                <a:ea typeface="Consolas" pitchFamily="34" charset="-122"/>
                <a:cs typeface="Consolas" pitchFamily="34" charset="-120"/>
              </a:rPr>
              <a:t># order_id 100000 non-null object</a:t>
            </a:r>
            <a:endParaRPr lang="en-US" sz="1050" dirty="0"/>
          </a:p>
          <a:p>
            <a:pPr algn="l" indent="0" marL="0">
              <a:lnSpc>
                <a:spcPct val="133000"/>
              </a:lnSpc>
              <a:buNone/>
            </a:pPr>
            <a:r>
              <a:rPr lang="en-US" sz="1050" dirty="0">
                <a:solidFill>
                  <a:srgbClr val="FFA657"/>
                </a:solidFill>
                <a:latin typeface="Consolas" pitchFamily="34" charset="0"/>
                <a:ea typeface="Consolas" pitchFamily="34" charset="-122"/>
                <a:cs typeface="Consolas" pitchFamily="34" charset="-120"/>
              </a:rPr>
              <a:t># customer_id 100000 non-null object</a:t>
            </a:r>
            <a:endParaRPr lang="en-US" sz="1050" dirty="0"/>
          </a:p>
          <a:p>
            <a:pPr algn="l" indent="0" marL="0">
              <a:lnSpc>
                <a:spcPct val="133000"/>
              </a:lnSpc>
              <a:buNone/>
            </a:pPr>
            <a:r>
              <a:rPr lang="en-US" sz="1050" dirty="0">
                <a:solidFill>
                  <a:srgbClr val="FFA657"/>
                </a:solidFill>
                <a:latin typeface="Consolas" pitchFamily="34" charset="0"/>
                <a:ea typeface="Consolas" pitchFamily="34" charset="-122"/>
                <a:cs typeface="Consolas" pitchFamily="34" charset="-120"/>
              </a:rPr>
              <a:t># ...</a:t>
            </a:r>
            <a:endParaRPr lang="en-US" sz="1050" dirty="0"/>
          </a:p>
          <a:p>
            <a:pPr algn="l" indent="0" marL="0">
              <a:lnSpc>
                <a:spcPct val="133000"/>
              </a:lnSpc>
              <a:buNone/>
            </a:pPr>
            <a:r>
              <a:rPr lang="en-US" sz="1050" dirty="0">
                <a:solidFill>
                  <a:srgbClr val="FFA657"/>
                </a:solidFill>
                <a:latin typeface="Consolas" pitchFamily="34" charset="0"/>
                <a:ea typeface="Consolas" pitchFamily="34" charset="-122"/>
                <a:cs typeface="Consolas" pitchFamily="34" charset="-120"/>
              </a:rPr>
              <a:t># Primeras filas</a:t>
            </a:r>
            <a:endParaRPr lang="en-US" sz="1050" dirty="0"/>
          </a:p>
          <a:p>
            <a:pPr algn="l" indent="0" marL="0">
              <a:lnSpc>
                <a:spcPct val="133000"/>
              </a:lnSpc>
              <a:buNone/>
            </a:pPr>
            <a:r>
              <a:rPr lang="en-US" sz="1050" dirty="0">
                <a:solidFill>
                  <a:srgbClr val="FFA657"/>
                </a:solidFill>
                <a:latin typeface="Consolas" pitchFamily="34" charset="0"/>
                <a:ea typeface="Consolas" pitchFamily="34" charset="-122"/>
                <a:cs typeface="Consolas" pitchFamily="34" charset="-120"/>
              </a:rPr>
              <a:t>df.head()</a:t>
            </a:r>
            <a:endParaRPr lang="en-US" sz="1050" dirty="0"/>
          </a:p>
          <a:p>
            <a:pPr algn="l" indent="0" marL="0">
              <a:lnSpc>
                <a:spcPct val="133000"/>
              </a:lnSpc>
              <a:buNone/>
            </a:pPr>
            <a:r>
              <a:rPr lang="en-US" sz="1050" dirty="0">
                <a:solidFill>
                  <a:srgbClr val="FFA657"/>
                </a:solidFill>
                <a:latin typeface="Consolas" pitchFamily="34" charset="0"/>
                <a:ea typeface="Consolas" pitchFamily="34" charset="-122"/>
                <a:cs typeface="Consolas" pitchFamily="34" charset="-120"/>
              </a:rPr>
              <a:t># Nulos por columna</a:t>
            </a:r>
            <a:endParaRPr lang="en-US" sz="1050" dirty="0"/>
          </a:p>
          <a:p>
            <a:pPr algn="l" indent="0" marL="0">
              <a:lnSpc>
                <a:spcPct val="133000"/>
              </a:lnSpc>
              <a:buNone/>
            </a:pPr>
            <a:r>
              <a:rPr lang="en-US" sz="1050" dirty="0">
                <a:solidFill>
                  <a:srgbClr val="FFA657"/>
                </a:solidFill>
                <a:latin typeface="Consolas" pitchFamily="34" charset="0"/>
                <a:ea typeface="Consolas" pitchFamily="34" charset="-122"/>
                <a:cs typeface="Consolas" pitchFamily="34" charset="-120"/>
              </a:rPr>
              <a:t>df.isna().sum()</a:t>
            </a:r>
            <a:endParaRPr lang="en-US" sz="1050" dirty="0"/>
          </a:p>
          <a:p>
            <a:pPr algn="l" indent="0" marL="0">
              <a:lnSpc>
                <a:spcPct val="133000"/>
              </a:lnSpc>
              <a:buNone/>
            </a:pPr>
            <a:r>
              <a:rPr lang="en-US" sz="1050" dirty="0">
                <a:solidFill>
                  <a:srgbClr val="FFA657"/>
                </a:solidFill>
                <a:latin typeface="Consolas" pitchFamily="34" charset="0"/>
                <a:ea typeface="Consolas" pitchFamily="34" charset="-122"/>
                <a:cs typeface="Consolas" pitchFamily="34" charset="-120"/>
              </a:rPr>
              <a:t># Estadísticas básicas</a:t>
            </a:r>
            <a:endParaRPr lang="en-US" sz="1050" dirty="0"/>
          </a:p>
          <a:p>
            <a:pPr algn="l" indent="0" marL="0">
              <a:lnSpc>
                <a:spcPct val="133000"/>
              </a:lnSpc>
              <a:buNone/>
            </a:pPr>
            <a:r>
              <a:rPr lang="en-US" sz="1050" dirty="0">
                <a:solidFill>
                  <a:srgbClr val="FFA657"/>
                </a:solidFill>
                <a:latin typeface="Consolas" pitchFamily="34" charset="0"/>
                <a:ea typeface="Consolas" pitchFamily="34" charset="-122"/>
                <a:cs typeface="Consolas" pitchFamily="34" charset="-120"/>
              </a:rPr>
              <a:t>df.describe()</a:t>
            </a:r>
            <a:endParaRPr lang="en-US" sz="1050" dirty="0"/>
          </a:p>
        </p:txBody>
      </p:sp>
      <p:pic>
        <p:nvPicPr>
          <p:cNvPr id="26"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27"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28" name="Text 24"/>
          <p:cNvSpPr/>
          <p:nvPr/>
        </p:nvSpPr>
        <p:spPr>
          <a:xfrm>
            <a:off x="10824991" y="6300589"/>
            <a:ext cx="1168272"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661475" y="988814"/>
            <a:ext cx="10868745" cy="345976"/>
          </a:xfrm>
          <a:prstGeom prst="rect">
            <a:avLst/>
          </a:prstGeom>
          <a:noFill/>
          <a:ln/>
        </p:spPr>
        <p:txBody>
          <a:bodyPr wrap="none" lIns="0" tIns="0" rIns="0" bIns="0" rtlCol="0" anchor="t"/>
          <a:lstStyle/>
          <a:p>
            <a:pPr algn="l" indent="0" marL="0">
              <a:lnSpc>
                <a:spcPct val="104000"/>
              </a:lnSpc>
              <a:buNone/>
            </a:pPr>
            <a:r>
              <a:rPr lang="en-US" sz="2150" spc="-22" kern="0" dirty="0">
                <a:solidFill>
                  <a:srgbClr val="FFFFFF"/>
                </a:solidFill>
                <a:latin typeface="Alexandria Medium" pitchFamily="34" charset="0"/>
                <a:ea typeface="Alexandria Medium" pitchFamily="34" charset="-122"/>
                <a:cs typeface="Alexandria Medium" pitchFamily="34" charset="-120"/>
              </a:rPr>
              <a:t>Polars: una alternativa moderna</a:t>
            </a:r>
            <a:endParaRPr lang="en-US" sz="2150" dirty="0"/>
          </a:p>
        </p:txBody>
      </p:sp>
      <p:sp>
        <p:nvSpPr>
          <p:cNvPr id="3" name="Text 1"/>
          <p:cNvSpPr/>
          <p:nvPr/>
        </p:nvSpPr>
        <p:spPr>
          <a:xfrm>
            <a:off x="661475" y="1566366"/>
            <a:ext cx="11478330" cy="203299"/>
          </a:xfrm>
          <a:prstGeom prst="rect">
            <a:avLst/>
          </a:prstGeom>
          <a:noFill/>
          <a:ln/>
        </p:spPr>
        <p:txBody>
          <a:bodyPr wrap="none" lIns="0" tIns="0" rIns="0" bIns="0" rtlCol="0" anchor="t"/>
          <a:lstStyle/>
          <a:p>
            <a:pPr algn="l" indent="0" marL="0">
              <a:lnSpc>
                <a:spcPct val="122000"/>
              </a:lnSpc>
              <a:buNone/>
            </a:pPr>
            <a:r>
              <a:rPr lang="en-US" sz="1050" dirty="0">
                <a:solidFill>
                  <a:srgbClr val="FFFFFF"/>
                </a:solidFill>
                <a:latin typeface="Manrope" pitchFamily="34" charset="0"/>
                <a:ea typeface="Manrope" pitchFamily="34" charset="-122"/>
                <a:cs typeface="Manrope" pitchFamily="34" charset="-120"/>
              </a:rPr>
              <a:t>Polars es una librería para manipulación de DataFrames pensada para el procesamiento eficiente de datos a escala.</a:t>
            </a:r>
            <a:endParaRPr lang="en-US" sz="1050" dirty="0"/>
          </a:p>
        </p:txBody>
      </p:sp>
      <p:sp>
        <p:nvSpPr>
          <p:cNvPr id="4" name="Text 2"/>
          <p:cNvSpPr/>
          <p:nvPr/>
        </p:nvSpPr>
        <p:spPr>
          <a:xfrm>
            <a:off x="661475" y="2015629"/>
            <a:ext cx="5265606" cy="216098"/>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Características conceptuales</a:t>
            </a:r>
            <a:endParaRPr lang="en-US" sz="1350" dirty="0"/>
          </a:p>
        </p:txBody>
      </p:sp>
      <p:sp>
        <p:nvSpPr>
          <p:cNvPr id="5" name="Shape 3"/>
          <p:cNvSpPr/>
          <p:nvPr/>
        </p:nvSpPr>
        <p:spPr>
          <a:xfrm>
            <a:off x="661475" y="2361902"/>
            <a:ext cx="2574861" cy="1231106"/>
          </a:xfrm>
          <a:prstGeom prst="roundRect">
            <a:avLst>
              <a:gd name="adj" fmla="val 16861"/>
            </a:avLst>
          </a:prstGeom>
          <a:solidFill>
            <a:srgbClr val="3F2077"/>
          </a:solidFill>
          <a:ln w="6350">
            <a:solidFill>
              <a:srgbClr val="4B3082"/>
            </a:solidFill>
            <a:prstDash val="solid"/>
          </a:ln>
        </p:spPr>
      </p:sp>
      <p:sp>
        <p:nvSpPr>
          <p:cNvPr id="6" name="Text 4"/>
          <p:cNvSpPr/>
          <p:nvPr/>
        </p:nvSpPr>
        <p:spPr>
          <a:xfrm>
            <a:off x="806132" y="2506563"/>
            <a:ext cx="2285546" cy="216098"/>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Implementada en Rust</a:t>
            </a:r>
            <a:endParaRPr lang="en-US" sz="1350" dirty="0"/>
          </a:p>
        </p:txBody>
      </p:sp>
      <p:sp>
        <p:nvSpPr>
          <p:cNvPr id="7" name="Text 5"/>
          <p:cNvSpPr/>
          <p:nvPr/>
        </p:nvSpPr>
        <p:spPr>
          <a:xfrm>
            <a:off x="806132" y="2838450"/>
            <a:ext cx="2285546" cy="609898"/>
          </a:xfrm>
          <a:prstGeom prst="rect">
            <a:avLst/>
          </a:prstGeom>
          <a:noFill/>
          <a:ln/>
        </p:spPr>
        <p:txBody>
          <a:bodyPr wrap="square" lIns="0" tIns="0" rIns="0" bIns="0" rtlCol="0" anchor="t">
            <a:normAutofit/>
          </a:bodyPr>
          <a:lstStyle/>
          <a:p>
            <a:pPr algn="l" indent="0" marL="0">
              <a:lnSpc>
                <a:spcPct val="122000"/>
              </a:lnSpc>
              <a:buNone/>
            </a:pPr>
            <a:r>
              <a:rPr lang="en-US" sz="1050" dirty="0">
                <a:solidFill>
                  <a:srgbClr val="FFFFFF"/>
                </a:solidFill>
                <a:latin typeface="Manrope" pitchFamily="34" charset="0"/>
                <a:ea typeface="Manrope" pitchFamily="34" charset="-122"/>
                <a:cs typeface="Manrope" pitchFamily="34" charset="-120"/>
              </a:rPr>
              <a:t>Lenguaje de sistemas de alto rendimiento. Mejor aprovechamiento del hardware.</a:t>
            </a:r>
            <a:endParaRPr lang="en-US" sz="1050" dirty="0"/>
          </a:p>
        </p:txBody>
      </p:sp>
      <p:sp>
        <p:nvSpPr>
          <p:cNvPr id="8" name="Shape 6"/>
          <p:cNvSpPr/>
          <p:nvPr/>
        </p:nvSpPr>
        <p:spPr>
          <a:xfrm>
            <a:off x="3352121" y="2361902"/>
            <a:ext cx="2574960" cy="1231106"/>
          </a:xfrm>
          <a:prstGeom prst="roundRect">
            <a:avLst>
              <a:gd name="adj" fmla="val 16861"/>
            </a:avLst>
          </a:prstGeom>
          <a:solidFill>
            <a:srgbClr val="3F2077"/>
          </a:solidFill>
          <a:ln w="6350">
            <a:solidFill>
              <a:srgbClr val="4B3082"/>
            </a:solidFill>
            <a:prstDash val="solid"/>
          </a:ln>
        </p:spPr>
      </p:sp>
      <p:sp>
        <p:nvSpPr>
          <p:cNvPr id="9" name="Text 7"/>
          <p:cNvSpPr/>
          <p:nvPr/>
        </p:nvSpPr>
        <p:spPr>
          <a:xfrm>
            <a:off x="3496778" y="2506563"/>
            <a:ext cx="2285645" cy="216098"/>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Ejecución paralela</a:t>
            </a:r>
            <a:endParaRPr lang="en-US" sz="1350" dirty="0"/>
          </a:p>
        </p:txBody>
      </p:sp>
      <p:sp>
        <p:nvSpPr>
          <p:cNvPr id="10" name="Text 8"/>
          <p:cNvSpPr/>
          <p:nvPr/>
        </p:nvSpPr>
        <p:spPr>
          <a:xfrm>
            <a:off x="3496778" y="2838450"/>
            <a:ext cx="2285645" cy="609898"/>
          </a:xfrm>
          <a:prstGeom prst="rect">
            <a:avLst/>
          </a:prstGeom>
          <a:noFill/>
          <a:ln/>
        </p:spPr>
        <p:txBody>
          <a:bodyPr wrap="square" lIns="0" tIns="0" rIns="0" bIns="0" rtlCol="0" anchor="t">
            <a:normAutofit/>
          </a:bodyPr>
          <a:lstStyle/>
          <a:p>
            <a:pPr algn="l" indent="0" marL="0">
              <a:lnSpc>
                <a:spcPct val="122000"/>
              </a:lnSpc>
              <a:buNone/>
            </a:pPr>
            <a:r>
              <a:rPr lang="en-US" sz="1050" dirty="0">
                <a:solidFill>
                  <a:srgbClr val="FFFFFF"/>
                </a:solidFill>
                <a:latin typeface="Manrope" pitchFamily="34" charset="0"/>
                <a:ea typeface="Manrope" pitchFamily="34" charset="-122"/>
                <a:cs typeface="Manrope" pitchFamily="34" charset="-120"/>
              </a:rPr>
              <a:t>Usa todos los núcleos del procesador de forma nativa, sin configuración adicional.</a:t>
            </a:r>
            <a:endParaRPr lang="en-US" sz="1050" dirty="0"/>
          </a:p>
        </p:txBody>
      </p:sp>
      <p:sp>
        <p:nvSpPr>
          <p:cNvPr id="11" name="Shape 9"/>
          <p:cNvSpPr/>
          <p:nvPr/>
        </p:nvSpPr>
        <p:spPr>
          <a:xfrm>
            <a:off x="661475" y="3708797"/>
            <a:ext cx="2574861" cy="1231106"/>
          </a:xfrm>
          <a:prstGeom prst="roundRect">
            <a:avLst>
              <a:gd name="adj" fmla="val 16861"/>
            </a:avLst>
          </a:prstGeom>
          <a:solidFill>
            <a:srgbClr val="3F2077"/>
          </a:solidFill>
          <a:ln w="6350">
            <a:solidFill>
              <a:srgbClr val="4B3082"/>
            </a:solidFill>
            <a:prstDash val="solid"/>
          </a:ln>
        </p:spPr>
      </p:sp>
      <p:sp>
        <p:nvSpPr>
          <p:cNvPr id="12" name="Text 10"/>
          <p:cNvSpPr/>
          <p:nvPr/>
        </p:nvSpPr>
        <p:spPr>
          <a:xfrm>
            <a:off x="806132" y="3853458"/>
            <a:ext cx="2285546" cy="216098"/>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Lazy execution</a:t>
            </a:r>
            <a:endParaRPr lang="en-US" sz="1350" dirty="0"/>
          </a:p>
        </p:txBody>
      </p:sp>
      <p:sp>
        <p:nvSpPr>
          <p:cNvPr id="13" name="Text 11"/>
          <p:cNvSpPr/>
          <p:nvPr/>
        </p:nvSpPr>
        <p:spPr>
          <a:xfrm>
            <a:off x="806132" y="4185345"/>
            <a:ext cx="2285546" cy="609898"/>
          </a:xfrm>
          <a:prstGeom prst="rect">
            <a:avLst/>
          </a:prstGeom>
          <a:noFill/>
          <a:ln/>
        </p:spPr>
        <p:txBody>
          <a:bodyPr wrap="square" lIns="0" tIns="0" rIns="0" bIns="0" rtlCol="0" anchor="t">
            <a:normAutofit/>
          </a:bodyPr>
          <a:lstStyle/>
          <a:p>
            <a:pPr algn="l" indent="0" marL="0">
              <a:lnSpc>
                <a:spcPct val="122000"/>
              </a:lnSpc>
              <a:buNone/>
            </a:pPr>
            <a:r>
              <a:rPr lang="en-US" sz="1050" dirty="0">
                <a:solidFill>
                  <a:srgbClr val="FFFFFF"/>
                </a:solidFill>
                <a:latin typeface="Manrope" pitchFamily="34" charset="0"/>
                <a:ea typeface="Manrope" pitchFamily="34" charset="-122"/>
                <a:cs typeface="Manrope" pitchFamily="34" charset="-120"/>
              </a:rPr>
              <a:t>Construye un plan de consulta antes de ejecutarlo. Permite optimizaciones automáticas.</a:t>
            </a:r>
            <a:endParaRPr lang="en-US" sz="1050" dirty="0"/>
          </a:p>
        </p:txBody>
      </p:sp>
      <p:sp>
        <p:nvSpPr>
          <p:cNvPr id="14" name="Shape 12"/>
          <p:cNvSpPr/>
          <p:nvPr/>
        </p:nvSpPr>
        <p:spPr>
          <a:xfrm>
            <a:off x="3352121" y="3708797"/>
            <a:ext cx="2574960" cy="1231106"/>
          </a:xfrm>
          <a:prstGeom prst="roundRect">
            <a:avLst>
              <a:gd name="adj" fmla="val 16861"/>
            </a:avLst>
          </a:prstGeom>
          <a:solidFill>
            <a:srgbClr val="3F2077"/>
          </a:solidFill>
          <a:ln w="6350">
            <a:solidFill>
              <a:srgbClr val="4B3082"/>
            </a:solidFill>
            <a:prstDash val="solid"/>
          </a:ln>
        </p:spPr>
      </p:sp>
      <p:sp>
        <p:nvSpPr>
          <p:cNvPr id="15" name="Text 13"/>
          <p:cNvSpPr/>
          <p:nvPr/>
        </p:nvSpPr>
        <p:spPr>
          <a:xfrm>
            <a:off x="3496778" y="3853458"/>
            <a:ext cx="2285645" cy="216098"/>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Formatos columnares</a:t>
            </a:r>
            <a:endParaRPr lang="en-US" sz="1350" dirty="0"/>
          </a:p>
        </p:txBody>
      </p:sp>
      <p:sp>
        <p:nvSpPr>
          <p:cNvPr id="16" name="Text 14"/>
          <p:cNvSpPr/>
          <p:nvPr/>
        </p:nvSpPr>
        <p:spPr>
          <a:xfrm>
            <a:off x="3496778" y="4185345"/>
            <a:ext cx="2285645" cy="406598"/>
          </a:xfrm>
          <a:prstGeom prst="rect">
            <a:avLst/>
          </a:prstGeom>
          <a:noFill/>
          <a:ln/>
        </p:spPr>
        <p:txBody>
          <a:bodyPr wrap="square" lIns="0" tIns="0" rIns="0" bIns="0" rtlCol="0" anchor="t">
            <a:normAutofit/>
          </a:bodyPr>
          <a:lstStyle/>
          <a:p>
            <a:pPr algn="l" indent="0" marL="0">
              <a:lnSpc>
                <a:spcPct val="122000"/>
              </a:lnSpc>
              <a:buNone/>
            </a:pPr>
            <a:r>
              <a:rPr lang="en-US" sz="1050" dirty="0">
                <a:solidFill>
                  <a:srgbClr val="FFFFFF"/>
                </a:solidFill>
                <a:latin typeface="Manrope" pitchFamily="34" charset="0"/>
                <a:ea typeface="Manrope" pitchFamily="34" charset="-122"/>
                <a:cs typeface="Manrope" pitchFamily="34" charset="-120"/>
              </a:rPr>
              <a:t>Trabaja de forma nativa con Parquet y Arrow. Muy eficiente para análisis.</a:t>
            </a:r>
            <a:endParaRPr lang="en-US" sz="1050" dirty="0"/>
          </a:p>
        </p:txBody>
      </p:sp>
      <p:sp>
        <p:nvSpPr>
          <p:cNvPr id="17" name="Text 15"/>
          <p:cNvSpPr/>
          <p:nvPr/>
        </p:nvSpPr>
        <p:spPr>
          <a:xfrm>
            <a:off x="6270964" y="2015629"/>
            <a:ext cx="5265606" cy="216098"/>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Sintaxis básica</a:t>
            </a:r>
            <a:endParaRPr lang="en-US" sz="1350" dirty="0"/>
          </a:p>
        </p:txBody>
      </p:sp>
      <p:sp>
        <p:nvSpPr>
          <p:cNvPr id="18" name="Shape 16"/>
          <p:cNvSpPr/>
          <p:nvPr/>
        </p:nvSpPr>
        <p:spPr>
          <a:xfrm>
            <a:off x="6270964" y="2361902"/>
            <a:ext cx="5265606" cy="3377009"/>
          </a:xfrm>
          <a:prstGeom prst="roundRect">
            <a:avLst>
              <a:gd name="adj" fmla="val 6147"/>
            </a:avLst>
          </a:prstGeom>
          <a:solidFill>
            <a:srgbClr val="583592"/>
          </a:solidFill>
          <a:ln/>
        </p:spPr>
      </p:sp>
      <p:sp>
        <p:nvSpPr>
          <p:cNvPr id="19" name="Text 17"/>
          <p:cNvSpPr/>
          <p:nvPr/>
        </p:nvSpPr>
        <p:spPr>
          <a:xfrm>
            <a:off x="6436953" y="2500213"/>
            <a:ext cx="4933628" cy="3100388"/>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FF7B72"/>
                </a:solidFill>
                <a:latin typeface="Consolas" pitchFamily="34" charset="0"/>
                <a:ea typeface="Consolas" pitchFamily="34" charset="-122"/>
                <a:cs typeface="Consolas" pitchFamily="34" charset="-120"/>
              </a:rPr>
              <a:t>import polars as pl</a:t>
            </a:r>
            <a:endParaRPr lang="en-US" sz="1050" dirty="0"/>
          </a:p>
          <a:p>
            <a:pPr algn="l" indent="0" marL="0">
              <a:lnSpc>
                <a:spcPct val="133000"/>
              </a:lnSpc>
              <a:buNone/>
            </a:pPr>
            <a:r>
              <a:rPr lang="en-US" sz="1050" dirty="0">
                <a:solidFill>
                  <a:srgbClr val="FF7B72"/>
                </a:solidFill>
                <a:latin typeface="Consolas" pitchFamily="34" charset="0"/>
                <a:ea typeface="Consolas" pitchFamily="34" charset="-122"/>
                <a:cs typeface="Consolas" pitchFamily="34" charset="-120"/>
              </a:rPr>
              <a:t># Cargar un CSV</a:t>
            </a:r>
            <a:endParaRPr lang="en-US" sz="1050" dirty="0"/>
          </a:p>
          <a:p>
            <a:pPr algn="l" indent="0" marL="0">
              <a:lnSpc>
                <a:spcPct val="133000"/>
              </a:lnSpc>
              <a:buNone/>
            </a:pPr>
            <a:r>
              <a:rPr lang="en-US" sz="1050" dirty="0">
                <a:solidFill>
                  <a:srgbClr val="FF7B72"/>
                </a:solidFill>
                <a:latin typeface="Consolas" pitchFamily="34" charset="0"/>
                <a:ea typeface="Consolas" pitchFamily="34" charset="-122"/>
                <a:cs typeface="Consolas" pitchFamily="34" charset="-120"/>
              </a:rPr>
              <a:t>df = pl.read_csv("ventas.csv")</a:t>
            </a:r>
            <a:endParaRPr lang="en-US" sz="1050" dirty="0"/>
          </a:p>
          <a:p>
            <a:pPr algn="l" indent="0" marL="0">
              <a:lnSpc>
                <a:spcPct val="133000"/>
              </a:lnSpc>
              <a:buNone/>
            </a:pPr>
            <a:r>
              <a:rPr lang="en-US" sz="1050" dirty="0">
                <a:solidFill>
                  <a:srgbClr val="FF7B72"/>
                </a:solidFill>
                <a:latin typeface="Consolas" pitchFamily="34" charset="0"/>
                <a:ea typeface="Consolas" pitchFamily="34" charset="-122"/>
                <a:cs typeface="Consolas" pitchFamily="34" charset="-120"/>
              </a:rPr>
              <a:t># La API es distinta a Pandas</a:t>
            </a:r>
            <a:endParaRPr lang="en-US" sz="1050" dirty="0"/>
          </a:p>
          <a:p>
            <a:pPr algn="l" indent="0" marL="0">
              <a:lnSpc>
                <a:spcPct val="133000"/>
              </a:lnSpc>
              <a:buNone/>
            </a:pPr>
            <a:r>
              <a:rPr lang="en-US" sz="1050" dirty="0">
                <a:solidFill>
                  <a:srgbClr val="FF7B72"/>
                </a:solidFill>
                <a:latin typeface="Consolas" pitchFamily="34" charset="0"/>
                <a:ea typeface="Consolas" pitchFamily="34" charset="-122"/>
                <a:cs typeface="Consolas" pitchFamily="34" charset="-120"/>
              </a:rPr>
              <a:t># pero conceptualmente similar</a:t>
            </a:r>
            <a:endParaRPr lang="en-US" sz="1050" dirty="0"/>
          </a:p>
          <a:p>
            <a:pPr algn="l" indent="0" marL="0">
              <a:lnSpc>
                <a:spcPct val="133000"/>
              </a:lnSpc>
              <a:buNone/>
            </a:pPr>
            <a:r>
              <a:rPr lang="en-US" sz="1050" dirty="0">
                <a:solidFill>
                  <a:srgbClr val="FF7B72"/>
                </a:solidFill>
                <a:latin typeface="Consolas" pitchFamily="34" charset="0"/>
                <a:ea typeface="Consolas" pitchFamily="34" charset="-122"/>
                <a:cs typeface="Consolas" pitchFamily="34" charset="-120"/>
              </a:rPr>
              <a:t>df.head()</a:t>
            </a:r>
            <a:endParaRPr lang="en-US" sz="1050" dirty="0"/>
          </a:p>
          <a:p>
            <a:pPr algn="l" indent="0" marL="0">
              <a:lnSpc>
                <a:spcPct val="133000"/>
              </a:lnSpc>
              <a:buNone/>
            </a:pPr>
            <a:r>
              <a:rPr lang="en-US" sz="1050" dirty="0">
                <a:solidFill>
                  <a:srgbClr val="FF7B72"/>
                </a:solidFill>
                <a:latin typeface="Consolas" pitchFamily="34" charset="0"/>
                <a:ea typeface="Consolas" pitchFamily="34" charset="-122"/>
                <a:cs typeface="Consolas" pitchFamily="34" charset="-120"/>
              </a:rPr>
              <a:t>df.describe()</a:t>
            </a:r>
            <a:endParaRPr lang="en-US" sz="1050" dirty="0"/>
          </a:p>
          <a:p>
            <a:pPr algn="l" indent="0" marL="0">
              <a:lnSpc>
                <a:spcPct val="133000"/>
              </a:lnSpc>
              <a:buNone/>
            </a:pPr>
            <a:endParaRPr lang="en-US" sz="1050" dirty="0"/>
          </a:p>
          <a:p>
            <a:pPr algn="l" indent="0" marL="0">
              <a:lnSpc>
                <a:spcPct val="133000"/>
              </a:lnSpc>
              <a:buNone/>
            </a:pPr>
            <a:r>
              <a:rPr lang="en-US" sz="1050" dirty="0">
                <a:solidFill>
                  <a:srgbClr val="FF7B72"/>
                </a:solidFill>
                <a:latin typeface="Consolas" pitchFamily="34" charset="0"/>
                <a:ea typeface="Consolas" pitchFamily="34" charset="-122"/>
                <a:cs typeface="Consolas" pitchFamily="34" charset="-120"/>
              </a:rPr>
              <a:t># Lazy execution (plan primero)</a:t>
            </a:r>
            <a:endParaRPr lang="en-US" sz="1050" dirty="0"/>
          </a:p>
          <a:p>
            <a:pPr algn="l" indent="0" marL="0">
              <a:lnSpc>
                <a:spcPct val="133000"/>
              </a:lnSpc>
              <a:buNone/>
            </a:pPr>
            <a:r>
              <a:rPr lang="en-US" sz="1050" dirty="0">
                <a:solidFill>
                  <a:srgbClr val="FF7B72"/>
                </a:solidFill>
                <a:latin typeface="Consolas" pitchFamily="34" charset="0"/>
                <a:ea typeface="Consolas" pitchFamily="34" charset="-122"/>
                <a:cs typeface="Consolas" pitchFamily="34" charset="-120"/>
              </a:rPr>
              <a:t>resultado = (</a:t>
            </a:r>
            <a:endParaRPr lang="en-US" sz="1050" dirty="0"/>
          </a:p>
          <a:p>
            <a:pPr algn="l" indent="0" marL="0">
              <a:lnSpc>
                <a:spcPct val="133000"/>
              </a:lnSpc>
              <a:buNone/>
            </a:pPr>
            <a:r>
              <a:rPr lang="en-US" sz="1050" dirty="0">
                <a:solidFill>
                  <a:srgbClr val="FF7B72"/>
                </a:solidFill>
                <a:latin typeface="Consolas" pitchFamily="34" charset="0"/>
                <a:ea typeface="Consolas" pitchFamily="34" charset="-122"/>
                <a:cs typeface="Consolas" pitchFamily="34" charset="-120"/>
              </a:rPr>
              <a:t>    pl.scan_csv("ventas.csv")</a:t>
            </a:r>
            <a:endParaRPr lang="en-US" sz="1050" dirty="0"/>
          </a:p>
          <a:p>
            <a:pPr algn="l" indent="0" marL="0">
              <a:lnSpc>
                <a:spcPct val="133000"/>
              </a:lnSpc>
              <a:buNone/>
            </a:pPr>
            <a:r>
              <a:rPr lang="en-US" sz="1050" dirty="0">
                <a:solidFill>
                  <a:srgbClr val="FF7B72"/>
                </a:solidFill>
                <a:latin typeface="Consolas" pitchFamily="34" charset="0"/>
                <a:ea typeface="Consolas" pitchFamily="34" charset="-122"/>
                <a:cs typeface="Consolas" pitchFamily="34" charset="-120"/>
              </a:rPr>
              <a:t>    .filter(pl.col("total") &gt; 100)</a:t>
            </a:r>
            <a:endParaRPr lang="en-US" sz="1050" dirty="0"/>
          </a:p>
          <a:p>
            <a:pPr algn="l" indent="0" marL="0">
              <a:lnSpc>
                <a:spcPct val="133000"/>
              </a:lnSpc>
              <a:buNone/>
            </a:pPr>
            <a:r>
              <a:rPr lang="en-US" sz="1050" dirty="0">
                <a:solidFill>
                  <a:srgbClr val="FF7B72"/>
                </a:solidFill>
                <a:latin typeface="Consolas" pitchFamily="34" charset="0"/>
                <a:ea typeface="Consolas" pitchFamily="34" charset="-122"/>
                <a:cs typeface="Consolas" pitchFamily="34" charset="-120"/>
              </a:rPr>
              <a:t>    .collect()</a:t>
            </a:r>
            <a:endParaRPr lang="en-US" sz="1050" dirty="0"/>
          </a:p>
          <a:p>
            <a:pPr algn="l" indent="0" marL="0">
              <a:lnSpc>
                <a:spcPct val="133000"/>
              </a:lnSpc>
              <a:buNone/>
            </a:pPr>
            <a:r>
              <a:rPr lang="en-US" sz="1050" dirty="0">
                <a:solidFill>
                  <a:srgbClr val="FF7B72"/>
                </a:solidFill>
                <a:latin typeface="Consolas" pitchFamily="34" charset="0"/>
                <a:ea typeface="Consolas" pitchFamily="34" charset="-122"/>
                <a:cs typeface="Consolas" pitchFamily="34" charset="-120"/>
              </a:rPr>
              <a:t>)</a:t>
            </a:r>
            <a:endParaRPr lang="en-US" sz="1050" dirty="0"/>
          </a:p>
        </p:txBody>
      </p:sp>
      <p:pic>
        <p:nvPicPr>
          <p:cNvPr id="20"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21"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22" name="Text 18"/>
          <p:cNvSpPr/>
          <p:nvPr/>
        </p:nvSpPr>
        <p:spPr>
          <a:xfrm>
            <a:off x="10820030" y="6300589"/>
            <a:ext cx="1173232"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661475" y="1031974"/>
            <a:ext cx="10868745" cy="392708"/>
          </a:xfrm>
          <a:prstGeom prst="rect">
            <a:avLst/>
          </a:prstGeom>
          <a:noFill/>
          <a:ln/>
        </p:spPr>
        <p:txBody>
          <a:bodyPr wrap="none" lIns="0" tIns="0" rIns="0" bIns="0" rtlCol="0" anchor="t"/>
          <a:lstStyle/>
          <a:p>
            <a:pPr algn="l" indent="0" marL="0">
              <a:lnSpc>
                <a:spcPct val="104000"/>
              </a:lnSpc>
              <a:buNone/>
            </a:pPr>
            <a:r>
              <a:rPr lang="en-US" sz="2450" spc="-25" kern="0" dirty="0">
                <a:solidFill>
                  <a:srgbClr val="FFFFFF"/>
                </a:solidFill>
                <a:latin typeface="Alexandria Medium" pitchFamily="34" charset="0"/>
                <a:ea typeface="Alexandria Medium" pitchFamily="34" charset="-122"/>
                <a:cs typeface="Alexandria Medium" pitchFamily="34" charset="-120"/>
              </a:rPr>
              <a:t>¿Pandas o Polars?</a:t>
            </a:r>
            <a:endParaRPr lang="en-US" sz="245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661475" y="1723132"/>
          <a:ext cx="9143771" cy="914400"/>
        </p:xfrm>
        <a:graphic>
          <a:graphicData uri="http://schemas.openxmlformats.org/drawingml/2006/table">
            <a:tbl>
              <a:tblPr/>
              <a:tblGrid>
                <a:gridCol w="3804061"/>
                <a:gridCol w="3477999"/>
                <a:gridCol w="3586686"/>
              </a:tblGrid>
              <a:tr h="440024">
                <a:tc>
                  <a:txBody>
                    <a:bodyPr/>
                    <a:lstStyle/>
                    <a:p>
                      <a:pPr indent="0" marL="0">
                        <a:buNone/>
                      </a:pPr>
                      <a:r>
                        <a:rPr lang="en-US" sz="1200" b="1" dirty="0">
                          <a:solidFill>
                            <a:srgbClr val="FFFFFF"/>
                          </a:solidFill>
                          <a:latin typeface="Manrope" pitchFamily="34" charset="0"/>
                          <a:ea typeface="Manrope" pitchFamily="34" charset="-122"/>
                          <a:cs typeface="Manrope" pitchFamily="34" charset="-120"/>
                        </a:rPr>
                        <a:t>Aspecto</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c>
                  <a:txBody>
                    <a:bodyPr/>
                    <a:lstStyle/>
                    <a:p>
                      <a:pPr indent="0" marL="0">
                        <a:buNone/>
                      </a:pPr>
                      <a:r>
                        <a:rPr lang="en-US" sz="1200" b="1" dirty="0">
                          <a:solidFill>
                            <a:srgbClr val="FFFFFF"/>
                          </a:solidFill>
                          <a:latin typeface="Manrope" pitchFamily="34" charset="0"/>
                          <a:ea typeface="Manrope" pitchFamily="34" charset="-122"/>
                          <a:cs typeface="Manrope" pitchFamily="34" charset="-120"/>
                        </a:rPr>
                        <a:t>Pandas</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c>
                  <a:txBody>
                    <a:bodyPr/>
                    <a:lstStyle/>
                    <a:p>
                      <a:pPr indent="0" marL="0">
                        <a:buNone/>
                      </a:pPr>
                      <a:r>
                        <a:rPr lang="en-US" sz="1200" b="1" dirty="0">
                          <a:solidFill>
                            <a:srgbClr val="FFFFFF"/>
                          </a:solidFill>
                          <a:latin typeface="Manrope" pitchFamily="34" charset="0"/>
                          <a:ea typeface="Manrope" pitchFamily="34" charset="-122"/>
                          <a:cs typeface="Manrope" pitchFamily="34" charset="-120"/>
                        </a:rPr>
                        <a:t>Polars</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r>
              <a:tr h="443199">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Ecosistema</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Muy amplio, maduro</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Moderno, en crecimiento</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443199">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Facilidad para principiantes</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Muy alta</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Alta</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443199">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Paralelización</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Limitada</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Nativa</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443199">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Lazy execution</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No como modelo principal</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Sí, nativo</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443199">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Compatibilidad con librerías ML</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Muy alta</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Creciendo</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440024">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Uso en esta unidad (RA1)</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b="1" dirty="0">
                          <a:solidFill>
                            <a:srgbClr val="FFFFFF"/>
                          </a:solidFill>
                          <a:latin typeface="Manrope" pitchFamily="34" charset="0"/>
                          <a:ea typeface="Manrope" pitchFamily="34" charset="-122"/>
                          <a:cs typeface="Manrope" pitchFamily="34" charset="-120"/>
                        </a:rPr>
                        <a:t>Principal</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Introducción conceptual</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bl>
          </a:graphicData>
        </a:graphic>
      </p:graphicFrame>
      <p:sp>
        <p:nvSpPr>
          <p:cNvPr id="4" name="Text 1"/>
          <p:cNvSpPr/>
          <p:nvPr/>
        </p:nvSpPr>
        <p:spPr>
          <a:xfrm>
            <a:off x="897113" y="5167709"/>
            <a:ext cx="10633107" cy="49033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No es una competición. Son herramientas con enfoques distintos. Para el trabajo diario con datos de tamaño moderado, Pandas es la opción habitual. Para pipelines de gran escala, Polars puede ser una mejor elección.</a:t>
            </a:r>
            <a:endParaRPr lang="en-US" sz="1200" dirty="0"/>
          </a:p>
        </p:txBody>
      </p:sp>
      <p:sp>
        <p:nvSpPr>
          <p:cNvPr id="5" name="Shape 2"/>
          <p:cNvSpPr/>
          <p:nvPr/>
        </p:nvSpPr>
        <p:spPr>
          <a:xfrm>
            <a:off x="661475" y="4999831"/>
            <a:ext cx="19050" cy="826095"/>
          </a:xfrm>
          <a:prstGeom prst="roundRect">
            <a:avLst>
              <a:gd name="adj" fmla="val 49999"/>
            </a:avLst>
          </a:prstGeom>
          <a:solidFill>
            <a:srgbClr val="B499E9"/>
          </a:solidFill>
          <a:ln/>
        </p:spPr>
      </p:sp>
      <p:pic>
        <p:nvPicPr>
          <p:cNvPr id="6"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7"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8" name="Text 3"/>
          <p:cNvSpPr/>
          <p:nvPr/>
        </p:nvSpPr>
        <p:spPr>
          <a:xfrm>
            <a:off x="10833722" y="6300589"/>
            <a:ext cx="1159541"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661475" y="1090216"/>
            <a:ext cx="10868745" cy="372170"/>
          </a:xfrm>
          <a:prstGeom prst="rect">
            <a:avLst/>
          </a:prstGeom>
          <a:noFill/>
          <a:ln/>
        </p:spPr>
        <p:txBody>
          <a:bodyPr wrap="none" lIns="0" tIns="0" rIns="0" bIns="0" rtlCol="0" anchor="t"/>
          <a:lstStyle/>
          <a:p>
            <a:pPr algn="l" indent="0" marL="0">
              <a:lnSpc>
                <a:spcPct val="104000"/>
              </a:lnSpc>
              <a:buNone/>
            </a:pPr>
            <a:r>
              <a:rPr lang="en-US" sz="2300" spc="-23" kern="0" dirty="0">
                <a:solidFill>
                  <a:srgbClr val="FFFFFF"/>
                </a:solidFill>
                <a:latin typeface="Alexandria Medium" pitchFamily="34" charset="0"/>
                <a:ea typeface="Alexandria Medium" pitchFamily="34" charset="-122"/>
                <a:cs typeface="Alexandria Medium" pitchFamily="34" charset="-120"/>
              </a:rPr>
              <a:t>No basta con que el código termine sin error</a:t>
            </a:r>
            <a:endParaRPr lang="en-US" sz="2300" dirty="0"/>
          </a:p>
        </p:txBody>
      </p:sp>
      <p:sp>
        <p:nvSpPr>
          <p:cNvPr id="3" name="Text 1"/>
          <p:cNvSpPr/>
          <p:nvPr/>
        </p:nvSpPr>
        <p:spPr>
          <a:xfrm>
            <a:off x="661475" y="1730276"/>
            <a:ext cx="11478330" cy="226219"/>
          </a:xfrm>
          <a:prstGeom prst="rect">
            <a:avLst/>
          </a:prstGeom>
          <a:noFill/>
          <a:ln/>
        </p:spPr>
        <p:txBody>
          <a:bodyPr wrap="none" lIns="0" tIns="0" rIns="0" bIns="0" rtlCol="0" anchor="t"/>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Un pipeline puede ejecutarse sin lanzar ninguna excepción y aun así producir datos completamente incorrectos.</a:t>
            </a:r>
            <a:endParaRPr lang="en-US" sz="1150" dirty="0"/>
          </a:p>
        </p:txBody>
      </p:sp>
      <p:sp>
        <p:nvSpPr>
          <p:cNvPr id="4" name="Shape 2"/>
          <p:cNvSpPr/>
          <p:nvPr/>
        </p:nvSpPr>
        <p:spPr>
          <a:xfrm>
            <a:off x="554321" y="2107208"/>
            <a:ext cx="5467114" cy="3660477"/>
          </a:xfrm>
          <a:prstGeom prst="roundRect">
            <a:avLst>
              <a:gd name="adj" fmla="val 9760"/>
            </a:avLst>
          </a:prstGeom>
          <a:solidFill>
            <a:srgbClr val="324C85"/>
          </a:solidFill>
          <a:ln/>
        </p:spPr>
      </p:sp>
      <p:sp>
        <p:nvSpPr>
          <p:cNvPr id="5" name="Text 3"/>
          <p:cNvSpPr/>
          <p:nvPr/>
        </p:nvSpPr>
        <p:spPr>
          <a:xfrm>
            <a:off x="703146" y="2241153"/>
            <a:ext cx="5169465"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El pipeline genera el fichero correctamente…</a:t>
            </a:r>
            <a:endParaRPr lang="en-US" sz="1450" dirty="0"/>
          </a:p>
        </p:txBody>
      </p:sp>
      <p:sp>
        <p:nvSpPr>
          <p:cNvPr id="6" name="Text 4"/>
          <p:cNvSpPr/>
          <p:nvPr/>
        </p:nvSpPr>
        <p:spPr>
          <a:xfrm>
            <a:off x="703146" y="2607568"/>
            <a:ext cx="5169465" cy="930275"/>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000000"/>
                </a:solidFill>
                <a:latin typeface="Manrope" pitchFamily="34" charset="0"/>
                <a:ea typeface="Manrope" pitchFamily="34" charset="-122"/>
                <a:cs typeface="Manrope" pitchFamily="34" charset="-120"/>
              </a:rPr>
              <a:t>✅</a:t>
            </a:r>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 Sin errores Python</a:t>
            </a:r>
            <a:endParaRPr lang="en-US" sz="1150" dirty="0"/>
          </a:p>
          <a:p>
            <a:pPr algn="l" indent="0" marL="0">
              <a:lnSpc>
                <a:spcPct val="127000"/>
              </a:lnSpc>
              <a:buNone/>
            </a:pPr>
            <a:r>
              <a:rPr lang="en-US" sz="1150" dirty="0">
                <a:solidFill>
                  <a:srgbClr val="000000"/>
                </a:solidFill>
                <a:latin typeface="Manrope" pitchFamily="34" charset="0"/>
                <a:ea typeface="Manrope" pitchFamily="34" charset="-122"/>
                <a:cs typeface="Manrope" pitchFamily="34" charset="-120"/>
              </a:rPr>
              <a:t>✅</a:t>
            </a:r>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 Fichero creado</a:t>
            </a:r>
            <a:endParaRPr lang="en-US" sz="1150" dirty="0"/>
          </a:p>
          <a:p>
            <a:pPr algn="l" indent="0" marL="0">
              <a:lnSpc>
                <a:spcPct val="127000"/>
              </a:lnSpc>
              <a:buNone/>
            </a:pPr>
            <a:r>
              <a:rPr lang="en-US" sz="1150" dirty="0">
                <a:solidFill>
                  <a:srgbClr val="000000"/>
                </a:solidFill>
                <a:latin typeface="Manrope" pitchFamily="34" charset="0"/>
                <a:ea typeface="Manrope" pitchFamily="34" charset="-122"/>
                <a:cs typeface="Manrope" pitchFamily="34" charset="-120"/>
              </a:rPr>
              <a:t>✅</a:t>
            </a:r>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 Columnas presentes</a:t>
            </a:r>
            <a:endParaRPr lang="en-US" sz="1150" dirty="0"/>
          </a:p>
          <a:p>
            <a:pPr algn="l" indent="0" marL="0">
              <a:lnSpc>
                <a:spcPct val="127000"/>
              </a:lnSpc>
              <a:buNone/>
            </a:pPr>
            <a:r>
              <a:rPr lang="en-US" sz="1150" dirty="0">
                <a:solidFill>
                  <a:srgbClr val="000000"/>
                </a:solidFill>
                <a:latin typeface="Manrope" pitchFamily="34" charset="0"/>
                <a:ea typeface="Manrope" pitchFamily="34" charset="-122"/>
                <a:cs typeface="Manrope" pitchFamily="34" charset="-120"/>
              </a:rPr>
              <a:t>✅</a:t>
            </a:r>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 Tipos correctos</a:t>
            </a:r>
            <a:endParaRPr lang="en-US" sz="1150" dirty="0"/>
          </a:p>
        </p:txBody>
      </p:sp>
      <p:sp>
        <p:nvSpPr>
          <p:cNvPr id="7" name="Text 5"/>
          <p:cNvSpPr/>
          <p:nvPr/>
        </p:nvSpPr>
        <p:spPr>
          <a:xfrm>
            <a:off x="703146" y="3671788"/>
            <a:ext cx="5169465"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…pero el dataset tiene problemas:</a:t>
            </a:r>
            <a:endParaRPr lang="en-US" sz="1450" dirty="0"/>
          </a:p>
        </p:txBody>
      </p:sp>
      <p:sp>
        <p:nvSpPr>
          <p:cNvPr id="8" name="Text 6"/>
          <p:cNvSpPr/>
          <p:nvPr/>
        </p:nvSpPr>
        <p:spPr>
          <a:xfrm>
            <a:off x="703146" y="4038203"/>
            <a:ext cx="5169465" cy="1608931"/>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000000"/>
                </a:solidFill>
                <a:latin typeface="Manrope" pitchFamily="34" charset="0"/>
                <a:ea typeface="Manrope" pitchFamily="34" charset="-122"/>
                <a:cs typeface="Manrope" pitchFamily="34" charset="-120"/>
              </a:rPr>
              <a:t>❌</a:t>
            </a:r>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 Faltan el 20% de los clientes — el merge descartó los que no tenían pedidos</a:t>
            </a:r>
            <a:endParaRPr lang="en-US" sz="1150" dirty="0"/>
          </a:p>
          <a:p>
            <a:pPr algn="l" indent="0" marL="0">
              <a:lnSpc>
                <a:spcPct val="127000"/>
              </a:lnSpc>
              <a:buNone/>
            </a:pPr>
            <a:r>
              <a:rPr lang="en-US" sz="1150" dirty="0">
                <a:solidFill>
                  <a:srgbClr val="000000"/>
                </a:solidFill>
                <a:latin typeface="Manrope" pitchFamily="34" charset="0"/>
                <a:ea typeface="Manrope" pitchFamily="34" charset="-122"/>
                <a:cs typeface="Manrope" pitchFamily="34" charset="-120"/>
              </a:rPr>
              <a:t>❌</a:t>
            </a:r>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 Los pedidos se multiplicaron por 3 — había duplicados en la tabla de productos</a:t>
            </a:r>
            <a:endParaRPr lang="en-US" sz="1150" dirty="0"/>
          </a:p>
          <a:p>
            <a:pPr algn="l" indent="0" marL="0">
              <a:lnSpc>
                <a:spcPct val="127000"/>
              </a:lnSpc>
              <a:buNone/>
            </a:pPr>
            <a:r>
              <a:rPr lang="en-US" sz="1150" dirty="0">
                <a:solidFill>
                  <a:srgbClr val="000000"/>
                </a:solidFill>
                <a:latin typeface="Manrope" pitchFamily="34" charset="0"/>
                <a:ea typeface="Manrope" pitchFamily="34" charset="-122"/>
                <a:cs typeface="Manrope" pitchFamily="34" charset="-120"/>
              </a:rPr>
              <a:t>❌</a:t>
            </a:r>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 Existen productos sin precio — la API devolvió nulos y no los detectamos</a:t>
            </a:r>
            <a:endParaRPr lang="en-US" sz="1150" dirty="0"/>
          </a:p>
          <a:p>
            <a:pPr algn="l" indent="0" marL="0">
              <a:lnSpc>
                <a:spcPct val="127000"/>
              </a:lnSpc>
              <a:buNone/>
            </a:pPr>
            <a:r>
              <a:rPr lang="en-US" sz="1150" dirty="0">
                <a:solidFill>
                  <a:srgbClr val="000000"/>
                </a:solidFill>
                <a:latin typeface="Manrope" pitchFamily="34" charset="0"/>
                <a:ea typeface="Manrope" pitchFamily="34" charset="-122"/>
                <a:cs typeface="Manrope" pitchFamily="34" charset="-120"/>
              </a:rPr>
              <a:t>❌</a:t>
            </a:r>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 Las fechas de 2023 están mezcladas con las de 2026 — un filtro no se aplicó correctamente</a:t>
            </a:r>
            <a:endParaRPr lang="en-US" sz="1150" dirty="0"/>
          </a:p>
        </p:txBody>
      </p:sp>
      <p:sp>
        <p:nvSpPr>
          <p:cNvPr id="9" name="Text 7"/>
          <p:cNvSpPr/>
          <p:nvPr/>
        </p:nvSpPr>
        <p:spPr>
          <a:xfrm>
            <a:off x="6283763" y="2241153"/>
            <a:ext cx="5252807"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La lección</a:t>
            </a:r>
            <a:endParaRPr lang="en-US" sz="1450" dirty="0"/>
          </a:p>
        </p:txBody>
      </p:sp>
      <p:sp>
        <p:nvSpPr>
          <p:cNvPr id="10" name="Text 8"/>
          <p:cNvSpPr/>
          <p:nvPr/>
        </p:nvSpPr>
        <p:spPr>
          <a:xfrm>
            <a:off x="6507000" y="2744887"/>
            <a:ext cx="5639155" cy="226219"/>
          </a:xfrm>
          <a:prstGeom prst="rect">
            <a:avLst/>
          </a:prstGeom>
          <a:noFill/>
          <a:ln/>
        </p:spPr>
        <p:txBody>
          <a:bodyPr wrap="none" lIns="0" tIns="0" rIns="0" bIns="0" rtlCol="0" anchor="t"/>
          <a:lstStyle/>
          <a:p>
            <a:pPr algn="l" indent="0" marL="0">
              <a:lnSpc>
                <a:spcPct val="127000"/>
              </a:lnSpc>
              <a:buNone/>
            </a:pPr>
            <a:r>
              <a:rPr lang="en-US" sz="1150" b="1" dirty="0">
                <a:solidFill>
                  <a:srgbClr val="FFFFFF"/>
                </a:solidFill>
                <a:latin typeface="Manrope Bold" pitchFamily="34" charset="0"/>
                <a:ea typeface="Manrope Bold" pitchFamily="34" charset="-122"/>
                <a:cs typeface="Manrope Bold" pitchFamily="34" charset="-120"/>
              </a:rPr>
              <a:t>Ejecutarse correctamente ≠ producir datos correctos.</a:t>
            </a:r>
            <a:endParaRPr lang="en-US" sz="1150" dirty="0"/>
          </a:p>
        </p:txBody>
      </p:sp>
      <p:sp>
        <p:nvSpPr>
          <p:cNvPr id="11" name="Shape 9"/>
          <p:cNvSpPr/>
          <p:nvPr/>
        </p:nvSpPr>
        <p:spPr>
          <a:xfrm>
            <a:off x="6283763" y="2624336"/>
            <a:ext cx="19050" cy="467320"/>
          </a:xfrm>
          <a:prstGeom prst="roundRect">
            <a:avLst>
              <a:gd name="adj" fmla="val 49999"/>
            </a:avLst>
          </a:prstGeom>
          <a:solidFill>
            <a:srgbClr val="B499E9"/>
          </a:solidFill>
          <a:ln/>
        </p:spPr>
      </p:sp>
      <p:sp>
        <p:nvSpPr>
          <p:cNvPr id="12" name="Text 10"/>
          <p:cNvSpPr/>
          <p:nvPr/>
        </p:nvSpPr>
        <p:spPr>
          <a:xfrm>
            <a:off x="6283763" y="3242370"/>
            <a:ext cx="5252807" cy="678656"/>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Automatizar un pipeline significa que los errores también se automatizan. Sin validación, los errores se propagan silenciosamente hasta el análisis o la toma de decisiones.</a:t>
            </a:r>
            <a:endParaRPr lang="en-US" sz="11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283763" y="4071739"/>
            <a:ext cx="5252807" cy="1154609"/>
          </a:xfrm>
          <a:prstGeom prst="rect">
            <a:avLst/>
          </a:prstGeom>
        </p:spPr>
      </p:pic>
      <p:sp>
        <p:nvSpPr>
          <p:cNvPr id="14" name="Text 11"/>
          <p:cNvSpPr/>
          <p:nvPr/>
        </p:nvSpPr>
        <p:spPr>
          <a:xfrm>
            <a:off x="6527835" y="4239617"/>
            <a:ext cx="4840861"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Automatizar ≠ confiar ciegamente</a:t>
            </a:r>
            <a:endParaRPr lang="en-US" sz="1450" dirty="0"/>
          </a:p>
        </p:txBody>
      </p:sp>
      <p:sp>
        <p:nvSpPr>
          <p:cNvPr id="15" name="Text 12"/>
          <p:cNvSpPr/>
          <p:nvPr/>
        </p:nvSpPr>
        <p:spPr>
          <a:xfrm>
            <a:off x="6527835" y="4606032"/>
            <a:ext cx="4840861" cy="452438"/>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Un pipeline automático también debe detectar cambios, gestionar errores y verificar sus datos.</a:t>
            </a:r>
            <a:endParaRPr lang="en-US" sz="1150" dirty="0"/>
          </a:p>
        </p:txBody>
      </p:sp>
      <p:pic>
        <p:nvPicPr>
          <p:cNvPr id="16" name="Image 1" descr="preencoded.png">    </p:cNvPr>
          <p:cNvPicPr>
            <a:picLocks noChangeAspect="1"/>
          </p:cNvPicPr>
          <p:nvPr/>
        </p:nvPicPr>
        <p:blipFill>
          <a:blip r:embed="rId3"/>
          <a:stretch>
            <a:fillRect/>
          </a:stretch>
        </p:blipFill>
        <p:spPr>
          <a:xfrm>
            <a:off x="198433" y="203597"/>
            <a:ext cx="676357" cy="568623"/>
          </a:xfrm>
          <a:prstGeom prst="rect">
            <a:avLst/>
          </a:prstGeom>
        </p:spPr>
      </p:pic>
      <p:pic>
        <p:nvPicPr>
          <p:cNvPr id="17" name="Image 2" descr="preencoded.png">    </p:cNvPr>
          <p:cNvPicPr>
            <a:picLocks noChangeAspect="1"/>
          </p:cNvPicPr>
          <p:nvPr/>
        </p:nvPicPr>
        <p:blipFill>
          <a:blip r:embed="rId4"/>
          <a:stretch>
            <a:fillRect/>
          </a:stretch>
        </p:blipFill>
        <p:spPr>
          <a:xfrm>
            <a:off x="11386357" y="268784"/>
            <a:ext cx="606906" cy="438249"/>
          </a:xfrm>
          <a:prstGeom prst="rect">
            <a:avLst/>
          </a:prstGeom>
        </p:spPr>
      </p:pic>
      <p:sp>
        <p:nvSpPr>
          <p:cNvPr id="18" name="Text 13"/>
          <p:cNvSpPr/>
          <p:nvPr/>
        </p:nvSpPr>
        <p:spPr>
          <a:xfrm>
            <a:off x="10824594" y="6300589"/>
            <a:ext cx="1168668"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661475" y="1082873"/>
            <a:ext cx="10868745" cy="330696"/>
          </a:xfrm>
          <a:prstGeom prst="rect">
            <a:avLst/>
          </a:prstGeom>
          <a:noFill/>
          <a:ln/>
        </p:spPr>
        <p:txBody>
          <a:bodyPr wrap="none" lIns="0" tIns="0" rIns="0" bIns="0" rtlCol="0" anchor="t"/>
          <a:lstStyle/>
          <a:p>
            <a:pPr algn="l" indent="0" marL="0">
              <a:lnSpc>
                <a:spcPct val="104000"/>
              </a:lnSpc>
              <a:buNone/>
            </a:pPr>
            <a:r>
              <a:rPr lang="en-US" sz="2050" spc="-21" kern="0" dirty="0">
                <a:solidFill>
                  <a:srgbClr val="FFFFFF"/>
                </a:solidFill>
                <a:latin typeface="Alexandria Medium" pitchFamily="34" charset="0"/>
                <a:ea typeface="Alexandria Medium" pitchFamily="34" charset="-122"/>
                <a:cs typeface="Alexandria Medium" pitchFamily="34" charset="-120"/>
              </a:rPr>
              <a:t>Comprobaciones básicas de un pipeline</a:t>
            </a:r>
            <a:endParaRPr lang="en-US" sz="2050" dirty="0"/>
          </a:p>
        </p:txBody>
      </p:sp>
      <p:sp>
        <p:nvSpPr>
          <p:cNvPr id="3" name="Text 1"/>
          <p:cNvSpPr/>
          <p:nvPr/>
        </p:nvSpPr>
        <p:spPr>
          <a:xfrm>
            <a:off x="661475" y="1678087"/>
            <a:ext cx="5161131" cy="206673"/>
          </a:xfrm>
          <a:prstGeom prst="rect">
            <a:avLst/>
          </a:prstGeom>
          <a:noFill/>
          <a:ln/>
        </p:spPr>
        <p:txBody>
          <a:bodyPr wrap="none" lIns="0" tIns="0" rIns="0" bIns="0" rtlCol="0" anchor="t"/>
          <a:lstStyle/>
          <a:p>
            <a:pPr algn="l" indent="0" marL="0">
              <a:lnSpc>
                <a:spcPct val="104000"/>
              </a:lnSpc>
              <a:buNone/>
            </a:pPr>
            <a:r>
              <a:rPr lang="en-US" sz="1300" spc="-13" kern="0" dirty="0">
                <a:solidFill>
                  <a:srgbClr val="FFFFFF"/>
                </a:solidFill>
                <a:latin typeface="Alexandria Medium" pitchFamily="34" charset="0"/>
                <a:ea typeface="Alexandria Medium" pitchFamily="34" charset="-122"/>
                <a:cs typeface="Alexandria Medium" pitchFamily="34" charset="-120"/>
              </a:rPr>
              <a:t>¿Qué debemos verificar siempre?</a:t>
            </a:r>
            <a:endParaRPr lang="en-US" sz="1300" dirty="0"/>
          </a:p>
        </p:txBody>
      </p:sp>
      <p:sp>
        <p:nvSpPr>
          <p:cNvPr id="4" name="Shape 2"/>
          <p:cNvSpPr/>
          <p:nvPr/>
        </p:nvSpPr>
        <p:spPr>
          <a:xfrm>
            <a:off x="661475" y="2003822"/>
            <a:ext cx="1649867" cy="1377057"/>
          </a:xfrm>
          <a:prstGeom prst="roundRect">
            <a:avLst>
              <a:gd name="adj" fmla="val 14413"/>
            </a:avLst>
          </a:prstGeom>
          <a:solidFill>
            <a:srgbClr val="4B2885"/>
          </a:solidFill>
          <a:ln w="19050">
            <a:solidFill>
              <a:srgbClr val="4B3082"/>
            </a:solidFill>
            <a:prstDash val="solid"/>
          </a:ln>
        </p:spPr>
      </p:sp>
      <p:sp>
        <p:nvSpPr>
          <p:cNvPr id="5" name="Text 3"/>
          <p:cNvSpPr/>
          <p:nvPr/>
        </p:nvSpPr>
        <p:spPr>
          <a:xfrm>
            <a:off x="812780" y="2155130"/>
            <a:ext cx="1347258" cy="206673"/>
          </a:xfrm>
          <a:prstGeom prst="rect">
            <a:avLst/>
          </a:prstGeom>
          <a:noFill/>
          <a:ln/>
        </p:spPr>
        <p:txBody>
          <a:bodyPr wrap="none" lIns="0" tIns="0" rIns="0" bIns="0" rtlCol="0" anchor="t"/>
          <a:lstStyle/>
          <a:p>
            <a:pPr algn="l" indent="0" marL="0">
              <a:lnSpc>
                <a:spcPct val="104000"/>
              </a:lnSpc>
              <a:buNone/>
            </a:pPr>
            <a:r>
              <a:rPr lang="en-US" sz="1300" spc="-13" kern="0" dirty="0">
                <a:solidFill>
                  <a:srgbClr val="FFFFFF"/>
                </a:solidFill>
                <a:latin typeface="Alexandria Medium" pitchFamily="34" charset="0"/>
                <a:ea typeface="Alexandria Medium" pitchFamily="34" charset="-122"/>
                <a:cs typeface="Alexandria Medium" pitchFamily="34" charset="-120"/>
              </a:rPr>
              <a:t>Número de filas</a:t>
            </a:r>
            <a:endParaRPr lang="en-US" sz="1300" dirty="0"/>
          </a:p>
        </p:txBody>
      </p:sp>
      <p:sp>
        <p:nvSpPr>
          <p:cNvPr id="6" name="Text 4"/>
          <p:cNvSpPr/>
          <p:nvPr/>
        </p:nvSpPr>
        <p:spPr>
          <a:xfrm>
            <a:off x="812780" y="2467570"/>
            <a:ext cx="1347258" cy="7620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FFFFFF"/>
                </a:solidFill>
                <a:latin typeface="Manrope" pitchFamily="34" charset="0"/>
                <a:ea typeface="Manrope" pitchFamily="34" charset="-122"/>
                <a:cs typeface="Manrope" pitchFamily="34" charset="-120"/>
              </a:rPr>
              <a:t>¿Es razonable? ¿Coincide con lo esperado según las fuentes?</a:t>
            </a:r>
            <a:endParaRPr lang="en-US" sz="1000" dirty="0"/>
          </a:p>
        </p:txBody>
      </p:sp>
      <p:sp>
        <p:nvSpPr>
          <p:cNvPr id="7" name="Shape 5"/>
          <p:cNvSpPr/>
          <p:nvPr/>
        </p:nvSpPr>
        <p:spPr>
          <a:xfrm>
            <a:off x="2417107" y="2003822"/>
            <a:ext cx="1649867" cy="1377057"/>
          </a:xfrm>
          <a:prstGeom prst="roundRect">
            <a:avLst>
              <a:gd name="adj" fmla="val 14413"/>
            </a:avLst>
          </a:prstGeom>
          <a:solidFill>
            <a:srgbClr val="4B2885"/>
          </a:solidFill>
          <a:ln w="19050">
            <a:solidFill>
              <a:srgbClr val="4B3082"/>
            </a:solidFill>
            <a:prstDash val="solid"/>
          </a:ln>
        </p:spPr>
      </p:sp>
      <p:sp>
        <p:nvSpPr>
          <p:cNvPr id="8" name="Text 6"/>
          <p:cNvSpPr/>
          <p:nvPr/>
        </p:nvSpPr>
        <p:spPr>
          <a:xfrm>
            <a:off x="2568412" y="2155130"/>
            <a:ext cx="1347258" cy="413345"/>
          </a:xfrm>
          <a:prstGeom prst="rect">
            <a:avLst/>
          </a:prstGeom>
          <a:noFill/>
          <a:ln/>
        </p:spPr>
        <p:txBody>
          <a:bodyPr wrap="square" lIns="0" tIns="0" rIns="0" bIns="0" rtlCol="0" anchor="t">
            <a:normAutofit/>
          </a:bodyPr>
          <a:lstStyle/>
          <a:p>
            <a:pPr algn="l" indent="0" marL="0">
              <a:lnSpc>
                <a:spcPct val="104000"/>
              </a:lnSpc>
              <a:buNone/>
            </a:pPr>
            <a:r>
              <a:rPr lang="en-US" sz="1300" spc="-13" kern="0" dirty="0">
                <a:solidFill>
                  <a:srgbClr val="FFFFFF"/>
                </a:solidFill>
                <a:latin typeface="Alexandria Medium" pitchFamily="34" charset="0"/>
                <a:ea typeface="Alexandria Medium" pitchFamily="34" charset="-122"/>
                <a:cs typeface="Alexandria Medium" pitchFamily="34" charset="-120"/>
              </a:rPr>
              <a:t>Número de columnas</a:t>
            </a:r>
            <a:endParaRPr lang="en-US" sz="1300" dirty="0"/>
          </a:p>
        </p:txBody>
      </p:sp>
      <p:sp>
        <p:nvSpPr>
          <p:cNvPr id="9" name="Text 7"/>
          <p:cNvSpPr/>
          <p:nvPr/>
        </p:nvSpPr>
        <p:spPr>
          <a:xfrm>
            <a:off x="2568412" y="2674243"/>
            <a:ext cx="1347258" cy="3810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FFFFFF"/>
                </a:solidFill>
                <a:latin typeface="Manrope" pitchFamily="34" charset="0"/>
                <a:ea typeface="Manrope" pitchFamily="34" charset="-122"/>
                <a:cs typeface="Manrope" pitchFamily="34" charset="-120"/>
              </a:rPr>
              <a:t>¿Están todas las que deberían estar?</a:t>
            </a:r>
            <a:endParaRPr lang="en-US" sz="1000" dirty="0"/>
          </a:p>
        </p:txBody>
      </p:sp>
      <p:sp>
        <p:nvSpPr>
          <p:cNvPr id="10" name="Shape 8"/>
          <p:cNvSpPr/>
          <p:nvPr/>
        </p:nvSpPr>
        <p:spPr>
          <a:xfrm>
            <a:off x="4172739" y="2003822"/>
            <a:ext cx="1649867" cy="1377057"/>
          </a:xfrm>
          <a:prstGeom prst="roundRect">
            <a:avLst>
              <a:gd name="adj" fmla="val 14413"/>
            </a:avLst>
          </a:prstGeom>
          <a:solidFill>
            <a:srgbClr val="4B2885"/>
          </a:solidFill>
          <a:ln w="19050">
            <a:solidFill>
              <a:srgbClr val="4B3082"/>
            </a:solidFill>
            <a:prstDash val="solid"/>
          </a:ln>
        </p:spPr>
      </p:sp>
      <p:sp>
        <p:nvSpPr>
          <p:cNvPr id="11" name="Text 9"/>
          <p:cNvSpPr/>
          <p:nvPr/>
        </p:nvSpPr>
        <p:spPr>
          <a:xfrm>
            <a:off x="4324043" y="2155130"/>
            <a:ext cx="1347258" cy="206673"/>
          </a:xfrm>
          <a:prstGeom prst="rect">
            <a:avLst/>
          </a:prstGeom>
          <a:noFill/>
          <a:ln/>
        </p:spPr>
        <p:txBody>
          <a:bodyPr wrap="none" lIns="0" tIns="0" rIns="0" bIns="0" rtlCol="0" anchor="t"/>
          <a:lstStyle/>
          <a:p>
            <a:pPr algn="l" indent="0" marL="0">
              <a:lnSpc>
                <a:spcPct val="104000"/>
              </a:lnSpc>
              <a:buNone/>
            </a:pPr>
            <a:r>
              <a:rPr lang="en-US" sz="1300" spc="-13" kern="0" dirty="0">
                <a:solidFill>
                  <a:srgbClr val="FFFFFF"/>
                </a:solidFill>
                <a:latin typeface="Alexandria Medium" pitchFamily="34" charset="0"/>
                <a:ea typeface="Alexandria Medium" pitchFamily="34" charset="-122"/>
                <a:cs typeface="Alexandria Medium" pitchFamily="34" charset="-120"/>
              </a:rPr>
              <a:t>Tipos correctos</a:t>
            </a:r>
            <a:endParaRPr lang="en-US" sz="1300" dirty="0"/>
          </a:p>
        </p:txBody>
      </p:sp>
      <p:sp>
        <p:nvSpPr>
          <p:cNvPr id="12" name="Text 10"/>
          <p:cNvSpPr/>
          <p:nvPr/>
        </p:nvSpPr>
        <p:spPr>
          <a:xfrm>
            <a:off x="4324043" y="2467570"/>
            <a:ext cx="1347258" cy="5715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FFFFFF"/>
                </a:solidFill>
                <a:latin typeface="Manrope" pitchFamily="34" charset="0"/>
                <a:ea typeface="Manrope" pitchFamily="34" charset="-122"/>
                <a:cs typeface="Manrope" pitchFamily="34" charset="-120"/>
              </a:rPr>
              <a:t>¿Las fechas son datetime? ¿Los importes son float?</a:t>
            </a:r>
            <a:endParaRPr lang="en-US" sz="1000" dirty="0"/>
          </a:p>
        </p:txBody>
      </p:sp>
      <p:sp>
        <p:nvSpPr>
          <p:cNvPr id="13" name="Shape 11"/>
          <p:cNvSpPr/>
          <p:nvPr/>
        </p:nvSpPr>
        <p:spPr>
          <a:xfrm>
            <a:off x="661475" y="3486646"/>
            <a:ext cx="1649867" cy="1393230"/>
          </a:xfrm>
          <a:prstGeom prst="roundRect">
            <a:avLst>
              <a:gd name="adj" fmla="val 14245"/>
            </a:avLst>
          </a:prstGeom>
          <a:solidFill>
            <a:srgbClr val="4B2885"/>
          </a:solidFill>
          <a:ln w="19050">
            <a:solidFill>
              <a:srgbClr val="4B3082"/>
            </a:solidFill>
            <a:prstDash val="solid"/>
          </a:ln>
        </p:spPr>
      </p:sp>
      <p:sp>
        <p:nvSpPr>
          <p:cNvPr id="14" name="Text 12"/>
          <p:cNvSpPr/>
          <p:nvPr/>
        </p:nvSpPr>
        <p:spPr>
          <a:xfrm>
            <a:off x="812780" y="3637955"/>
            <a:ext cx="1347258" cy="206673"/>
          </a:xfrm>
          <a:prstGeom prst="rect">
            <a:avLst/>
          </a:prstGeom>
          <a:noFill/>
          <a:ln/>
        </p:spPr>
        <p:txBody>
          <a:bodyPr wrap="none" lIns="0" tIns="0" rIns="0" bIns="0" rtlCol="0" anchor="t"/>
          <a:lstStyle/>
          <a:p>
            <a:pPr algn="l" indent="0" marL="0">
              <a:lnSpc>
                <a:spcPct val="104000"/>
              </a:lnSpc>
              <a:buNone/>
            </a:pPr>
            <a:r>
              <a:rPr lang="en-US" sz="1300" spc="-13" kern="0" dirty="0">
                <a:solidFill>
                  <a:srgbClr val="FFFFFF"/>
                </a:solidFill>
                <a:latin typeface="Alexandria Medium" pitchFamily="34" charset="0"/>
                <a:ea typeface="Alexandria Medium" pitchFamily="34" charset="-122"/>
                <a:cs typeface="Alexandria Medium" pitchFamily="34" charset="-120"/>
              </a:rPr>
              <a:t>Nulos esperados</a:t>
            </a:r>
            <a:endParaRPr lang="en-US" sz="1300" dirty="0"/>
          </a:p>
        </p:txBody>
      </p:sp>
      <p:sp>
        <p:nvSpPr>
          <p:cNvPr id="15" name="Text 13"/>
          <p:cNvSpPr/>
          <p:nvPr/>
        </p:nvSpPr>
        <p:spPr>
          <a:xfrm>
            <a:off x="812780" y="3950395"/>
            <a:ext cx="1347258" cy="7620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FFFFFF"/>
                </a:solidFill>
                <a:latin typeface="Manrope" pitchFamily="34" charset="0"/>
                <a:ea typeface="Manrope" pitchFamily="34" charset="-122"/>
                <a:cs typeface="Manrope" pitchFamily="34" charset="-120"/>
              </a:rPr>
              <a:t>¿El porcentaje de nulos por columna está dentro de lo aceptable?</a:t>
            </a:r>
            <a:endParaRPr lang="en-US" sz="1000" dirty="0"/>
          </a:p>
        </p:txBody>
      </p:sp>
      <p:sp>
        <p:nvSpPr>
          <p:cNvPr id="16" name="Shape 14"/>
          <p:cNvSpPr/>
          <p:nvPr/>
        </p:nvSpPr>
        <p:spPr>
          <a:xfrm>
            <a:off x="2417107" y="3486646"/>
            <a:ext cx="1649867" cy="1393230"/>
          </a:xfrm>
          <a:prstGeom prst="roundRect">
            <a:avLst>
              <a:gd name="adj" fmla="val 14245"/>
            </a:avLst>
          </a:prstGeom>
          <a:solidFill>
            <a:srgbClr val="4B2885"/>
          </a:solidFill>
          <a:ln w="19050">
            <a:solidFill>
              <a:srgbClr val="4B3082"/>
            </a:solidFill>
            <a:prstDash val="solid"/>
          </a:ln>
        </p:spPr>
      </p:sp>
      <p:sp>
        <p:nvSpPr>
          <p:cNvPr id="17" name="Text 15"/>
          <p:cNvSpPr/>
          <p:nvPr/>
        </p:nvSpPr>
        <p:spPr>
          <a:xfrm>
            <a:off x="2568412" y="3637955"/>
            <a:ext cx="1347258" cy="206673"/>
          </a:xfrm>
          <a:prstGeom prst="rect">
            <a:avLst/>
          </a:prstGeom>
          <a:noFill/>
          <a:ln/>
        </p:spPr>
        <p:txBody>
          <a:bodyPr wrap="none" lIns="0" tIns="0" rIns="0" bIns="0" rtlCol="0" anchor="t"/>
          <a:lstStyle/>
          <a:p>
            <a:pPr algn="l" indent="0" marL="0">
              <a:lnSpc>
                <a:spcPct val="104000"/>
              </a:lnSpc>
              <a:buNone/>
            </a:pPr>
            <a:r>
              <a:rPr lang="en-US" sz="1300" spc="-13" kern="0" dirty="0">
                <a:solidFill>
                  <a:srgbClr val="FFFFFF"/>
                </a:solidFill>
                <a:latin typeface="Alexandria Medium" pitchFamily="34" charset="0"/>
                <a:ea typeface="Alexandria Medium" pitchFamily="34" charset="-122"/>
                <a:cs typeface="Alexandria Medium" pitchFamily="34" charset="-120"/>
              </a:rPr>
              <a:t>Duplicados</a:t>
            </a:r>
            <a:endParaRPr lang="en-US" sz="1300" dirty="0"/>
          </a:p>
        </p:txBody>
      </p:sp>
      <p:sp>
        <p:nvSpPr>
          <p:cNvPr id="18" name="Text 16"/>
          <p:cNvSpPr/>
          <p:nvPr/>
        </p:nvSpPr>
        <p:spPr>
          <a:xfrm>
            <a:off x="2568412" y="3950395"/>
            <a:ext cx="1347258" cy="5715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FFFFFF"/>
                </a:solidFill>
                <a:latin typeface="Manrope" pitchFamily="34" charset="0"/>
                <a:ea typeface="Manrope" pitchFamily="34" charset="-122"/>
                <a:cs typeface="Manrope" pitchFamily="34" charset="-120"/>
              </a:rPr>
              <a:t>¿Hay duplicados en la clave primaria del resultado?</a:t>
            </a:r>
            <a:endParaRPr lang="en-US" sz="1000" dirty="0"/>
          </a:p>
        </p:txBody>
      </p:sp>
      <p:sp>
        <p:nvSpPr>
          <p:cNvPr id="19" name="Shape 17"/>
          <p:cNvSpPr/>
          <p:nvPr/>
        </p:nvSpPr>
        <p:spPr>
          <a:xfrm>
            <a:off x="4172739" y="3486646"/>
            <a:ext cx="1649867" cy="1393230"/>
          </a:xfrm>
          <a:prstGeom prst="roundRect">
            <a:avLst>
              <a:gd name="adj" fmla="val 14245"/>
            </a:avLst>
          </a:prstGeom>
          <a:solidFill>
            <a:srgbClr val="4B2885"/>
          </a:solidFill>
          <a:ln w="19050">
            <a:solidFill>
              <a:srgbClr val="4B3082"/>
            </a:solidFill>
            <a:prstDash val="solid"/>
          </a:ln>
        </p:spPr>
      </p:sp>
      <p:sp>
        <p:nvSpPr>
          <p:cNvPr id="20" name="Text 18"/>
          <p:cNvSpPr/>
          <p:nvPr/>
        </p:nvSpPr>
        <p:spPr>
          <a:xfrm>
            <a:off x="4324043" y="3637955"/>
            <a:ext cx="1347258" cy="413345"/>
          </a:xfrm>
          <a:prstGeom prst="rect">
            <a:avLst/>
          </a:prstGeom>
          <a:noFill/>
          <a:ln/>
        </p:spPr>
        <p:txBody>
          <a:bodyPr wrap="square" lIns="0" tIns="0" rIns="0" bIns="0" rtlCol="0" anchor="t">
            <a:normAutofit/>
          </a:bodyPr>
          <a:lstStyle/>
          <a:p>
            <a:pPr algn="l" indent="0" marL="0">
              <a:lnSpc>
                <a:spcPct val="104000"/>
              </a:lnSpc>
              <a:buNone/>
            </a:pPr>
            <a:r>
              <a:rPr lang="en-US" sz="1300" spc="-13" kern="0" dirty="0">
                <a:solidFill>
                  <a:srgbClr val="FFFFFF"/>
                </a:solidFill>
                <a:latin typeface="Alexandria Medium" pitchFamily="34" charset="0"/>
                <a:ea typeface="Alexandria Medium" pitchFamily="34" charset="-122"/>
                <a:cs typeface="Alexandria Medium" pitchFamily="34" charset="-120"/>
              </a:rPr>
              <a:t>Rangos esperados</a:t>
            </a:r>
            <a:endParaRPr lang="en-US" sz="1300" dirty="0"/>
          </a:p>
        </p:txBody>
      </p:sp>
      <p:sp>
        <p:nvSpPr>
          <p:cNvPr id="21" name="Text 19"/>
          <p:cNvSpPr/>
          <p:nvPr/>
        </p:nvSpPr>
        <p:spPr>
          <a:xfrm>
            <a:off x="4324043" y="4157067"/>
            <a:ext cx="1347258" cy="5715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FFFFFF"/>
                </a:solidFill>
                <a:latin typeface="Manrope" pitchFamily="34" charset="0"/>
                <a:ea typeface="Manrope" pitchFamily="34" charset="-122"/>
                <a:cs typeface="Manrope" pitchFamily="34" charset="-120"/>
              </a:rPr>
              <a:t>¿La edad está entre 0 y 120? ¿El gasto es positivo?</a:t>
            </a:r>
            <a:endParaRPr lang="en-US" sz="1000" dirty="0"/>
          </a:p>
        </p:txBody>
      </p:sp>
      <p:sp>
        <p:nvSpPr>
          <p:cNvPr id="22" name="Text 20"/>
          <p:cNvSpPr/>
          <p:nvPr/>
        </p:nvSpPr>
        <p:spPr>
          <a:xfrm>
            <a:off x="6151607" y="1678087"/>
            <a:ext cx="5384864" cy="206673"/>
          </a:xfrm>
          <a:prstGeom prst="rect">
            <a:avLst/>
          </a:prstGeom>
          <a:noFill/>
          <a:ln/>
        </p:spPr>
        <p:txBody>
          <a:bodyPr wrap="none" lIns="0" tIns="0" rIns="0" bIns="0" rtlCol="0" anchor="t"/>
          <a:lstStyle/>
          <a:p>
            <a:pPr algn="l" indent="0" marL="0">
              <a:lnSpc>
                <a:spcPct val="104000"/>
              </a:lnSpc>
              <a:buNone/>
            </a:pPr>
            <a:r>
              <a:rPr lang="en-US" sz="1300" spc="-13" kern="0" dirty="0">
                <a:solidFill>
                  <a:srgbClr val="FFFFFF"/>
                </a:solidFill>
                <a:latin typeface="Alexandria Medium" pitchFamily="34" charset="0"/>
                <a:ea typeface="Alexandria Medium" pitchFamily="34" charset="-122"/>
                <a:cs typeface="Alexandria Medium" pitchFamily="34" charset="-120"/>
              </a:rPr>
              <a:t>Código de validación básica</a:t>
            </a:r>
            <a:endParaRPr lang="en-US" sz="1300" dirty="0"/>
          </a:p>
        </p:txBody>
      </p:sp>
      <p:sp>
        <p:nvSpPr>
          <p:cNvPr id="23" name="Shape 21"/>
          <p:cNvSpPr/>
          <p:nvPr/>
        </p:nvSpPr>
        <p:spPr>
          <a:xfrm>
            <a:off x="6151607" y="2003822"/>
            <a:ext cx="5384864" cy="3652242"/>
          </a:xfrm>
          <a:prstGeom prst="roundRect">
            <a:avLst>
              <a:gd name="adj" fmla="val 5434"/>
            </a:avLst>
          </a:prstGeom>
          <a:solidFill>
            <a:srgbClr val="583592"/>
          </a:solidFill>
          <a:ln/>
        </p:spPr>
      </p:sp>
      <p:sp>
        <p:nvSpPr>
          <p:cNvPr id="24" name="Text 22"/>
          <p:cNvSpPr/>
          <p:nvPr/>
        </p:nvSpPr>
        <p:spPr>
          <a:xfrm>
            <a:off x="6310353" y="2136080"/>
            <a:ext cx="5067372" cy="3387725"/>
          </a:xfrm>
          <a:prstGeom prst="rect">
            <a:avLst/>
          </a:prstGeom>
          <a:noFill/>
          <a:ln/>
        </p:spPr>
        <p:txBody>
          <a:bodyPr wrap="square" lIns="0" tIns="0" rIns="0" bIns="0" rtlCol="0" anchor="t">
            <a:normAutofit/>
          </a:bodyPr>
          <a:lstStyle/>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 Forma y estructura</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print(df.shape)</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print(df.dtypes)</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 Nulos</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print(df.isna().sum())</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print((df.isna().sum()/len(df))*100)</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 Duplicados en clave</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print(df["order_id"].duplicated().sum())</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 Rangos</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print(df["edad"].min(), df["edad"].max())</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print(df["gasto"].min())</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 Coincidencia entre fuentes</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pct_clientes = df["customer_id"]\</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    .isin(clientes["customer_id"])\</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    .mean() * 100</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print(f"Clientes coincidentes: {pct_clientes:.1f}%")</a:t>
            </a:r>
            <a:endParaRPr lang="en-US" sz="1000" dirty="0"/>
          </a:p>
        </p:txBody>
      </p:sp>
      <p:pic>
        <p:nvPicPr>
          <p:cNvPr id="25"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26"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27" name="Text 23"/>
          <p:cNvSpPr/>
          <p:nvPr/>
        </p:nvSpPr>
        <p:spPr>
          <a:xfrm>
            <a:off x="10821121" y="6300589"/>
            <a:ext cx="1172141"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661475" y="1085255"/>
            <a:ext cx="10868745" cy="413445"/>
          </a:xfrm>
          <a:prstGeom prst="rect">
            <a:avLst/>
          </a:prstGeom>
          <a:noFill/>
          <a:ln/>
        </p:spPr>
        <p:txBody>
          <a:bodyPr wrap="none" lIns="0" tIns="0" rIns="0" bIns="0" rtlCol="0" anchor="t"/>
          <a:lstStyle/>
          <a:p>
            <a:pPr algn="l" indent="0" marL="0">
              <a:lnSpc>
                <a:spcPct val="104000"/>
              </a:lnSpc>
              <a:buNone/>
            </a:pPr>
            <a:r>
              <a:rPr lang="en-US" sz="2600" spc="-26" kern="0" dirty="0">
                <a:solidFill>
                  <a:srgbClr val="FFFFFF"/>
                </a:solidFill>
                <a:latin typeface="Alexandria Medium" pitchFamily="34" charset="0"/>
                <a:ea typeface="Alexandria Medium" pitchFamily="34" charset="-122"/>
                <a:cs typeface="Alexandria Medium" pitchFamily="34" charset="-120"/>
              </a:rPr>
              <a:t>De requisitos a decisiones técnicas</a:t>
            </a:r>
            <a:endParaRPr lang="en-US" sz="2600" dirty="0"/>
          </a:p>
        </p:txBody>
      </p:sp>
      <p:sp>
        <p:nvSpPr>
          <p:cNvPr id="3" name="Text 1"/>
          <p:cNvSpPr/>
          <p:nvPr/>
        </p:nvSpPr>
        <p:spPr>
          <a:xfrm>
            <a:off x="661475" y="1829395"/>
            <a:ext cx="11478330" cy="264616"/>
          </a:xfrm>
          <a:prstGeom prst="rect">
            <a:avLst/>
          </a:prstGeom>
          <a:noFill/>
          <a:ln/>
        </p:spPr>
        <p:txBody>
          <a:bodyPr wrap="none" lIns="0" tIns="0" rIns="0" bIns="0" rtlCol="0" anchor="t"/>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Caso: ShopData quiere conocer cada mañana el rendimiento del día anterior para tomar decisiones de stock y marketing.</a:t>
            </a:r>
            <a:endParaRPr lang="en-US" sz="1300" dirty="0"/>
          </a:p>
        </p:txBody>
      </p:sp>
      <p:sp>
        <p:nvSpPr>
          <p:cNvPr id="4" name="Shape 2"/>
          <p:cNvSpPr/>
          <p:nvPr/>
        </p:nvSpPr>
        <p:spPr>
          <a:xfrm>
            <a:off x="661475" y="2280047"/>
            <a:ext cx="372061" cy="372070"/>
          </a:xfrm>
          <a:prstGeom prst="ellipse">
            <a:avLst/>
          </a:prstGeom>
          <a:solidFill>
            <a:srgbClr val="3F2077"/>
          </a:solidFill>
          <a:ln w="6350">
            <a:solidFill>
              <a:srgbClr val="4B3082"/>
            </a:solidFill>
            <a:prstDash val="solid"/>
          </a:ln>
        </p:spPr>
      </p:sp>
      <p:sp>
        <p:nvSpPr>
          <p:cNvPr id="5" name="Text 3"/>
          <p:cNvSpPr/>
          <p:nvPr/>
        </p:nvSpPr>
        <p:spPr>
          <a:xfrm>
            <a:off x="723485" y="2311053"/>
            <a:ext cx="248041" cy="310059"/>
          </a:xfrm>
          <a:prstGeom prst="rect">
            <a:avLst/>
          </a:prstGeom>
          <a:noFill/>
          <a:ln/>
        </p:spPr>
        <p:txBody>
          <a:bodyPr wrap="none" lIns="0" tIns="0" rIns="0" bIns="0" rtlCol="0" anchor="ctr"/>
          <a:lstStyle/>
          <a:p>
            <a:pPr algn="ctr" indent="0" marL="0">
              <a:lnSpc>
                <a:spcPct val="100000"/>
              </a:lnSpc>
              <a:buNone/>
            </a:pPr>
            <a:r>
              <a:rPr lang="en-US" sz="1950" spc="-20" kern="0" dirty="0">
                <a:solidFill>
                  <a:srgbClr val="FFFFFF"/>
                </a:solidFill>
                <a:latin typeface="Alexandria Medium" pitchFamily="34" charset="0"/>
                <a:ea typeface="Alexandria Medium" pitchFamily="34" charset="-122"/>
                <a:cs typeface="Alexandria Medium" pitchFamily="34" charset="-120"/>
              </a:rPr>
              <a:t>1</a:t>
            </a:r>
            <a:endParaRPr lang="en-US" sz="1950" dirty="0"/>
          </a:p>
        </p:txBody>
      </p:sp>
      <p:sp>
        <p:nvSpPr>
          <p:cNvPr id="6" name="Text 4"/>
          <p:cNvSpPr/>
          <p:nvPr/>
        </p:nvSpPr>
        <p:spPr>
          <a:xfrm>
            <a:off x="1198830" y="2336899"/>
            <a:ext cx="4793634"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¿Qué fuentes necesitamos?</a:t>
            </a:r>
            <a:endParaRPr lang="en-US" sz="1600" dirty="0"/>
          </a:p>
        </p:txBody>
      </p:sp>
      <p:sp>
        <p:nvSpPr>
          <p:cNvPr id="7" name="Text 5"/>
          <p:cNvSpPr/>
          <p:nvPr/>
        </p:nvSpPr>
        <p:spPr>
          <a:xfrm>
            <a:off x="1198830" y="2694583"/>
            <a:ext cx="4793634"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Ventas (SQL), clientes (CSV), productos (API), precios competencia (Web).</a:t>
            </a:r>
            <a:endParaRPr lang="en-US" sz="1300" dirty="0"/>
          </a:p>
        </p:txBody>
      </p:sp>
      <p:sp>
        <p:nvSpPr>
          <p:cNvPr id="8" name="Shape 6"/>
          <p:cNvSpPr/>
          <p:nvPr/>
        </p:nvSpPr>
        <p:spPr>
          <a:xfrm>
            <a:off x="6199132" y="2280047"/>
            <a:ext cx="372061" cy="372070"/>
          </a:xfrm>
          <a:prstGeom prst="ellipse">
            <a:avLst/>
          </a:prstGeom>
          <a:solidFill>
            <a:srgbClr val="3F2077"/>
          </a:solidFill>
          <a:ln w="6350">
            <a:solidFill>
              <a:srgbClr val="4B3082"/>
            </a:solidFill>
            <a:prstDash val="solid"/>
          </a:ln>
        </p:spPr>
      </p:sp>
      <p:sp>
        <p:nvSpPr>
          <p:cNvPr id="9" name="Text 7"/>
          <p:cNvSpPr/>
          <p:nvPr/>
        </p:nvSpPr>
        <p:spPr>
          <a:xfrm>
            <a:off x="6261142" y="2311053"/>
            <a:ext cx="248041" cy="310059"/>
          </a:xfrm>
          <a:prstGeom prst="rect">
            <a:avLst/>
          </a:prstGeom>
          <a:noFill/>
          <a:ln/>
        </p:spPr>
        <p:txBody>
          <a:bodyPr wrap="none" lIns="0" tIns="0" rIns="0" bIns="0" rtlCol="0" anchor="ctr"/>
          <a:lstStyle/>
          <a:p>
            <a:pPr algn="ctr" indent="0" marL="0">
              <a:lnSpc>
                <a:spcPct val="100000"/>
              </a:lnSpc>
              <a:buNone/>
            </a:pPr>
            <a:r>
              <a:rPr lang="en-US" sz="1950" spc="-20" kern="0" dirty="0">
                <a:solidFill>
                  <a:srgbClr val="FFFFFF"/>
                </a:solidFill>
                <a:latin typeface="Alexandria Medium" pitchFamily="34" charset="0"/>
                <a:ea typeface="Alexandria Medium" pitchFamily="34" charset="-122"/>
                <a:cs typeface="Alexandria Medium" pitchFamily="34" charset="-120"/>
              </a:rPr>
              <a:t>2</a:t>
            </a:r>
            <a:endParaRPr lang="en-US" sz="1950" dirty="0"/>
          </a:p>
        </p:txBody>
      </p:sp>
      <p:sp>
        <p:nvSpPr>
          <p:cNvPr id="10" name="Text 8"/>
          <p:cNvSpPr/>
          <p:nvPr/>
        </p:nvSpPr>
        <p:spPr>
          <a:xfrm>
            <a:off x="6736487" y="2336899"/>
            <a:ext cx="4793733"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¿Cómo las extraemos?</a:t>
            </a:r>
            <a:endParaRPr lang="en-US" sz="1600" dirty="0"/>
          </a:p>
        </p:txBody>
      </p:sp>
      <p:sp>
        <p:nvSpPr>
          <p:cNvPr id="11" name="Text 9"/>
          <p:cNvSpPr/>
          <p:nvPr/>
        </p:nvSpPr>
        <p:spPr>
          <a:xfrm>
            <a:off x="6736487" y="2694583"/>
            <a:ext cx="4793733"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Conexión SQL, lectura fichero, petición HTTP con paginación, scraping tabular.</a:t>
            </a:r>
            <a:endParaRPr lang="en-US" sz="1300" dirty="0"/>
          </a:p>
        </p:txBody>
      </p:sp>
      <p:sp>
        <p:nvSpPr>
          <p:cNvPr id="12" name="Shape 10"/>
          <p:cNvSpPr/>
          <p:nvPr/>
        </p:nvSpPr>
        <p:spPr>
          <a:xfrm>
            <a:off x="661475" y="3554512"/>
            <a:ext cx="372061" cy="372070"/>
          </a:xfrm>
          <a:prstGeom prst="ellipse">
            <a:avLst/>
          </a:prstGeom>
          <a:solidFill>
            <a:srgbClr val="3F2077"/>
          </a:solidFill>
          <a:ln w="6350">
            <a:solidFill>
              <a:srgbClr val="4B3082"/>
            </a:solidFill>
            <a:prstDash val="solid"/>
          </a:ln>
        </p:spPr>
      </p:sp>
      <p:sp>
        <p:nvSpPr>
          <p:cNvPr id="13" name="Text 11"/>
          <p:cNvSpPr/>
          <p:nvPr/>
        </p:nvSpPr>
        <p:spPr>
          <a:xfrm>
            <a:off x="723485" y="3585518"/>
            <a:ext cx="248041" cy="310059"/>
          </a:xfrm>
          <a:prstGeom prst="rect">
            <a:avLst/>
          </a:prstGeom>
          <a:noFill/>
          <a:ln/>
        </p:spPr>
        <p:txBody>
          <a:bodyPr wrap="none" lIns="0" tIns="0" rIns="0" bIns="0" rtlCol="0" anchor="ctr"/>
          <a:lstStyle/>
          <a:p>
            <a:pPr algn="ctr" indent="0" marL="0">
              <a:lnSpc>
                <a:spcPct val="100000"/>
              </a:lnSpc>
              <a:buNone/>
            </a:pPr>
            <a:r>
              <a:rPr lang="en-US" sz="1950" spc="-20" kern="0" dirty="0">
                <a:solidFill>
                  <a:srgbClr val="FFFFFF"/>
                </a:solidFill>
                <a:latin typeface="Alexandria Medium" pitchFamily="34" charset="0"/>
                <a:ea typeface="Alexandria Medium" pitchFamily="34" charset="-122"/>
                <a:cs typeface="Alexandria Medium" pitchFamily="34" charset="-120"/>
              </a:rPr>
              <a:t>3</a:t>
            </a:r>
            <a:endParaRPr lang="en-US" sz="1950" dirty="0"/>
          </a:p>
        </p:txBody>
      </p:sp>
      <p:sp>
        <p:nvSpPr>
          <p:cNvPr id="14" name="Text 12"/>
          <p:cNvSpPr/>
          <p:nvPr/>
        </p:nvSpPr>
        <p:spPr>
          <a:xfrm>
            <a:off x="1198830" y="3611364"/>
            <a:ext cx="4793634"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¿Con qué frecuencia?</a:t>
            </a:r>
            <a:endParaRPr lang="en-US" sz="1600" dirty="0"/>
          </a:p>
        </p:txBody>
      </p:sp>
      <p:sp>
        <p:nvSpPr>
          <p:cNvPr id="15" name="Text 13"/>
          <p:cNvSpPr/>
          <p:nvPr/>
        </p:nvSpPr>
        <p:spPr>
          <a:xfrm>
            <a:off x="1198830" y="3969048"/>
            <a:ext cx="4793634"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Batch diario: ejecución automática cada noche. Los eventos de sensor en tiempo real son para otra presentación.</a:t>
            </a:r>
            <a:endParaRPr lang="en-US" sz="1300" dirty="0"/>
          </a:p>
        </p:txBody>
      </p:sp>
      <p:sp>
        <p:nvSpPr>
          <p:cNvPr id="16" name="Shape 14"/>
          <p:cNvSpPr/>
          <p:nvPr/>
        </p:nvSpPr>
        <p:spPr>
          <a:xfrm>
            <a:off x="6199132" y="3554512"/>
            <a:ext cx="372061" cy="372070"/>
          </a:xfrm>
          <a:prstGeom prst="ellipse">
            <a:avLst/>
          </a:prstGeom>
          <a:solidFill>
            <a:srgbClr val="3F2077"/>
          </a:solidFill>
          <a:ln w="6350">
            <a:solidFill>
              <a:srgbClr val="4B3082"/>
            </a:solidFill>
            <a:prstDash val="solid"/>
          </a:ln>
        </p:spPr>
      </p:sp>
      <p:sp>
        <p:nvSpPr>
          <p:cNvPr id="17" name="Text 15"/>
          <p:cNvSpPr/>
          <p:nvPr/>
        </p:nvSpPr>
        <p:spPr>
          <a:xfrm>
            <a:off x="6261142" y="3585518"/>
            <a:ext cx="248041" cy="310059"/>
          </a:xfrm>
          <a:prstGeom prst="rect">
            <a:avLst/>
          </a:prstGeom>
          <a:noFill/>
          <a:ln/>
        </p:spPr>
        <p:txBody>
          <a:bodyPr wrap="none" lIns="0" tIns="0" rIns="0" bIns="0" rtlCol="0" anchor="ctr"/>
          <a:lstStyle/>
          <a:p>
            <a:pPr algn="ctr" indent="0" marL="0">
              <a:lnSpc>
                <a:spcPct val="100000"/>
              </a:lnSpc>
              <a:buNone/>
            </a:pPr>
            <a:r>
              <a:rPr lang="en-US" sz="1950" spc="-20" kern="0" dirty="0">
                <a:solidFill>
                  <a:srgbClr val="FFFFFF"/>
                </a:solidFill>
                <a:latin typeface="Alexandria Medium" pitchFamily="34" charset="0"/>
                <a:ea typeface="Alexandria Medium" pitchFamily="34" charset="-122"/>
                <a:cs typeface="Alexandria Medium" pitchFamily="34" charset="-120"/>
              </a:rPr>
              <a:t>4</a:t>
            </a:r>
            <a:endParaRPr lang="en-US" sz="1950" dirty="0"/>
          </a:p>
        </p:txBody>
      </p:sp>
      <p:sp>
        <p:nvSpPr>
          <p:cNvPr id="18" name="Text 16"/>
          <p:cNvSpPr/>
          <p:nvPr/>
        </p:nvSpPr>
        <p:spPr>
          <a:xfrm>
            <a:off x="6736487" y="3611364"/>
            <a:ext cx="4793733"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¿Qué transformamos?</a:t>
            </a:r>
            <a:endParaRPr lang="en-US" sz="1600" dirty="0"/>
          </a:p>
        </p:txBody>
      </p:sp>
      <p:sp>
        <p:nvSpPr>
          <p:cNvPr id="19" name="Text 17"/>
          <p:cNvSpPr/>
          <p:nvPr/>
        </p:nvSpPr>
        <p:spPr>
          <a:xfrm>
            <a:off x="6736487" y="3969048"/>
            <a:ext cx="4793733"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Normalizar ciudades, convertir tipos, resolver nulos, unificar formatos de fecha.</a:t>
            </a:r>
            <a:endParaRPr lang="en-US" sz="1300" dirty="0"/>
          </a:p>
        </p:txBody>
      </p:sp>
      <p:sp>
        <p:nvSpPr>
          <p:cNvPr id="20" name="Shape 18"/>
          <p:cNvSpPr/>
          <p:nvPr/>
        </p:nvSpPr>
        <p:spPr>
          <a:xfrm>
            <a:off x="661475" y="4828977"/>
            <a:ext cx="372061" cy="372070"/>
          </a:xfrm>
          <a:prstGeom prst="ellipse">
            <a:avLst/>
          </a:prstGeom>
          <a:solidFill>
            <a:srgbClr val="3F2077"/>
          </a:solidFill>
          <a:ln w="6350">
            <a:solidFill>
              <a:srgbClr val="4B3082"/>
            </a:solidFill>
            <a:prstDash val="solid"/>
          </a:ln>
        </p:spPr>
      </p:sp>
      <p:sp>
        <p:nvSpPr>
          <p:cNvPr id="21" name="Text 19"/>
          <p:cNvSpPr/>
          <p:nvPr/>
        </p:nvSpPr>
        <p:spPr>
          <a:xfrm>
            <a:off x="723485" y="4859982"/>
            <a:ext cx="248041" cy="310059"/>
          </a:xfrm>
          <a:prstGeom prst="rect">
            <a:avLst/>
          </a:prstGeom>
          <a:noFill/>
          <a:ln/>
        </p:spPr>
        <p:txBody>
          <a:bodyPr wrap="none" lIns="0" tIns="0" rIns="0" bIns="0" rtlCol="0" anchor="ctr"/>
          <a:lstStyle/>
          <a:p>
            <a:pPr algn="ctr" indent="0" marL="0">
              <a:lnSpc>
                <a:spcPct val="100000"/>
              </a:lnSpc>
              <a:buNone/>
            </a:pPr>
            <a:r>
              <a:rPr lang="en-US" sz="1950" spc="-20" kern="0" dirty="0">
                <a:solidFill>
                  <a:srgbClr val="FFFFFF"/>
                </a:solidFill>
                <a:latin typeface="Alexandria Medium" pitchFamily="34" charset="0"/>
                <a:ea typeface="Alexandria Medium" pitchFamily="34" charset="-122"/>
                <a:cs typeface="Alexandria Medium" pitchFamily="34" charset="-120"/>
              </a:rPr>
              <a:t>5</a:t>
            </a:r>
            <a:endParaRPr lang="en-US" sz="1950" dirty="0"/>
          </a:p>
        </p:txBody>
      </p:sp>
      <p:sp>
        <p:nvSpPr>
          <p:cNvPr id="22" name="Text 20"/>
          <p:cNvSpPr/>
          <p:nvPr/>
        </p:nvSpPr>
        <p:spPr>
          <a:xfrm>
            <a:off x="1198830" y="4885829"/>
            <a:ext cx="4793634"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¿Cómo relacionamos?</a:t>
            </a:r>
            <a:endParaRPr lang="en-US" sz="1600" dirty="0"/>
          </a:p>
        </p:txBody>
      </p:sp>
      <p:sp>
        <p:nvSpPr>
          <p:cNvPr id="23" name="Text 21"/>
          <p:cNvSpPr/>
          <p:nvPr/>
        </p:nvSpPr>
        <p:spPr>
          <a:xfrm>
            <a:off x="1198830" y="5243513"/>
            <a:ext cx="4793634"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Merge ventas + clientes (LEFT) + productos (LEFT) usando customer_id y product_id.</a:t>
            </a:r>
            <a:endParaRPr lang="en-US" sz="1300" dirty="0"/>
          </a:p>
        </p:txBody>
      </p:sp>
      <p:sp>
        <p:nvSpPr>
          <p:cNvPr id="24" name="Shape 22"/>
          <p:cNvSpPr/>
          <p:nvPr/>
        </p:nvSpPr>
        <p:spPr>
          <a:xfrm>
            <a:off x="6199132" y="4828977"/>
            <a:ext cx="372061" cy="372070"/>
          </a:xfrm>
          <a:prstGeom prst="ellipse">
            <a:avLst/>
          </a:prstGeom>
          <a:solidFill>
            <a:srgbClr val="3F2077"/>
          </a:solidFill>
          <a:ln w="6350">
            <a:solidFill>
              <a:srgbClr val="4B3082"/>
            </a:solidFill>
            <a:prstDash val="solid"/>
          </a:ln>
        </p:spPr>
      </p:sp>
      <p:sp>
        <p:nvSpPr>
          <p:cNvPr id="25" name="Text 23"/>
          <p:cNvSpPr/>
          <p:nvPr/>
        </p:nvSpPr>
        <p:spPr>
          <a:xfrm>
            <a:off x="6261142" y="4859982"/>
            <a:ext cx="248041" cy="310059"/>
          </a:xfrm>
          <a:prstGeom prst="rect">
            <a:avLst/>
          </a:prstGeom>
          <a:noFill/>
          <a:ln/>
        </p:spPr>
        <p:txBody>
          <a:bodyPr wrap="none" lIns="0" tIns="0" rIns="0" bIns="0" rtlCol="0" anchor="ctr"/>
          <a:lstStyle/>
          <a:p>
            <a:pPr algn="ctr" indent="0" marL="0">
              <a:lnSpc>
                <a:spcPct val="100000"/>
              </a:lnSpc>
              <a:buNone/>
            </a:pPr>
            <a:r>
              <a:rPr lang="en-US" sz="1950" spc="-20" kern="0" dirty="0">
                <a:solidFill>
                  <a:srgbClr val="FFFFFF"/>
                </a:solidFill>
                <a:latin typeface="Alexandria Medium" pitchFamily="34" charset="0"/>
                <a:ea typeface="Alexandria Medium" pitchFamily="34" charset="-122"/>
                <a:cs typeface="Alexandria Medium" pitchFamily="34" charset="-120"/>
              </a:rPr>
              <a:t>6</a:t>
            </a:r>
            <a:endParaRPr lang="en-US" sz="1950" dirty="0"/>
          </a:p>
        </p:txBody>
      </p:sp>
      <p:sp>
        <p:nvSpPr>
          <p:cNvPr id="26" name="Text 24"/>
          <p:cNvSpPr/>
          <p:nvPr/>
        </p:nvSpPr>
        <p:spPr>
          <a:xfrm>
            <a:off x="6736487" y="4885829"/>
            <a:ext cx="4793733"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¿Qué formato final?</a:t>
            </a:r>
            <a:endParaRPr lang="en-US" sz="1600" dirty="0"/>
          </a:p>
        </p:txBody>
      </p:sp>
      <p:sp>
        <p:nvSpPr>
          <p:cNvPr id="27" name="Text 25"/>
          <p:cNvSpPr/>
          <p:nvPr/>
        </p:nvSpPr>
        <p:spPr>
          <a:xfrm>
            <a:off x="6736487" y="5243513"/>
            <a:ext cx="4793733"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Parquet para el dataset analítico. CSV para los informes que se comparten con negocio.</a:t>
            </a:r>
            <a:endParaRPr lang="en-US" sz="1300" dirty="0"/>
          </a:p>
        </p:txBody>
      </p:sp>
      <p:pic>
        <p:nvPicPr>
          <p:cNvPr id="28"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29"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30" name="Text 26"/>
          <p:cNvSpPr/>
          <p:nvPr/>
        </p:nvSpPr>
        <p:spPr>
          <a:xfrm>
            <a:off x="10822610" y="6300589"/>
            <a:ext cx="1170653"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661475" y="1094680"/>
            <a:ext cx="10868745" cy="372170"/>
          </a:xfrm>
          <a:prstGeom prst="rect">
            <a:avLst/>
          </a:prstGeom>
          <a:noFill/>
          <a:ln/>
        </p:spPr>
        <p:txBody>
          <a:bodyPr wrap="none" lIns="0" tIns="0" rIns="0" bIns="0" rtlCol="0" anchor="t"/>
          <a:lstStyle/>
          <a:p>
            <a:pPr algn="l" indent="0" marL="0">
              <a:lnSpc>
                <a:spcPct val="104000"/>
              </a:lnSpc>
              <a:buNone/>
            </a:pPr>
            <a:r>
              <a:rPr lang="en-US" sz="2300" spc="-23" kern="0" dirty="0">
                <a:solidFill>
                  <a:srgbClr val="FFFFFF"/>
                </a:solidFill>
                <a:latin typeface="Alexandria Medium" pitchFamily="34" charset="0"/>
                <a:ea typeface="Alexandria Medium" pitchFamily="34" charset="-122"/>
                <a:cs typeface="Alexandria Medium" pitchFamily="34" charset="-120"/>
              </a:rPr>
              <a:t>Diseñar antes de programar</a:t>
            </a:r>
            <a:endParaRPr lang="en-US" sz="2300" dirty="0"/>
          </a:p>
        </p:txBody>
      </p:sp>
      <p:sp>
        <p:nvSpPr>
          <p:cNvPr id="3" name="Text 1"/>
          <p:cNvSpPr/>
          <p:nvPr/>
        </p:nvSpPr>
        <p:spPr>
          <a:xfrm>
            <a:off x="661475" y="1734741"/>
            <a:ext cx="11478330" cy="226219"/>
          </a:xfrm>
          <a:prstGeom prst="rect">
            <a:avLst/>
          </a:prstGeom>
          <a:noFill/>
          <a:ln/>
        </p:spPr>
        <p:txBody>
          <a:bodyPr wrap="none" lIns="0" tIns="0" rIns="0" bIns="0" rtlCol="0" anchor="t"/>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Antes de escribir una sola línea de código, definir la arquitectura del pipeline. Esta plantilla guiará también la práctica evaluable.</a:t>
            </a:r>
            <a:endParaRPr lang="en-US" sz="11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111673"/>
            <a:ext cx="2616730" cy="1758851"/>
          </a:xfrm>
          <a:prstGeom prst="rect">
            <a:avLst/>
          </a:prstGeom>
        </p:spPr>
      </p:pic>
      <p:sp>
        <p:nvSpPr>
          <p:cNvPr id="5" name="Text 2"/>
          <p:cNvSpPr/>
          <p:nvPr/>
        </p:nvSpPr>
        <p:spPr>
          <a:xfrm>
            <a:off x="1858221" y="2211189"/>
            <a:ext cx="223237" cy="279102"/>
          </a:xfrm>
          <a:prstGeom prst="rect">
            <a:avLst/>
          </a:prstGeom>
          <a:noFill/>
          <a:ln/>
        </p:spPr>
        <p:txBody>
          <a:bodyPr wrap="none" lIns="0" tIns="0" rIns="0" bIns="0" rtlCol="0" anchor="ctr"/>
          <a:lstStyle/>
          <a:p>
            <a:pPr algn="ctr" indent="0" marL="0">
              <a:lnSpc>
                <a:spcPct val="100000"/>
              </a:lnSpc>
              <a:buNone/>
            </a:pPr>
            <a:r>
              <a:rPr lang="en-US" sz="1750" spc="-18" kern="0" dirty="0">
                <a:solidFill>
                  <a:srgbClr val="FFFFFF"/>
                </a:solidFill>
                <a:latin typeface="Alexandria Medium" pitchFamily="34" charset="0"/>
                <a:ea typeface="Alexandria Medium" pitchFamily="34" charset="-122"/>
                <a:cs typeface="Alexandria Medium" pitchFamily="34" charset="-120"/>
              </a:rPr>
              <a:t>1</a:t>
            </a:r>
            <a:endParaRPr lang="en-US" sz="1750" dirty="0"/>
          </a:p>
        </p:txBody>
      </p:sp>
      <p:sp>
        <p:nvSpPr>
          <p:cNvPr id="6" name="Text 3"/>
          <p:cNvSpPr/>
          <p:nvPr/>
        </p:nvSpPr>
        <p:spPr>
          <a:xfrm>
            <a:off x="829349" y="2711152"/>
            <a:ext cx="2280982"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Objetivo</a:t>
            </a:r>
            <a:endParaRPr lang="en-US" sz="1450" dirty="0"/>
          </a:p>
        </p:txBody>
      </p:sp>
      <p:sp>
        <p:nvSpPr>
          <p:cNvPr id="7" name="Text 4"/>
          <p:cNvSpPr/>
          <p:nvPr/>
        </p:nvSpPr>
        <p:spPr>
          <a:xfrm>
            <a:off x="829349" y="3023989"/>
            <a:ext cx="2280982" cy="678656"/>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¿Qué pregunta queremos responder? ¿Qué decisión queremos apoyar?</a:t>
            </a:r>
            <a:endParaRPr lang="en-US" sz="115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12147" y="2111673"/>
            <a:ext cx="2616730" cy="1758851"/>
          </a:xfrm>
          <a:prstGeom prst="rect">
            <a:avLst/>
          </a:prstGeom>
        </p:spPr>
      </p:pic>
      <p:sp>
        <p:nvSpPr>
          <p:cNvPr id="9" name="Text 5"/>
          <p:cNvSpPr/>
          <p:nvPr/>
        </p:nvSpPr>
        <p:spPr>
          <a:xfrm>
            <a:off x="4608893" y="2211189"/>
            <a:ext cx="223237" cy="279102"/>
          </a:xfrm>
          <a:prstGeom prst="rect">
            <a:avLst/>
          </a:prstGeom>
          <a:noFill/>
          <a:ln/>
        </p:spPr>
        <p:txBody>
          <a:bodyPr wrap="none" lIns="0" tIns="0" rIns="0" bIns="0" rtlCol="0" anchor="ctr"/>
          <a:lstStyle/>
          <a:p>
            <a:pPr algn="ctr" indent="0" marL="0">
              <a:lnSpc>
                <a:spcPct val="100000"/>
              </a:lnSpc>
              <a:buNone/>
            </a:pPr>
            <a:r>
              <a:rPr lang="en-US" sz="1750" spc="-18" kern="0" dirty="0">
                <a:solidFill>
                  <a:srgbClr val="FFFFFF"/>
                </a:solidFill>
                <a:latin typeface="Alexandria Medium" pitchFamily="34" charset="0"/>
                <a:ea typeface="Alexandria Medium" pitchFamily="34" charset="-122"/>
                <a:cs typeface="Alexandria Medium" pitchFamily="34" charset="-120"/>
              </a:rPr>
              <a:t>2</a:t>
            </a:r>
            <a:endParaRPr lang="en-US" sz="1750" dirty="0"/>
          </a:p>
        </p:txBody>
      </p:sp>
      <p:sp>
        <p:nvSpPr>
          <p:cNvPr id="10" name="Text 6"/>
          <p:cNvSpPr/>
          <p:nvPr/>
        </p:nvSpPr>
        <p:spPr>
          <a:xfrm>
            <a:off x="3580021" y="2711152"/>
            <a:ext cx="2280982"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Fuentes</a:t>
            </a:r>
            <a:endParaRPr lang="en-US" sz="1450" dirty="0"/>
          </a:p>
        </p:txBody>
      </p:sp>
      <p:sp>
        <p:nvSpPr>
          <p:cNvPr id="11" name="Text 7"/>
          <p:cNvSpPr/>
          <p:nvPr/>
        </p:nvSpPr>
        <p:spPr>
          <a:xfrm>
            <a:off x="3580021" y="3023989"/>
            <a:ext cx="2280982" cy="678656"/>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¿Dónde están los datos? ¿Cuántas fuentes? ¿Qué formato tiene cada una?</a:t>
            </a:r>
            <a:endParaRPr lang="en-US" sz="115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62818" y="2111673"/>
            <a:ext cx="2616730" cy="1758851"/>
          </a:xfrm>
          <a:prstGeom prst="rect">
            <a:avLst/>
          </a:prstGeom>
        </p:spPr>
      </p:pic>
      <p:sp>
        <p:nvSpPr>
          <p:cNvPr id="13" name="Text 8"/>
          <p:cNvSpPr/>
          <p:nvPr/>
        </p:nvSpPr>
        <p:spPr>
          <a:xfrm>
            <a:off x="7359565" y="2211189"/>
            <a:ext cx="223237" cy="279102"/>
          </a:xfrm>
          <a:prstGeom prst="rect">
            <a:avLst/>
          </a:prstGeom>
          <a:noFill/>
          <a:ln/>
        </p:spPr>
        <p:txBody>
          <a:bodyPr wrap="none" lIns="0" tIns="0" rIns="0" bIns="0" rtlCol="0" anchor="ctr"/>
          <a:lstStyle/>
          <a:p>
            <a:pPr algn="ctr" indent="0" marL="0">
              <a:lnSpc>
                <a:spcPct val="100000"/>
              </a:lnSpc>
              <a:buNone/>
            </a:pPr>
            <a:r>
              <a:rPr lang="en-US" sz="1750" spc="-18" kern="0" dirty="0">
                <a:solidFill>
                  <a:srgbClr val="FFFFFF"/>
                </a:solidFill>
                <a:latin typeface="Alexandria Medium" pitchFamily="34" charset="0"/>
                <a:ea typeface="Alexandria Medium" pitchFamily="34" charset="-122"/>
                <a:cs typeface="Alexandria Medium" pitchFamily="34" charset="-120"/>
              </a:rPr>
              <a:t>3</a:t>
            </a:r>
            <a:endParaRPr lang="en-US" sz="1750" dirty="0"/>
          </a:p>
        </p:txBody>
      </p:sp>
      <p:sp>
        <p:nvSpPr>
          <p:cNvPr id="14" name="Text 9"/>
          <p:cNvSpPr/>
          <p:nvPr/>
        </p:nvSpPr>
        <p:spPr>
          <a:xfrm>
            <a:off x="6330692" y="2711152"/>
            <a:ext cx="2280982"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Ingesta</a:t>
            </a:r>
            <a:endParaRPr lang="en-US" sz="1450" dirty="0"/>
          </a:p>
        </p:txBody>
      </p:sp>
      <p:sp>
        <p:nvSpPr>
          <p:cNvPr id="15" name="Text 10"/>
          <p:cNvSpPr/>
          <p:nvPr/>
        </p:nvSpPr>
        <p:spPr>
          <a:xfrm>
            <a:off x="6330692" y="3023989"/>
            <a:ext cx="2280982" cy="678656"/>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¿Cómo entran? ¿Batch o continua? ¿Qué problemas de acceso pueden surgir?</a:t>
            </a:r>
            <a:endParaRPr lang="en-US" sz="1150" dirty="0"/>
          </a:p>
        </p:txBody>
      </p:sp>
      <p:pic>
        <p:nvPicPr>
          <p:cNvPr id="16"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913490" y="2111673"/>
            <a:ext cx="2616730" cy="1758851"/>
          </a:xfrm>
          <a:prstGeom prst="rect">
            <a:avLst/>
          </a:prstGeom>
        </p:spPr>
      </p:pic>
      <p:sp>
        <p:nvSpPr>
          <p:cNvPr id="17" name="Text 11"/>
          <p:cNvSpPr/>
          <p:nvPr/>
        </p:nvSpPr>
        <p:spPr>
          <a:xfrm>
            <a:off x="10110237" y="2211189"/>
            <a:ext cx="223237" cy="279102"/>
          </a:xfrm>
          <a:prstGeom prst="rect">
            <a:avLst/>
          </a:prstGeom>
          <a:noFill/>
          <a:ln/>
        </p:spPr>
        <p:txBody>
          <a:bodyPr wrap="none" lIns="0" tIns="0" rIns="0" bIns="0" rtlCol="0" anchor="ctr"/>
          <a:lstStyle/>
          <a:p>
            <a:pPr algn="ctr" indent="0" marL="0">
              <a:lnSpc>
                <a:spcPct val="100000"/>
              </a:lnSpc>
              <a:buNone/>
            </a:pPr>
            <a:r>
              <a:rPr lang="en-US" sz="1750" spc="-18" kern="0" dirty="0">
                <a:solidFill>
                  <a:srgbClr val="FFFFFF"/>
                </a:solidFill>
                <a:latin typeface="Alexandria Medium" pitchFamily="34" charset="0"/>
                <a:ea typeface="Alexandria Medium" pitchFamily="34" charset="-122"/>
                <a:cs typeface="Alexandria Medium" pitchFamily="34" charset="-120"/>
              </a:rPr>
              <a:t>4</a:t>
            </a:r>
            <a:endParaRPr lang="en-US" sz="1750" dirty="0"/>
          </a:p>
        </p:txBody>
      </p:sp>
      <p:sp>
        <p:nvSpPr>
          <p:cNvPr id="18" name="Text 12"/>
          <p:cNvSpPr/>
          <p:nvPr/>
        </p:nvSpPr>
        <p:spPr>
          <a:xfrm>
            <a:off x="9081364" y="2711152"/>
            <a:ext cx="2280982"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Transformaciones</a:t>
            </a:r>
            <a:endParaRPr lang="en-US" sz="1450" dirty="0"/>
          </a:p>
        </p:txBody>
      </p:sp>
      <p:sp>
        <p:nvSpPr>
          <p:cNvPr id="19" name="Text 13"/>
          <p:cNvSpPr/>
          <p:nvPr/>
        </p:nvSpPr>
        <p:spPr>
          <a:xfrm>
            <a:off x="9081364" y="3023989"/>
            <a:ext cx="2280982" cy="678656"/>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¿Qué problemas de calidad debemos resolver? ¿Tipos, nulos, duplicados, categorías?</a:t>
            </a:r>
            <a:endParaRPr lang="en-US" sz="1150" dirty="0"/>
          </a:p>
        </p:txBody>
      </p:sp>
      <p:pic>
        <p:nvPicPr>
          <p:cNvPr id="20"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1475" y="4004469"/>
            <a:ext cx="2616730" cy="1758851"/>
          </a:xfrm>
          <a:prstGeom prst="rect">
            <a:avLst/>
          </a:prstGeom>
        </p:spPr>
      </p:pic>
      <p:sp>
        <p:nvSpPr>
          <p:cNvPr id="21" name="Text 14"/>
          <p:cNvSpPr/>
          <p:nvPr/>
        </p:nvSpPr>
        <p:spPr>
          <a:xfrm>
            <a:off x="1858221" y="4103985"/>
            <a:ext cx="223237" cy="279102"/>
          </a:xfrm>
          <a:prstGeom prst="rect">
            <a:avLst/>
          </a:prstGeom>
          <a:noFill/>
          <a:ln/>
        </p:spPr>
        <p:txBody>
          <a:bodyPr wrap="none" lIns="0" tIns="0" rIns="0" bIns="0" rtlCol="0" anchor="ctr"/>
          <a:lstStyle/>
          <a:p>
            <a:pPr algn="ctr" indent="0" marL="0">
              <a:lnSpc>
                <a:spcPct val="100000"/>
              </a:lnSpc>
              <a:buNone/>
            </a:pPr>
            <a:r>
              <a:rPr lang="en-US" sz="1750" spc="-18" kern="0" dirty="0">
                <a:solidFill>
                  <a:srgbClr val="FFFFFF"/>
                </a:solidFill>
                <a:latin typeface="Alexandria Medium" pitchFamily="34" charset="0"/>
                <a:ea typeface="Alexandria Medium" pitchFamily="34" charset="-122"/>
                <a:cs typeface="Alexandria Medium" pitchFamily="34" charset="-120"/>
              </a:rPr>
              <a:t>5</a:t>
            </a:r>
            <a:endParaRPr lang="en-US" sz="1750" dirty="0"/>
          </a:p>
        </p:txBody>
      </p:sp>
      <p:sp>
        <p:nvSpPr>
          <p:cNvPr id="22" name="Text 15"/>
          <p:cNvSpPr/>
          <p:nvPr/>
        </p:nvSpPr>
        <p:spPr>
          <a:xfrm>
            <a:off x="829349" y="4603948"/>
            <a:ext cx="2280982"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Integración</a:t>
            </a:r>
            <a:endParaRPr lang="en-US" sz="1450" dirty="0"/>
          </a:p>
        </p:txBody>
      </p:sp>
      <p:sp>
        <p:nvSpPr>
          <p:cNvPr id="23" name="Text 16"/>
          <p:cNvSpPr/>
          <p:nvPr/>
        </p:nvSpPr>
        <p:spPr>
          <a:xfrm>
            <a:off x="829349" y="4916785"/>
            <a:ext cx="2280982" cy="678656"/>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¿Cómo se relacionan las fuentes? ¿Qué claves usamos? ¿Qué tipo de join?</a:t>
            </a:r>
            <a:endParaRPr lang="en-US" sz="1150" dirty="0"/>
          </a:p>
        </p:txBody>
      </p:sp>
      <p:pic>
        <p:nvPicPr>
          <p:cNvPr id="24"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412147" y="4004469"/>
            <a:ext cx="2616730" cy="1758851"/>
          </a:xfrm>
          <a:prstGeom prst="rect">
            <a:avLst/>
          </a:prstGeom>
        </p:spPr>
      </p:pic>
      <p:sp>
        <p:nvSpPr>
          <p:cNvPr id="25" name="Text 17"/>
          <p:cNvSpPr/>
          <p:nvPr/>
        </p:nvSpPr>
        <p:spPr>
          <a:xfrm>
            <a:off x="4608893" y="4103985"/>
            <a:ext cx="223237" cy="279102"/>
          </a:xfrm>
          <a:prstGeom prst="rect">
            <a:avLst/>
          </a:prstGeom>
          <a:noFill/>
          <a:ln/>
        </p:spPr>
        <p:txBody>
          <a:bodyPr wrap="none" lIns="0" tIns="0" rIns="0" bIns="0" rtlCol="0" anchor="ctr"/>
          <a:lstStyle/>
          <a:p>
            <a:pPr algn="ctr" indent="0" marL="0">
              <a:lnSpc>
                <a:spcPct val="100000"/>
              </a:lnSpc>
              <a:buNone/>
            </a:pPr>
            <a:r>
              <a:rPr lang="en-US" sz="1750" spc="-18" kern="0" dirty="0">
                <a:solidFill>
                  <a:srgbClr val="FFFFFF"/>
                </a:solidFill>
                <a:latin typeface="Alexandria Medium" pitchFamily="34" charset="0"/>
                <a:ea typeface="Alexandria Medium" pitchFamily="34" charset="-122"/>
                <a:cs typeface="Alexandria Medium" pitchFamily="34" charset="-120"/>
              </a:rPr>
              <a:t>6</a:t>
            </a:r>
            <a:endParaRPr lang="en-US" sz="1750" dirty="0"/>
          </a:p>
        </p:txBody>
      </p:sp>
      <p:sp>
        <p:nvSpPr>
          <p:cNvPr id="26" name="Text 18"/>
          <p:cNvSpPr/>
          <p:nvPr/>
        </p:nvSpPr>
        <p:spPr>
          <a:xfrm>
            <a:off x="3580021" y="4603948"/>
            <a:ext cx="2280982"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Validación</a:t>
            </a:r>
            <a:endParaRPr lang="en-US" sz="1450" dirty="0"/>
          </a:p>
        </p:txBody>
      </p:sp>
      <p:sp>
        <p:nvSpPr>
          <p:cNvPr id="27" name="Text 19"/>
          <p:cNvSpPr/>
          <p:nvPr/>
        </p:nvSpPr>
        <p:spPr>
          <a:xfrm>
            <a:off x="3580021" y="4916785"/>
            <a:ext cx="2280982" cy="452438"/>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¿Qué comprobamos para saber que el resultado es correcto?</a:t>
            </a:r>
            <a:endParaRPr lang="en-US" sz="1150" dirty="0"/>
          </a:p>
        </p:txBody>
      </p:sp>
      <p:pic>
        <p:nvPicPr>
          <p:cNvPr id="28"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162818" y="4004469"/>
            <a:ext cx="2616730" cy="1758851"/>
          </a:xfrm>
          <a:prstGeom prst="rect">
            <a:avLst/>
          </a:prstGeom>
        </p:spPr>
      </p:pic>
      <p:sp>
        <p:nvSpPr>
          <p:cNvPr id="29" name="Text 20"/>
          <p:cNvSpPr/>
          <p:nvPr/>
        </p:nvSpPr>
        <p:spPr>
          <a:xfrm>
            <a:off x="7359565" y="4103985"/>
            <a:ext cx="223237" cy="279102"/>
          </a:xfrm>
          <a:prstGeom prst="rect">
            <a:avLst/>
          </a:prstGeom>
          <a:noFill/>
          <a:ln/>
        </p:spPr>
        <p:txBody>
          <a:bodyPr wrap="none" lIns="0" tIns="0" rIns="0" bIns="0" rtlCol="0" anchor="ctr"/>
          <a:lstStyle/>
          <a:p>
            <a:pPr algn="ctr" indent="0" marL="0">
              <a:lnSpc>
                <a:spcPct val="100000"/>
              </a:lnSpc>
              <a:buNone/>
            </a:pPr>
            <a:r>
              <a:rPr lang="en-US" sz="1750" spc="-18" kern="0" dirty="0">
                <a:solidFill>
                  <a:srgbClr val="FFFFFF"/>
                </a:solidFill>
                <a:latin typeface="Alexandria Medium" pitchFamily="34" charset="0"/>
                <a:ea typeface="Alexandria Medium" pitchFamily="34" charset="-122"/>
                <a:cs typeface="Alexandria Medium" pitchFamily="34" charset="-120"/>
              </a:rPr>
              <a:t>7</a:t>
            </a:r>
            <a:endParaRPr lang="en-US" sz="1750" dirty="0"/>
          </a:p>
        </p:txBody>
      </p:sp>
      <p:sp>
        <p:nvSpPr>
          <p:cNvPr id="30" name="Text 21"/>
          <p:cNvSpPr/>
          <p:nvPr/>
        </p:nvSpPr>
        <p:spPr>
          <a:xfrm>
            <a:off x="6330692" y="4603948"/>
            <a:ext cx="2280982"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Salida</a:t>
            </a:r>
            <a:endParaRPr lang="en-US" sz="1450" dirty="0"/>
          </a:p>
        </p:txBody>
      </p:sp>
      <p:sp>
        <p:nvSpPr>
          <p:cNvPr id="31" name="Text 22"/>
          <p:cNvSpPr/>
          <p:nvPr/>
        </p:nvSpPr>
        <p:spPr>
          <a:xfrm>
            <a:off x="6330692" y="4916785"/>
            <a:ext cx="2280982" cy="678656"/>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¿Qué dataset generamos? ¿En qué formato? ¿Dónde se almacena?</a:t>
            </a:r>
            <a:endParaRPr lang="en-US" sz="1150" dirty="0"/>
          </a:p>
        </p:txBody>
      </p:sp>
      <p:pic>
        <p:nvPicPr>
          <p:cNvPr id="32" name="Image 7" descr="preencoded.png">    </p:cNvPr>
          <p:cNvPicPr>
            <a:picLocks noChangeAspect="1"/>
          </p:cNvPicPr>
          <p:nvPr/>
        </p:nvPicPr>
        <p:blipFill>
          <a:blip r:embed="rId15"/>
          <a:stretch>
            <a:fillRect/>
          </a:stretch>
        </p:blipFill>
        <p:spPr>
          <a:xfrm>
            <a:off x="198433" y="203597"/>
            <a:ext cx="676357" cy="568623"/>
          </a:xfrm>
          <a:prstGeom prst="rect">
            <a:avLst/>
          </a:prstGeom>
        </p:spPr>
      </p:pic>
      <p:pic>
        <p:nvPicPr>
          <p:cNvPr id="33" name="Image 8" descr="preencoded.png">    </p:cNvPr>
          <p:cNvPicPr>
            <a:picLocks noChangeAspect="1"/>
          </p:cNvPicPr>
          <p:nvPr/>
        </p:nvPicPr>
        <p:blipFill>
          <a:blip r:embed="rId16"/>
          <a:stretch>
            <a:fillRect/>
          </a:stretch>
        </p:blipFill>
        <p:spPr>
          <a:xfrm>
            <a:off x="11386357" y="268784"/>
            <a:ext cx="606906" cy="438249"/>
          </a:xfrm>
          <a:prstGeom prst="rect">
            <a:avLst/>
          </a:prstGeom>
        </p:spPr>
      </p:pic>
      <p:sp>
        <p:nvSpPr>
          <p:cNvPr id="34" name="Text 23"/>
          <p:cNvSpPr/>
          <p:nvPr/>
        </p:nvSpPr>
        <p:spPr>
          <a:xfrm>
            <a:off x="10848009" y="6300589"/>
            <a:ext cx="1145253"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661475" y="995462"/>
            <a:ext cx="10868745" cy="351433"/>
          </a:xfrm>
          <a:prstGeom prst="rect">
            <a:avLst/>
          </a:prstGeom>
          <a:noFill/>
          <a:ln/>
        </p:spPr>
        <p:txBody>
          <a:bodyPr wrap="none" lIns="0" tIns="0" rIns="0" bIns="0" rtlCol="0" anchor="t"/>
          <a:lstStyle/>
          <a:p>
            <a:pPr algn="l" indent="0" marL="0">
              <a:lnSpc>
                <a:spcPct val="104000"/>
              </a:lnSpc>
              <a:buNone/>
            </a:pPr>
            <a:r>
              <a:rPr lang="en-US" sz="2200" spc="-22" kern="0" dirty="0">
                <a:solidFill>
                  <a:srgbClr val="FFFFFF"/>
                </a:solidFill>
                <a:latin typeface="Alexandria Medium" pitchFamily="34" charset="0"/>
                <a:ea typeface="Alexandria Medium" pitchFamily="34" charset="-122"/>
                <a:cs typeface="Alexandria Medium" pitchFamily="34" charset="-120"/>
              </a:rPr>
              <a:t>El pipeline completo de ShopData</a:t>
            </a:r>
            <a:endParaRPr lang="en-US" sz="2200" dirty="0"/>
          </a:p>
        </p:txBody>
      </p:sp>
      <p:pic>
        <p:nvPicPr>
          <p:cNvPr id="3" name="Image 0" descr="preencoded.png">    </p:cNvPr>
          <p:cNvPicPr>
            <a:picLocks noChangeAspect="1"/>
          </p:cNvPicPr>
          <p:nvPr/>
        </p:nvPicPr>
        <p:blipFill>
          <a:blip r:embed="rId1"/>
          <a:stretch>
            <a:fillRect/>
          </a:stretch>
        </p:blipFill>
        <p:spPr>
          <a:xfrm>
            <a:off x="3431791" y="1585813"/>
            <a:ext cx="5328112" cy="1904107"/>
          </a:xfrm>
          <a:prstGeom prst="rect">
            <a:avLst/>
          </a:prstGeom>
        </p:spPr>
      </p:pic>
      <p:sp>
        <p:nvSpPr>
          <p:cNvPr id="4" name="Text 1"/>
          <p:cNvSpPr/>
          <p:nvPr/>
        </p:nvSpPr>
        <p:spPr>
          <a:xfrm>
            <a:off x="661475" y="3743722"/>
            <a:ext cx="5262927"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Python hace el trabajo</a:t>
            </a:r>
            <a:endParaRPr lang="en-US" sz="1350" dirty="0"/>
          </a:p>
        </p:txBody>
      </p:sp>
      <p:sp>
        <p:nvSpPr>
          <p:cNvPr id="5" name="Text 2"/>
          <p:cNvSpPr/>
          <p:nvPr/>
        </p:nvSpPr>
        <p:spPr>
          <a:xfrm>
            <a:off x="661475" y="4082752"/>
            <a:ext cx="5262927" cy="1207393"/>
          </a:xfrm>
          <a:prstGeom prst="rect">
            <a:avLst/>
          </a:prstGeom>
          <a:noFill/>
          <a:ln/>
        </p:spPr>
        <p:txBody>
          <a:bodyPr wrap="square" lIns="0" tIns="0" rIns="0" bIns="0" rtlCol="0" anchor="t">
            <a:normAutofit/>
          </a:bodyPr>
          <a:lstStyle/>
          <a:p>
            <a:pPr algn="l" marL="223520" indent="-223520">
              <a:lnSpc>
                <a:spcPct val="123000"/>
              </a:lnSpc>
              <a:buSzPct val="100000"/>
              <a:buChar char="•"/>
            </a:pPr>
            <a:r>
              <a:rPr lang="en-US" sz="1100" dirty="0">
                <a:solidFill>
                  <a:srgbClr val="FFFFFF"/>
                </a:solidFill>
                <a:latin typeface="Manrope" pitchFamily="34" charset="0"/>
                <a:ea typeface="Manrope" pitchFamily="34" charset="-122"/>
                <a:cs typeface="Manrope" pitchFamily="34" charset="-120"/>
              </a:rPr>
              <a:t>Lectura de todas las fuentes</a:t>
            </a:r>
            <a:endParaRPr lang="en-US" sz="1100" dirty="0"/>
          </a:p>
          <a:p>
            <a:pPr algn="l" marL="223520" indent="-223520">
              <a:lnSpc>
                <a:spcPct val="123000"/>
              </a:lnSpc>
              <a:buSzPct val="100000"/>
              <a:buChar char="•"/>
            </a:pPr>
            <a:r>
              <a:rPr lang="en-US" sz="1100" dirty="0">
                <a:solidFill>
                  <a:srgbClr val="FFFFFF"/>
                </a:solidFill>
                <a:latin typeface="Manrope" pitchFamily="34" charset="0"/>
                <a:ea typeface="Manrope" pitchFamily="34" charset="-122"/>
                <a:cs typeface="Manrope" pitchFamily="34" charset="-120"/>
              </a:rPr>
              <a:t>Limpieza y normalización de cada una</a:t>
            </a:r>
            <a:endParaRPr lang="en-US" sz="1100" dirty="0"/>
          </a:p>
          <a:p>
            <a:pPr algn="l" marL="223520" indent="-223520">
              <a:lnSpc>
                <a:spcPct val="123000"/>
              </a:lnSpc>
              <a:buSzPct val="100000"/>
              <a:buChar char="•"/>
            </a:pPr>
            <a:r>
              <a:rPr lang="en-US" sz="1100" dirty="0">
                <a:solidFill>
                  <a:srgbClr val="FFFFFF"/>
                </a:solidFill>
                <a:latin typeface="Manrope" pitchFamily="34" charset="0"/>
                <a:ea typeface="Manrope" pitchFamily="34" charset="-122"/>
                <a:cs typeface="Manrope" pitchFamily="34" charset="-120"/>
              </a:rPr>
              <a:t>Merge secuencial con claves comunes</a:t>
            </a:r>
            <a:endParaRPr lang="en-US" sz="1100" dirty="0"/>
          </a:p>
          <a:p>
            <a:pPr algn="l" marL="223520" indent="-223520">
              <a:lnSpc>
                <a:spcPct val="123000"/>
              </a:lnSpc>
              <a:buSzPct val="100000"/>
              <a:buChar char="•"/>
            </a:pPr>
            <a:r>
              <a:rPr lang="en-US" sz="1100" dirty="0">
                <a:solidFill>
                  <a:srgbClr val="FFFFFF"/>
                </a:solidFill>
                <a:latin typeface="Manrope" pitchFamily="34" charset="0"/>
                <a:ea typeface="Manrope" pitchFamily="34" charset="-122"/>
                <a:cs typeface="Manrope" pitchFamily="34" charset="-120"/>
              </a:rPr>
              <a:t>Validación del resultado</a:t>
            </a:r>
            <a:endParaRPr lang="en-US" sz="1100" dirty="0"/>
          </a:p>
          <a:p>
            <a:pPr algn="l" marL="223520" indent="-223520">
              <a:lnSpc>
                <a:spcPct val="123000"/>
              </a:lnSpc>
              <a:buSzPct val="100000"/>
              <a:buChar char="•"/>
            </a:pPr>
            <a:r>
              <a:rPr lang="en-US" sz="1100" dirty="0">
                <a:solidFill>
                  <a:srgbClr val="FFFFFF"/>
                </a:solidFill>
                <a:latin typeface="Manrope" pitchFamily="34" charset="0"/>
                <a:ea typeface="Manrope" pitchFamily="34" charset="-122"/>
                <a:cs typeface="Manrope" pitchFamily="34" charset="-120"/>
              </a:rPr>
              <a:t>Exportación a Parquet</a:t>
            </a:r>
            <a:endParaRPr lang="en-US" sz="1100" dirty="0"/>
          </a:p>
        </p:txBody>
      </p:sp>
      <p:sp>
        <p:nvSpPr>
          <p:cNvPr id="6" name="Text 3"/>
          <p:cNvSpPr/>
          <p:nvPr/>
        </p:nvSpPr>
        <p:spPr>
          <a:xfrm>
            <a:off x="6273643" y="3743722"/>
            <a:ext cx="5262927"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Dataset final</a:t>
            </a:r>
            <a:endParaRPr lang="en-US" sz="1350" dirty="0"/>
          </a:p>
        </p:txBody>
      </p:sp>
      <p:sp>
        <p:nvSpPr>
          <p:cNvPr id="7" name="Shape 4"/>
          <p:cNvSpPr/>
          <p:nvPr/>
        </p:nvSpPr>
        <p:spPr>
          <a:xfrm>
            <a:off x="6273643" y="4097635"/>
            <a:ext cx="5262927" cy="1630561"/>
          </a:xfrm>
          <a:prstGeom prst="roundRect">
            <a:avLst>
              <a:gd name="adj" fmla="val 12933"/>
            </a:avLst>
          </a:prstGeom>
          <a:solidFill>
            <a:srgbClr val="583592"/>
          </a:solidFill>
          <a:ln/>
        </p:spPr>
      </p:sp>
      <p:sp>
        <p:nvSpPr>
          <p:cNvPr id="8" name="Text 5"/>
          <p:cNvSpPr/>
          <p:nvPr/>
        </p:nvSpPr>
        <p:spPr>
          <a:xfrm>
            <a:off x="6442311" y="4238129"/>
            <a:ext cx="4925592" cy="1349573"/>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E6EDF3"/>
                </a:solidFill>
                <a:latin typeface="Consolas" pitchFamily="34" charset="0"/>
                <a:ea typeface="Consolas" pitchFamily="34" charset="-122"/>
                <a:cs typeface="Consolas" pitchFamily="34" charset="-120"/>
              </a:rPr>
              <a:t>dataset_analitico.parquet</a:t>
            </a:r>
            <a:endParaRPr lang="en-US" sz="1100" dirty="0"/>
          </a:p>
          <a:p>
            <a:pPr algn="l" indent="0" marL="0">
              <a:lnSpc>
                <a:spcPct val="133000"/>
              </a:lnSpc>
              <a:buNone/>
            </a:pPr>
            <a:r>
              <a:rPr lang="en-US" sz="1100" dirty="0">
                <a:solidFill>
                  <a:srgbClr val="E6EDF3"/>
                </a:solidFill>
                <a:latin typeface="Consolas" pitchFamily="34" charset="0"/>
                <a:ea typeface="Consolas" pitchFamily="34" charset="-122"/>
                <a:cs typeface="Consolas" pitchFamily="34" charset="-120"/>
              </a:rPr>
              <a:t># 100.000 filas × 15 columnas</a:t>
            </a:r>
            <a:endParaRPr lang="en-US" sz="1100" dirty="0"/>
          </a:p>
          <a:p>
            <a:pPr algn="l" indent="0" marL="0">
              <a:lnSpc>
                <a:spcPct val="133000"/>
              </a:lnSpc>
              <a:buNone/>
            </a:pPr>
            <a:r>
              <a:rPr lang="en-US" sz="1100" dirty="0">
                <a:solidFill>
                  <a:srgbClr val="E6EDF3"/>
                </a:solidFill>
                <a:latin typeface="Consolas" pitchFamily="34" charset="0"/>
                <a:ea typeface="Consolas" pitchFamily="34" charset="-122"/>
                <a:cs typeface="Consolas" pitchFamily="34" charset="-120"/>
              </a:rPr>
              <a:t># Tipos correctos</a:t>
            </a:r>
            <a:endParaRPr lang="en-US" sz="1100" dirty="0"/>
          </a:p>
          <a:p>
            <a:pPr algn="l" indent="0" marL="0">
              <a:lnSpc>
                <a:spcPct val="133000"/>
              </a:lnSpc>
              <a:buNone/>
            </a:pPr>
            <a:r>
              <a:rPr lang="en-US" sz="1100" dirty="0">
                <a:solidFill>
                  <a:srgbClr val="E6EDF3"/>
                </a:solidFill>
                <a:latin typeface="Consolas" pitchFamily="34" charset="0"/>
                <a:ea typeface="Consolas" pitchFamily="34" charset="-122"/>
                <a:cs typeface="Consolas" pitchFamily="34" charset="-120"/>
              </a:rPr>
              <a:t># Sin duplicados en order_id</a:t>
            </a:r>
            <a:endParaRPr lang="en-US" sz="1100" dirty="0"/>
          </a:p>
          <a:p>
            <a:pPr algn="l" indent="0" marL="0">
              <a:lnSpc>
                <a:spcPct val="133000"/>
              </a:lnSpc>
              <a:buNone/>
            </a:pPr>
            <a:r>
              <a:rPr lang="en-US" sz="1100" dirty="0">
                <a:solidFill>
                  <a:srgbClr val="E6EDF3"/>
                </a:solidFill>
                <a:latin typeface="Consolas" pitchFamily="34" charset="0"/>
                <a:ea typeface="Consolas" pitchFamily="34" charset="-122"/>
                <a:cs typeface="Consolas" pitchFamily="34" charset="-120"/>
              </a:rPr>
              <a:t># 98.7% clientes identificados</a:t>
            </a:r>
            <a:endParaRPr lang="en-US" sz="1100" dirty="0"/>
          </a:p>
          <a:p>
            <a:pPr algn="l" indent="0" marL="0">
              <a:lnSpc>
                <a:spcPct val="133000"/>
              </a:lnSpc>
              <a:buNone/>
            </a:pPr>
            <a:r>
              <a:rPr lang="en-US" sz="1100" dirty="0">
                <a:solidFill>
                  <a:srgbClr val="E6EDF3"/>
                </a:solidFill>
                <a:latin typeface="Consolas" pitchFamily="34" charset="0"/>
                <a:ea typeface="Consolas" pitchFamily="34" charset="-122"/>
                <a:cs typeface="Consolas" pitchFamily="34" charset="-120"/>
              </a:rPr>
              <a:t># Listo para análisis</a:t>
            </a:r>
            <a:endParaRPr lang="en-US" sz="1100" dirty="0"/>
          </a:p>
        </p:txBody>
      </p:sp>
      <p:pic>
        <p:nvPicPr>
          <p:cNvPr id="9" name="Image 1" descr="preencoded.png">    </p:cNvPr>
          <p:cNvPicPr>
            <a:picLocks noChangeAspect="1"/>
          </p:cNvPicPr>
          <p:nvPr/>
        </p:nvPicPr>
        <p:blipFill>
          <a:blip r:embed="rId2"/>
          <a:stretch>
            <a:fillRect/>
          </a:stretch>
        </p:blipFill>
        <p:spPr>
          <a:xfrm>
            <a:off x="198433" y="203597"/>
            <a:ext cx="676357" cy="568623"/>
          </a:xfrm>
          <a:prstGeom prst="rect">
            <a:avLst/>
          </a:prstGeom>
        </p:spPr>
      </p:pic>
      <p:pic>
        <p:nvPicPr>
          <p:cNvPr id="10" name="Image 2" descr="preencoded.png">    </p:cNvPr>
          <p:cNvPicPr>
            <a:picLocks noChangeAspect="1"/>
          </p:cNvPicPr>
          <p:nvPr/>
        </p:nvPicPr>
        <p:blipFill>
          <a:blip r:embed="rId3"/>
          <a:stretch>
            <a:fillRect/>
          </a:stretch>
        </p:blipFill>
        <p:spPr>
          <a:xfrm>
            <a:off x="11386357" y="268784"/>
            <a:ext cx="606906" cy="438249"/>
          </a:xfrm>
          <a:prstGeom prst="rect">
            <a:avLst/>
          </a:prstGeom>
        </p:spPr>
      </p:pic>
      <p:sp>
        <p:nvSpPr>
          <p:cNvPr id="11" name="Text 6"/>
          <p:cNvSpPr/>
          <p:nvPr/>
        </p:nvSpPr>
        <p:spPr>
          <a:xfrm>
            <a:off x="10830547" y="6300589"/>
            <a:ext cx="1162715"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661475" y="1971774"/>
            <a:ext cx="10868745" cy="413445"/>
          </a:xfrm>
          <a:prstGeom prst="rect">
            <a:avLst/>
          </a:prstGeom>
          <a:noFill/>
          <a:ln/>
        </p:spPr>
        <p:txBody>
          <a:bodyPr wrap="none" lIns="0" tIns="0" rIns="0" bIns="0" rtlCol="0" anchor="t"/>
          <a:lstStyle/>
          <a:p>
            <a:pPr algn="l" indent="0" marL="0">
              <a:lnSpc>
                <a:spcPct val="104000"/>
              </a:lnSpc>
              <a:buNone/>
            </a:pPr>
            <a:r>
              <a:rPr lang="en-US" sz="2600" spc="-26" kern="0" dirty="0">
                <a:solidFill>
                  <a:srgbClr val="FFFFFF"/>
                </a:solidFill>
                <a:latin typeface="Alexandria Medium" pitchFamily="34" charset="0"/>
                <a:ea typeface="Alexandria Medium" pitchFamily="34" charset="-122"/>
                <a:cs typeface="Alexandria Medium" pitchFamily="34" charset="-120"/>
              </a:rPr>
              <a:t>Siguientes pasos</a:t>
            </a:r>
            <a:endParaRPr lang="en-US" sz="2600" dirty="0"/>
          </a:p>
        </p:txBody>
      </p:sp>
      <p:sp>
        <p:nvSpPr>
          <p:cNvPr id="3" name="Text 1"/>
          <p:cNvSpPr/>
          <p:nvPr/>
        </p:nvSpPr>
        <p:spPr>
          <a:xfrm>
            <a:off x="661475" y="2798564"/>
            <a:ext cx="5007147" cy="310059"/>
          </a:xfrm>
          <a:prstGeom prst="rect">
            <a:avLst/>
          </a:prstGeom>
          <a:noFill/>
          <a:ln/>
        </p:spPr>
        <p:txBody>
          <a:bodyPr wrap="none" lIns="0" tIns="0" rIns="0" bIns="0" rtlCol="0" anchor="t"/>
          <a:lstStyle/>
          <a:p>
            <a:pPr algn="ctr" indent="0" marL="0">
              <a:lnSpc>
                <a:spcPct val="104000"/>
              </a:lnSpc>
              <a:buNone/>
            </a:pPr>
            <a:r>
              <a:rPr lang="en-US" sz="1950" spc="-20" kern="0" dirty="0">
                <a:solidFill>
                  <a:srgbClr val="FFFFFF"/>
                </a:solidFill>
                <a:latin typeface="Alexandria Medium" pitchFamily="34" charset="0"/>
                <a:ea typeface="Alexandria Medium" pitchFamily="34" charset="-122"/>
                <a:cs typeface="Alexandria Medium" pitchFamily="34" charset="-120"/>
              </a:rPr>
              <a:t>HOY</a:t>
            </a:r>
            <a:endParaRPr lang="en-US" sz="1950" dirty="0"/>
          </a:p>
        </p:txBody>
      </p:sp>
      <p:sp>
        <p:nvSpPr>
          <p:cNvPr id="4" name="Text 2"/>
          <p:cNvSpPr/>
          <p:nvPr/>
        </p:nvSpPr>
        <p:spPr>
          <a:xfrm>
            <a:off x="661475" y="3273921"/>
            <a:ext cx="5007147" cy="909538"/>
          </a:xfrm>
          <a:prstGeom prst="rect">
            <a:avLst/>
          </a:prstGeom>
          <a:noFill/>
          <a:ln/>
        </p:spPr>
        <p:txBody>
          <a:bodyPr wrap="square" lIns="0" tIns="0" rIns="0" bIns="0" rtlCol="0" anchor="t">
            <a:normAutofit/>
          </a:bodyPr>
          <a:lstStyle/>
          <a:p>
            <a:pPr algn="l" marL="264160" indent="-264160">
              <a:lnSpc>
                <a:spcPct val="133000"/>
              </a:lnSpc>
              <a:buSzPct val="100000"/>
              <a:buChar char="•"/>
            </a:pPr>
            <a:r>
              <a:rPr lang="en-US" sz="1300" b="1" dirty="0">
                <a:solidFill>
                  <a:srgbClr val="FFFFFF"/>
                </a:solidFill>
                <a:latin typeface="Manrope Bold" pitchFamily="34" charset="0"/>
                <a:ea typeface="Manrope Bold" pitchFamily="34" charset="-122"/>
                <a:cs typeface="Manrope Bold" pitchFamily="34" charset="-120"/>
              </a:rPr>
              <a:t>Pipeline Batch</a:t>
            </a:r>
            <a:endParaRPr lang="en-US" sz="1300" dirty="0"/>
          </a:p>
          <a:p>
            <a:pPr algn="l" marL="264160" indent="-264160">
              <a:lnSpc>
                <a:spcPct val="133000"/>
              </a:lnSpc>
              <a:buSzPct val="100000"/>
              <a:buChar char="•"/>
            </a:pPr>
            <a:r>
              <a:rPr lang="en-US" sz="1300" dirty="0">
                <a:solidFill>
                  <a:srgbClr val="FFFFFF"/>
                </a:solidFill>
                <a:latin typeface="Manrope" pitchFamily="34" charset="0"/>
                <a:ea typeface="Manrope" pitchFamily="34" charset="-122"/>
                <a:cs typeface="Manrope" pitchFamily="34" charset="-120"/>
              </a:rPr>
              <a:t>Datos que llegan por lotes</a:t>
            </a:r>
            <a:endParaRPr lang="en-US" sz="1300" dirty="0"/>
          </a:p>
          <a:p>
            <a:pPr algn="l" marL="264160" indent="-264160">
              <a:lnSpc>
                <a:spcPct val="133000"/>
              </a:lnSpc>
              <a:buSzPct val="100000"/>
              <a:buChar char="•"/>
            </a:pPr>
            <a:r>
              <a:rPr lang="en-US" sz="1300" dirty="0">
                <a:solidFill>
                  <a:srgbClr val="FFFFFF"/>
                </a:solidFill>
                <a:latin typeface="Manrope" pitchFamily="34" charset="0"/>
                <a:ea typeface="Manrope" pitchFamily="34" charset="-122"/>
                <a:cs typeface="Manrope" pitchFamily="34" charset="-120"/>
              </a:rPr>
              <a:t>Procesamiento periódico</a:t>
            </a:r>
            <a:endParaRPr lang="en-US" sz="1300" dirty="0"/>
          </a:p>
        </p:txBody>
      </p:sp>
      <p:pic>
        <p:nvPicPr>
          <p:cNvPr id="5" name="Image 0" descr="preencoded.png">    </p:cNvPr>
          <p:cNvPicPr>
            <a:picLocks noChangeAspect="1"/>
          </p:cNvPicPr>
          <p:nvPr/>
        </p:nvPicPr>
        <p:blipFill>
          <a:blip r:embed="rId1"/>
          <a:stretch>
            <a:fillRect/>
          </a:stretch>
        </p:blipFill>
        <p:spPr>
          <a:xfrm>
            <a:off x="6078385" y="3735983"/>
            <a:ext cx="47425" cy="47427"/>
          </a:xfrm>
          <a:prstGeom prst="rect">
            <a:avLst/>
          </a:prstGeom>
        </p:spPr>
      </p:pic>
      <p:sp>
        <p:nvSpPr>
          <p:cNvPr id="6" name="Text 3"/>
          <p:cNvSpPr/>
          <p:nvPr/>
        </p:nvSpPr>
        <p:spPr>
          <a:xfrm>
            <a:off x="6535574" y="2798564"/>
            <a:ext cx="5007147" cy="310059"/>
          </a:xfrm>
          <a:prstGeom prst="rect">
            <a:avLst/>
          </a:prstGeom>
          <a:noFill/>
          <a:ln/>
        </p:spPr>
        <p:txBody>
          <a:bodyPr wrap="none" lIns="0" tIns="0" rIns="0" bIns="0" rtlCol="0" anchor="t"/>
          <a:lstStyle/>
          <a:p>
            <a:pPr algn="ctr" indent="0" marL="0">
              <a:lnSpc>
                <a:spcPct val="104000"/>
              </a:lnSpc>
              <a:buNone/>
            </a:pPr>
            <a:r>
              <a:rPr lang="en-US" sz="1950" spc="-20" kern="0" dirty="0">
                <a:solidFill>
                  <a:srgbClr val="FFFFFF"/>
                </a:solidFill>
                <a:latin typeface="Alexandria Medium" pitchFamily="34" charset="0"/>
                <a:ea typeface="Alexandria Medium" pitchFamily="34" charset="-122"/>
                <a:cs typeface="Alexandria Medium" pitchFamily="34" charset="-120"/>
              </a:rPr>
              <a:t>SIGUIENTE</a:t>
            </a:r>
            <a:endParaRPr lang="en-US" sz="1950" dirty="0"/>
          </a:p>
        </p:txBody>
      </p:sp>
      <p:sp>
        <p:nvSpPr>
          <p:cNvPr id="7" name="Text 4"/>
          <p:cNvSpPr/>
          <p:nvPr/>
        </p:nvSpPr>
        <p:spPr>
          <a:xfrm>
            <a:off x="6535574" y="3273921"/>
            <a:ext cx="5007147" cy="1554460"/>
          </a:xfrm>
          <a:prstGeom prst="rect">
            <a:avLst/>
          </a:prstGeom>
          <a:noFill/>
          <a:ln/>
        </p:spPr>
        <p:txBody>
          <a:bodyPr wrap="square" lIns="0" tIns="0" rIns="0" bIns="0" rtlCol="0" anchor="t">
            <a:normAutofit/>
          </a:bodyPr>
          <a:lstStyle/>
          <a:p>
            <a:pPr algn="l" marL="264160" indent="-264160">
              <a:lnSpc>
                <a:spcPct val="133000"/>
              </a:lnSpc>
              <a:buSzPct val="100000"/>
              <a:buChar char="•"/>
            </a:pPr>
            <a:r>
              <a:rPr lang="en-US" sz="1300" b="1" dirty="0">
                <a:solidFill>
                  <a:srgbClr val="FFFFFF"/>
                </a:solidFill>
                <a:latin typeface="Manrope Bold" pitchFamily="34" charset="0"/>
                <a:ea typeface="Manrope Bold" pitchFamily="34" charset="-122"/>
                <a:cs typeface="Manrope Bold" pitchFamily="34" charset="-120"/>
              </a:rPr>
              <a:t>Ingesta Continua</a:t>
            </a:r>
            <a:endParaRPr lang="en-US" sz="1300" dirty="0"/>
          </a:p>
          <a:p>
            <a:pPr algn="l" marL="264160" indent="-264160">
              <a:lnSpc>
                <a:spcPct val="133000"/>
              </a:lnSpc>
              <a:buSzPct val="100000"/>
              <a:buChar char="•"/>
            </a:pPr>
            <a:r>
              <a:rPr lang="en-US" sz="1300" dirty="0">
                <a:solidFill>
                  <a:srgbClr val="FFFFFF"/>
                </a:solidFill>
                <a:latin typeface="Manrope" pitchFamily="34" charset="0"/>
                <a:ea typeface="Manrope" pitchFamily="34" charset="-122"/>
                <a:cs typeface="Manrope" pitchFamily="34" charset="-120"/>
              </a:rPr>
              <a:t>Eventos que llegan constantemente</a:t>
            </a:r>
            <a:endParaRPr lang="en-US" sz="1300" dirty="0"/>
          </a:p>
          <a:p>
            <a:pPr algn="l" marL="264160" indent="-264160">
              <a:lnSpc>
                <a:spcPct val="133000"/>
              </a:lnSpc>
              <a:buSzPct val="100000"/>
              <a:buChar char="•"/>
            </a:pPr>
            <a:r>
              <a:rPr lang="en-US" sz="1300" dirty="0">
                <a:solidFill>
                  <a:srgbClr val="FFFFFF"/>
                </a:solidFill>
                <a:latin typeface="Manrope" pitchFamily="34" charset="0"/>
                <a:ea typeface="Manrope" pitchFamily="34" charset="-122"/>
                <a:cs typeface="Manrope" pitchFamily="34" charset="-120"/>
              </a:rPr>
              <a:t>Procesamiento en tiempo real o casi real</a:t>
            </a:r>
            <a:endParaRPr lang="en-US" sz="1300" dirty="0"/>
          </a:p>
          <a:p>
            <a:pPr algn="l" marL="264160" indent="-264160">
              <a:lnSpc>
                <a:spcPct val="133000"/>
              </a:lnSpc>
              <a:buSzPct val="100000"/>
              <a:buChar char="•"/>
            </a:pPr>
            <a:r>
              <a:rPr lang="en-US" sz="1300" dirty="0">
                <a:solidFill>
                  <a:srgbClr val="FFFFFF"/>
                </a:solidFill>
                <a:latin typeface="Manrope" pitchFamily="34" charset="0"/>
                <a:ea typeface="Manrope" pitchFamily="34" charset="-122"/>
                <a:cs typeface="Manrope" pitchFamily="34" charset="-120"/>
              </a:rPr>
              <a:t>Baja latencia</a:t>
            </a:r>
            <a:endParaRPr lang="en-US" sz="1300" dirty="0"/>
          </a:p>
          <a:p>
            <a:pPr algn="l" marL="264160" indent="-264160">
              <a:lnSpc>
                <a:spcPct val="133000"/>
              </a:lnSpc>
              <a:buSzPct val="100000"/>
              <a:buChar char="•"/>
            </a:pPr>
            <a:r>
              <a:rPr lang="en-US" sz="1300" dirty="0">
                <a:solidFill>
                  <a:srgbClr val="FFFFFF"/>
                </a:solidFill>
                <a:latin typeface="Manrope" pitchFamily="34" charset="0"/>
                <a:ea typeface="Manrope" pitchFamily="34" charset="-122"/>
                <a:cs typeface="Manrope" pitchFamily="34" charset="-120"/>
              </a:rPr>
              <a:t>Gestión de flujos continuos</a:t>
            </a:r>
            <a:endParaRPr lang="en-US" sz="1300" dirty="0"/>
          </a:p>
        </p:txBody>
      </p:sp>
      <p:pic>
        <p:nvPicPr>
          <p:cNvPr id="8" name="Image 1" descr="preencoded.png">    </p:cNvPr>
          <p:cNvPicPr>
            <a:picLocks noChangeAspect="1"/>
          </p:cNvPicPr>
          <p:nvPr/>
        </p:nvPicPr>
        <p:blipFill>
          <a:blip r:embed="rId2"/>
          <a:stretch>
            <a:fillRect/>
          </a:stretch>
        </p:blipFill>
        <p:spPr>
          <a:xfrm>
            <a:off x="198433" y="203597"/>
            <a:ext cx="676357" cy="568623"/>
          </a:xfrm>
          <a:prstGeom prst="rect">
            <a:avLst/>
          </a:prstGeom>
        </p:spPr>
      </p:pic>
      <p:pic>
        <p:nvPicPr>
          <p:cNvPr id="9" name="Image 2" descr="preencoded.png">    </p:cNvPr>
          <p:cNvPicPr>
            <a:picLocks noChangeAspect="1"/>
          </p:cNvPicPr>
          <p:nvPr/>
        </p:nvPicPr>
        <p:blipFill>
          <a:blip r:embed="rId3"/>
          <a:stretch>
            <a:fillRect/>
          </a:stretch>
        </p:blipFill>
        <p:spPr>
          <a:xfrm>
            <a:off x="11386357" y="268784"/>
            <a:ext cx="606906" cy="438249"/>
          </a:xfrm>
          <a:prstGeom prst="rect">
            <a:avLst/>
          </a:prstGeom>
        </p:spPr>
      </p:pic>
      <p:sp>
        <p:nvSpPr>
          <p:cNvPr id="10" name="Text 5"/>
          <p:cNvSpPr/>
          <p:nvPr/>
        </p:nvSpPr>
        <p:spPr>
          <a:xfrm>
            <a:off x="10829158" y="6300589"/>
            <a:ext cx="1164104"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53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FFFFF"/>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2026-09-20T13:42:14Z</dcterms:created>
  <dcterms:modified xsi:type="dcterms:W3CDTF">2026-09-20T13:42:14Z</dcterms:modified>
</cp:coreProperties>
</file>