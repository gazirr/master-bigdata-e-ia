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embeddedFontLst>
    <p:embeddedFont>
      <p:font typeface="Alexandria Medium"/>
      <p:regular r:id="rId201314"/>
    </p:embeddedFont>
    <p:embeddedFont>
      <p:font typeface="Manrope"/>
      <p:regular r:id="rId201315"/>
    </p:embeddedFont>
    <p:embeddedFont>
      <p:font typeface="Manrop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los puntos clave abordados en la sección de fundamentos y hacer una conexión clara con el siguiente módulo.
Enfatizar cómo la programación de IA difiere de la clásica en la definición de reglas.
Preparar a la audiencia para la inmersión en las herramientas prácticas para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CD0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asquer@monlau.com" TargetMode="External"/><Relationship Id="rId1" Type="http://schemas.openxmlformats.org/officeDocument/2006/relationships/image" Target="../media/image-1-1.jpe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svg"/><Relationship Id="rId22" Type="http://schemas.openxmlformats.org/officeDocument/2006/relationships/image" Target="../media/image-1-2.png"/><Relationship Id="rId23" Type="http://schemas.openxmlformats.org/officeDocument/2006/relationships/image" Target="../media/image-1-3.png"/><Relationship Id="rId24" Type="http://schemas.openxmlformats.org/officeDocument/2006/relationships/slideLayout" Target="../slideLayouts/slideLayout2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-2.png"/><Relationship Id="rId16" Type="http://schemas.openxmlformats.org/officeDocument/2006/relationships/image" Target="../media/image-1-3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3.png"/><Relationship Id="rId4" Type="http://schemas.openxmlformats.org/officeDocument/2006/relationships/image" Target="../media/image-22-1.png"/><Relationship Id="rId5" Type="http://schemas.openxmlformats.org/officeDocument/2006/relationships/image" Target="../media/image-22-3.png"/><Relationship Id="rId6" Type="http://schemas.openxmlformats.org/officeDocument/2006/relationships/image" Target="../media/image-4-4.png"/><Relationship Id="rId7" Type="http://schemas.openxmlformats.org/officeDocument/2006/relationships/image" Target="../media/image-1-2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1-2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image" Target="../media/image-27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1.png"/><Relationship Id="rId6" Type="http://schemas.openxmlformats.org/officeDocument/2006/relationships/image" Target="../media/image-29-2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1.png"/><Relationship Id="rId10" Type="http://schemas.openxmlformats.org/officeDocument/2006/relationships/image" Target="../media/image-29-2.sv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sv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sv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svg"/><Relationship Id="rId17" Type="http://schemas.openxmlformats.org/officeDocument/2006/relationships/image" Target="../media/image-29-13.png"/><Relationship Id="rId18" Type="http://schemas.openxmlformats.org/officeDocument/2006/relationships/image" Target="../media/image-29-14.svg"/><Relationship Id="rId19" Type="http://schemas.openxmlformats.org/officeDocument/2006/relationships/image" Target="../media/image-29-19.png"/><Relationship Id="rId20" Type="http://schemas.openxmlformats.org/officeDocument/2006/relationships/image" Target="../media/image-29-20.svg"/><Relationship Id="rId21" Type="http://schemas.openxmlformats.org/officeDocument/2006/relationships/image" Target="../media/image-1-2.png"/><Relationship Id="rId22" Type="http://schemas.openxmlformats.org/officeDocument/2006/relationships/image" Target="../media/image-1-3.pn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69071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Fundamentos de la programación de IA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3644007"/>
            <a:ext cx="6296860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950B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RA1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Especialización en IA y Big Data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Rubén Gasque Todolí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244EA8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gasquer@monlau.com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471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103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 esta presentación aprenderás: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2315170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485" y="234617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2372023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Definición y desarrollo de programas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8830" y="2729706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Exploraremos qué es un programa informático y las etapas clave de su ciclo de vida.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132" y="2315170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1142" y="234617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736487" y="2372023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Estructura y mantenimiento de código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6487" y="2729706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Descubrirás cómo crear código legible y fácil de mantener para proyectos complejos.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589635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485" y="362064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98830" y="3646488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Clasificación de lenguajes de programación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8830" y="4004171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Analizaremos los diferentes tipos de lenguajes y sus características principales.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132" y="3589635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1142" y="362064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736487" y="3646488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Ejecución de programas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6487" y="4004171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Comprenderás cómo los programas son interpretados y compilados para su funcionamiento.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1475" y="4864100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485" y="489510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8830" y="4920952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Lenguajes de marcado y formatos de datos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8830" y="5278636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Identificaremos su papel fundamental en la estructuración y almacenamiento de información.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9132" y="4864100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1142" y="489510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736487" y="4920952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Idoneidad de lenguajes para IA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36487" y="5278636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Determinaremos qué factores hacen a un lenguaje ideal para el desarrollo de Inteligencia Artificial.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6511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Programa informático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2908002"/>
            <a:ext cx="6296860" cy="2224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programa informático es un conjunto de instrucciones, escritas por el programador en un lenguaje de programación, que una computadora sigue para realizar tareas específicas o resolver problemas.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Estas instrucciones indican a la computadora cómo procesar datos, ejecutar cálculos y controlar dispositivos periféricos.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Básicamente, un programa traduce las necesidades humanas en una serie de comandos que la máquina puede entender y ejecutar.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318" y="203597"/>
            <a:ext cx="676357" cy="5686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94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Entrada – Proceso – Salida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59683"/>
            <a:ext cx="3512653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3521075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Entrada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422" y="2611636"/>
            <a:ext cx="3512752" cy="952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04716" y="3273028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Procesamiento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2363589"/>
            <a:ext cx="3512653" cy="952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82762" y="3024981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Salida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661475" y="4130873"/>
            <a:ext cx="10868745" cy="1628676"/>
          </a:xfrm>
          <a:prstGeom prst="roundRect">
            <a:avLst>
              <a:gd name="adj" fmla="val 15232"/>
            </a:avLst>
          </a:prstGeom>
          <a:solidFill>
            <a:srgbClr val="CDEFFE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4370586"/>
            <a:ext cx="206667" cy="1652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8731" y="433744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Ejemplo práctico: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198731" y="4750891"/>
            <a:ext cx="10166195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Entrada: Temperatura de un sensor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Proceso: Comprobar si supera un umbral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Salida: Activar una alerta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0989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Conceptos clave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954040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Instrucciones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Lenguaje de programación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Ejecución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12727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Ordenes escritas en un lenguaje de programación que indican a la computadora que ha de hacer.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Reglas y sintaxis utilizadas para escribir instrucciones que la computadora puede entender. Puente entre máquina y programador.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Proceso en el que la computadora lee y lleva a cabo las instrucciones del programa.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90448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Tabla. Componentes de programa informático.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5880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Panorama del software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468438"/>
            <a:ext cx="10868745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Según su función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51534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54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Aplicaciones de usuario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Sistemas operativos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Herramientas de desarrollo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DFD"/>
                    </a:solidFill>
                  </a:tcPr>
                </a:tc>
              </a:tr>
              <a:tr h="9589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Software diseñado para que los usuarios realicen tareas específicas y cotidianas.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Software fundamental que gestiona el hardware de la computadora y proporciona servicios básicos para las aplicaciones.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Herramientas que ayudan a los programadores a escribir, depurar y mantener el código fuente.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552031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Tabla. Tipos de programas informáticos según su función.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475" y="4037112"/>
            <a:ext cx="10868745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Según su licencia</a:t>
            </a:r>
            <a:endParaRPr lang="en-US" sz="15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520208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54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Software propietario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Software libre / código abierto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8FD"/>
                    </a:solidFill>
                  </a:tcPr>
                </a:tc>
              </a:tr>
              <a:tr h="9589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Programas cuyo código fuente es privado y protegido por derechos de autor. El usuario necesita una licencia para usarlo, aunque no siempre implica un coste económico.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Programas cuyo código fuente es accesible. Los permisos de uso, modificación y distribución dependen de los términos de cada licencia. Software libre y software gratuito no son sinónimos.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1475" y="6120705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Tabla. Tipos de programas informáticos según su licencia.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003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Etapas del desarrollo de un programa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356247"/>
            <a:ext cx="32842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Definición del problema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2219" y="2499767"/>
            <a:ext cx="247445" cy="2474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45864" y="2187377"/>
            <a:ext cx="3284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Requisitos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7294" y="2526556"/>
            <a:ext cx="247445" cy="2474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45864" y="3200400"/>
            <a:ext cx="3284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Diseño</a:t>
            </a:r>
            <a:endParaRPr lang="en-US" sz="16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6571" y="3446314"/>
            <a:ext cx="247445" cy="24745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245864" y="4213423"/>
            <a:ext cx="3284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Implementación</a:t>
            </a:r>
            <a:endParaRPr lang="en-US" sz="16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3407" y="4566493"/>
            <a:ext cx="247445" cy="247452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8245864" y="5226546"/>
            <a:ext cx="3284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</a:t>
            </a:r>
            <a:endParaRPr lang="en-US" sz="1600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41120" y="5043537"/>
            <a:ext cx="247445" cy="247452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661475" y="5057676"/>
            <a:ext cx="32842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</a:t>
            </a:r>
            <a:endParaRPr lang="en-US" sz="1600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2049" y="4518174"/>
            <a:ext cx="247445" cy="247452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61475" y="3706912"/>
            <a:ext cx="32842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Mantenimiento</a:t>
            </a:r>
            <a:endParaRPr lang="en-US" sz="1600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3772" y="1934170"/>
            <a:ext cx="3804051" cy="3804146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81172" y="3386088"/>
            <a:ext cx="247445" cy="24745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661475" y="592435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desarrollo de software no siempre es lineal: los resultados de pruebas o cambios de requisitos pueden requerir volver a etapas anteriores.</a:t>
            </a:r>
            <a:endParaRPr lang="en-US" sz="1300" dirty="0"/>
          </a:p>
        </p:txBody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610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Definición del proyecto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0902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Etapa en la que se establecen los límites del proyecto: el presupuesto y el objetivo principal. También el equipo de proyecto.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40893"/>
            <a:ext cx="5351725" cy="965597"/>
          </a:xfrm>
          <a:prstGeom prst="roundRect">
            <a:avLst>
              <a:gd name="adj" fmla="val 2569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712541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070225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¿Qué necesidad o dificultad se quiere resolver?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540893"/>
            <a:ext cx="5351725" cy="965597"/>
          </a:xfrm>
          <a:prstGeom prst="roundRect">
            <a:avLst>
              <a:gd name="adj" fmla="val 2569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0139" y="2712541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3070225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¿Qué resultado concreto se espera obtener?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671788"/>
            <a:ext cx="5351725" cy="965597"/>
          </a:xfrm>
          <a:prstGeom prst="roundRect">
            <a:avLst>
              <a:gd name="adj" fmla="val 2569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119" y="3843437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Alcance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119" y="4201120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¿Qué está dentro y fuera del proyecto?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671788"/>
            <a:ext cx="5351725" cy="965597"/>
          </a:xfrm>
          <a:prstGeom prst="roundRect">
            <a:avLst>
              <a:gd name="adj" fmla="val 2569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0139" y="3843437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Personas implicadas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139" y="4201120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Equipo, cliente, usuarios finales y otros interesados.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802684"/>
            <a:ext cx="5351725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119" y="497433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Recursos y tiempo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119" y="5332016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Presupuesto, herramientas disponibles y plazos estimados.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8495" y="4802684"/>
            <a:ext cx="5351725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0139" y="497433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Restricciones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0139" y="5332016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Limitaciones técnicas, legales o de negocio que condicionan el desarrollo.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7127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 de requisitos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698030"/>
            <a:ext cx="10868745" cy="106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identifican y definen las necesidades y expectativas que tiene el cliente o usuario final sobre el producto. Se suele recoger información para saber que requisitos debe cumplir el software mediante entrevistas, formularios, etc.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tratan de establecer los objetivos que debe cumplir el programa y se documentan todos los requisitos funcionales (de software) y no funcionales (rendimiento y uso).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936081"/>
            <a:ext cx="5356786" cy="2149475"/>
          </a:xfrm>
          <a:prstGeom prst="roundRect">
            <a:avLst>
              <a:gd name="adj" fmla="val 11181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0659" y="3115270"/>
            <a:ext cx="49984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Requisitos funcionales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0659" y="3458666"/>
            <a:ext cx="4998416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Describen </a:t>
            </a:r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QUÉ debe hacer</a:t>
            </a:r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el sistema.</a:t>
            </a:r>
            <a:endParaRPr lang="en-US" sz="1250" dirty="0"/>
          </a:p>
          <a:p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centran en las capacidades y comportamientos que el software debe ofrecer al usuario.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Ejemplo: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"La aplicación debe identificar si una fruta es una manzana, naranja o plátano a partir de una fotografía."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3435" y="2936081"/>
            <a:ext cx="5356786" cy="2149475"/>
          </a:xfrm>
          <a:prstGeom prst="roundRect">
            <a:avLst>
              <a:gd name="adj" fmla="val 11181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2619" y="3115270"/>
            <a:ext cx="49984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Requisitos no funcionales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52619" y="3458666"/>
            <a:ext cx="4998416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Describen </a:t>
            </a:r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CÓMO debe comportarse</a:t>
            </a:r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el sistema.</a:t>
            </a:r>
            <a:endParaRPr lang="en-US" sz="1250" dirty="0"/>
          </a:p>
          <a:p>
            <a:pPr algn="l" indent="0" marL="0">
              <a:lnSpc>
                <a:spcPct val="131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refieren al rendimiento, la usabilidad, la seguridad y otras cualidades del software.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Ejemplo: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"La clasificación debe realizarse en menos de 2 segundos y funcionar con una precisión mínima del 90%."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475" y="5260082"/>
            <a:ext cx="10868745" cy="1131689"/>
          </a:xfrm>
          <a:prstGeom prst="roundRect">
            <a:avLst>
              <a:gd name="adj" fmla="val 21237"/>
            </a:avLst>
          </a:prstGeom>
          <a:solidFill>
            <a:srgbClr val="CDEF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10" y="5480149"/>
            <a:ext cx="200218" cy="16013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1963" y="5455245"/>
            <a:ext cx="10188122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Ejemplo práctico — Aplicación que clasifica frutas: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Funcional: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detectar el tipo de fruta en una imagen.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funcional: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precisión ≥ 90%, respuesta &lt; 2 s, compatible con dispositivos móviles.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702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spc="-2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 de requisitos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915" y="1709738"/>
            <a:ext cx="5726465" cy="41516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46105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mala interpretación de los requisitos puede producir una solución técnicamente correcta que no resuelve la necesidad real.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1238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Diseño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95652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esta fase se define cómo se organiza el sistema para cumplir los requisitos: qué componentes existen, cómo se relacionan y qué datos intercambian.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671788"/>
            <a:ext cx="3512653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3843437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Arquitectura y módulos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4201120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Estructura del sistema, componentes y responsabilidades. Delimitación de módulos y sus dependencias.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671788"/>
            <a:ext cx="3512752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3843437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Datos e interfaces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4201120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Modelado de datos, contratos de APIs, formatos de intercambio y validaciones.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671788"/>
            <a:ext cx="3512653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3843437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Algoritmos y comunicación entre componentes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4459585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Lógica de negocio, flujos de datos, protocolos y mensajería entre servicios.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077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Implementación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86491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en la que el diseño se convierte en código funcional. Las decisiones tomadas aquí condicionan la calidad, el rendimiento y el mantenimiento futuro del software.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80184"/>
            <a:ext cx="3512653" cy="2017911"/>
          </a:xfrm>
          <a:prstGeom prst="roundRect">
            <a:avLst>
              <a:gd name="adj" fmla="val 1229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751832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Conversión del diseño en 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367980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programadores traducen la arquitectura y los algoritmos definidos en la fase de diseño a código fuente en el lenguaje establecido.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580184"/>
            <a:ext cx="3512752" cy="2017911"/>
          </a:xfrm>
          <a:prstGeom prst="roundRect">
            <a:avLst>
              <a:gd name="adj" fmla="val 1229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2751832"/>
            <a:ext cx="31694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Selección del lenguaje y las bibliotecas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3367980"/>
            <a:ext cx="31694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elección depende del tipo de aplicación, los requisitos de rendimiento y el ecosistema disponible. En IA, Python es el más habitual.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580184"/>
            <a:ext cx="3512653" cy="2017911"/>
          </a:xfrm>
          <a:prstGeom prst="roundRect">
            <a:avLst>
              <a:gd name="adj" fmla="val 1229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2751832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Configuración del entorno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109516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Preparación del entorno de desarrollo: instalación de dependencias, gestión de versiones de librerías y configuración de variables de entorno.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763393"/>
            <a:ext cx="5351626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119" y="4935041"/>
            <a:ext cx="50083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Control de versiones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5292725"/>
            <a:ext cx="50083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Uso de herramientas como Git para registrar los cambios en el código, facilitar el trabajo en equipo y permitir revertir errores.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4763393"/>
            <a:ext cx="5351725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0040" y="4935041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Integración progresiva de componentes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40" y="5292725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módulos se desarrollan y combinan de forma incremental, verificando que cada parte funciona correctamente antes de avanzar.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1216"/>
            <a:ext cx="1086874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spc="-2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2025154"/>
            <a:ext cx="3570397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Evaluación del software para detectar posibles errores y verificar que cumple con los requisitos especificados. Se realizan pruebas en diferentes niveles: unitarias, de integración y de sistema.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3034605"/>
            <a:ext cx="3570397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900"/>
              </a:spcAft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716437"/>
            <a:ext cx="3570397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esta etapa se ha de comprobar que el software funciona correctamente en los escenarios previstos y gestiona adecuadamente los errores.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872" y="1713706"/>
            <a:ext cx="858618" cy="1101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28599" y="2278063"/>
            <a:ext cx="207064" cy="258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8726" y="1972370"/>
            <a:ext cx="4480507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 de aceptación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08726" y="2333724"/>
            <a:ext cx="448050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Confirman que el software cumple los requisitos del cliente.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98299" y="2825651"/>
            <a:ext cx="4701363" cy="9525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563" y="2852043"/>
            <a:ext cx="1717334" cy="1101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8698" y="3273326"/>
            <a:ext cx="207064" cy="258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38134" y="3110706"/>
            <a:ext cx="4051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 de sistema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38134" y="3472061"/>
            <a:ext cx="405109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Validan el comportamiento del sistema completo.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227707" y="3963988"/>
            <a:ext cx="4271955" cy="9525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54" y="3990380"/>
            <a:ext cx="2576051" cy="1101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8698" y="4411663"/>
            <a:ext cx="207064" cy="258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67542" y="4137620"/>
            <a:ext cx="362169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 de integración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67542" y="4498975"/>
            <a:ext cx="362169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Comprueban que los módulos funcionan correctamente entre sí.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657115" y="5102324"/>
            <a:ext cx="3842547" cy="9525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846" y="5128716"/>
            <a:ext cx="3434669" cy="1101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8599" y="5549999"/>
            <a:ext cx="207064" cy="258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196752" y="5275957"/>
            <a:ext cx="319248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 unitarias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196752" y="5637312"/>
            <a:ext cx="3192482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Verifican el funcionamiento de componentes individuales del código.</a:t>
            </a:r>
            <a:endParaRPr lang="en-US" sz="11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231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12645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en la que el software se instala y pone en funcionamiento en el entorno real de producción.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77108"/>
            <a:ext cx="3512653" cy="1759446"/>
          </a:xfrm>
          <a:prstGeom prst="roundRect">
            <a:avLst>
              <a:gd name="adj" fmla="val 14100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748756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Instalación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106440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Transferencia del software al entorno de producción: servidores, dispositivos o servicios cloud donde operará de forma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577108"/>
            <a:ext cx="3512752" cy="1759446"/>
          </a:xfrm>
          <a:prstGeom prst="roundRect">
            <a:avLst>
              <a:gd name="adj" fmla="val 14100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2748756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Configuración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3106440"/>
            <a:ext cx="31694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Ajuste de parámetros, variables de entorno, permisos y conexiones necesarias para que el sistema funcione correctamente.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577108"/>
            <a:ext cx="3512653" cy="1759446"/>
          </a:xfrm>
          <a:prstGeom prst="roundRect">
            <a:avLst>
              <a:gd name="adj" fmla="val 14100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2748756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Formación de usuarios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106440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Capacitación del personal que utilizará el software, incluyendo manuales, sesiones prácticas y materiales de apoyo.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501852"/>
            <a:ext cx="5351626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119" y="4673501"/>
            <a:ext cx="50083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5031184"/>
            <a:ext cx="50083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 de la arquitectura, configuración y procedimientos del sistema para facilitar su uso y mantenimiento futuro.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4501852"/>
            <a:ext cx="5351725" cy="1494830"/>
          </a:xfrm>
          <a:prstGeom prst="roundRect">
            <a:avLst>
              <a:gd name="adj" fmla="val 1659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0040" y="4673501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Monitorización inicial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40" y="5031184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Supervisión del comportamiento del sistema tras el despliegue para detectar errores, cuellos de botella o comportamientos inesperados.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7919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Mantenimiento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52333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Conjunto de actividades para mantener el software útil, seguro y eficiente a lo largo del tiempo.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973983"/>
            <a:ext cx="3512653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314563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Correctivo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503315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Corrección de errores detectados en producción.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973983"/>
            <a:ext cx="3512752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3145631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Perfectivo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3503315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Mejora de rendimiento, refactorización y optimización del código.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973983"/>
            <a:ext cx="3512653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314563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Adaptativo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503315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Ajustes por cambios en el entorno (SO, dependencias, APIs, hardware).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369495"/>
            <a:ext cx="5351626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119" y="4541143"/>
            <a:ext cx="50083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Evolutivo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4898827"/>
            <a:ext cx="50083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Nuevas funcionalidades y mejoras solicitadas por los usuarios.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4369495"/>
            <a:ext cx="5351725" cy="1230213"/>
          </a:xfrm>
          <a:prstGeom prst="roundRect">
            <a:avLst>
              <a:gd name="adj" fmla="val 20166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0040" y="4541143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Observabilidad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40" y="4898827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Monitorización continua, logs, métricas y alertas para prevenir incidencias.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2802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 completo del ciclo de vida del software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870273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Aplicando las etapas a una pequeña aplicación de IA que clasifica frutas: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61902"/>
            <a:ext cx="162715" cy="1627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566690"/>
            <a:ext cx="2596986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2686149"/>
            <a:ext cx="259698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Definición del proyecto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3036590"/>
            <a:ext cx="259698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Decidir crear una aplicación móvil que use IA para identificar el tipo de fruta a partir de una foto.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8695" y="2361902"/>
            <a:ext cx="162715" cy="16271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18695" y="2566690"/>
            <a:ext cx="2596986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0" name="Text 6"/>
          <p:cNvSpPr/>
          <p:nvPr/>
        </p:nvSpPr>
        <p:spPr>
          <a:xfrm>
            <a:off x="3418695" y="2686149"/>
            <a:ext cx="259698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 de requisitos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18695" y="3036590"/>
            <a:ext cx="2596986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Establecer que la aplicación debe clasificar manzanas, naranjas y plátanos con un 90% de precisión y menos de 2 segundos de respuesta.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5915" y="2361902"/>
            <a:ext cx="162715" cy="16271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75915" y="2566690"/>
            <a:ext cx="2596986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4" name="Text 9"/>
          <p:cNvSpPr/>
          <p:nvPr/>
        </p:nvSpPr>
        <p:spPr>
          <a:xfrm>
            <a:off x="6175915" y="2686149"/>
            <a:ext cx="259698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Diseño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175915" y="3036590"/>
            <a:ext cx="2596986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Definir la arquitectura del modelo de IA, la interfaz de usuario para la carga de imágenes y la base de datos de los tipos de fruta.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3135" y="2361902"/>
            <a:ext cx="162715" cy="162719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933135" y="2566690"/>
            <a:ext cx="2597085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8" name="Text 12"/>
          <p:cNvSpPr/>
          <p:nvPr/>
        </p:nvSpPr>
        <p:spPr>
          <a:xfrm>
            <a:off x="8933135" y="2686149"/>
            <a:ext cx="259708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Implementación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933135" y="3036590"/>
            <a:ext cx="2597085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Codificar el modelo de clasificación en Python, desarrollar la interfaz de usuario en un framework móvil y conectar los componentes.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31531"/>
            <a:ext cx="162715" cy="162719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61475" y="4852591"/>
            <a:ext cx="3516026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2" name="Text 15"/>
          <p:cNvSpPr/>
          <p:nvPr/>
        </p:nvSpPr>
        <p:spPr>
          <a:xfrm>
            <a:off x="661475" y="4988322"/>
            <a:ext cx="351602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Pruebas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61475" y="5338763"/>
            <a:ext cx="351602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Verificar que el modelo clasifica correctamente nuevas imágenes de frutas y que la aplicación es estable en diferentes dispositivos.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7735" y="4631531"/>
            <a:ext cx="162715" cy="162719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37735" y="4852591"/>
            <a:ext cx="3516125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6" name="Text 18"/>
          <p:cNvSpPr/>
          <p:nvPr/>
        </p:nvSpPr>
        <p:spPr>
          <a:xfrm>
            <a:off x="4337735" y="4988322"/>
            <a:ext cx="35161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4337735" y="5338763"/>
            <a:ext cx="351612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Publicar la aplicación en tiendas de aplicaciones (App Store, Google Play) y desplegar el modelo de IA en la nube.</a:t>
            </a:r>
            <a:endParaRPr lang="en-US" sz="12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14095" y="4631531"/>
            <a:ext cx="162715" cy="162719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8014095" y="4852591"/>
            <a:ext cx="3516125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30" name="Text 21"/>
          <p:cNvSpPr/>
          <p:nvPr/>
        </p:nvSpPr>
        <p:spPr>
          <a:xfrm>
            <a:off x="8014095" y="4988322"/>
            <a:ext cx="351612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8014095" y="5338763"/>
            <a:ext cx="351612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Monitorear el rendimiento de la aplicación, actualizar el modelo de IA con nuevas frutas o mejorar su precisión y corregir errores.</a:t>
            </a:r>
            <a:endParaRPr lang="en-US" sz="12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4554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Estructura de un programa informático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745456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continuación se muestra una estructura habitual en Python, uno de los lenguajes más usados en IA: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257425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5" name="Text 3"/>
          <p:cNvSpPr/>
          <p:nvPr/>
        </p:nvSpPr>
        <p:spPr>
          <a:xfrm>
            <a:off x="896717" y="2172295"/>
            <a:ext cx="3258361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Documentación inicial (opcional)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717" y="2766020"/>
            <a:ext cx="3258361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Comentario de cabecera con el nombre del programa, autor, fecha y descripción general.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9046" y="2257425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8" name="Text 6"/>
          <p:cNvSpPr/>
          <p:nvPr/>
        </p:nvSpPr>
        <p:spPr>
          <a:xfrm>
            <a:off x="4584288" y="2172295"/>
            <a:ext cx="325836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Importaciones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84288" y="2515691"/>
            <a:ext cx="3258361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Carga de librerías y módulos necesarios (por ejemplo,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36617" y="2257425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1" name="Text 9"/>
          <p:cNvSpPr/>
          <p:nvPr/>
        </p:nvSpPr>
        <p:spPr>
          <a:xfrm>
            <a:off x="8271859" y="2172295"/>
            <a:ext cx="325836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Constantes y configuración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71859" y="2515691"/>
            <a:ext cx="3258361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Valores fijos que no cambian durante la ejecución (por ejemplo,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UMBRAL = 0.9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3918446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717" y="3833316"/>
            <a:ext cx="325836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Funciones y clases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96717" y="4176713"/>
            <a:ext cx="3258361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Definición de la lógica reutilizable del programa, organizada en bloques independientes.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9046" y="3918446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84288" y="3833316"/>
            <a:ext cx="325836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Función principal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84288" y="4176713"/>
            <a:ext cx="3258361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Función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que orquesta la ejecución del programa.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6617" y="3918446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71859" y="3833316"/>
            <a:ext cx="3258361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Validación y tratamiento de errores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71859" y="4427041"/>
            <a:ext cx="3258361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Bloques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comprobaciones para gestionar situaciones inesperadas.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475" y="5329138"/>
            <a:ext cx="80068" cy="80070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23" name="Text 21"/>
          <p:cNvSpPr/>
          <p:nvPr/>
        </p:nvSpPr>
        <p:spPr>
          <a:xfrm>
            <a:off x="896717" y="5244009"/>
            <a:ext cx="1063350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Punto de entrada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96717" y="5587405"/>
            <a:ext cx="10633504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Bloque que garantiza que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solo se ejecuta cuando el archivo se lanza directamente: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9FC3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main()</a:t>
            </a:r>
            <a:endParaRPr lang="en-US" sz="12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2627"/>
            <a:ext cx="1086874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spc="-2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Notaciones de programación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25116"/>
          <a:ext cx="9143771" cy="914400"/>
        </p:xfrm>
        <a:graphic>
          <a:graphicData uri="http://schemas.openxmlformats.org/drawingml/2006/table">
            <a:tbl>
              <a:tblPr/>
              <a:tblGrid>
                <a:gridCol w="2101877"/>
                <a:gridCol w="3152815"/>
              </a:tblGrid>
              <a:tr h="3960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Notación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Uso habitual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622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snake_case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Variables y funciones en Python (ej.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temperatura_maxima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calcular_media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)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PascalCase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Nombres de clases en Python, Java, C# (ej.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ClasificadorFrutas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)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UPPER_CASE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Constantes (ej.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UMBRAL_CONFIANZA = 0.9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)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9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camelCase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Variables y métodos en Java y JavaScript (ej.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temperaturaMaxima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)</a:t>
                      </a:r>
                      <a:endParaRPr lang="en-US" sz="11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7302" marR="147302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766667"/>
            <a:ext cx="586427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nombres deben describir claramente la finalidad de cada elemento.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878" y="1725116"/>
            <a:ext cx="3859711" cy="174714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81878" y="3619798"/>
            <a:ext cx="5254692" cy="1473200"/>
          </a:xfrm>
          <a:prstGeom prst="roundRect">
            <a:avLst>
              <a:gd name="adj" fmla="val 14998"/>
            </a:avLst>
          </a:prstGeom>
          <a:solidFill>
            <a:srgbClr val="9FC3F1"/>
          </a:solidFill>
          <a:ln/>
        </p:spPr>
      </p:sp>
      <p:sp>
        <p:nvSpPr>
          <p:cNvPr id="7" name="Text 3"/>
          <p:cNvSpPr/>
          <p:nvPr/>
        </p:nvSpPr>
        <p:spPr>
          <a:xfrm>
            <a:off x="6458582" y="3767038"/>
            <a:ext cx="4901284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Poco claro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15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Más claro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temperatura_maxima = 15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281878" y="5240536"/>
            <a:ext cx="5254692" cy="978297"/>
          </a:xfrm>
          <a:prstGeom prst="roundRect">
            <a:avLst>
              <a:gd name="adj" fmla="val 22585"/>
            </a:avLst>
          </a:prstGeom>
          <a:solidFill>
            <a:srgbClr val="CDEF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15" y="5444728"/>
            <a:ext cx="184046" cy="1472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0398" y="5395416"/>
            <a:ext cx="4628935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Python, la guía de estilo oficial PEP 8 establece las convenciones recomendadas para nombrar variables, funciones, clases y constantes.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830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Código fiable y mantenible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82245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asegurar que el software sea robusto, fácil de entender y de mantener a lo largo del tiempo, es fundamental seguir una serie de buenas prácticas durante su desarrollo.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5377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799655"/>
            <a:ext cx="1673679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20405"/>
            <a:ext cx="167367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Validar las entradas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536553"/>
            <a:ext cx="167367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Asegurarse de que todos los datos recibidos por el programa son correctos y cumplen con el formato esperado para evitar errores inesperados.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00448" y="25377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00448" y="2799655"/>
            <a:ext cx="1673679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0" name="Text 8"/>
          <p:cNvSpPr/>
          <p:nvPr/>
        </p:nvSpPr>
        <p:spPr>
          <a:xfrm>
            <a:off x="2500448" y="2920405"/>
            <a:ext cx="167367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Gestionar excepciones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00448" y="3536553"/>
            <a:ext cx="1673679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Implementar mecanismos para capturar y manejar errores en tiempo de ejecución, proporcionando una respuesta controlada en lugar de un fallo abrupto.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39422" y="25377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9422" y="2799655"/>
            <a:ext cx="1673679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4" name="Text 12"/>
          <p:cNvSpPr/>
          <p:nvPr/>
        </p:nvSpPr>
        <p:spPr>
          <a:xfrm>
            <a:off x="4339422" y="2920405"/>
            <a:ext cx="167367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Dividir el problema en funciones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39422" y="3795018"/>
            <a:ext cx="1673679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Modularizar el código en pequeñas funciones reutilizables, cada una con una responsabilidad clara, mejorando la legibilidad y el mantenimiento.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8395" y="25377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395" y="2799655"/>
            <a:ext cx="1673778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8395" y="2920405"/>
            <a:ext cx="167377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Evitar duplicaciones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8395" y="3536553"/>
            <a:ext cx="1673778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Reutilizar el código existente siempre que sea posible para reducir la cantidad de líneas, minimizar errores y facilitar las actualizaciones.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17468" y="25377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17468" y="2799655"/>
            <a:ext cx="1673679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2" name="Text 20"/>
          <p:cNvSpPr/>
          <p:nvPr/>
        </p:nvSpPr>
        <p:spPr>
          <a:xfrm>
            <a:off x="8017468" y="2920405"/>
            <a:ext cx="1673679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Probar casos normales, límites y erróneos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17468" y="4053483"/>
            <a:ext cx="167367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Diseñar pruebas que cubran no solo el funcionamiento esperado, sino también los extremos y las situaciones de error, para garantizar la robustez.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56442" y="253771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56442" y="2799655"/>
            <a:ext cx="1673679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6" name="Text 24"/>
          <p:cNvSpPr/>
          <p:nvPr/>
        </p:nvSpPr>
        <p:spPr>
          <a:xfrm>
            <a:off x="9856442" y="2920405"/>
            <a:ext cx="167367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Depurar de forma sistemática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6442" y="3795018"/>
            <a:ext cx="1673679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Emplear herramientas y técnicas de depuración para identificar y corregir errores de manera eficiente, analizando el flujo de ejecución y los valores de las variables.</a:t>
            </a:r>
            <a:endParaRPr lang="en-US" sz="13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601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Lenguajes de programación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256334"/>
            <a:ext cx="5232666" cy="270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lenguajes de programación son sistemas de comunicación que permiten transmitir instrucciones y conceptos. Así como en la comunicación humana usamos diferentes idiomas según la cultura y la región, en el desarrollo de software utilizamos distintos lenguajes de programación según el tipo de aplicación y los requisitos del proyecto.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lenguaje de programación es un conjunto de reglas sintácticas y semánticas que permiten a los desarrolladores escribir código fuente para ser interpretado o compilado por una computadora.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904" y="2293541"/>
            <a:ext cx="5232666" cy="345340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256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Bajo nivel y alto nivel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38670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lenguajes de programación pueden clasificarse según su grado de abstracción respecto al hardware.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837359"/>
          <a:ext cx="9143771" cy="914400"/>
        </p:xfrm>
        <a:graphic>
          <a:graphicData uri="http://schemas.openxmlformats.org/drawingml/2006/table">
            <a:tbl>
              <a:tblPr/>
              <a:tblGrid>
                <a:gridCol w="3695373"/>
                <a:gridCol w="3586686"/>
                <a:gridCol w="3586686"/>
              </a:tblGrid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Aspecto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 nivel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 nivel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Cercanía al hardware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Alta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Menor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Abstracción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Baja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Alta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Facilidad de programación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Menor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Mayor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Control de recursos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Menor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Ejemplos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Código máquina, ensamblador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Python, Java, C++, 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5615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Tipos de lenguajes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392587"/>
            <a:ext cx="2041474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4053979"/>
            <a:ext cx="1710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Código máquina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243" y="3144540"/>
            <a:ext cx="2041474" cy="952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33537" y="3805932"/>
            <a:ext cx="1710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Ensamblador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011" y="2896394"/>
            <a:ext cx="2041573" cy="952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40306" y="3557786"/>
            <a:ext cx="17109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 / C++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879" y="2648347"/>
            <a:ext cx="2041474" cy="9525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47173" y="3309739"/>
            <a:ext cx="1710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 / C#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647" y="2400300"/>
            <a:ext cx="2041573" cy="9525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53941" y="3061692"/>
            <a:ext cx="17109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 / R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56682" y="4663777"/>
            <a:ext cx="1147833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Mayor cercanía al hardware ← → Mayor nivel de abstracción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661475" y="5061545"/>
            <a:ext cx="10868745" cy="661293"/>
          </a:xfrm>
          <a:prstGeom prst="roundRect">
            <a:avLst>
              <a:gd name="adj" fmla="val 37515"/>
            </a:avLst>
          </a:prstGeom>
          <a:solidFill>
            <a:srgbClr val="CDEFFE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69" y="5301258"/>
            <a:ext cx="206667" cy="16529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98731" y="526811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 clasificación es aproximada: C y C++ son lenguajes de alto nivel, pero ofrecen mayor control del hardware que Python o Java.</a:t>
            </a:r>
            <a:endParaRPr lang="en-US" sz="13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885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Cómo se ejecuta un programa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52352"/>
            <a:ext cx="3525948" cy="1638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500" y="2471738"/>
            <a:ext cx="317789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1. Compilación a código nativo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5500" y="2801144"/>
            <a:ext cx="3177897" cy="80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Código fuente → Compilador → Ejecutable nativo</a:t>
            </a:r>
            <a:endParaRPr lang="en-US" sz="12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Ejemplo: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C, C++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2774" y="1919784"/>
            <a:ext cx="3526047" cy="1871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06800" y="2239169"/>
            <a:ext cx="317799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2. Interpretación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06800" y="2568575"/>
            <a:ext cx="3177996" cy="104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Código fuente → Intérprete / runtime → Ejecución directa</a:t>
            </a:r>
            <a:endParaRPr lang="en-US" sz="12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Ejemplo: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Python (también compila a bytecode internamente)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4173" y="1687215"/>
            <a:ext cx="3526047" cy="21038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78199" y="2006600"/>
            <a:ext cx="3177996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3. Bytecode + Máquina virtual / JIT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178199" y="2578199"/>
            <a:ext cx="3177996" cy="808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Código fuente → Bytecode → Máquina virtual / JIT → Ejecución</a:t>
            </a:r>
            <a:endParaRPr lang="en-US" sz="12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Ejemplo: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Java (JVM), JavaScript (V8)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954562"/>
          <a:ext cx="9143771" cy="914400"/>
        </p:xfrm>
        <a:graphic>
          <a:graphicData uri="http://schemas.openxmlformats.org/drawingml/2006/table">
            <a:tbl>
              <a:tblPr/>
              <a:tblGrid>
                <a:gridCol w="2391124"/>
                <a:gridCol w="4130123"/>
                <a:gridCol w="4347498"/>
              </a:tblGrid>
              <a:tr h="4305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Lenguaje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Mecanismo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Notas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 / C++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Compilación a código nativo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Máximo rendimiento; depende del SO y arquitectura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Python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Bytecode + intérprete (CPython)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Fácil de usar; más lento en cómputo intensivo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Java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Bytecode + JVM (JIT)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Portabilidad entre plataformas ("write once, run anywhere")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5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JavaScript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Interpretación + JIT (V8, SpiderMonkey)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Optimización en tiempo de ejecución en el navegador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0300"/>
            <a:ext cx="10868745" cy="38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Comparación de ejecución de programas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722239"/>
            <a:ext cx="10868745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mecanismo de ejecución presenta ventajas y desventajas que lo hacen más adecuado para diferentes escenarios de desarrollo y requisitos de rendimiento.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49202"/>
          <a:ext cx="9143771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2825874"/>
                <a:gridCol w="2934561"/>
                <a:gridCol w="2934561"/>
              </a:tblGrid>
              <a:tr h="4189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Aspecto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Compilación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Interpretación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Bytecode + VM/JIT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656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Rapidez de desarrollo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Más lento (ciclo compilar-ejecutar)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Más rápido (ejecución directa)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Intermedio (compilación a bytecode es rápida)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Rendimiento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 (código nativo optimizado)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 (overhead del intérprete)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 (optimización JIT, casi nativo)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6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Portabilidad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Baja (depende de la plataforma)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Alta (código fuente ejecutable donde haya intérprete)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Alta (bytecode ejecutable en cualquier VM)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6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Detección de errores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Temprana (en tiempo de compilación)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Tardía (en tiempo de ejecución)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Intermedia/Temprana (bytecode)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6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Facilidad de depuración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Más compleja (requiere mapas)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Más fácil (ejecución paso a paso)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Relativamente fácil (herramientas de VM)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9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Dependencia entorno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Baja (ejecutable autónomo)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Alta (requiere intérprete)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Alta (requiere máquina virtual)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598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Lenguajes de marcado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46012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lenguajes de marcado utilizan etiquetas para describir la estructura y el significado de un documento.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096816"/>
            <a:ext cx="2533686" cy="2380159"/>
          </a:xfrm>
          <a:prstGeom prst="roundRect">
            <a:avLst>
              <a:gd name="adj" fmla="val 1042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3281164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HTML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704927"/>
            <a:ext cx="21649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Estructura y significado semántico del contenido web. Define elementos como encabezados, párrafos, enlaces e imágenes.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3096816"/>
            <a:ext cx="2533686" cy="2380159"/>
          </a:xfrm>
          <a:prstGeom prst="roundRect">
            <a:avLst>
              <a:gd name="adj" fmla="val 1042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4799" y="3281164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XML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44799" y="3704927"/>
            <a:ext cx="21649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Representación jerárquica de datos mediante etiquetas personalizadas. Permite intercambiar información entre sistemas distintos.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3096816"/>
            <a:ext cx="5232666" cy="1918295"/>
          </a:xfrm>
          <a:prstGeom prst="roundRect">
            <a:avLst>
              <a:gd name="adj" fmla="val 12933"/>
            </a:avLst>
          </a:prstGeom>
          <a:solidFill>
            <a:srgbClr val="9FC3F1"/>
          </a:solidFill>
          <a:ln/>
        </p:spPr>
      </p:sp>
      <p:sp>
        <p:nvSpPr>
          <p:cNvPr id="11" name="Text 9"/>
          <p:cNvSpPr/>
          <p:nvPr/>
        </p:nvSpPr>
        <p:spPr>
          <a:xfrm>
            <a:off x="6502337" y="3262114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&lt;fruta&gt;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&lt;nombre&gt;Manzana&lt;/nombre&gt;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&lt;color&gt;Rojo&lt;/color&gt;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&lt;peso unidad="g"&gt;182&lt;/peso&gt;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&lt;/fruta&gt;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520114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XML — estructura jerárquica con etiquetas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087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Formatos estructurados de intercambio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659235"/>
            <a:ext cx="1147833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diferencia de los lenguajes de marcado, estos formatos se utilizan para guardar, intercambiar y configurar datos, no para describir documentos.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226568"/>
            <a:ext cx="5245266" cy="1216223"/>
          </a:xfrm>
          <a:prstGeom prst="roundRect">
            <a:avLst>
              <a:gd name="adj" fmla="val 1912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5500" y="2400598"/>
            <a:ext cx="489721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JSON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5500" y="2788146"/>
            <a:ext cx="489721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Objetos, arrays y pares clave–valor. Formato ligero muy usado en APIs y aplicaciones web.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3588147"/>
            <a:ext cx="5245266" cy="1216223"/>
          </a:xfrm>
          <a:prstGeom prst="roundRect">
            <a:avLst>
              <a:gd name="adj" fmla="val 1912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5500" y="3762177"/>
            <a:ext cx="489721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YAML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5500" y="4149725"/>
            <a:ext cx="489721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Formato de configuración legible por humanos. Habitual en ficheros de configuración de proyectos.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4949726"/>
            <a:ext cx="5245266" cy="1216223"/>
          </a:xfrm>
          <a:prstGeom prst="roundRect">
            <a:avLst>
              <a:gd name="adj" fmla="val 1912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500" y="5123755"/>
            <a:ext cx="489721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CSV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500" y="5511304"/>
            <a:ext cx="489721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Datos tabulares separados por comas. Ideal para datasets y hojas de cálculo.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1304" y="2226568"/>
            <a:ext cx="5245266" cy="1550194"/>
          </a:xfrm>
          <a:prstGeom prst="roundRect">
            <a:avLst>
              <a:gd name="adj" fmla="val 15003"/>
            </a:avLst>
          </a:prstGeom>
          <a:solidFill>
            <a:srgbClr val="9FC3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334" y="2381548"/>
            <a:ext cx="4873205" cy="124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&lt;fruta&gt;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&lt;nombre&gt;Manzana&lt;/nombre&gt;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&lt;color&gt;Rojo&lt;/color&gt;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&lt;peso unidad="g"&gt;182&lt;/peso&gt;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&lt;/fruta&gt;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304" y="3940274"/>
            <a:ext cx="5245266" cy="2294334"/>
          </a:xfrm>
          <a:prstGeom prst="roundRect">
            <a:avLst>
              <a:gd name="adj" fmla="val 10137"/>
            </a:avLst>
          </a:prstGeom>
          <a:solidFill>
            <a:srgbClr val="9FC3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334" y="4095254"/>
            <a:ext cx="4873205" cy="198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"Manzana",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"color": "Rojo",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"peso": 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"valor": 182,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"unidad": "g"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3895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 la programación clásica a la programación de 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603474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Mientras que la programación clásica define explícitamente las reglas, muchos sistemas actuales de IA aprenden patrones a partir de datos.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78571"/>
            <a:ext cx="3541425" cy="95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3553" y="2927052"/>
            <a:ext cx="325727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Programación clásica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3553" y="3222327"/>
            <a:ext cx="3257270" cy="707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programador define reglas explícitas. El sistema sigue instrucciones fijas.</a:t>
            </a:r>
            <a:endParaRPr lang="en-US" sz="11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Ejemplo: "si temperatura &gt; 80, activar alarma"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036" y="2165350"/>
            <a:ext cx="3541525" cy="952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7113" y="2713831"/>
            <a:ext cx="325736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467113" y="3009106"/>
            <a:ext cx="3257369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sistema aprende patrones a partir de datos etiquetados o no. Las reglas emergen del entrenamiento, no del programador.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695" y="1952228"/>
            <a:ext cx="3541525" cy="952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0773" y="2500709"/>
            <a:ext cx="325736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130773" y="2795984"/>
            <a:ext cx="3257369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Utiliza redes neuronales profundas con múltiples capas. Capaz de aprender representaciones complejas (imágenes, texto, audio).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209256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173749"/>
                <a:gridCol w="3260624"/>
              </a:tblGrid>
              <a:tr h="373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Paradigma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¿Quién define las reglas?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Necesita datos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Ejemplo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3769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Sistemas basados en reglas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El programador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Motor de ajedrez con reglas fijas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Machine Learning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El modelo (entrenamiento)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Sí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Clasificador de frutas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Deep Learning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El modelo (capas neuronales)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Muchos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Reconocimiento facial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661475" y="5860653"/>
            <a:ext cx="10868745" cy="514449"/>
          </a:xfrm>
          <a:prstGeom prst="roundRect">
            <a:avLst>
              <a:gd name="adj" fmla="val 41442"/>
            </a:avLst>
          </a:prstGeom>
          <a:solidFill>
            <a:srgbClr val="CDEF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53" y="6040041"/>
            <a:ext cx="177597" cy="1420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3227" y="6018312"/>
            <a:ext cx="1087450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aprendizaje supervisado, no supervisado y por refuerzo son enfoques dentro del Machine Learning. Se desarrollan en detalle en las siguientes unidades.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696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Aplicaciones de la IA y Requisitos Técnicos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94845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elección del lenguaje de programación para desarrollar aplicaciones de Inteligencia Artificial se basa en las necesidades específicas de cada proyecto y en los requisitos técnicos involucrados.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63726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Aplicación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Necesidades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AE4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E4FE"/>
                    </a:solidFill>
                  </a:tcPr>
                </a:tc>
              </a:tr>
              <a:tr h="746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Visión artificial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Procesamiento de imágenes, uso intensivo de GPU, modelos preentrenados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Análisis predictivo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Estadística, datos tabulares, visualización robusta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NLP y asistentes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Modelos de lenguaje, APIs de integración, procesamiento de texto avanzado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Edge y robótica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Baja latencia, memoria limitada, integración con hardware físico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Aplicaciones empresariales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Integración, seguridad, escalabilidad y mantenimiento a largo plazo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CD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581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Roles habituales de los lenguajes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19957"/>
            <a:ext cx="3512653" cy="25204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8585" y="1868785"/>
            <a:ext cx="198433" cy="1984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5819" y="2381448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Python: Versatilidad y Ecosistema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45819" y="2997597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Ideal para prototipado rápido, investigación y la mayoría de aplicaciones de IA, gracias a librerías como TensorFlow, PyTorch y Scikit-learn.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9422" y="1719957"/>
            <a:ext cx="3512752" cy="252045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96532" y="1868785"/>
            <a:ext cx="198433" cy="1984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23766" y="2381448"/>
            <a:ext cx="3144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R: Análisis Estadístico y Visualización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23766" y="2997597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Destaca en el análisis de datos, modelado estadístico y visualización compleja, siendo preferido por científicos de datos y estadísticos.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7468" y="1719957"/>
            <a:ext cx="3512653" cy="2520454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4578" y="1868785"/>
            <a:ext cx="198433" cy="19843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01812" y="2381448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Java/C#: Robustez Empresarial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8201812" y="2739132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Perfectos para integrar soluciones de IA en grandes sistemas empresariales, gracias a su escalabilidad, seguridad y fiabilidad.</a:t>
            </a:r>
            <a:endParaRPr lang="en-US" sz="13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405709"/>
            <a:ext cx="5351626" cy="1997373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38022" y="4554538"/>
            <a:ext cx="198433" cy="19843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45819" y="5067201"/>
            <a:ext cx="498293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C/C++: Rendimiento Crítico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845819" y="5424884"/>
            <a:ext cx="498293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Imprescindibles para componentes de alto rendimiento, optimización de algoritmos complejos y sistemas embebidos en el edge.</a:t>
            </a:r>
            <a:endParaRPr lang="en-US" sz="13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78395" y="4405709"/>
            <a:ext cx="5351725" cy="1997373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55042" y="4554538"/>
            <a:ext cx="198433" cy="19843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362739" y="5067201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JavaScript/TypeScript: IA en el Navegador</a:t>
            </a:r>
            <a:endParaRPr lang="en-US" sz="1600" dirty="0"/>
          </a:p>
        </p:txBody>
      </p:sp>
      <p:sp>
        <p:nvSpPr>
          <p:cNvPr id="22" name="Text 10"/>
          <p:cNvSpPr/>
          <p:nvPr/>
        </p:nvSpPr>
        <p:spPr>
          <a:xfrm>
            <a:off x="6362739" y="5424884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Permiten ejecutar modelos de IA directamente en el navegador, creando interfaces web interactivas y aplicaciones de IA en cliente.</a:t>
            </a:r>
            <a:endParaRPr lang="en-US" sz="13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0877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¿Qué hace adecuado un lenguaje para desarrollar IA?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691779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elección no depende solo de la sintaxis: intervienen el ecosistema, el rendimiento, la integración y las necesidades del proyecto.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118618"/>
            <a:ext cx="2600756" cy="2188270"/>
          </a:xfrm>
          <a:prstGeom prst="roundRect">
            <a:avLst>
              <a:gd name="adj" fmla="val 1098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7960" y="2285107"/>
            <a:ext cx="2267786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Bibliotecas y frameworks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7960" y="2878832"/>
            <a:ext cx="2267786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Disponibilidad de herramientas especializadas para Machine Learning, Deep Learning, procesamiento de datos y despliegue.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7405" y="2118618"/>
            <a:ext cx="2600855" cy="2188270"/>
          </a:xfrm>
          <a:prstGeom prst="roundRect">
            <a:avLst>
              <a:gd name="adj" fmla="val 1098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3890" y="2285107"/>
            <a:ext cx="2267885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Facilidad de aprendizaje y uso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83890" y="2878832"/>
            <a:ext cx="2267885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Sintaxis, productividad, rapidez de desarrollo y facilidad para prototipar soluciones.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3435" y="2118618"/>
            <a:ext cx="2600756" cy="2188270"/>
          </a:xfrm>
          <a:prstGeom prst="roundRect">
            <a:avLst>
              <a:gd name="adj" fmla="val 1098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9920" y="2285107"/>
            <a:ext cx="2267786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Comunidad y documentación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39920" y="2878832"/>
            <a:ext cx="2267786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Cantidad y calidad de documentación, ejemplos, soporte, recursos y comunidad activa.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29365" y="2118618"/>
            <a:ext cx="2600855" cy="2188270"/>
          </a:xfrm>
          <a:prstGeom prst="roundRect">
            <a:avLst>
              <a:gd name="adj" fmla="val 1098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5850" y="2285107"/>
            <a:ext cx="2267885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Compatibilidad e integración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095850" y="2878832"/>
            <a:ext cx="2267885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Facilidad para comunicarse con bases de datos, APIs, otros lenguajes, sistemas y servicios.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4462066"/>
            <a:ext cx="2600756" cy="1935956"/>
          </a:xfrm>
          <a:prstGeom prst="roundRect">
            <a:avLst>
              <a:gd name="adj" fmla="val 1241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960" y="4628555"/>
            <a:ext cx="2267786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Rendimiento y eficiencia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7960" y="5222280"/>
            <a:ext cx="2267786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Velocidad de ejecución, consumo de memoria y capacidad para procesar grandes volúmenes de datos.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17405" y="4462066"/>
            <a:ext cx="2600855" cy="1935956"/>
          </a:xfrm>
          <a:prstGeom prst="roundRect">
            <a:avLst>
              <a:gd name="adj" fmla="val 1241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3890" y="4628555"/>
            <a:ext cx="2267885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Portabilidad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583890" y="4971951"/>
            <a:ext cx="2267885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Posibilidad de ejecutar la solución en diferentes sistemas operativos y plataformas.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3435" y="4462066"/>
            <a:ext cx="2600756" cy="1935956"/>
          </a:xfrm>
          <a:prstGeom prst="roundRect">
            <a:avLst>
              <a:gd name="adj" fmla="val 1241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9920" y="4628555"/>
            <a:ext cx="2267786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 y mantenimiento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39920" y="5222280"/>
            <a:ext cx="2267786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Facilidad para llevar el modelo desde el desarrollo hasta una aplicación real y mantenerlo posteriormente.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29365" y="4462066"/>
            <a:ext cx="2600855" cy="1935956"/>
          </a:xfrm>
          <a:prstGeom prst="roundRect">
            <a:avLst>
              <a:gd name="adj" fmla="val 1241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5850" y="4628555"/>
            <a:ext cx="2267885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Acceso a hardware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095850" y="4971951"/>
            <a:ext cx="2267885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Compatibilidad con CPU, GPU, aceleradores y servicios cloud utilizados para entrenar o ejecutar modelos.</a:t>
            </a:r>
            <a:endParaRPr lang="en-US" sz="12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3866"/>
            <a:ext cx="10868745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lenguaje adecuado depende del contexto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778397"/>
            <a:ext cx="1147833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existe un lenguaje óptimo para todos los proyectos de Inteligencia Artificial.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193627"/>
            <a:ext cx="3522773" cy="3271044"/>
          </a:xfrm>
          <a:prstGeom prst="roundRect">
            <a:avLst>
              <a:gd name="adj" fmla="val 722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5380" y="2357537"/>
            <a:ext cx="31949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Prototipo y análisis de datos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5380" y="2693888"/>
            <a:ext cx="3194962" cy="114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Desarrollo rápido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Manipulación de datos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Visualización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Experimentación con modelos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380" y="3926780"/>
            <a:ext cx="319496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Lenguajes habituales: Python / R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priorizan productividad, facilidad de uso y ecosistema científico.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461" y="2193627"/>
            <a:ext cx="3522773" cy="3271044"/>
          </a:xfrm>
          <a:prstGeom prst="roundRect">
            <a:avLst>
              <a:gd name="adj" fmla="val 722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366" y="2357537"/>
            <a:ext cx="3194962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Aplicación empresarial integrada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98366" y="2940149"/>
            <a:ext cx="3194962" cy="1441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con sistemas existentes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APIs y servicios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Seguridad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Escalabilidad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Mantenimiento a largo plazo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366" y="4471888"/>
            <a:ext cx="319496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Lenguajes posibles: Python / Java / C#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elección depende de la arquitectura y las tecnologías existentes en la organización.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7447" y="2193627"/>
            <a:ext cx="3522773" cy="3271044"/>
          </a:xfrm>
          <a:prstGeom prst="roundRect">
            <a:avLst>
              <a:gd name="adj" fmla="val 722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353" y="2357537"/>
            <a:ext cx="3194962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IA en dispositivo o alto rendimiento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71353" y="2940149"/>
            <a:ext cx="3194962" cy="114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Baja latencia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Uso eficiente de memoria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Acceso al hardware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Ejecución con recursos limitados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71353" y="4173041"/>
            <a:ext cx="3194962" cy="1075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Lenguajes habituales: C / C++ y herramientas de inferencia optimizada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priorizan rendimiento, control de recursos y eficiencia.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5633641"/>
            <a:ext cx="10868745" cy="66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existe un lenguaje universalmente mejor. La elección debe justificarse según los requisitos técnicos y funcionales del proyecto.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aplicaciones reales es habitual combinar varios lenguajes y tecnologías.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139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Resumen y Siguientes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2065536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485" y="209654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2122388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Fundamentos de la Programación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8830" y="2480072"/>
            <a:ext cx="479363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programa transforma entradas en salidas siguiendo un conjunto de instrucciones. El proceso de desarrollo abarca desde la definición de requisitos hasta el mantenimiento.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132" y="2065536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1142" y="209654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736487" y="2122388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Lenguajes y Abstracción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6487" y="2480072"/>
            <a:ext cx="479373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lenguajes de programación varían en su nivel de abstracción (bajo o alto nivel) y definen cómo se ejecuta un programa. La legibilidad y estructura son clave para un código robusto.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869234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485" y="390023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98830" y="3926086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Formatos y Aplicaciones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8830" y="4283770"/>
            <a:ext cx="479363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Lenguajes de marcado como XML y formatos como JSON facilitan el intercambio de datos. La elección del lenguaje es crítica y se adapta a los requisitos técnicos específicos de cada proyecto.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132" y="3869234"/>
            <a:ext cx="372061" cy="372070"/>
          </a:xfrm>
          <a:prstGeom prst="ellipse">
            <a:avLst/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1142" y="390023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20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736487" y="3926086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Transición a la 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6487" y="4283770"/>
            <a:ext cx="47937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programación de IA introduce nuevos paradigmas donde los modelos aprenden reglas de los datos, a diferencia de la programación clásica basada en reglas explícitas.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552827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continuación, exploraremos en detalle la idoneidad de lenguajes, bibliotecas, frameworks y entornos específicos para el desarrollo de aplicaciones de Inteligencia Artificial.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44EA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2026-09-29T08:43:10Z</dcterms:created>
  <dcterms:modified xsi:type="dcterms:W3CDTF">2026-09-29T08:43:10Z</dcterms:modified>
</cp:coreProperties>
</file>