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7" r:id="rId2"/>
  </p:sldMasterIdLst>
  <p:notesMasterIdLst>
    <p:notesMasterId r:id="rId37"/>
  </p:notesMasterIdLst>
  <p:sldIdLst>
    <p:sldId id="491" r:id="rId3"/>
    <p:sldId id="256" r:id="rId4"/>
    <p:sldId id="259" r:id="rId5"/>
    <p:sldId id="257" r:id="rId6"/>
    <p:sldId id="258" r:id="rId7"/>
    <p:sldId id="462" r:id="rId8"/>
    <p:sldId id="463" r:id="rId9"/>
    <p:sldId id="464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2" r:id="rId18"/>
    <p:sldId id="473" r:id="rId19"/>
    <p:sldId id="474" r:id="rId20"/>
    <p:sldId id="476" r:id="rId21"/>
    <p:sldId id="479" r:id="rId22"/>
    <p:sldId id="475" r:id="rId23"/>
    <p:sldId id="478" r:id="rId24"/>
    <p:sldId id="477" r:id="rId25"/>
    <p:sldId id="480" r:id="rId26"/>
    <p:sldId id="481" r:id="rId27"/>
    <p:sldId id="482" r:id="rId28"/>
    <p:sldId id="483" r:id="rId29"/>
    <p:sldId id="484" r:id="rId30"/>
    <p:sldId id="485" r:id="rId31"/>
    <p:sldId id="486" r:id="rId32"/>
    <p:sldId id="487" r:id="rId33"/>
    <p:sldId id="488" r:id="rId34"/>
    <p:sldId id="489" r:id="rId35"/>
    <p:sldId id="4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 snapToGrid="0">
      <p:cViewPr varScale="1">
        <p:scale>
          <a:sx n="145" d="100"/>
          <a:sy n="145" d="100"/>
        </p:scale>
        <p:origin x="13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A3F55-B689-4082-B923-6E92C9964EA3}" type="datetimeFigureOut">
              <a:rPr lang="ca-ES" smtClean="0"/>
              <a:t>24/9/2026</a:t>
            </a:fld>
            <a:endParaRPr lang="ca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a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ca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D6A2A-64EA-4A6D-91BF-FC47DC0110FB}" type="slidenum">
              <a:rPr lang="ca-ES" smtClean="0"/>
              <a:t>‹Nº›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22947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D6A2A-64EA-4A6D-91BF-FC47DC0110FB}" type="slidenum">
              <a:rPr lang="ca-ES" smtClean="0"/>
              <a:t>2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8242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8193" y="1344305"/>
            <a:ext cx="9638646" cy="2387600"/>
          </a:xfrm>
        </p:spPr>
        <p:txBody>
          <a:bodyPr anchor="b"/>
          <a:lstStyle>
            <a:lvl1pPr algn="l">
              <a:defRPr sz="5416">
                <a:solidFill>
                  <a:srgbClr val="004E9A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8193" y="3731906"/>
            <a:ext cx="9029046" cy="982138"/>
          </a:xfrm>
        </p:spPr>
        <p:txBody>
          <a:bodyPr/>
          <a:lstStyle>
            <a:lvl1pPr marL="0" indent="0" algn="l">
              <a:buNone/>
              <a:defRPr sz="2954">
                <a:solidFill>
                  <a:srgbClr val="838383"/>
                </a:solidFill>
              </a:defRPr>
            </a:lvl1pPr>
            <a:lvl2pPr marL="562722" indent="0" algn="ctr">
              <a:buNone/>
              <a:defRPr sz="2462"/>
            </a:lvl2pPr>
            <a:lvl3pPr marL="1125444" indent="0" algn="ctr">
              <a:buNone/>
              <a:defRPr sz="2215"/>
            </a:lvl3pPr>
            <a:lvl4pPr marL="1688165" indent="0" algn="ctr">
              <a:buNone/>
              <a:defRPr sz="1969"/>
            </a:lvl4pPr>
            <a:lvl5pPr marL="2250887" indent="0" algn="ctr">
              <a:buNone/>
              <a:defRPr sz="1969"/>
            </a:lvl5pPr>
            <a:lvl6pPr marL="2813609" indent="0" algn="ctr">
              <a:buNone/>
              <a:defRPr sz="1969"/>
            </a:lvl6pPr>
            <a:lvl7pPr marL="3376331" indent="0" algn="ctr">
              <a:buNone/>
              <a:defRPr sz="1969"/>
            </a:lvl7pPr>
            <a:lvl8pPr marL="3939052" indent="0" algn="ctr">
              <a:buNone/>
              <a:defRPr sz="1969"/>
            </a:lvl8pPr>
            <a:lvl9pPr marL="4501774" indent="0" algn="ctr">
              <a:buNone/>
              <a:defRPr sz="196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D916A99-4E67-4EE0-8D7D-880C2C5C58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8194" y="5254858"/>
            <a:ext cx="4632779" cy="1474787"/>
          </a:xfrm>
          <a:noFill/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969" b="0">
                <a:solidFill>
                  <a:srgbClr val="FFFFFF"/>
                </a:solidFill>
              </a:defRPr>
            </a:lvl1pPr>
            <a:lvl5pPr marL="2250887" indent="0">
              <a:lnSpc>
                <a:spcPct val="100000"/>
              </a:lnSpc>
              <a:buNone/>
              <a:defRPr sz="1969">
                <a:solidFill>
                  <a:srgbClr val="FFFFFF"/>
                </a:solidFill>
              </a:defRPr>
            </a:lvl5pPr>
          </a:lstStyle>
          <a:p>
            <a:pPr>
              <a:lnSpc>
                <a:spcPct val="150000"/>
              </a:lnSpc>
            </a:pPr>
            <a:r>
              <a:rPr lang="ca-ES" dirty="0">
                <a:solidFill>
                  <a:srgbClr val="838383"/>
                </a:solidFill>
              </a:rPr>
              <a:t>AUTOR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Asignatura</a:t>
            </a:r>
            <a:r>
              <a:rPr lang="ca-ES" dirty="0">
                <a:solidFill>
                  <a:srgbClr val="838383"/>
                </a:solidFill>
              </a:rPr>
              <a:t> del documento </a:t>
            </a:r>
          </a:p>
          <a:p>
            <a:pPr>
              <a:lnSpc>
                <a:spcPct val="150000"/>
              </a:lnSpc>
            </a:pPr>
            <a:r>
              <a:rPr lang="ca-ES" dirty="0" err="1">
                <a:solidFill>
                  <a:srgbClr val="838383"/>
                </a:solidFill>
              </a:rPr>
              <a:t>Fecha</a:t>
            </a:r>
            <a:r>
              <a:rPr lang="ca-ES" dirty="0">
                <a:solidFill>
                  <a:srgbClr val="838383"/>
                </a:solidFill>
              </a:rPr>
              <a:t> de </a:t>
            </a:r>
            <a:r>
              <a:rPr lang="ca-ES" dirty="0" err="1">
                <a:solidFill>
                  <a:srgbClr val="838383"/>
                </a:solidFill>
              </a:rPr>
              <a:t>elaboración</a:t>
            </a:r>
            <a:endParaRPr lang="es-ES" dirty="0">
              <a:solidFill>
                <a:srgbClr val="838383"/>
              </a:solidFill>
            </a:endParaRPr>
          </a:p>
          <a:p>
            <a:pPr lvl="4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0203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CA7C69CD-A5B3-4FC4-B8E5-B65D0C6B43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80658DE3-2342-4DBF-AE04-5731FAB373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258203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8DBCBE1F-F9EE-490B-8A51-BE63E919AE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BA6256E9-0408-4123-86DA-F581F616EA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93298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866779"/>
            <a:ext cx="10515600" cy="81438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954" b="1"/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954" b="1"/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Marcador de texto 7">
            <a:extLst>
              <a:ext uri="{FF2B5EF4-FFF2-40B4-BE49-F238E27FC236}">
                <a16:creationId xmlns:a16="http://schemas.microsoft.com/office/drawing/2014/main" id="{6806BCC8-FED1-48C3-A239-01EAA1183F4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A6975A3D-E158-4E26-8254-10AEEA918C0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1902965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45F7DEDC-92E8-4AB7-885B-E03AB0C4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7" name="Marcador de texto 7">
            <a:extLst>
              <a:ext uri="{FF2B5EF4-FFF2-40B4-BE49-F238E27FC236}">
                <a16:creationId xmlns:a16="http://schemas.microsoft.com/office/drawing/2014/main" id="{55410DE9-6B68-42DF-B5C7-3612C932C6A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36240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5" name="Marcador de texto 7">
            <a:extLst>
              <a:ext uri="{FF2B5EF4-FFF2-40B4-BE49-F238E27FC236}">
                <a16:creationId xmlns:a16="http://schemas.microsoft.com/office/drawing/2014/main" id="{60C0FD65-FD87-4A89-A18B-AAC38AD6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6" name="Marcador de texto 7">
            <a:extLst>
              <a:ext uri="{FF2B5EF4-FFF2-40B4-BE49-F238E27FC236}">
                <a16:creationId xmlns:a16="http://schemas.microsoft.com/office/drawing/2014/main" id="{5CA99008-5AD7-4E48-B719-D67D9E288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407498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9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939"/>
            </a:lvl1pPr>
            <a:lvl2pPr>
              <a:defRPr sz="3446"/>
            </a:lvl2pPr>
            <a:lvl3pPr>
              <a:defRPr sz="2954"/>
            </a:lvl3pPr>
            <a:lvl4pPr>
              <a:defRPr sz="2462"/>
            </a:lvl4pPr>
            <a:lvl5pPr>
              <a:defRPr sz="2462"/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969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564AD844-721D-4E8E-807B-CE109D5A7B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  <p:sp>
        <p:nvSpPr>
          <p:cNvPr id="9" name="Marcador de texto 7">
            <a:extLst>
              <a:ext uri="{FF2B5EF4-FFF2-40B4-BE49-F238E27FC236}">
                <a16:creationId xmlns:a16="http://schemas.microsoft.com/office/drawing/2014/main" id="{6DB55C13-6F34-4397-B394-424830AC06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1" y="6560598"/>
            <a:ext cx="5400431" cy="297402"/>
          </a:xfrm>
        </p:spPr>
        <p:txBody>
          <a:bodyPr>
            <a:noAutofit/>
          </a:bodyPr>
          <a:lstStyle>
            <a:lvl1pPr marL="0" indent="0">
              <a:buNone/>
              <a:defRPr sz="1477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documento</a:t>
            </a:r>
          </a:p>
        </p:txBody>
      </p:sp>
    </p:spTree>
    <p:extLst>
      <p:ext uri="{BB962C8B-B14F-4D97-AF65-F5344CB8AC3E}">
        <p14:creationId xmlns:p14="http://schemas.microsoft.com/office/powerpoint/2010/main" val="3470472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987427"/>
            <a:ext cx="3932238" cy="1069973"/>
          </a:xfrm>
        </p:spPr>
        <p:txBody>
          <a:bodyPr anchor="b"/>
          <a:lstStyle>
            <a:lvl1pPr>
              <a:defRPr sz="393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anchor="t"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969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F8A3CE7B-7A0A-4B0A-9220-CAE7DA8A0F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230819"/>
            <a:ext cx="5400431" cy="320044"/>
          </a:xfrm>
        </p:spPr>
        <p:txBody>
          <a:bodyPr>
            <a:noAutofit/>
          </a:bodyPr>
          <a:lstStyle>
            <a:lvl1pPr marL="0" indent="0">
              <a:buNone/>
              <a:defRPr sz="1969">
                <a:solidFill>
                  <a:srgbClr val="838383"/>
                </a:solidFill>
                <a:latin typeface="+mj-lt"/>
              </a:defRPr>
            </a:lvl1pPr>
            <a:lvl2pPr>
              <a:defRPr sz="2215">
                <a:solidFill>
                  <a:srgbClr val="838383"/>
                </a:solidFill>
              </a:defRPr>
            </a:lvl2pPr>
            <a:lvl3pPr>
              <a:defRPr sz="1969">
                <a:solidFill>
                  <a:srgbClr val="838383"/>
                </a:solidFill>
              </a:defRPr>
            </a:lvl3pPr>
            <a:lvl4pPr>
              <a:defRPr sz="1723">
                <a:solidFill>
                  <a:srgbClr val="838383"/>
                </a:solidFill>
              </a:defRPr>
            </a:lvl4pPr>
            <a:lvl5pPr>
              <a:defRPr sz="1723">
                <a:solidFill>
                  <a:srgbClr val="838383"/>
                </a:solidFill>
              </a:defRPr>
            </a:lvl5pPr>
          </a:lstStyle>
          <a:p>
            <a:pPr lvl="0"/>
            <a:r>
              <a:rPr lang="es-ES" dirty="0"/>
              <a:t>Título del tema</a:t>
            </a:r>
          </a:p>
        </p:txBody>
      </p:sp>
    </p:spTree>
    <p:extLst>
      <p:ext uri="{BB962C8B-B14F-4D97-AF65-F5344CB8AC3E}">
        <p14:creationId xmlns:p14="http://schemas.microsoft.com/office/powerpoint/2010/main" val="60276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333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439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6644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698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6305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613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7720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07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627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5289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>
            <a:extLst>
              <a:ext uri="{FF2B5EF4-FFF2-40B4-BE49-F238E27FC236}">
                <a16:creationId xmlns:a16="http://schemas.microsoft.com/office/drawing/2014/main" id="{40C29C99-FCE9-E004-930E-96EBD3640C08}"/>
              </a:ext>
            </a:extLst>
          </p:cNvPr>
          <p:cNvSpPr/>
          <p:nvPr userDrawn="1"/>
        </p:nvSpPr>
        <p:spPr>
          <a:xfrm>
            <a:off x="0" y="0"/>
            <a:ext cx="12188953" cy="6858000"/>
          </a:xfrm>
          <a:prstGeom prst="rect">
            <a:avLst/>
          </a:prstGeom>
          <a:solidFill>
            <a:srgbClr val="00539D"/>
          </a:solidFill>
          <a:ln/>
        </p:spPr>
        <p:txBody>
          <a:bodyPr/>
          <a:lstStyle/>
          <a:p>
            <a:endParaRPr lang="es-ES" sz="1801" dirty="0">
              <a:latin typeface="Tahoma" panose="020B0604030504040204" pitchFamily="34" charset="0"/>
            </a:endParaRPr>
          </a:p>
        </p:txBody>
      </p:sp>
      <p:sp>
        <p:nvSpPr>
          <p:cNvPr id="40" name="Shape 1">
            <a:extLst>
              <a:ext uri="{FF2B5EF4-FFF2-40B4-BE49-F238E27FC236}">
                <a16:creationId xmlns:a16="http://schemas.microsoft.com/office/drawing/2014/main" id="{F2BF492F-D566-2266-0E26-C45FF0CEFC32}"/>
              </a:ext>
            </a:extLst>
          </p:cNvPr>
          <p:cNvSpPr/>
          <p:nvPr userDrawn="1"/>
        </p:nvSpPr>
        <p:spPr>
          <a:xfrm>
            <a:off x="4206240" y="0"/>
            <a:ext cx="7982713" cy="6858000"/>
          </a:xfrm>
          <a:prstGeom prst="rect">
            <a:avLst/>
          </a:prstGeom>
          <a:solidFill>
            <a:srgbClr val="1F6BB8"/>
          </a:solidFill>
          <a:ln/>
        </p:spPr>
        <p:txBody>
          <a:bodyPr/>
          <a:lstStyle/>
          <a:p>
            <a:endParaRPr lang="es-ES" sz="1801" dirty="0">
              <a:latin typeface="Tahoma" panose="020B0604030504040204" pitchFamily="34" charset="0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5909A9D5-EEFB-A638-FE2E-6E9114F2AEF2}"/>
              </a:ext>
            </a:extLst>
          </p:cNvPr>
          <p:cNvSpPr/>
          <p:nvPr userDrawn="1"/>
        </p:nvSpPr>
        <p:spPr>
          <a:xfrm>
            <a:off x="548641" y="489204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00539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 sz="1801" dirty="0">
              <a:latin typeface="Tahoma" panose="020B0604030504040204" pitchFamily="34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ABC54EC0-2B7F-B2AC-03BB-372983001D2E}"/>
              </a:ext>
            </a:extLst>
          </p:cNvPr>
          <p:cNvSpPr/>
          <p:nvPr userDrawn="1"/>
        </p:nvSpPr>
        <p:spPr>
          <a:xfrm>
            <a:off x="548641" y="5029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1" b="1" dirty="0">
                <a:solidFill>
                  <a:srgbClr val="FAE5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</a:t>
            </a:r>
            <a:endParaRPr lang="en-US" sz="1401" dirty="0">
              <a:latin typeface="Tahoma" panose="020B0604030504040204" pitchFamily="34" charset="0"/>
            </a:endParaRP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47C0601E-3E0E-2E90-AB2D-E0F6B9BA478E}"/>
              </a:ext>
            </a:extLst>
          </p:cNvPr>
          <p:cNvSpPr/>
          <p:nvPr userDrawn="1"/>
        </p:nvSpPr>
        <p:spPr>
          <a:xfrm>
            <a:off x="0" y="0"/>
            <a:ext cx="228601" cy="6858000"/>
          </a:xfrm>
          <a:prstGeom prst="rect">
            <a:avLst/>
          </a:prstGeom>
          <a:solidFill>
            <a:srgbClr val="FFED00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1" dirty="0">
              <a:latin typeface="Tahoma" panose="020B0604030504040204" pitchFamily="34" charset="0"/>
            </a:endParaRP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D9500D32-C231-3360-C0C5-497A7D0F62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5355" r="17275"/>
          <a:stretch>
            <a:fillRect/>
          </a:stretch>
        </p:blipFill>
        <p:spPr>
          <a:xfrm>
            <a:off x="3975101" y="0"/>
            <a:ext cx="8213852" cy="6858000"/>
          </a:xfrm>
          <a:prstGeom prst="rect">
            <a:avLst/>
          </a:prstGeom>
        </p:spPr>
      </p:pic>
      <p:sp>
        <p:nvSpPr>
          <p:cNvPr id="30" name="Shape 11">
            <a:extLst>
              <a:ext uri="{FF2B5EF4-FFF2-40B4-BE49-F238E27FC236}">
                <a16:creationId xmlns:a16="http://schemas.microsoft.com/office/drawing/2014/main" id="{CFD4CA93-F049-9466-33AC-E6B33D575229}"/>
              </a:ext>
            </a:extLst>
          </p:cNvPr>
          <p:cNvSpPr/>
          <p:nvPr userDrawn="1"/>
        </p:nvSpPr>
        <p:spPr>
          <a:xfrm>
            <a:off x="2286001" y="5257800"/>
            <a:ext cx="594360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ES" sz="1801" dirty="0">
              <a:latin typeface="Tahoma" panose="020B060403050404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0AA7FEF-5BD2-D3E1-0AC3-870E859C52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59741" y="250146"/>
            <a:ext cx="1214554" cy="1041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948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72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6AB529CC-F047-6A42-0F11-EFDA9160C506}"/>
              </a:ext>
            </a:extLst>
          </p:cNvPr>
          <p:cNvSpPr/>
          <p:nvPr userDrawn="1"/>
        </p:nvSpPr>
        <p:spPr>
          <a:xfrm>
            <a:off x="0" y="0"/>
            <a:ext cx="12188953" cy="6858000"/>
          </a:xfrm>
          <a:prstGeom prst="rect">
            <a:avLst/>
          </a:prstGeom>
          <a:solidFill>
            <a:srgbClr val="00539F"/>
          </a:solidFill>
          <a:ln/>
        </p:spPr>
        <p:txBody>
          <a:bodyPr/>
          <a:lstStyle/>
          <a:p>
            <a:endParaRPr lang="es-ES" sz="1801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DED7EC-2B90-A6E9-BA4D-D88438F85BB4}"/>
              </a:ext>
            </a:extLst>
          </p:cNvPr>
          <p:cNvSpPr/>
          <p:nvPr userDrawn="1"/>
        </p:nvSpPr>
        <p:spPr>
          <a:xfrm>
            <a:off x="548640" y="27432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1"/>
              </a:lnSpc>
              <a:buNone/>
            </a:pPr>
            <a:r>
              <a:rPr lang="en-US" sz="340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Transforma tu
</a:t>
            </a:r>
            <a:r>
              <a:rPr lang="en-US" sz="3401" b="1" dirty="0">
                <a:solidFill>
                  <a:srgbClr val="FAE5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futuro profesional</a:t>
            </a:r>
            <a:endParaRPr lang="en-US" sz="340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25F2F75-B018-298C-1262-1992789DD2F3}"/>
              </a:ext>
            </a:extLst>
          </p:cNvPr>
          <p:cNvSpPr/>
          <p:nvPr userDrawn="1"/>
        </p:nvSpPr>
        <p:spPr>
          <a:xfrm>
            <a:off x="8138160" y="0"/>
            <a:ext cx="4050793" cy="6858000"/>
          </a:xfrm>
          <a:prstGeom prst="rect">
            <a:avLst/>
          </a:prstGeom>
          <a:solidFill>
            <a:srgbClr val="1F6BB8"/>
          </a:solidFill>
          <a:ln/>
        </p:spPr>
        <p:txBody>
          <a:bodyPr/>
          <a:lstStyle/>
          <a:p>
            <a:endParaRPr lang="es-ES" sz="1801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4251939-2F8B-DD63-48A6-308268391E77}"/>
              </a:ext>
            </a:extLst>
          </p:cNvPr>
          <p:cNvSpPr/>
          <p:nvPr userDrawn="1"/>
        </p:nvSpPr>
        <p:spPr>
          <a:xfrm>
            <a:off x="8138160" y="2926080"/>
            <a:ext cx="40507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BD6E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ESPACIO PARA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BBD6E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FOTOGRAFÍA</a:t>
            </a:r>
            <a:endParaRPr lang="en-US" sz="13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D0384821-BAC6-2212-7D65-93A414C3AC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b="4769"/>
          <a:stretch>
            <a:fillRect/>
          </a:stretch>
        </p:blipFill>
        <p:spPr>
          <a:xfrm>
            <a:off x="8141208" y="0"/>
            <a:ext cx="4050793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F43A786-ACC0-5FFF-FD32-D46EAB2EF2B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59741" y="250146"/>
            <a:ext cx="1214554" cy="1041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364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72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5">
            <a:extLst>
              <a:ext uri="{FF2B5EF4-FFF2-40B4-BE49-F238E27FC236}">
                <a16:creationId xmlns:a16="http://schemas.microsoft.com/office/drawing/2014/main" id="{4F494B73-2423-1025-DF53-26E5110C0AD6}"/>
              </a:ext>
            </a:extLst>
          </p:cNvPr>
          <p:cNvSpPr/>
          <p:nvPr userDrawn="1"/>
        </p:nvSpPr>
        <p:spPr>
          <a:xfrm>
            <a:off x="701041" y="2895600"/>
            <a:ext cx="1005840" cy="1005840"/>
          </a:xfrm>
          <a:prstGeom prst="rect">
            <a:avLst/>
          </a:prstGeom>
          <a:solidFill>
            <a:srgbClr val="FAE500"/>
          </a:solidFill>
          <a:ln/>
        </p:spPr>
        <p:txBody>
          <a:bodyPr/>
          <a:lstStyle/>
          <a:p>
            <a:endParaRPr lang="es-ES" sz="1801" dirty="0">
              <a:latin typeface="Tahoma" panose="020B060403050404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99F864C-C552-4B9C-87B3-28B1405B839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59741" y="250146"/>
            <a:ext cx="1214554" cy="10415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5227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72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866326"/>
            <a:ext cx="10515600" cy="1131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2219417"/>
            <a:ext cx="10515600" cy="39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33166" y="102378"/>
            <a:ext cx="2743200" cy="435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954">
                <a:solidFill>
                  <a:srgbClr val="838383"/>
                </a:solidFill>
                <a:latin typeface="+mj-lt"/>
              </a:defRPr>
            </a:lvl1pPr>
          </a:lstStyle>
          <a:p>
            <a:fld id="{B3C4879E-866F-426F-A150-D38E49E0DD0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318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 ftr="0" dt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4431" kern="1200">
          <a:solidFill>
            <a:srgbClr val="004E9A"/>
          </a:solidFill>
          <a:latin typeface="+mj-lt"/>
          <a:ea typeface="+mj-ea"/>
          <a:cs typeface="+mj-cs"/>
        </a:defRPr>
      </a:lvl1pPr>
    </p:titleStyle>
    <p:bodyStyle>
      <a:lvl1pPr marL="281361" indent="-281361" algn="l" defTabSz="1125444" rtl="0" eaLnBrk="1" latinLnBrk="0" hangingPunct="1">
        <a:lnSpc>
          <a:spcPct val="90000"/>
        </a:lnSpc>
        <a:spcBef>
          <a:spcPts val="1231"/>
        </a:spcBef>
        <a:buFont typeface="Arial" panose="020B0604020202020204" pitchFamily="34" charset="0"/>
        <a:buChar char="•"/>
        <a:defRPr sz="3446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C4879E-866F-426F-A150-D38E49E0DD00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369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72" r:id="rId13"/>
    <p:sldLayoutId id="214748367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47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guillens@monlau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3.xml"/><Relationship Id="rId3" Type="http://schemas.openxmlformats.org/officeDocument/2006/relationships/slide" Target="slide4.xml"/><Relationship Id="rId7" Type="http://schemas.openxmlformats.org/officeDocument/2006/relationships/slide" Target="slide7.xml"/><Relationship Id="rId12" Type="http://schemas.openxmlformats.org/officeDocument/2006/relationships/image" Target="../media/image11.png"/><Relationship Id="rId17" Type="http://schemas.openxmlformats.org/officeDocument/2006/relationships/slide" Target="slide17.xml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slide" Target="slide11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slide" Target="slide9.xml"/><Relationship Id="rId1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hyperlink" Target="https://www.youtube.com/watch?v=VV4eIrz0MN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lw2KYYrdz8c" TargetMode="External"/><Relationship Id="rId5" Type="http://schemas.openxmlformats.org/officeDocument/2006/relationships/image" Target="../media/image37.png"/><Relationship Id="rId4" Type="http://schemas.openxmlformats.org/officeDocument/2006/relationships/hyperlink" Target="https://www.youtube.com/watch?v=UfRpRRDR7oI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www.youtube.com/watch?v=H5Ic6VAJPjo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hyperlink" Target="https://www.youtube.com/watch?app=desktop&amp;v=WN8uUl4rbkE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www.youtube.com/watch?v=e03TC6np0Nc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hyperlink" Target="https://www.youtube.com/watch?v=jN0plevF72o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www.youtube.com/watch?v=iaXLDz_UeYY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watch?v=IcReykfvqi4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youtube.com/watch?v=IcReykfvqi4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/>
          <p:nvPr/>
        </p:nvSpPr>
        <p:spPr>
          <a:xfrm>
            <a:off x="548641" y="5349240"/>
            <a:ext cx="1554480" cy="868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23"/>
            <a:r>
              <a:rPr lang="en-US" sz="5001" b="1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</a:t>
            </a:r>
            <a:endParaRPr lang="en-US" sz="5001" dirty="0">
              <a:solidFill>
                <a:prstClr val="black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14601" y="5257800"/>
            <a:ext cx="5577840" cy="1051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23"/>
            <a:r>
              <a:rPr lang="ca-ES" sz="2400" dirty="0"/>
              <a:t>Models d’Intel·ligència Artificial</a:t>
            </a:r>
            <a:endParaRPr lang="en-US" sz="2400" dirty="0">
              <a:solidFill>
                <a:prstClr val="black"/>
              </a:solidFill>
              <a:latin typeface="Tahoma" panose="020B060403050404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EE6B6-024F-8A40-4DF5-4112580221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/>
              <a:t>Models d’Intel·ligència Artificial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98B3CE-C445-83B3-8BAA-646AABC19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a-ES" dirty="0"/>
              <a:t>Mòdul 1</a:t>
            </a:r>
          </a:p>
          <a:p>
            <a:r>
              <a:rPr lang="ca-ES" dirty="0"/>
              <a:t>66 hores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6D05AF-A826-99A8-F5AC-639A544790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58193" y="5676209"/>
            <a:ext cx="6631289" cy="1815122"/>
          </a:xfrm>
        </p:spPr>
        <p:txBody>
          <a:bodyPr/>
          <a:lstStyle/>
          <a:p>
            <a:r>
              <a:rPr lang="ca-ES" dirty="0">
                <a:hlinkClick r:id="rId3"/>
              </a:rPr>
              <a:t>guillens@monlau.com</a:t>
            </a:r>
            <a:endParaRPr lang="ca-ES" dirty="0"/>
          </a:p>
          <a:p>
            <a:endParaRPr lang="ca-ES" dirty="0"/>
          </a:p>
          <a:p>
            <a:r>
              <a:rPr lang="ca-ES" dirty="0"/>
              <a:t>Sergi Guillén Arró</a:t>
            </a:r>
          </a:p>
          <a:p>
            <a:r>
              <a:rPr lang="ca-ES" dirty="0"/>
              <a:t>Coordinador dels màsters de IA, Videojocs i </a:t>
            </a:r>
            <a:r>
              <a:rPr lang="ca-ES" dirty="0" err="1"/>
              <a:t>Ciberseguretat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61801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9">
            <a:extLst>
              <a:ext uri="{FF2B5EF4-FFF2-40B4-BE49-F238E27FC236}">
                <a16:creationId xmlns:a16="http://schemas.microsoft.com/office/drawing/2014/main" id="{C72413A3-8EA1-274A-74FB-4CD19EDD94E3}"/>
              </a:ext>
            </a:extLst>
          </p:cNvPr>
          <p:cNvCxnSpPr>
            <a:cxnSpLocks/>
          </p:cNvCxnSpPr>
          <p:nvPr/>
        </p:nvCxnSpPr>
        <p:spPr>
          <a:xfrm flipH="1" flipV="1">
            <a:off x="4987670" y="1639044"/>
            <a:ext cx="1002821" cy="147484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80C36B0F-49E0-7A55-12BB-A189BC5DC99E}"/>
              </a:ext>
            </a:extLst>
          </p:cNvPr>
          <p:cNvCxnSpPr>
            <a:cxnSpLocks/>
          </p:cNvCxnSpPr>
          <p:nvPr/>
        </p:nvCxnSpPr>
        <p:spPr>
          <a:xfrm flipV="1">
            <a:off x="4468735" y="3638908"/>
            <a:ext cx="1877161" cy="20192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5ACC5A3-CF97-B957-1AD7-775CD40C6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</a:t>
            </a:fld>
            <a:endParaRPr lang="es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cxnSp>
        <p:nvCxnSpPr>
          <p:cNvPr id="2" name="Straight Connector 9">
            <a:extLst>
              <a:ext uri="{FF2B5EF4-FFF2-40B4-BE49-F238E27FC236}">
                <a16:creationId xmlns:a16="http://schemas.microsoft.com/office/drawing/2014/main" id="{7E302EFF-4667-EA7B-444C-F2936117A9EE}"/>
              </a:ext>
            </a:extLst>
          </p:cNvPr>
          <p:cNvCxnSpPr>
            <a:cxnSpLocks/>
          </p:cNvCxnSpPr>
          <p:nvPr/>
        </p:nvCxnSpPr>
        <p:spPr>
          <a:xfrm flipV="1">
            <a:off x="6345896" y="1471804"/>
            <a:ext cx="858433" cy="12924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4886735-C4BF-4876-8F60-BC3E055664F1}"/>
              </a:ext>
            </a:extLst>
          </p:cNvPr>
          <p:cNvCxnSpPr>
            <a:cxnSpLocks/>
          </p:cNvCxnSpPr>
          <p:nvPr/>
        </p:nvCxnSpPr>
        <p:spPr>
          <a:xfrm>
            <a:off x="6201506" y="3428999"/>
            <a:ext cx="1877369" cy="2974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5FB404D9-1616-DAC3-DFBB-13359AEC21E1}"/>
              </a:ext>
            </a:extLst>
          </p:cNvPr>
          <p:cNvCxnSpPr>
            <a:cxnSpLocks/>
          </p:cNvCxnSpPr>
          <p:nvPr/>
        </p:nvCxnSpPr>
        <p:spPr>
          <a:xfrm flipH="1" flipV="1">
            <a:off x="5783546" y="3528339"/>
            <a:ext cx="1383893" cy="20576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13">
            <a:extLst>
              <a:ext uri="{FF2B5EF4-FFF2-40B4-BE49-F238E27FC236}">
                <a16:creationId xmlns:a16="http://schemas.microsoft.com/office/drawing/2014/main" id="{5BE92BF6-1E5E-FBF7-9A15-FDE59908D3FC}"/>
              </a:ext>
            </a:extLst>
          </p:cNvPr>
          <p:cNvCxnSpPr>
            <a:cxnSpLocks/>
          </p:cNvCxnSpPr>
          <p:nvPr/>
        </p:nvCxnSpPr>
        <p:spPr>
          <a:xfrm flipV="1">
            <a:off x="3782971" y="3428999"/>
            <a:ext cx="2207520" cy="209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A96AC29E-6309-04C9-4889-DBDA4AD79BA1}"/>
              </a:ext>
            </a:extLst>
          </p:cNvPr>
          <p:cNvSpPr/>
          <p:nvPr/>
        </p:nvSpPr>
        <p:spPr>
          <a:xfrm>
            <a:off x="5058508" y="2391508"/>
            <a:ext cx="2074985" cy="2074985"/>
          </a:xfrm>
          <a:prstGeom prst="ellipse">
            <a:avLst/>
          </a:prstGeom>
          <a:solidFill>
            <a:schemeClr val="bg1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EBBD3A44-1AB8-2902-19DE-89A654599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721" y="560114"/>
            <a:ext cx="1570155" cy="145932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677E681F-2119-75DF-FF27-F58C03D91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119" y="2798771"/>
            <a:ext cx="1459326" cy="145932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3" name="Oval 17">
            <a:extLst>
              <a:ext uri="{FF2B5EF4-FFF2-40B4-BE49-F238E27FC236}">
                <a16:creationId xmlns:a16="http://schemas.microsoft.com/office/drawing/2014/main" id="{DA8C88A7-1DE1-1FC6-E81E-4CF92FDFE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1255" y="2798771"/>
            <a:ext cx="1457481" cy="145913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4" name="Oval 17">
            <a:extLst>
              <a:ext uri="{FF2B5EF4-FFF2-40B4-BE49-F238E27FC236}">
                <a16:creationId xmlns:a16="http://schemas.microsoft.com/office/drawing/2014/main" id="{76412995-C776-99B9-79A0-4AB33EA8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493" y="4962927"/>
            <a:ext cx="1457673" cy="145932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17" name="Oval 17">
            <a:extLst>
              <a:ext uri="{FF2B5EF4-FFF2-40B4-BE49-F238E27FC236}">
                <a16:creationId xmlns:a16="http://schemas.microsoft.com/office/drawing/2014/main" id="{46ED77FF-E197-A419-BEE1-C5BA6EA01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1006" y="4962927"/>
            <a:ext cx="1457673" cy="145932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p:sp>
        <p:nvSpPr>
          <p:cNvPr id="23" name="Oval 5">
            <a:extLst>
              <a:ext uri="{FF2B5EF4-FFF2-40B4-BE49-F238E27FC236}">
                <a16:creationId xmlns:a16="http://schemas.microsoft.com/office/drawing/2014/main" id="{D1C0031A-436C-080A-88C5-62C048D50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0681" y="554485"/>
            <a:ext cx="1570155" cy="145932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15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8" name="Vista general de diapositiva 27">
                <a:extLst>
                  <a:ext uri="{FF2B5EF4-FFF2-40B4-BE49-F238E27FC236}">
                    <a16:creationId xmlns:a16="http://schemas.microsoft.com/office/drawing/2014/main" id="{8A086AF6-F2CD-02C7-4BE4-B5D5EAECF3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27416246"/>
                  </p:ext>
                </p:extLst>
              </p:nvPr>
            </p:nvGraphicFramePr>
            <p:xfrm>
              <a:off x="5393540" y="2856343"/>
              <a:ext cx="1638119" cy="1134082"/>
            </p:xfrm>
            <a:graphic>
              <a:graphicData uri="http://schemas.microsoft.com/office/powerpoint/2016/slidezoom">
                <pslz:sldZm>
                  <pslz:sldZmObj sldId="257" cId="1439871999">
                    <pslz:zmPr id="{D335B77D-BCBA-44F8-B2BE-9DB4499A0BB5}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8119" cy="113408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8" name="Vista general de diapositiva 2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8A086AF6-F2CD-02C7-4BE4-B5D5EAECF3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93540" y="2856343"/>
                <a:ext cx="1638119" cy="11340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1" name="Vista general de diapositiva 30">
                <a:extLst>
                  <a:ext uri="{FF2B5EF4-FFF2-40B4-BE49-F238E27FC236}">
                    <a16:creationId xmlns:a16="http://schemas.microsoft.com/office/drawing/2014/main" id="{A3E064B7-F984-439A-3805-23B9ABC01E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04195360"/>
                  </p:ext>
                </p:extLst>
              </p:nvPr>
            </p:nvGraphicFramePr>
            <p:xfrm>
              <a:off x="6418087" y="590391"/>
              <a:ext cx="1981913" cy="1372094"/>
            </p:xfrm>
            <a:graphic>
              <a:graphicData uri="http://schemas.microsoft.com/office/powerpoint/2016/slidezoom">
                <pslz:sldZm>
                  <pslz:sldZmObj sldId="258" cId="3308034799">
                    <pslz:zmPr id="{C8875AD0-886B-475A-9EC4-83B5F633558D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81913" cy="137209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1" name="Vista general de diapositiva 30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A3E064B7-F984-439A-3805-23B9ABC01E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18087" y="590391"/>
                <a:ext cx="1981913" cy="1372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3" name="Vista general de diapositiva 32">
                <a:extLst>
                  <a:ext uri="{FF2B5EF4-FFF2-40B4-BE49-F238E27FC236}">
                    <a16:creationId xmlns:a16="http://schemas.microsoft.com/office/drawing/2014/main" id="{9AFB90D7-A375-F070-023B-247B870C8D6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4625005"/>
                  </p:ext>
                </p:extLst>
              </p:nvPr>
            </p:nvGraphicFramePr>
            <p:xfrm>
              <a:off x="7488896" y="2764263"/>
              <a:ext cx="2129954" cy="1474585"/>
            </p:xfrm>
            <a:graphic>
              <a:graphicData uri="http://schemas.microsoft.com/office/powerpoint/2016/slidezoom">
                <pslz:sldZm>
                  <pslz:sldZmObj sldId="463" cId="2880812348">
                    <pslz:zmPr id="{007313F7-3472-4352-928B-78EA0D5B94E9}" returnToParent="0" transitionDur="1000" showBg="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29954" cy="147458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3" name="Vista general de diapositiva 32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9AFB90D7-A375-F070-023B-247B870C8D6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88896" y="2764263"/>
                <a:ext cx="2129954" cy="1474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5" name="Vista general de diapositiva 34">
                <a:extLst>
                  <a:ext uri="{FF2B5EF4-FFF2-40B4-BE49-F238E27FC236}">
                    <a16:creationId xmlns:a16="http://schemas.microsoft.com/office/drawing/2014/main" id="{BD3A6C24-833F-17D2-CB26-34514903DE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49351894"/>
                  </p:ext>
                </p:extLst>
              </p:nvPr>
            </p:nvGraphicFramePr>
            <p:xfrm>
              <a:off x="6283590" y="4931327"/>
              <a:ext cx="1884842" cy="1304891"/>
            </p:xfrm>
            <a:graphic>
              <a:graphicData uri="http://schemas.microsoft.com/office/powerpoint/2016/slidezoom">
                <pslz:sldZm>
                  <pslz:sldZmObj sldId="465" cId="2374937822">
                    <pslz:zmPr id="{3D68B4F7-5889-4CB6-BB21-E4FFE58E9D6B}" returnToParent="0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84842" cy="1304891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5" name="Vista general de diapositiva 34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BD3A6C24-833F-17D2-CB26-34514903DE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3590" y="4931327"/>
                <a:ext cx="1884842" cy="1304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7" name="Vista general de diapositiva 36">
                <a:extLst>
                  <a:ext uri="{FF2B5EF4-FFF2-40B4-BE49-F238E27FC236}">
                    <a16:creationId xmlns:a16="http://schemas.microsoft.com/office/drawing/2014/main" id="{E3B9D85F-7690-7310-7A1F-0E5C31361E0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38192245"/>
                  </p:ext>
                </p:extLst>
              </p:nvPr>
            </p:nvGraphicFramePr>
            <p:xfrm>
              <a:off x="3765775" y="4930781"/>
              <a:ext cx="2024409" cy="1401514"/>
            </p:xfrm>
            <a:graphic>
              <a:graphicData uri="http://schemas.microsoft.com/office/powerpoint/2016/slidezoom">
                <pslz:sldZm>
                  <pslz:sldZmObj sldId="467" cId="2171660121">
                    <pslz:zmPr id="{25D37021-E9ED-4F3F-B0C0-609D5F1FD71D}" returnToParent="0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24409" cy="140151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7" name="Vista general de diapositiva 36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E3B9D85F-7690-7310-7A1F-0E5C31361E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65775" y="4930781"/>
                <a:ext cx="2024409" cy="1401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9" name="Vista general de diapositiva 38">
                <a:extLst>
                  <a:ext uri="{FF2B5EF4-FFF2-40B4-BE49-F238E27FC236}">
                    <a16:creationId xmlns:a16="http://schemas.microsoft.com/office/drawing/2014/main" id="{B3C4A999-E2AF-41A0-4A2C-3609056DDA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7319121"/>
                  </p:ext>
                </p:extLst>
              </p:nvPr>
            </p:nvGraphicFramePr>
            <p:xfrm>
              <a:off x="2716310" y="2741050"/>
              <a:ext cx="2024411" cy="1401515"/>
            </p:xfrm>
            <a:graphic>
              <a:graphicData uri="http://schemas.microsoft.com/office/powerpoint/2016/slidezoom">
                <pslz:sldZm>
                  <pslz:sldZmObj sldId="469" cId="2185400279">
                    <pslz:zmPr id="{0C09FCF6-5B8C-4C1E-B743-06E85A34F03A}" returnToParent="0" transitionDur="1000" showBg="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24411" cy="140151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9" name="Vista general de diapositiva 38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B3C4A999-E2AF-41A0-4A2C-3609056DDA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6310" y="2741050"/>
                <a:ext cx="2024411" cy="1401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1" name="Vista general de diapositiva 40">
                <a:extLst>
                  <a:ext uri="{FF2B5EF4-FFF2-40B4-BE49-F238E27FC236}">
                    <a16:creationId xmlns:a16="http://schemas.microsoft.com/office/drawing/2014/main" id="{E91C2EA4-2955-28B0-38F1-4DEE60B636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13765126"/>
                  </p:ext>
                </p:extLst>
              </p:nvPr>
            </p:nvGraphicFramePr>
            <p:xfrm>
              <a:off x="3842520" y="512226"/>
              <a:ext cx="2074985" cy="1436528"/>
            </p:xfrm>
            <a:graphic>
              <a:graphicData uri="http://schemas.microsoft.com/office/powerpoint/2016/slidezoom">
                <pslz:sldZm>
                  <pslz:sldZmObj sldId="471" cId="3990729396">
                    <pslz:zmPr id="{E6BAC60F-A5D9-4A75-A54B-9E9953FEAA3F}" returnToParent="0" transitionDur="1000" showBg="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74985" cy="1436528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1" name="Vista general de diapositiva 40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E91C2EA4-2955-28B0-38F1-4DEE60B636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42520" y="512226"/>
                <a:ext cx="2074985" cy="1436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3" name="Vista general de diapositiva 42">
                <a:extLst>
                  <a:ext uri="{FF2B5EF4-FFF2-40B4-BE49-F238E27FC236}">
                    <a16:creationId xmlns:a16="http://schemas.microsoft.com/office/drawing/2014/main" id="{788B12C0-67A9-E855-E7A6-C47C4FBFCF4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20087839"/>
                  </p:ext>
                </p:extLst>
              </p:nvPr>
            </p:nvGraphicFramePr>
            <p:xfrm>
              <a:off x="10442246" y="5726610"/>
              <a:ext cx="1749754" cy="1211369"/>
            </p:xfrm>
            <a:graphic>
              <a:graphicData uri="http://schemas.microsoft.com/office/powerpoint/2016/slidezoom">
                <pslz:sldZm>
                  <pslz:sldZmObj sldId="473" cId="57163026">
                    <pslz:zmPr id="{9F23817A-D9EC-45C8-BBA6-278857BD345C}" returnToParent="0" transitionDur="1000" showBg="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49754" cy="121136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3" name="Vista general de diapositiva 42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788B12C0-67A9-E855-E7A6-C47C4FBFCF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442246" y="5726610"/>
                <a:ext cx="1749754" cy="12113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4802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05A2B25-E676-9B32-F2A2-274BB4258788}"/>
              </a:ext>
            </a:extLst>
          </p:cNvPr>
          <p:cNvSpPr txBox="1"/>
          <p:nvPr/>
        </p:nvSpPr>
        <p:spPr>
          <a:xfrm>
            <a:off x="7355393" y="1781072"/>
            <a:ext cx="4593088" cy="5205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a-ES" sz="2215" dirty="0"/>
              <a:t>En aquest mòdul abordarem els conceptes bàsics i avançats de la Intel·ligència Artificial (IA) i de la seva usabilitat, explorant com aquests sistemes poden millorar l'eficiència operativa de les organitzacions i empreses. Es farà un recorregut des dels fonaments de la IA fins a les aplicacions pràctiques, com ara l’automatització de tasques, el processament del llenguatge natural, els sistemes experts, i la robòtica. També s'abordaran els aspectes ètics i legals en el desenvolupament d'aquests sistemes.</a:t>
            </a:r>
            <a:endParaRPr lang="ca-ES" sz="1969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F666358-AFE5-3E51-9A50-EDA22FE27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5393" y="388887"/>
            <a:ext cx="4989472" cy="1392185"/>
          </a:xfrm>
        </p:spPr>
        <p:txBody>
          <a:bodyPr/>
          <a:lstStyle/>
          <a:p>
            <a:r>
              <a:rPr lang="ca-ES" dirty="0"/>
              <a:t>Què </a:t>
            </a:r>
            <a:r>
              <a:rPr lang="ca-ES" dirty="0" err="1"/>
              <a:t>apendrem</a:t>
            </a:r>
            <a:r>
              <a:rPr lang="ca-ES" dirty="0"/>
              <a:t>?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9" name="Graphic 5" descr="Head with Gears">
            <a:extLst>
              <a:ext uri="{FF2B5EF4-FFF2-40B4-BE49-F238E27FC236}">
                <a16:creationId xmlns:a16="http://schemas.microsoft.com/office/drawing/2014/main" id="{6BD8E682-4F59-9395-ADCE-9EEAE98AFC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83640" y="318197"/>
            <a:ext cx="6533556" cy="653355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19953E2-1920-D445-0DCE-E75ABC3024EE}"/>
              </a:ext>
            </a:extLst>
          </p:cNvPr>
          <p:cNvSpPr/>
          <p:nvPr/>
        </p:nvSpPr>
        <p:spPr>
          <a:xfrm>
            <a:off x="7355393" y="682508"/>
            <a:ext cx="4736586" cy="6214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399" dirty="0"/>
          </a:p>
        </p:txBody>
      </p:sp>
    </p:spTree>
    <p:extLst>
      <p:ext uri="{BB962C8B-B14F-4D97-AF65-F5344CB8AC3E}">
        <p14:creationId xmlns:p14="http://schemas.microsoft.com/office/powerpoint/2010/main" val="1439871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 descr="Ramificaciones - Iconos gratis de flechas">
            <a:extLst>
              <a:ext uri="{FF2B5EF4-FFF2-40B4-BE49-F238E27FC236}">
                <a16:creationId xmlns:a16="http://schemas.microsoft.com/office/drawing/2014/main" id="{2C86091A-71BF-7BB4-DD6A-AC0611FA5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93" y="427893"/>
            <a:ext cx="6002215" cy="6002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03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z="3446" dirty="0"/>
              <a:t>Unitat 1: Caracteritza sistemes d'Intel·ligència Artificial relacionant-los amb la millora de l'eficiència operativa de les organitzacions i les empreses.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406526"/>
            <a:ext cx="10515600" cy="3250594"/>
          </a:xfrm>
        </p:spPr>
        <p:txBody>
          <a:bodyPr>
            <a:norm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1.1. Identifica els principis fonamentals dels sistemes intel·ligents.</a:t>
            </a:r>
          </a:p>
          <a:p>
            <a:r>
              <a:rPr lang="ca-ES" sz="1969" dirty="0"/>
              <a:t>1.2. Recopila informació sobre camps on s'aplica Intel·ligència Artificial.</a:t>
            </a:r>
          </a:p>
          <a:p>
            <a:r>
              <a:rPr lang="ca-ES" sz="1969" dirty="0"/>
              <a:t>1.3. Identifica les tècniques bàsiques que cal utilitzar a l'entorn de la IA.</a:t>
            </a:r>
          </a:p>
          <a:p>
            <a:r>
              <a:rPr lang="ca-ES" sz="1969" dirty="0"/>
              <a:t>1.4. Identifica noves formes d'interaccions als negocis que milloren l'eficiència operativa.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6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7458B1DE-BF8C-FC95-5C40-90DD616DFA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9947485"/>
                  </p:ext>
                </p:extLst>
              </p:nvPr>
            </p:nvGraphicFramePr>
            <p:xfrm>
              <a:off x="5557912" y="5915465"/>
              <a:ext cx="1361440" cy="942535"/>
            </p:xfrm>
            <a:graphic>
              <a:graphicData uri="http://schemas.microsoft.com/office/powerpoint/2016/slidezoom">
                <pslz:sldZm>
                  <pslz:sldZmObj sldId="259" cId="3004802129">
                    <pslz:zmPr id="{6B9F516B-FEC9-41CC-833F-241DBF71F734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61440" cy="94253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458B1DE-BF8C-FC95-5C40-90DD616DFA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57912" y="5915465"/>
                <a:ext cx="1361440" cy="94253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83067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3F37BA-7DB5-5486-A945-493DA5BE2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03" y="452007"/>
            <a:ext cx="6371995" cy="6371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12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z="3446" dirty="0"/>
              <a:t>Unitat 2: Utilitza models de sistemes d'Intel·ligència Artificial implementant sistemes a la resolució de problemes.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14245"/>
            <a:ext cx="10515600" cy="4599687"/>
          </a:xfrm>
        </p:spPr>
        <p:txBody>
          <a:bodyPr>
            <a:no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2.1. Determina els requisits bàsics a implementar en un sistema de resolució de problemes.</a:t>
            </a:r>
          </a:p>
          <a:p>
            <a:r>
              <a:rPr lang="ca-ES" sz="1969" dirty="0"/>
              <a:t>2.2. Classifica models d'Intel·ligència Artificial.</a:t>
            </a:r>
          </a:p>
          <a:p>
            <a:r>
              <a:rPr lang="ca-ES" sz="1969" dirty="0"/>
              <a:t>2.3. Caracteritza els models d'automatització de tasques.</a:t>
            </a:r>
          </a:p>
          <a:p>
            <a:r>
              <a:rPr lang="ca-ES" sz="1969" dirty="0"/>
              <a:t>2.4. Caracteritza els models de raonament imprecís.</a:t>
            </a:r>
          </a:p>
          <a:p>
            <a:r>
              <a:rPr lang="ca-ES" sz="1969" dirty="0"/>
              <a:t>2.5. Caracteritza els models de sistemes basats en regles.</a:t>
            </a:r>
          </a:p>
          <a:p>
            <a:r>
              <a:rPr lang="ca-ES" sz="1969" dirty="0"/>
              <a:t>2.6. Valora l'adequació dels models a la implementació del sistema de resolució dels problemes.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8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6563905"/>
                  </p:ext>
                </p:extLst>
              </p:nvPr>
            </p:nvGraphicFramePr>
            <p:xfrm>
              <a:off x="5504003" y="5840821"/>
              <a:ext cx="1469258" cy="1017179"/>
            </p:xfrm>
            <a:graphic>
              <a:graphicData uri="http://schemas.microsoft.com/office/powerpoint/2016/slidezoom">
                <pslz:sldZm>
                  <pslz:sldZmObj sldId="259" cId="3004802129">
                    <pslz:zmPr id="{AFEC43EF-50E0-4568-8C38-75EE26F4A68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9258" cy="10171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04003" y="5840821"/>
                <a:ext cx="1469258" cy="10171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87986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4650F8B-2CDF-42F9-F028-84FB90592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036" y="352864"/>
            <a:ext cx="6463100" cy="64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37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z="3446" dirty="0"/>
              <a:t>Unitat 3: Relaciona el processament de llenguatge natural amb les seves aplicacions determinant-ne el seu potencial i identificant-ne les limitacions.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3373"/>
            <a:ext cx="10515600" cy="4599687"/>
          </a:xfrm>
        </p:spPr>
        <p:txBody>
          <a:bodyPr>
            <a:no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3.1. Caracteritza el processament de llenguatge natural.</a:t>
            </a:r>
          </a:p>
          <a:p>
            <a:r>
              <a:rPr lang="ca-ES" sz="1969" dirty="0"/>
              <a:t>3.2. Justifica el paper del lingüista en un projecte d'Intel·ligència Artificial.</a:t>
            </a:r>
          </a:p>
          <a:p>
            <a:r>
              <a:rPr lang="ca-ES" sz="1969" dirty="0"/>
              <a:t>3.3. Determina el potencial de les tècniques existents de processament de llenguatge, així com les seves limitacions.</a:t>
            </a:r>
          </a:p>
          <a:p>
            <a:r>
              <a:rPr lang="ca-ES" sz="1969" dirty="0"/>
              <a:t>3.4. Considera en quins casos és factible aplicar aquestes tècniques a la resolució d'un problema.</a:t>
            </a:r>
          </a:p>
          <a:p>
            <a:r>
              <a:rPr lang="ca-ES" sz="1969" dirty="0"/>
              <a:t>3.5. Avalua el treball cooperatiu entre lingüistes i informàtics al camp del processament del llenguatge natural.</a:t>
            </a:r>
          </a:p>
          <a:p>
            <a:r>
              <a:rPr lang="ca-ES" sz="1969" dirty="0"/>
              <a:t>3.6. Descriu la formació teòrica que necessita l'investigador al processament del llenguatge natural.</a:t>
            </a:r>
          </a:p>
          <a:p>
            <a:r>
              <a:rPr lang="ca-ES" sz="1969" dirty="0"/>
              <a:t>3.7. Elabora un sistema de processament de llenguatge orientat a una tasca específica.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10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504002" y="6636155"/>
              <a:ext cx="1469258" cy="1017179"/>
            </p:xfrm>
            <a:graphic>
              <a:graphicData uri="http://schemas.microsoft.com/office/powerpoint/2016/slidezoom">
                <pslz:sldZm>
                  <pslz:sldZmObj sldId="259" cId="3004802129">
                    <pslz:zmPr id="{AFEC43EF-50E0-4568-8C38-75EE26F4A68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9258" cy="10171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04002" y="6636155"/>
                <a:ext cx="1469258" cy="10171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148553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EFF7B53-7AEC-765D-4B6F-3A08C56A10E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727792" y="427892"/>
            <a:ext cx="6369316" cy="636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660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z="3446" dirty="0"/>
              <a:t>Unitat 4: Analitza sistemes robotitzats</a:t>
            </a:r>
            <a:r>
              <a:rPr lang="fr-FR" sz="3446" dirty="0"/>
              <a:t>, </a:t>
            </a:r>
            <a:r>
              <a:rPr lang="ca-ES" sz="3446" dirty="0"/>
              <a:t>avaluant opcions de disseny i implementació</a:t>
            </a:r>
            <a:r>
              <a:rPr lang="fr-FR" sz="3446" dirty="0"/>
              <a:t>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3373"/>
            <a:ext cx="10515600" cy="4599687"/>
          </a:xfrm>
        </p:spPr>
        <p:txBody>
          <a:bodyPr>
            <a:no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4.1. Recopila els problemes del modelatge i control cinemàtic a robots manipuladors.</a:t>
            </a:r>
          </a:p>
          <a:p>
            <a:r>
              <a:rPr lang="ca-ES" sz="1969" dirty="0"/>
              <a:t>4.2. Cerca solucions als problemes dels robots.</a:t>
            </a:r>
          </a:p>
          <a:p>
            <a:r>
              <a:rPr lang="ca-ES" sz="1969" dirty="0"/>
              <a:t>4.3. Valora les característiques diferenciadores de les tècniques de programació de robots i de sistemes robotitzats.</a:t>
            </a:r>
          </a:p>
          <a:p>
            <a:r>
              <a:rPr lang="ca-ES" sz="1969" dirty="0"/>
              <a:t>4.4. Avalua diferents opcions en el disseny i la implementació de sistemes robotitzats.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12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504002" y="6636155"/>
              <a:ext cx="1469258" cy="1017179"/>
            </p:xfrm>
            <a:graphic>
              <a:graphicData uri="http://schemas.microsoft.com/office/powerpoint/2016/slidezoom">
                <pslz:sldZm>
                  <pslz:sldZmObj sldId="259" cId="3004802129">
                    <pslz:zmPr id="{AFEC43EF-50E0-4568-8C38-75EE26F4A68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9258" cy="10171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04002" y="6636155"/>
                <a:ext cx="1469258" cy="10171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827579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7ABF79-43BA-A79E-FF88-97399C838E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094893" y="427893"/>
            <a:ext cx="6002215" cy="600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00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Unitat 5: Caracteritza sistemes experts avaluant la influència dels controladors intel·ligents</a:t>
            </a:r>
            <a:r>
              <a:rPr lang="es-ES" sz="3446" dirty="0"/>
              <a:t> </a:t>
            </a:r>
            <a:r>
              <a:rPr lang="ca-ES" sz="3446" dirty="0"/>
              <a:t>en el comportament del sistema</a:t>
            </a:r>
            <a:r>
              <a:rPr lang="es-ES" sz="3446" dirty="0"/>
              <a:t>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515600" cy="3968937"/>
          </a:xfrm>
        </p:spPr>
        <p:txBody>
          <a:bodyPr>
            <a:no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5.1. Descriu la dinàmica i les estructures elementals dels sistemes experts.</a:t>
            </a:r>
          </a:p>
          <a:p>
            <a:r>
              <a:rPr lang="ca-ES" sz="1969" dirty="0"/>
              <a:t>5.2. Determina les destreses necessàries per representar i simular comportaments bàsics de sistemes d'àmbits molt diversos.</a:t>
            </a:r>
          </a:p>
          <a:p>
            <a:r>
              <a:rPr lang="ca-ES" sz="1969" dirty="0"/>
              <a:t>5.3. Raona com influeix la variació de les característiques dels sistemes en la dinàmica d'actuació.</a:t>
            </a:r>
          </a:p>
          <a:p>
            <a:r>
              <a:rPr lang="ca-ES" sz="1969" dirty="0"/>
              <a:t>5.4. Desenvolupa estratègies de control definint els objectius i les especificacions de la resposta del sistema.</a:t>
            </a:r>
          </a:p>
          <a:p>
            <a:r>
              <a:rPr lang="ca-ES" sz="1969" dirty="0"/>
              <a:t>5.5. Relaciona els controladors intel·ligents amb el comportament del sistema.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14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9491048"/>
                  </p:ext>
                </p:extLst>
              </p:nvPr>
            </p:nvGraphicFramePr>
            <p:xfrm>
              <a:off x="5504003" y="5840821"/>
              <a:ext cx="1469258" cy="1017179"/>
            </p:xfrm>
            <a:graphic>
              <a:graphicData uri="http://schemas.microsoft.com/office/powerpoint/2016/slidezoom">
                <pslz:sldZm>
                  <pslz:sldZmObj sldId="259" cId="3004802129">
                    <pslz:zmPr id="{AFEC43EF-50E0-4568-8C38-75EE26F4A68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9258" cy="10171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04003" y="5840821"/>
                <a:ext cx="1469258" cy="10171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030907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C606D59-BAE1-E917-8789-69E9ADF7E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648" y="7202"/>
            <a:ext cx="6889150" cy="68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29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Unitat 6: Aplica principis legals i ètics al desenvolupament de la Intel·ligència Artificial integrant-los com a part del procés.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825927" cy="3968937"/>
          </a:xfrm>
        </p:spPr>
        <p:txBody>
          <a:bodyPr>
            <a:noAutofit/>
          </a:bodyPr>
          <a:lstStyle/>
          <a:p>
            <a:r>
              <a:rPr lang="ca-ES" sz="1969" dirty="0"/>
              <a:t>Criteris d'avaluació</a:t>
            </a:r>
          </a:p>
          <a:p>
            <a:r>
              <a:rPr lang="ca-ES" sz="1969" dirty="0"/>
              <a:t>6.1. Argumenta els possibles riscos legals i ètics de l'aplicació d'Intel·ligència Artificial.</a:t>
            </a:r>
          </a:p>
          <a:p>
            <a:r>
              <a:rPr lang="ca-ES" sz="1969" dirty="0"/>
              <a:t>6.2. Reconeix la necessitat de respectar la privadesa de les dades.</a:t>
            </a:r>
          </a:p>
          <a:p>
            <a:r>
              <a:rPr lang="ca-ES" sz="1969" dirty="0"/>
              <a:t>6.3. Decideix el compliment estricte de la legalitat a la seva aplicació.</a:t>
            </a:r>
          </a:p>
          <a:p>
            <a:r>
              <a:rPr lang="ca-ES" sz="1969" dirty="0"/>
              <a:t>6.4. Integra com a part del procés la protecció davant de previsibles errors i atacs (</a:t>
            </a:r>
            <a:r>
              <a:rPr lang="ca-ES" sz="1969" dirty="0" err="1"/>
              <a:t>security</a:t>
            </a:r>
            <a:r>
              <a:rPr lang="ca-ES" sz="1969" dirty="0"/>
              <a:t> </a:t>
            </a:r>
            <a:r>
              <a:rPr lang="ca-ES" sz="1969" dirty="0" err="1"/>
              <a:t>by</a:t>
            </a:r>
            <a:r>
              <a:rPr lang="ca-ES" sz="1969" dirty="0"/>
              <a:t> </a:t>
            </a:r>
            <a:r>
              <a:rPr lang="ca-ES" sz="1969" dirty="0" err="1"/>
              <a:t>design</a:t>
            </a:r>
            <a:r>
              <a:rPr lang="ca-ES" sz="1969" dirty="0"/>
              <a:t>).</a:t>
            </a:r>
          </a:p>
          <a:p>
            <a:r>
              <a:rPr lang="ca-ES" sz="1969" dirty="0"/>
              <a:t>6.5. Comprova que es compleixen totes les normes legals i ètiques a totes les àrees de la Intel·ligència Artificial (</a:t>
            </a:r>
            <a:r>
              <a:rPr lang="ca-ES" sz="1969" dirty="0" err="1"/>
              <a:t>privacy</a:t>
            </a:r>
            <a:r>
              <a:rPr lang="ca-ES" sz="1969" dirty="0"/>
              <a:t> </a:t>
            </a:r>
            <a:r>
              <a:rPr lang="ca-ES" sz="1969" dirty="0" err="1"/>
              <a:t>by</a:t>
            </a:r>
            <a:r>
              <a:rPr lang="ca-ES" sz="1969" dirty="0"/>
              <a:t> </a:t>
            </a:r>
            <a:r>
              <a:rPr lang="ca-ES" sz="1969" dirty="0" err="1"/>
              <a:t>design</a:t>
            </a:r>
            <a:r>
              <a:rPr lang="ca-ES" sz="1969" dirty="0"/>
              <a:t>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16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504002" y="6636155"/>
              <a:ext cx="1469258" cy="1017179"/>
            </p:xfrm>
            <a:graphic>
              <a:graphicData uri="http://schemas.microsoft.com/office/powerpoint/2016/slidezoom">
                <pslz:sldZm>
                  <pslz:sldZmObj sldId="259" cId="3004802129">
                    <pslz:zmPr id="{AFEC43EF-50E0-4568-8C38-75EE26F4A686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469258" cy="101717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Vista general de diapositiva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FEFD432-C73D-7086-2854-DCF507A5980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04002" y="6636155"/>
                <a:ext cx="1469258" cy="101717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8508417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21CC775-4DCD-D350-DE82-72BA38D63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73CA723A-A3BE-8DEF-6F1D-0651A075E0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FED45B0-D14C-DCAB-5DC1-7547F05A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2600"/>
            <a:ext cx="12192000" cy="589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5BB34360-AEA1-52B5-0643-70BA16A8F0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4578682"/>
                  </p:ext>
                </p:extLst>
              </p:nvPr>
            </p:nvGraphicFramePr>
            <p:xfrm>
              <a:off x="5849650" y="6375400"/>
              <a:ext cx="777964" cy="538591"/>
            </p:xfrm>
            <a:graphic>
              <a:graphicData uri="http://schemas.microsoft.com/office/powerpoint/2016/slidezoom">
                <pslz:sldZm>
                  <pslz:sldZmObj sldId="259" cId="3004802129">
                    <pslz:zmPr id="{562766EC-9043-4E60-A295-059989545C36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77964" cy="53859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7" name="Vista general de diapositiva 6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5BB34360-AEA1-52B5-0643-70BA16A8F0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49650" y="6375400"/>
                <a:ext cx="777964" cy="53859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163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543" y="2192791"/>
            <a:ext cx="5890176" cy="1392185"/>
          </a:xfrm>
        </p:spPr>
        <p:txBody>
          <a:bodyPr/>
          <a:lstStyle/>
          <a:p>
            <a:pPr algn="ctr"/>
            <a:r>
              <a:rPr lang="ca-ES" dirty="0"/>
              <a:t>Com definiríeu una IA?</a:t>
            </a:r>
            <a:br>
              <a:rPr lang="ca-ES" dirty="0"/>
            </a:br>
            <a:r>
              <a:rPr lang="ca-ES" sz="3446" i="1" dirty="0"/>
              <a:t>Ho podríeu verbalitzar?</a:t>
            </a:r>
            <a:endParaRPr lang="ca-ES" sz="5908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18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96227281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54" y="472482"/>
            <a:ext cx="8711754" cy="1392185"/>
          </a:xfrm>
        </p:spPr>
        <p:txBody>
          <a:bodyPr/>
          <a:lstStyle/>
          <a:p>
            <a:r>
              <a:rPr lang="ca-ES" sz="3446" dirty="0"/>
              <a:t>Fins a quin punt es important la IA a dia d’avui?</a:t>
            </a:r>
            <a:endParaRPr lang="ca-ES" sz="4923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19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B8221D7-F785-7C48-7DE6-DD071ACFA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7388" y="3804731"/>
            <a:ext cx="1500555" cy="150055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5C374CE-4F55-B9F3-3193-D049BBEFB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33" y="1864667"/>
            <a:ext cx="2453407" cy="15005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49729C5-6B7A-9696-CAA2-DBC1C6E37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464" y="1958550"/>
            <a:ext cx="2981817" cy="170099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42108E-CF0C-36A2-918D-FD6AC2D15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33" y="5277423"/>
            <a:ext cx="1995642" cy="62916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8279DD9-1A47-7141-2AAB-11A3E75EFA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5755" y="5080394"/>
            <a:ext cx="2266245" cy="170099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9F064FE-3EEA-A46C-A562-F9615865F3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8721" y="5307708"/>
            <a:ext cx="1228761" cy="119776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37C88D2-2EB9-6BFA-7C82-6D055EEB0D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6090" y="5745632"/>
            <a:ext cx="2209297" cy="68856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8909832-EB72-F2CC-762D-A55C359C72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4508" y="3851544"/>
            <a:ext cx="1453742" cy="145374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39355ECA-39C5-881E-4178-AC13262E41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2098" y="1993912"/>
            <a:ext cx="2688599" cy="993521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AEE59172-1FCA-C479-E7FE-2ED4F126E8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6257" y="4082639"/>
            <a:ext cx="944738" cy="94473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B3932CD6-6C45-3C7C-DD7C-9DE8466204F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65329" y="4124495"/>
            <a:ext cx="1782095" cy="178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09011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543" y="2192791"/>
            <a:ext cx="5890176" cy="2417895"/>
          </a:xfrm>
        </p:spPr>
        <p:txBody>
          <a:bodyPr/>
          <a:lstStyle/>
          <a:p>
            <a:pPr algn="ctr"/>
            <a:r>
              <a:rPr lang="ca-ES" dirty="0"/>
              <a:t>On podem aplicar la IA?</a:t>
            </a:r>
            <a:br>
              <a:rPr lang="ca-ES" dirty="0"/>
            </a:br>
            <a:r>
              <a:rPr lang="ca-ES" sz="3446" i="1" dirty="0"/>
              <a:t>Ompliu aquesta diapositiva amb tots els camps que se us acudeixin...</a:t>
            </a:r>
            <a:endParaRPr lang="ca-ES" sz="5908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20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67414134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54" y="472482"/>
            <a:ext cx="8711754" cy="1392185"/>
          </a:xfrm>
        </p:spPr>
        <p:txBody>
          <a:bodyPr/>
          <a:lstStyle/>
          <a:p>
            <a:r>
              <a:rPr lang="ca-ES" sz="3446" dirty="0"/>
              <a:t>Fins a quin punt pot ser important la IA en un futur?</a:t>
            </a:r>
            <a:endParaRPr lang="ca-ES" sz="4923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21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2" name="Imagen 11">
            <a:hlinkClick r:id="rId2"/>
            <a:extLst>
              <a:ext uri="{FF2B5EF4-FFF2-40B4-BE49-F238E27FC236}">
                <a16:creationId xmlns:a16="http://schemas.microsoft.com/office/drawing/2014/main" id="{1447E70B-8F52-9143-2B6F-87BB8E28A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080" y="2434169"/>
            <a:ext cx="2989521" cy="25066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n 13">
            <a:hlinkClick r:id="rId4"/>
            <a:extLst>
              <a:ext uri="{FF2B5EF4-FFF2-40B4-BE49-F238E27FC236}">
                <a16:creationId xmlns:a16="http://schemas.microsoft.com/office/drawing/2014/main" id="{7638FB84-DA94-908C-741C-EAA2AE985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849" y="2317879"/>
            <a:ext cx="2989521" cy="2458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n 14">
            <a:hlinkClick r:id="rId6"/>
            <a:extLst>
              <a:ext uri="{FF2B5EF4-FFF2-40B4-BE49-F238E27FC236}">
                <a16:creationId xmlns:a16="http://schemas.microsoft.com/office/drawing/2014/main" id="{9EABD253-79AF-E985-D767-41FBC7B8F1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9480" y="4390546"/>
            <a:ext cx="3702628" cy="2467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376680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CF8C4-4CF4-5705-F0DF-0CBCD7D1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831" y="1943590"/>
            <a:ext cx="10515600" cy="3133338"/>
          </a:xfrm>
        </p:spPr>
        <p:txBody>
          <a:bodyPr/>
          <a:lstStyle/>
          <a:p>
            <a:pPr algn="ctr"/>
            <a:r>
              <a:rPr lang="ca-ES" sz="6646" dirty="0"/>
              <a:t>Història i cerca de la Intel·ligència Artificial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5A551DF-2B7A-1999-D97E-C0B711AB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22</a:t>
            </a:fld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2DB8A5-A016-8E46-A23B-602A016CF8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CF11ED-EA48-D582-BE0E-0F4ABFF440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1895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Els orígens del concepte d’intel·ligència artificial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825927" cy="3968937"/>
          </a:xfrm>
        </p:spPr>
        <p:txBody>
          <a:bodyPr>
            <a:noAutofit/>
          </a:bodyPr>
          <a:lstStyle/>
          <a:p>
            <a:r>
              <a:rPr lang="ca-ES" sz="1969" dirty="0"/>
              <a:t>Els grecs ja van tenir idees primitives sobre màquines intel·ligents.</a:t>
            </a:r>
          </a:p>
          <a:p>
            <a:r>
              <a:rPr lang="ca-ES" sz="1969" dirty="0"/>
              <a:t>En la mitologia grega ja apareix la idea. Exemple: els autòmats de Hefest.</a:t>
            </a:r>
          </a:p>
          <a:p>
            <a:r>
              <a:rPr lang="ca-ES" sz="1969" dirty="0"/>
              <a:t>Hem de destacar les influències de la filosofia clàssica (Aristòtil i la lògica).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23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9" name="Imagen 8">
            <a:hlinkClick r:id="rId2"/>
            <a:extLst>
              <a:ext uri="{FF2B5EF4-FFF2-40B4-BE49-F238E27FC236}">
                <a16:creationId xmlns:a16="http://schemas.microsoft.com/office/drawing/2014/main" id="{60CBA571-A308-32A7-121E-DDE20634A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306" y="4321294"/>
            <a:ext cx="2845694" cy="2845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agen 9">
            <a:hlinkClick r:id="rId4"/>
            <a:extLst>
              <a:ext uri="{FF2B5EF4-FFF2-40B4-BE49-F238E27FC236}">
                <a16:creationId xmlns:a16="http://schemas.microsoft.com/office/drawing/2014/main" id="{0985EA55-24E7-15CE-981A-685D1AA47C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4" y="4321294"/>
            <a:ext cx="3191665" cy="28456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902027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Desenvolupament de la lògica formal (segle XVII)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825927" cy="3968937"/>
          </a:xfrm>
        </p:spPr>
        <p:txBody>
          <a:bodyPr>
            <a:noAutofit/>
          </a:bodyPr>
          <a:lstStyle/>
          <a:p>
            <a:r>
              <a:rPr lang="ca-ES" sz="1969" dirty="0"/>
              <a:t>René Descartes va ser un dels primers filòsofs en crear el racionalisme i el mecanicisme.</a:t>
            </a:r>
          </a:p>
          <a:p>
            <a:r>
              <a:rPr lang="ca-ES" sz="1969" dirty="0"/>
              <a:t>Blaise Pascal va crear la primera màquina de calcular.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24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7" name="Imagen 6">
            <a:hlinkClick r:id="rId2"/>
            <a:extLst>
              <a:ext uri="{FF2B5EF4-FFF2-40B4-BE49-F238E27FC236}">
                <a16:creationId xmlns:a16="http://schemas.microsoft.com/office/drawing/2014/main" id="{B053A235-69CD-E09B-4CD3-673E58786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12" y="3457134"/>
            <a:ext cx="6347878" cy="34807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Imagen 7">
            <a:hlinkClick r:id="rId4"/>
            <a:extLst>
              <a:ext uri="{FF2B5EF4-FFF2-40B4-BE49-F238E27FC236}">
                <a16:creationId xmlns:a16="http://schemas.microsoft.com/office/drawing/2014/main" id="{DB5D653A-E6DC-C923-6BF3-01A565F90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953" y="2481520"/>
            <a:ext cx="2508825" cy="3070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4473470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/>
              <a:t>La màquina de Turing (1936)</a:t>
            </a:r>
            <a:endParaRPr lang="ca-ES" sz="4923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25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" name="Imagen 9">
            <a:hlinkClick r:id="rId2"/>
            <a:extLst>
              <a:ext uri="{FF2B5EF4-FFF2-40B4-BE49-F238E27FC236}">
                <a16:creationId xmlns:a16="http://schemas.microsoft.com/office/drawing/2014/main" id="{21D4653C-96DD-AB0A-6124-A86F544F9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839" y="1953901"/>
            <a:ext cx="8518322" cy="4791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6734206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Cibernètica i autòmats (anys 40)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825927" cy="1392185"/>
          </a:xfrm>
        </p:spPr>
        <p:txBody>
          <a:bodyPr>
            <a:noAutofit/>
          </a:bodyPr>
          <a:lstStyle/>
          <a:p>
            <a:r>
              <a:rPr lang="ca-ES" sz="1969" dirty="0"/>
              <a:t>Norbert </a:t>
            </a:r>
            <a:r>
              <a:rPr lang="ca-ES" sz="1969" dirty="0" err="1"/>
              <a:t>Wiener</a:t>
            </a:r>
            <a:r>
              <a:rPr lang="ca-ES" sz="1969" dirty="0"/>
              <a:t> i la teoria de la cibernètica.</a:t>
            </a:r>
          </a:p>
          <a:p>
            <a:pPr lvl="1"/>
            <a:r>
              <a:rPr lang="ca-ES" sz="1477" dirty="0"/>
              <a:t>Podem destacar l’aparició dels primers autòmats mecànics.</a:t>
            </a:r>
          </a:p>
          <a:p>
            <a:r>
              <a:rPr lang="ca-ES" sz="1969" dirty="0"/>
              <a:t>Sense l’experimentació en plena segona guerra mundial y les teories de Norbert </a:t>
            </a:r>
            <a:r>
              <a:rPr lang="ca-ES" sz="1969" dirty="0" err="1"/>
              <a:t>Wiener</a:t>
            </a:r>
            <a:r>
              <a:rPr lang="ca-ES" sz="1969" dirty="0"/>
              <a:t> no seria possible la connexió entre cibernètica i la IA.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26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7" name="Imagen 6">
            <a:hlinkClick r:id="rId2"/>
            <a:extLst>
              <a:ext uri="{FF2B5EF4-FFF2-40B4-BE49-F238E27FC236}">
                <a16:creationId xmlns:a16="http://schemas.microsoft.com/office/drawing/2014/main" id="{83874E97-0343-C588-425F-AF8C41BA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67" y="3650217"/>
            <a:ext cx="3352666" cy="2550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1173378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Cibernètica i autòmats (anys 40)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10825927" cy="1392185"/>
          </a:xfrm>
        </p:spPr>
        <p:txBody>
          <a:bodyPr>
            <a:noAutofit/>
          </a:bodyPr>
          <a:lstStyle/>
          <a:p>
            <a:r>
              <a:rPr lang="ca-ES" sz="1969" dirty="0"/>
              <a:t>Norbert </a:t>
            </a:r>
            <a:r>
              <a:rPr lang="ca-ES" sz="1969" dirty="0" err="1"/>
              <a:t>Wiener</a:t>
            </a:r>
            <a:r>
              <a:rPr lang="ca-ES" sz="1969" dirty="0"/>
              <a:t> i la teoria de la cibernètica.</a:t>
            </a:r>
          </a:p>
          <a:p>
            <a:pPr lvl="1"/>
            <a:r>
              <a:rPr lang="ca-ES" sz="1477" dirty="0"/>
              <a:t>Podem destacar l’aparició dels primers autòmats mecànics.</a:t>
            </a:r>
          </a:p>
          <a:p>
            <a:r>
              <a:rPr lang="ca-ES" sz="1969" dirty="0"/>
              <a:t>Sense l’experimentació en plena segona guerra mundial y les teories de Norbert </a:t>
            </a:r>
            <a:r>
              <a:rPr lang="ca-ES" sz="1969" dirty="0" err="1"/>
              <a:t>Wiener</a:t>
            </a:r>
            <a:r>
              <a:rPr lang="ca-ES" sz="1969" dirty="0"/>
              <a:t> no seria possible la connexió entre cibernètica i la IA.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27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7" name="Imagen 6">
            <a:hlinkClick r:id="rId2"/>
            <a:extLst>
              <a:ext uri="{FF2B5EF4-FFF2-40B4-BE49-F238E27FC236}">
                <a16:creationId xmlns:a16="http://schemas.microsoft.com/office/drawing/2014/main" id="{83874E97-0343-C588-425F-AF8C41BA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67" y="3650217"/>
            <a:ext cx="3352666" cy="2550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224235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663E12-303A-29D6-8E8B-C8E9C8F8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35714"/>
            <a:ext cx="10930428" cy="1392185"/>
          </a:xfrm>
        </p:spPr>
        <p:txBody>
          <a:bodyPr/>
          <a:lstStyle/>
          <a:p>
            <a:r>
              <a:rPr lang="ca-ES" sz="3446" dirty="0"/>
              <a:t>Els inicis de la IA moderna (dècada dels 50)</a:t>
            </a:r>
            <a:endParaRPr lang="ca-ES" sz="4923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354C95-AB3D-B2E0-460B-80C03090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2442"/>
            <a:ext cx="6332304" cy="1392185"/>
          </a:xfrm>
        </p:spPr>
        <p:txBody>
          <a:bodyPr>
            <a:noAutofit/>
          </a:bodyPr>
          <a:lstStyle/>
          <a:p>
            <a:r>
              <a:rPr lang="ca-ES" sz="1969" dirty="0"/>
              <a:t>John </a:t>
            </a:r>
            <a:r>
              <a:rPr lang="ca-ES" sz="1969" dirty="0" err="1"/>
              <a:t>McCarthy</a:t>
            </a:r>
            <a:r>
              <a:rPr lang="ca-ES" sz="1969" dirty="0"/>
              <a:t> i el terme “Intel·ligència Artificial”.</a:t>
            </a:r>
          </a:p>
          <a:p>
            <a:r>
              <a:rPr lang="pt-BR" sz="1969" dirty="0" err="1"/>
              <a:t>Primeres</a:t>
            </a:r>
            <a:r>
              <a:rPr lang="pt-BR" sz="1969" dirty="0"/>
              <a:t> </a:t>
            </a:r>
            <a:r>
              <a:rPr lang="pt-BR" sz="1969" dirty="0" err="1"/>
              <a:t>recerques</a:t>
            </a:r>
            <a:r>
              <a:rPr lang="pt-BR" sz="1969" dirty="0"/>
              <a:t> i programes com </a:t>
            </a:r>
            <a:r>
              <a:rPr lang="pt-BR" sz="1969" dirty="0" err="1"/>
              <a:t>Logic</a:t>
            </a:r>
            <a:r>
              <a:rPr lang="pt-BR" sz="1969" dirty="0"/>
              <a:t> </a:t>
            </a:r>
            <a:r>
              <a:rPr lang="pt-BR" sz="1969" dirty="0" err="1"/>
              <a:t>Theorist</a:t>
            </a:r>
            <a:r>
              <a:rPr lang="pt-BR" sz="1969" dirty="0"/>
              <a:t>.</a:t>
            </a:r>
            <a:endParaRPr lang="ca-ES" sz="2954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EBF16F-EA99-4DEC-3810-22D4169CB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28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E80A56-B24E-5567-E623-4906C100D4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1FD62423-1C37-3B4A-F086-F60BDEC9ED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F68B4D9-785E-8B4E-58CD-060C631B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191" y="1468772"/>
            <a:ext cx="2931438" cy="1955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A1AE6E-5865-A415-55D5-9AFD07602D88}"/>
              </a:ext>
            </a:extLst>
          </p:cNvPr>
          <p:cNvSpPr txBox="1"/>
          <p:nvPr/>
        </p:nvSpPr>
        <p:spPr>
          <a:xfrm>
            <a:off x="7566408" y="3557792"/>
            <a:ext cx="4941780" cy="31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77" i="1" dirty="0"/>
              <a:t>Dartmouth </a:t>
            </a:r>
            <a:r>
              <a:rPr lang="es-ES" sz="1477" i="1" dirty="0" err="1"/>
              <a:t>Conference</a:t>
            </a:r>
            <a:r>
              <a:rPr lang="es-ES" sz="1477" i="1" dirty="0"/>
              <a:t> (1956): </a:t>
            </a:r>
            <a:r>
              <a:rPr lang="es-ES" sz="1477" i="1" dirty="0" err="1"/>
              <a:t>naixement</a:t>
            </a:r>
            <a:r>
              <a:rPr lang="es-ES" sz="1477" i="1" dirty="0"/>
              <a:t> oficial de la IA.</a:t>
            </a:r>
            <a:endParaRPr lang="ca-ES" sz="1477" i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906ED11-8374-9873-2E05-32776FE20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214" y="3557792"/>
            <a:ext cx="2018482" cy="2113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E9E00493-8998-ED39-C911-551998EF2C69}"/>
              </a:ext>
            </a:extLst>
          </p:cNvPr>
          <p:cNvSpPr/>
          <p:nvPr/>
        </p:nvSpPr>
        <p:spPr>
          <a:xfrm>
            <a:off x="5570807" y="2914526"/>
            <a:ext cx="273316" cy="518849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sz="2215"/>
          </a:p>
        </p:txBody>
      </p:sp>
    </p:spTree>
    <p:extLst>
      <p:ext uri="{BB962C8B-B14F-4D97-AF65-F5344CB8AC3E}">
        <p14:creationId xmlns:p14="http://schemas.microsoft.com/office/powerpoint/2010/main" val="2471629323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29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742060AB-351C-FF8A-6270-7B920FB9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0831" y="1943590"/>
            <a:ext cx="10515600" cy="3133338"/>
          </a:xfrm>
        </p:spPr>
        <p:txBody>
          <a:bodyPr/>
          <a:lstStyle/>
          <a:p>
            <a:pPr algn="ctr"/>
            <a:r>
              <a:rPr lang="ca-ES" sz="6646" dirty="0"/>
              <a:t>La lliga dels “</a:t>
            </a:r>
            <a:r>
              <a:rPr lang="ca-ES" sz="6646" i="1" dirty="0" err="1"/>
              <a:t>prompts</a:t>
            </a:r>
            <a:r>
              <a:rPr lang="ca-ES" sz="6646" dirty="0"/>
              <a:t>”</a:t>
            </a:r>
            <a:br>
              <a:rPr lang="ca-ES" sz="6646" dirty="0"/>
            </a:br>
            <a:r>
              <a:rPr lang="ca-ES" dirty="0"/>
              <a:t>(ja sabeu que a </a:t>
            </a:r>
            <a:r>
              <a:rPr lang="ca-ES" dirty="0" err="1"/>
              <a:t>Monlau</a:t>
            </a:r>
            <a:r>
              <a:rPr lang="ca-ES" dirty="0"/>
              <a:t> ens agrada la competició)</a:t>
            </a:r>
            <a:endParaRPr lang="ca-ES" sz="6646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D743149-D113-AC28-38D7-D521F91CA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785" y="692332"/>
            <a:ext cx="1648768" cy="137147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8C66532-B716-EE14-E913-855C36F31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337"/>
          <a:stretch/>
        </p:blipFill>
        <p:spPr>
          <a:xfrm>
            <a:off x="0" y="4654407"/>
            <a:ext cx="2148175" cy="2203593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5D176AD-A7C9-4CB0-E6DA-6C1AEE1115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458" y="4875796"/>
            <a:ext cx="2128542" cy="198220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2BB34C3-2FD7-3407-F37D-CBB9AE1CA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959" y="4818103"/>
            <a:ext cx="2413344" cy="203989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59488A20-3518-F6C7-1A2B-7B31BF203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4321" y="-680810"/>
            <a:ext cx="4242592" cy="395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57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B94B-14A3-6128-3F5E-E6E6FC63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De què va això?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B3DC-03B2-A896-B7CD-F22F3B23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a-ES" dirty="0"/>
              <a:t>Fins al final del primer trimestre realitzarem una lliga de “</a:t>
            </a:r>
            <a:r>
              <a:rPr lang="ca-ES" dirty="0" err="1"/>
              <a:t>prompts</a:t>
            </a:r>
            <a:r>
              <a:rPr lang="ca-ES" dirty="0"/>
              <a:t>” per veure qui pot obtenir les respostes més creatives i sorprenents de </a:t>
            </a:r>
            <a:r>
              <a:rPr lang="ca-ES" dirty="0" err="1"/>
              <a:t>ChatGPT</a:t>
            </a:r>
            <a:r>
              <a:rPr lang="ca-ES" dirty="0"/>
              <a:t>. Haureu d’escriure preguntes o escenaris a </a:t>
            </a:r>
            <a:r>
              <a:rPr lang="ca-ES" dirty="0" err="1"/>
              <a:t>ChatGPT</a:t>
            </a:r>
            <a:r>
              <a:rPr lang="ca-ES" dirty="0"/>
              <a:t> i utilitzar la IA per obtenir resultats originals (quan més bojos millor). Al final de la sessió d’avui presentareu les vostres propostes. Després votarem...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30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55993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B94B-14A3-6128-3F5E-E6E6FC63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Primera història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B3DC-03B2-A896-B7CD-F22F3B23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a-ES" dirty="0"/>
              <a:t>Heu d’escriure un </a:t>
            </a:r>
            <a:r>
              <a:rPr lang="ca-ES" dirty="0" err="1"/>
              <a:t>prompt</a:t>
            </a:r>
            <a:r>
              <a:rPr lang="ca-ES" dirty="0"/>
              <a:t> a </a:t>
            </a:r>
            <a:r>
              <a:rPr lang="ca-ES" dirty="0" err="1"/>
              <a:t>ChatGPT</a:t>
            </a:r>
            <a:r>
              <a:rPr lang="ca-ES" dirty="0"/>
              <a:t> per generar una història curta o un escenari narratiu amb condicions molt específiques.</a:t>
            </a:r>
          </a:p>
          <a:p>
            <a:r>
              <a:rPr lang="ca-ES" dirty="0"/>
              <a:t>Un exemple: </a:t>
            </a:r>
            <a:r>
              <a:rPr lang="es-ES" i="1" dirty="0"/>
              <a:t>Un robot que es fa </a:t>
            </a:r>
            <a:r>
              <a:rPr lang="ca-ES" i="1" dirty="0"/>
              <a:t>amic</a:t>
            </a:r>
            <a:r>
              <a:rPr lang="es-ES" i="1" dirty="0"/>
              <a:t> </a:t>
            </a:r>
            <a:r>
              <a:rPr lang="es-ES" i="1" dirty="0" err="1"/>
              <a:t>d'un</a:t>
            </a:r>
            <a:r>
              <a:rPr lang="es-ES" i="1" dirty="0"/>
              <a:t> </a:t>
            </a:r>
            <a:r>
              <a:rPr lang="es-ES" i="1" dirty="0" err="1"/>
              <a:t>gos</a:t>
            </a:r>
            <a:r>
              <a:rPr lang="es-ES" i="1" dirty="0"/>
              <a:t>, </a:t>
            </a:r>
            <a:r>
              <a:rPr lang="es-ES" i="1" dirty="0" err="1"/>
              <a:t>però</a:t>
            </a:r>
            <a:r>
              <a:rPr lang="es-ES" i="1" dirty="0"/>
              <a:t> que </a:t>
            </a:r>
            <a:r>
              <a:rPr lang="es-ES" i="1" dirty="0" err="1"/>
              <a:t>tots</a:t>
            </a:r>
            <a:r>
              <a:rPr lang="es-ES" i="1" dirty="0"/>
              <a:t> dos han de salvar el </a:t>
            </a:r>
            <a:r>
              <a:rPr lang="es-ES" i="1" dirty="0" err="1"/>
              <a:t>món</a:t>
            </a:r>
            <a:r>
              <a:rPr lang="es-ES" i="1" dirty="0"/>
              <a:t> de les </a:t>
            </a:r>
            <a:r>
              <a:rPr lang="es-ES" i="1" dirty="0" err="1"/>
              <a:t>màquines</a:t>
            </a:r>
            <a:r>
              <a:rPr lang="es-ES" i="1" dirty="0"/>
              <a:t> de </a:t>
            </a:r>
            <a:r>
              <a:rPr lang="es-ES" i="1" dirty="0" err="1"/>
              <a:t>cafè</a:t>
            </a:r>
            <a:r>
              <a:rPr lang="es-ES" i="1" dirty="0"/>
              <a:t> </a:t>
            </a:r>
            <a:r>
              <a:rPr lang="es-ES" i="1" dirty="0" err="1"/>
              <a:t>intel·ligents</a:t>
            </a:r>
            <a:r>
              <a:rPr lang="es-ES" i="1" dirty="0"/>
              <a:t>.</a:t>
            </a:r>
          </a:p>
          <a:p>
            <a:r>
              <a:rPr lang="ca-ES" dirty="0"/>
              <a:t>Podeu modificar tant com vulgueu fins que trobeu la història que voleu.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31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31990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B94B-14A3-6128-3F5E-E6E6FC63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Segona història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B3DC-03B2-A896-B7CD-F22F3B237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a-ES" dirty="0"/>
              <a:t>Penseu en un “</a:t>
            </a:r>
            <a:r>
              <a:rPr lang="ca-ES" i="1" dirty="0" err="1"/>
              <a:t>prompt</a:t>
            </a:r>
            <a:r>
              <a:rPr lang="ca-ES" i="1" dirty="0"/>
              <a:t>”</a:t>
            </a:r>
            <a:r>
              <a:rPr lang="ca-ES" dirty="0"/>
              <a:t> on es dugui a terme una conversa surrealista o absurda entre dues persones (poden ser coses també) que normalment no interactuarien.</a:t>
            </a:r>
          </a:p>
          <a:p>
            <a:r>
              <a:rPr lang="ca-ES" dirty="0"/>
              <a:t>Un exemple: </a:t>
            </a:r>
            <a:r>
              <a:rPr lang="es-ES" i="1" dirty="0"/>
              <a:t>Elon Musk es </a:t>
            </a:r>
            <a:r>
              <a:rPr lang="ca-ES" i="1" dirty="0"/>
              <a:t>morregen sensualment amb Donald </a:t>
            </a:r>
            <a:r>
              <a:rPr lang="ca-ES" i="1" dirty="0" err="1"/>
              <a:t>Trump</a:t>
            </a:r>
            <a:r>
              <a:rPr lang="ca-ES" i="1" dirty="0"/>
              <a:t> mentre parlen de com donar suport a l’agenda </a:t>
            </a:r>
            <a:r>
              <a:rPr lang="ca-ES" i="1" dirty="0" err="1"/>
              <a:t>Woke</a:t>
            </a:r>
            <a:r>
              <a:rPr lang="ca-ES" i="1" dirty="0"/>
              <a:t>.</a:t>
            </a:r>
          </a:p>
          <a:p>
            <a:r>
              <a:rPr lang="ca-ES" dirty="0"/>
              <a:t>Podeu modificar tant com vulgueu fins que trobeu la conversa més </a:t>
            </a:r>
            <a:r>
              <a:rPr lang="ca-ES" dirty="0" err="1"/>
              <a:t>friki</a:t>
            </a:r>
            <a:r>
              <a:rPr lang="ca-E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32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058764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B94B-14A3-6128-3F5E-E6E6FC631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Tercera història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79B3DC-03B2-A896-B7CD-F22F3B23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40282"/>
            <a:ext cx="10833964" cy="4870826"/>
          </a:xfrm>
        </p:spPr>
        <p:txBody>
          <a:bodyPr/>
          <a:lstStyle/>
          <a:p>
            <a:r>
              <a:rPr lang="ca-ES" dirty="0"/>
              <a:t>Haureu de demanar a </a:t>
            </a:r>
            <a:r>
              <a:rPr lang="ca-ES" dirty="0" err="1"/>
              <a:t>ChatGPT</a:t>
            </a:r>
            <a:r>
              <a:rPr lang="ca-ES" dirty="0"/>
              <a:t> que resolgui un problema quotidià de manera creativa.</a:t>
            </a:r>
          </a:p>
          <a:p>
            <a:r>
              <a:rPr lang="ca-ES" dirty="0"/>
              <a:t>Un exemple: </a:t>
            </a:r>
            <a:r>
              <a:rPr lang="ca-ES" i="1" dirty="0"/>
              <a:t>Com puc recordar sempre on deixo les claus utilitzant tècniques que surten d’una peli de terror?</a:t>
            </a:r>
          </a:p>
          <a:p>
            <a:r>
              <a:rPr lang="ca-ES" dirty="0"/>
              <a:t>Podeu modificar tant com vulgueu fins que trobeu la conversa més </a:t>
            </a:r>
            <a:r>
              <a:rPr lang="ca-ES" dirty="0" err="1"/>
              <a:t>friki</a:t>
            </a:r>
            <a:r>
              <a:rPr lang="ca-ES" dirty="0"/>
              <a:t>.</a:t>
            </a:r>
          </a:p>
          <a:p>
            <a:r>
              <a:rPr lang="es-ES" dirty="0" err="1"/>
              <a:t>L'objectiu</a:t>
            </a:r>
            <a:r>
              <a:rPr lang="es-ES" dirty="0"/>
              <a:t> </a:t>
            </a:r>
            <a:r>
              <a:rPr lang="es-ES" dirty="0" err="1"/>
              <a:t>és</a:t>
            </a:r>
            <a:r>
              <a:rPr lang="es-ES" dirty="0"/>
              <a:t> </a:t>
            </a:r>
            <a:r>
              <a:rPr lang="es-ES" dirty="0" err="1"/>
              <a:t>obtenir</a:t>
            </a:r>
            <a:r>
              <a:rPr lang="es-ES" dirty="0"/>
              <a:t> la </a:t>
            </a:r>
            <a:r>
              <a:rPr lang="es-ES" dirty="0" err="1"/>
              <a:t>solució</a:t>
            </a:r>
            <a:r>
              <a:rPr lang="es-ES" dirty="0"/>
              <a:t> </a:t>
            </a:r>
            <a:r>
              <a:rPr lang="es-ES" dirty="0" err="1"/>
              <a:t>més</a:t>
            </a:r>
            <a:r>
              <a:rPr lang="es-ES" dirty="0"/>
              <a:t> original i útil (o </a:t>
            </a:r>
            <a:r>
              <a:rPr lang="es-ES" dirty="0" err="1"/>
              <a:t>còmicament</a:t>
            </a:r>
            <a:r>
              <a:rPr lang="es-ES" dirty="0"/>
              <a:t> inútil).</a:t>
            </a:r>
            <a:endParaRPr lang="ca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33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1228991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67A34D-57A7-38E4-F0A4-3E28BD9E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4879E-866F-426F-A150-D38E49E0DD00}" type="slidenum">
              <a:rPr lang="es-ES" smtClean="0"/>
              <a:t>34</a:t>
            </a:fld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D7C962-530B-9FE8-ACFA-585719F105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2788AE1-CD62-EECB-03B1-D07493449B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ca-ES"/>
          </a:p>
        </p:txBody>
      </p:sp>
      <p:pic>
        <p:nvPicPr>
          <p:cNvPr id="4098" name="Picture 2" descr="Dia de la Pau. Moltes gràcies. – CEIP VERGE DEL FONAMENT">
            <a:extLst>
              <a:ext uri="{FF2B5EF4-FFF2-40B4-BE49-F238E27FC236}">
                <a16:creationId xmlns:a16="http://schemas.microsoft.com/office/drawing/2014/main" id="{45C709AE-5336-1679-F076-85C8E3F8A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16" y="2168770"/>
            <a:ext cx="5064369" cy="252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6392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20_P_FP_CAT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lnSpc>
            <a:spcPct val="150000"/>
          </a:lnSpc>
          <a:defRPr dirty="0" smtClean="0">
            <a:solidFill>
              <a:srgbClr val="838383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20_P_FP_CAT" id="{E1A703D2-DCA9-47FD-8365-EEA526BFC89C}" vid="{592018BE-9F3F-46EC-8656-92BFEC8FE2B7}"/>
    </a:ext>
  </a:extLst>
</a:theme>
</file>

<file path=ppt/theme/theme2.xml><?xml version="1.0" encoding="utf-8"?>
<a:theme xmlns:a="http://schemas.openxmlformats.org/drawingml/2006/main" name="Diseño personalizado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M20_P_FP_CAT</Template>
  <TotalTime>198</TotalTime>
  <Words>1313</Words>
  <Application>Microsoft Office PowerPoint</Application>
  <PresentationFormat>Panorámica</PresentationFormat>
  <Paragraphs>121</Paragraphs>
  <Slides>34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34</vt:i4>
      </vt:variant>
    </vt:vector>
  </HeadingPairs>
  <TitlesOfParts>
    <vt:vector size="43" baseType="lpstr">
      <vt:lpstr>Aptos</vt:lpstr>
      <vt:lpstr>Aptos Display</vt:lpstr>
      <vt:lpstr>Arial</vt:lpstr>
      <vt:lpstr>Arial Black</vt:lpstr>
      <vt:lpstr>Calibri</vt:lpstr>
      <vt:lpstr>Calibri Light</vt:lpstr>
      <vt:lpstr>Tahoma</vt:lpstr>
      <vt:lpstr>M20_P_FP_CAT</vt:lpstr>
      <vt:lpstr>Diseño personalizado</vt:lpstr>
      <vt:lpstr>Presentación de PowerPoint</vt:lpstr>
      <vt:lpstr>Models d’Intel·ligència Artificial</vt:lpstr>
      <vt:lpstr>Presentación de PowerPoint</vt:lpstr>
      <vt:lpstr>Què apendrem?</vt:lpstr>
      <vt:lpstr>Presentación de PowerPoint</vt:lpstr>
      <vt:lpstr>Unitat 1: Caracteritza sistemes d'Intel·ligència Artificial relacionant-los amb la millora de l'eficiència operativa de les organitzacions i les empreses.</vt:lpstr>
      <vt:lpstr>Presentación de PowerPoint</vt:lpstr>
      <vt:lpstr>Unitat 2: Utilitza models de sistemes d'Intel·ligència Artificial implementant sistemes a la resolució de problemes.</vt:lpstr>
      <vt:lpstr>Presentación de PowerPoint</vt:lpstr>
      <vt:lpstr>Unitat 3: Relaciona el processament de llenguatge natural amb les seves aplicacions determinant-ne el seu potencial i identificant-ne les limitacions.</vt:lpstr>
      <vt:lpstr>Presentación de PowerPoint</vt:lpstr>
      <vt:lpstr>Unitat 4: Analitza sistemes robotitzats, avaluant opcions de disseny i implementació.</vt:lpstr>
      <vt:lpstr>Presentación de PowerPoint</vt:lpstr>
      <vt:lpstr>Unitat 5: Caracteritza sistemes experts avaluant la influència dels controladors intel·ligents en el comportament del sistema.</vt:lpstr>
      <vt:lpstr>Presentación de PowerPoint</vt:lpstr>
      <vt:lpstr>Unitat 6: Aplica principis legals i ètics al desenvolupament de la Intel·ligència Artificial integrant-los com a part del procés.</vt:lpstr>
      <vt:lpstr>Presentación de PowerPoint</vt:lpstr>
      <vt:lpstr>Com definiríeu una IA? Ho podríeu verbalitzar?</vt:lpstr>
      <vt:lpstr>Fins a quin punt es important la IA a dia d’avui?</vt:lpstr>
      <vt:lpstr>On podem aplicar la IA? Ompliu aquesta diapositiva amb tots els camps que se us acudeixin...</vt:lpstr>
      <vt:lpstr>Fins a quin punt pot ser important la IA en un futur?</vt:lpstr>
      <vt:lpstr>Història i cerca de la Intel·ligència Artificial</vt:lpstr>
      <vt:lpstr>Els orígens del concepte d’intel·ligència artificial</vt:lpstr>
      <vt:lpstr>Desenvolupament de la lògica formal (segle XVII)</vt:lpstr>
      <vt:lpstr>La màquina de Turing (1936)</vt:lpstr>
      <vt:lpstr>Cibernètica i autòmats (anys 40)</vt:lpstr>
      <vt:lpstr>Cibernètica i autòmats (anys 40)</vt:lpstr>
      <vt:lpstr>Els inicis de la IA moderna (dècada dels 50)</vt:lpstr>
      <vt:lpstr>La lliga dels “prompts” (ja sabeu que a Monlau ens agrada la competició)</vt:lpstr>
      <vt:lpstr>De què va això?</vt:lpstr>
      <vt:lpstr>Primera història</vt:lpstr>
      <vt:lpstr>Segona història</vt:lpstr>
      <vt:lpstr>Tercera història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 Guillén Arró</dc:creator>
  <cp:lastModifiedBy>Sergi Guillén Arro</cp:lastModifiedBy>
  <cp:revision>9</cp:revision>
  <dcterms:created xsi:type="dcterms:W3CDTF">2024-10-11T08:43:24Z</dcterms:created>
  <dcterms:modified xsi:type="dcterms:W3CDTF">2026-09-24T22:23:21Z</dcterms:modified>
</cp:coreProperties>
</file>