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1695" cy="6858000"/>
  <p:notesSz cx="6858000" cy="12191695"/>
  <p:embeddedFontLst>
    <p:embeddedFont>
      <p:font typeface="Alexandria Medium"/>
      <p:regular r:id="rId201314"/>
    </p:embeddedFont>
    <p:embeddedFont>
      <p:font typeface="Manrope"/>
      <p:regular r:id="rId201315"/>
    </p:embeddedFont>
    <p:embeddedFont>
      <p:font typeface="Manrope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4B2885"/>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gasquer@monlau.com" TargetMode="External"/><Relationship Id="rId1" Type="http://schemas.openxmlformats.org/officeDocument/2006/relationships/image" Target="../media/image-1-1.jpe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1.png"/><Relationship Id="rId6" Type="http://schemas.openxmlformats.org/officeDocument/2006/relationships/image" Target="../media/image-16-2.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image" Target="../media/image-16-1.png"/><Relationship Id="rId10" Type="http://schemas.openxmlformats.org/officeDocument/2006/relationships/image" Target="../media/image-16-2.svg"/><Relationship Id="rId11" Type="http://schemas.openxmlformats.org/officeDocument/2006/relationships/image" Target="../media/image-16-11.png"/><Relationship Id="rId12" Type="http://schemas.openxmlformats.org/officeDocument/2006/relationships/image" Target="../media/image-16-12.sv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slideLayout" Target="../slideLayouts/slideLayout2.xml"/><Relationship Id="rId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image" Target="../media/image-20-10.sv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slideLayout" Target="../slideLayouts/slideLayout2.xml"/><Relationship Id="rId1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e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1.png"/><Relationship Id="rId4" Type="http://schemas.openxmlformats.org/officeDocument/2006/relationships/image" Target="../media/image-31-2.sv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slideLayout" Target="../slideLayouts/slideLayout2.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jpeg"/><Relationship Id="rId3" Type="http://schemas.openxmlformats.org/officeDocument/2006/relationships/image" Target="../media/image-39-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2.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2.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image" Target="../media/image-43-1.png"/><Relationship Id="rId4" Type="http://schemas.openxmlformats.org/officeDocument/2006/relationships/image" Target="../media/image-43-2.sv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slideLayout" Target="../slideLayouts/slideLayout2.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image" Target="../media/image-44-2.jpe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308523"/>
            <a:ext cx="6296860" cy="826889"/>
          </a:xfrm>
          <a:prstGeom prst="rect">
            <a:avLst/>
          </a:prstGeom>
          <a:noFill/>
          <a:ln/>
        </p:spPr>
        <p:txBody>
          <a:bodyPr wrap="square" lIns="0" tIns="0" rIns="0" bIns="0" rtlCol="0" anchor="t">
            <a:normAutofit/>
          </a:bodyPr>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Fundamentos de Big Data, lógica y complejidad aplicada</a:t>
            </a:r>
            <a:endParaRPr lang="en-US" sz="2600" dirty="0"/>
          </a:p>
        </p:txBody>
      </p:sp>
      <p:sp>
        <p:nvSpPr>
          <p:cNvPr id="4" name="Text 1"/>
          <p:cNvSpPr/>
          <p:nvPr/>
        </p:nvSpPr>
        <p:spPr>
          <a:xfrm>
            <a:off x="661475" y="3383459"/>
            <a:ext cx="6296860" cy="1165920"/>
          </a:xfrm>
          <a:prstGeom prst="rect">
            <a:avLst/>
          </a:prstGeom>
          <a:noFill/>
          <a:ln/>
        </p:spPr>
        <p:txBody>
          <a:bodyPr wrap="square" lIns="0" tIns="0" rIns="0" bIns="0" rtlCol="0" anchor="t"/>
          <a:lstStyle/>
          <a:p>
            <a:pPr algn="l" indent="0" marL="0">
              <a:lnSpc>
                <a:spcPct val="133000"/>
              </a:lnSpc>
              <a:spcAft>
                <a:spcPts val="1450"/>
              </a:spcAft>
              <a:buNone/>
            </a:pPr>
            <a:r>
              <a:rPr lang="en-US" sz="1300" b="1" dirty="0">
                <a:solidFill>
                  <a:srgbClr val="FFFFFF"/>
                </a:solidFill>
                <a:latin typeface="Manrope Bold" pitchFamily="34" charset="0"/>
                <a:ea typeface="Manrope Bold" pitchFamily="34" charset="-122"/>
                <a:cs typeface="Manrope Bold" pitchFamily="34" charset="-120"/>
              </a:rPr>
              <a:t>RA1 · Sistemas de Big Data — </a:t>
            </a:r>
            <a:pPr algn="l" indent="0" marL="0">
              <a:lnSpc>
                <a:spcPct val="133000"/>
              </a:lnSpc>
              <a:spcAft>
                <a:spcPts val="1450"/>
              </a:spcAft>
              <a:buNone/>
            </a:pPr>
            <a:r>
              <a:rPr lang="en-US" sz="1300" dirty="0">
                <a:solidFill>
                  <a:srgbClr val="FFFFFF"/>
                </a:solidFill>
                <a:latin typeface="Manrope" pitchFamily="34" charset="0"/>
                <a:ea typeface="Manrope" pitchFamily="34" charset="-122"/>
                <a:cs typeface="Manrope" pitchFamily="34" charset="-120"/>
              </a:rPr>
              <a:t>Especialización en IA y Big Data</a:t>
            </a:r>
            <a:endParaRPr lang="en-US" sz="1300" dirty="0"/>
          </a:p>
          <a:p>
            <a:pPr algn="l" indent="0" marL="0">
              <a:lnSpc>
                <a:spcPct val="133000"/>
              </a:lnSpc>
              <a:spcAft>
                <a:spcPts val="1450"/>
              </a:spcAft>
              <a:buNone/>
            </a:pPr>
            <a:r>
              <a:rPr lang="en-US" sz="1300" dirty="0">
                <a:solidFill>
                  <a:srgbClr val="FFFFFF"/>
                </a:solidFill>
                <a:latin typeface="Manrope" pitchFamily="34" charset="0"/>
                <a:ea typeface="Manrope" pitchFamily="34" charset="-122"/>
                <a:cs typeface="Manrope" pitchFamily="34" charset="-120"/>
              </a:rPr>
              <a:t>Rubén Gasque Todolí</a:t>
            </a:r>
            <a:endParaRPr lang="en-US" sz="1300" dirty="0"/>
          </a:p>
          <a:p>
            <a:pPr algn="l" indent="0" marL="0">
              <a:lnSpc>
                <a:spcPct val="133000"/>
              </a:lnSpc>
              <a:buNone/>
            </a:pPr>
            <a:r>
              <a:rPr lang="en-US" sz="1300" b="1" u="sng" dirty="0">
                <a:solidFill>
                  <a:srgbClr val="FFFFFF"/>
                </a:solidFill>
                <a:latin typeface="Manrope Bold" pitchFamily="34" charset="0"/>
                <a:ea typeface="Manrope Bold" pitchFamily="34" charset="-122"/>
                <a:cs typeface="Manrope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gasquer@monlau.com</a:t>
            </a:r>
            <a:endParaRPr lang="en-US" sz="1300" dirty="0"/>
          </a:p>
        </p:txBody>
      </p:sp>
      <p:pic>
        <p:nvPicPr>
          <p:cNvPr id="5" name="Image 1" descr="preencoded.png">    </p:cNvPr>
          <p:cNvPicPr>
            <a:picLocks noChangeAspect="1"/>
          </p:cNvPicPr>
          <p:nvPr/>
        </p:nvPicPr>
        <p:blipFill>
          <a:blip r:embed="rId3"/>
          <a:stretch>
            <a:fillRect/>
          </a:stretch>
        </p:blipFill>
        <p:spPr>
          <a:xfrm>
            <a:off x="198433" y="203597"/>
            <a:ext cx="676357" cy="568623"/>
          </a:xfrm>
          <a:prstGeom prst="rect">
            <a:avLst/>
          </a:prstGeom>
        </p:spPr>
      </p:pic>
      <p:pic>
        <p:nvPicPr>
          <p:cNvPr id="6" name="Image 2" descr="preencoded.png">    </p:cNvPr>
          <p:cNvPicPr>
            <a:picLocks noChangeAspect="1"/>
          </p:cNvPicPr>
          <p:nvPr/>
        </p:nvPicPr>
        <p:blipFill>
          <a:blip r:embed="rId4"/>
          <a:stretch>
            <a:fillRect/>
          </a:stretch>
        </p:blipFill>
        <p:spPr>
          <a:xfrm>
            <a:off x="6814471" y="268784"/>
            <a:ext cx="606906" cy="438249"/>
          </a:xfrm>
          <a:prstGeom prst="rect">
            <a:avLst/>
          </a:prstGeom>
        </p:spPr>
      </p:pic>
      <p:sp>
        <p:nvSpPr>
          <p:cNvPr id="7" name="Text 2"/>
          <p:cNvSpPr/>
          <p:nvPr/>
        </p:nvSpPr>
        <p:spPr>
          <a:xfrm>
            <a:off x="6342995" y="6300589"/>
            <a:ext cx="107838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120279"/>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¿Qué aprenderemos?</a:t>
            </a:r>
            <a:endParaRPr lang="en-US" sz="2450" dirty="0"/>
          </a:p>
        </p:txBody>
      </p:sp>
      <p:sp>
        <p:nvSpPr>
          <p:cNvPr id="3" name="Text 1"/>
          <p:cNvSpPr/>
          <p:nvPr/>
        </p:nvSpPr>
        <p:spPr>
          <a:xfrm>
            <a:off x="661475" y="1811437"/>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Cuatro bloques que responden a una pregunta central sobre el tratamiento eficiente de datos.</a:t>
            </a:r>
            <a:endParaRPr lang="en-US" sz="1200" dirty="0"/>
          </a:p>
        </p:txBody>
      </p:sp>
      <p:sp>
        <p:nvSpPr>
          <p:cNvPr id="4" name="Text 2"/>
          <p:cNvSpPr/>
          <p:nvPr/>
        </p:nvSpPr>
        <p:spPr>
          <a:xfrm>
            <a:off x="661475" y="2224484"/>
            <a:ext cx="314218" cy="196354"/>
          </a:xfrm>
          <a:prstGeom prst="rect">
            <a:avLst/>
          </a:prstGeom>
          <a:noFill/>
          <a:ln/>
        </p:spPr>
        <p:txBody>
          <a:bodyPr wrap="none" lIns="0" tIns="0" rIns="0" bIns="0" rtlCol="0" anchor="ctr"/>
          <a:lstStyle/>
          <a:p>
            <a:pPr algn="l" indent="0" marL="0">
              <a:lnSpc>
                <a:spcPct val="100000"/>
              </a:lnSpc>
              <a:buNone/>
            </a:pPr>
            <a:r>
              <a:rPr lang="en-US" sz="1200" spc="-12" kern="0" dirty="0">
                <a:solidFill>
                  <a:srgbClr val="FFFFFF"/>
                </a:solidFill>
                <a:latin typeface="Alexandria Light" pitchFamily="34" charset="0"/>
                <a:ea typeface="Alexandria Light" pitchFamily="34" charset="-122"/>
                <a:cs typeface="Alexandria Light" pitchFamily="34" charset="-120"/>
              </a:rPr>
              <a:t>01</a:t>
            </a:r>
            <a:endParaRPr lang="en-US" sz="1200" dirty="0"/>
          </a:p>
        </p:txBody>
      </p:sp>
      <p:sp>
        <p:nvSpPr>
          <p:cNvPr id="5" name="Shape 3"/>
          <p:cNvSpPr/>
          <p:nvPr/>
        </p:nvSpPr>
        <p:spPr>
          <a:xfrm>
            <a:off x="661475" y="2472333"/>
            <a:ext cx="5359762" cy="19050"/>
          </a:xfrm>
          <a:prstGeom prst="rect">
            <a:avLst/>
          </a:prstGeom>
          <a:solidFill>
            <a:srgbClr val="B499E9"/>
          </a:solidFill>
          <a:ln/>
        </p:spPr>
      </p:sp>
      <p:sp>
        <p:nvSpPr>
          <p:cNvPr id="6" name="Text 4"/>
          <p:cNvSpPr/>
          <p:nvPr/>
        </p:nvSpPr>
        <p:spPr>
          <a:xfrm>
            <a:off x="661475" y="2588915"/>
            <a:ext cx="5359762"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Datos e información</a:t>
            </a:r>
            <a:endParaRPr lang="en-US" sz="1500" dirty="0"/>
          </a:p>
        </p:txBody>
      </p:sp>
      <p:sp>
        <p:nvSpPr>
          <p:cNvPr id="7" name="Text 5"/>
          <p:cNvSpPr/>
          <p:nvPr/>
        </p:nvSpPr>
        <p:spPr>
          <a:xfrm>
            <a:off x="661475" y="2923977"/>
            <a:ext cx="5359762"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Qué es un dato, un dataset, un esquema y los tipos de datos según su estructura.</a:t>
            </a:r>
            <a:endParaRPr lang="en-US" sz="1200" dirty="0"/>
          </a:p>
        </p:txBody>
      </p:sp>
      <p:sp>
        <p:nvSpPr>
          <p:cNvPr id="8" name="Text 6"/>
          <p:cNvSpPr/>
          <p:nvPr/>
        </p:nvSpPr>
        <p:spPr>
          <a:xfrm>
            <a:off x="6170458" y="2224484"/>
            <a:ext cx="314218" cy="196354"/>
          </a:xfrm>
          <a:prstGeom prst="rect">
            <a:avLst/>
          </a:prstGeom>
          <a:noFill/>
          <a:ln/>
        </p:spPr>
        <p:txBody>
          <a:bodyPr wrap="none" lIns="0" tIns="0" rIns="0" bIns="0" rtlCol="0" anchor="ctr"/>
          <a:lstStyle/>
          <a:p>
            <a:pPr algn="l" indent="0" marL="0">
              <a:lnSpc>
                <a:spcPct val="100000"/>
              </a:lnSpc>
              <a:buNone/>
            </a:pPr>
            <a:r>
              <a:rPr lang="en-US" sz="1200" spc="-12" kern="0" dirty="0">
                <a:solidFill>
                  <a:srgbClr val="FFFFFF"/>
                </a:solidFill>
                <a:latin typeface="Alexandria Light" pitchFamily="34" charset="0"/>
                <a:ea typeface="Alexandria Light" pitchFamily="34" charset="-122"/>
                <a:cs typeface="Alexandria Light" pitchFamily="34" charset="-120"/>
              </a:rPr>
              <a:t>02</a:t>
            </a:r>
            <a:endParaRPr lang="en-US" sz="1200" dirty="0"/>
          </a:p>
        </p:txBody>
      </p:sp>
      <p:sp>
        <p:nvSpPr>
          <p:cNvPr id="9" name="Shape 7"/>
          <p:cNvSpPr/>
          <p:nvPr/>
        </p:nvSpPr>
        <p:spPr>
          <a:xfrm>
            <a:off x="6170458" y="2472333"/>
            <a:ext cx="5359762" cy="19050"/>
          </a:xfrm>
          <a:prstGeom prst="rect">
            <a:avLst/>
          </a:prstGeom>
          <a:solidFill>
            <a:srgbClr val="B499E9"/>
          </a:solidFill>
          <a:ln/>
        </p:spPr>
      </p:sp>
      <p:sp>
        <p:nvSpPr>
          <p:cNvPr id="10" name="Text 8"/>
          <p:cNvSpPr/>
          <p:nvPr/>
        </p:nvSpPr>
        <p:spPr>
          <a:xfrm>
            <a:off x="6170458" y="2588915"/>
            <a:ext cx="5359762"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Big Data y las 5V</a:t>
            </a:r>
            <a:endParaRPr lang="en-US" sz="1500" dirty="0"/>
          </a:p>
        </p:txBody>
      </p:sp>
      <p:sp>
        <p:nvSpPr>
          <p:cNvPr id="11" name="Text 9"/>
          <p:cNvSpPr/>
          <p:nvPr/>
        </p:nvSpPr>
        <p:spPr>
          <a:xfrm>
            <a:off x="6170458" y="2923977"/>
            <a:ext cx="5359762"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Qué define al Big Data, cuándo aparece el reto y qué dimensiones lo caracterizan.</a:t>
            </a:r>
            <a:endParaRPr lang="en-US" sz="1200" dirty="0"/>
          </a:p>
        </p:txBody>
      </p:sp>
      <p:sp>
        <p:nvSpPr>
          <p:cNvPr id="12" name="Text 10"/>
          <p:cNvSpPr/>
          <p:nvPr/>
        </p:nvSpPr>
        <p:spPr>
          <a:xfrm>
            <a:off x="661475" y="3681313"/>
            <a:ext cx="314218" cy="196354"/>
          </a:xfrm>
          <a:prstGeom prst="rect">
            <a:avLst/>
          </a:prstGeom>
          <a:noFill/>
          <a:ln/>
        </p:spPr>
        <p:txBody>
          <a:bodyPr wrap="none" lIns="0" tIns="0" rIns="0" bIns="0" rtlCol="0" anchor="ctr"/>
          <a:lstStyle/>
          <a:p>
            <a:pPr algn="l" indent="0" marL="0">
              <a:lnSpc>
                <a:spcPct val="100000"/>
              </a:lnSpc>
              <a:buNone/>
            </a:pPr>
            <a:r>
              <a:rPr lang="en-US" sz="1200" spc="-12" kern="0" dirty="0">
                <a:solidFill>
                  <a:srgbClr val="FFFFFF"/>
                </a:solidFill>
                <a:latin typeface="Alexandria Light" pitchFamily="34" charset="0"/>
                <a:ea typeface="Alexandria Light" pitchFamily="34" charset="-122"/>
                <a:cs typeface="Alexandria Light" pitchFamily="34" charset="-120"/>
              </a:rPr>
              <a:t>03</a:t>
            </a:r>
            <a:endParaRPr lang="en-US" sz="1200" dirty="0"/>
          </a:p>
        </p:txBody>
      </p:sp>
      <p:sp>
        <p:nvSpPr>
          <p:cNvPr id="13" name="Shape 11"/>
          <p:cNvSpPr/>
          <p:nvPr/>
        </p:nvSpPr>
        <p:spPr>
          <a:xfrm>
            <a:off x="661475" y="3929162"/>
            <a:ext cx="5359762" cy="19050"/>
          </a:xfrm>
          <a:prstGeom prst="rect">
            <a:avLst/>
          </a:prstGeom>
          <a:solidFill>
            <a:srgbClr val="B499E9"/>
          </a:solidFill>
          <a:ln/>
        </p:spPr>
      </p:sp>
      <p:sp>
        <p:nvSpPr>
          <p:cNvPr id="14" name="Text 12"/>
          <p:cNvSpPr/>
          <p:nvPr/>
        </p:nvSpPr>
        <p:spPr>
          <a:xfrm>
            <a:off x="661475" y="4045744"/>
            <a:ext cx="5359762"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Matemática discreta y lógica aplicada</a:t>
            </a:r>
            <a:endParaRPr lang="en-US" sz="1500" dirty="0"/>
          </a:p>
        </p:txBody>
      </p:sp>
      <p:sp>
        <p:nvSpPr>
          <p:cNvPr id="15" name="Text 13"/>
          <p:cNvSpPr/>
          <p:nvPr/>
        </p:nvSpPr>
        <p:spPr>
          <a:xfrm>
            <a:off x="661475" y="4380805"/>
            <a:ext cx="5359762"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Conjuntos, relaciones, grafos, álgebra booleana y lógica proposicional en contexto de datos.</a:t>
            </a:r>
            <a:endParaRPr lang="en-US" sz="1200" dirty="0"/>
          </a:p>
        </p:txBody>
      </p:sp>
      <p:sp>
        <p:nvSpPr>
          <p:cNvPr id="16" name="Text 14"/>
          <p:cNvSpPr/>
          <p:nvPr/>
        </p:nvSpPr>
        <p:spPr>
          <a:xfrm>
            <a:off x="6170458" y="3681313"/>
            <a:ext cx="314218" cy="196354"/>
          </a:xfrm>
          <a:prstGeom prst="rect">
            <a:avLst/>
          </a:prstGeom>
          <a:noFill/>
          <a:ln/>
        </p:spPr>
        <p:txBody>
          <a:bodyPr wrap="none" lIns="0" tIns="0" rIns="0" bIns="0" rtlCol="0" anchor="ctr"/>
          <a:lstStyle/>
          <a:p>
            <a:pPr algn="l" indent="0" marL="0">
              <a:lnSpc>
                <a:spcPct val="100000"/>
              </a:lnSpc>
              <a:buNone/>
            </a:pPr>
            <a:r>
              <a:rPr lang="en-US" sz="1200" spc="-12" kern="0" dirty="0">
                <a:solidFill>
                  <a:srgbClr val="FFFFFF"/>
                </a:solidFill>
                <a:latin typeface="Alexandria Light" pitchFamily="34" charset="0"/>
                <a:ea typeface="Alexandria Light" pitchFamily="34" charset="-122"/>
                <a:cs typeface="Alexandria Light" pitchFamily="34" charset="-120"/>
              </a:rPr>
              <a:t>04</a:t>
            </a:r>
            <a:endParaRPr lang="en-US" sz="1200" dirty="0"/>
          </a:p>
        </p:txBody>
      </p:sp>
      <p:sp>
        <p:nvSpPr>
          <p:cNvPr id="17" name="Shape 15"/>
          <p:cNvSpPr/>
          <p:nvPr/>
        </p:nvSpPr>
        <p:spPr>
          <a:xfrm>
            <a:off x="6170458" y="3929162"/>
            <a:ext cx="5359762" cy="19050"/>
          </a:xfrm>
          <a:prstGeom prst="rect">
            <a:avLst/>
          </a:prstGeom>
          <a:solidFill>
            <a:srgbClr val="B499E9"/>
          </a:solidFill>
          <a:ln/>
        </p:spPr>
      </p:sp>
      <p:sp>
        <p:nvSpPr>
          <p:cNvPr id="18" name="Text 16"/>
          <p:cNvSpPr/>
          <p:nvPr/>
        </p:nvSpPr>
        <p:spPr>
          <a:xfrm>
            <a:off x="6170458" y="4045744"/>
            <a:ext cx="5359762"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Complejidad y escalabilidad</a:t>
            </a:r>
            <a:endParaRPr lang="en-US" sz="1500" dirty="0"/>
          </a:p>
        </p:txBody>
      </p:sp>
      <p:sp>
        <p:nvSpPr>
          <p:cNvPr id="19" name="Text 17"/>
          <p:cNvSpPr/>
          <p:nvPr/>
        </p:nvSpPr>
        <p:spPr>
          <a:xfrm>
            <a:off x="6170458" y="4380805"/>
            <a:ext cx="5359762"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Notación Big-O y por qué la eficiencia algorítmica es crítica a escala de datos real.</a:t>
            </a:r>
            <a:endParaRPr lang="en-US" sz="1200" dirty="0"/>
          </a:p>
        </p:txBody>
      </p:sp>
      <p:sp>
        <p:nvSpPr>
          <p:cNvPr id="20" name="Text 18"/>
          <p:cNvSpPr/>
          <p:nvPr/>
        </p:nvSpPr>
        <p:spPr>
          <a:xfrm>
            <a:off x="897113" y="5324673"/>
            <a:ext cx="11242691"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¿Cómo procesamos datos de forma eficiente cuando su tamaño y complejidad aumentan?</a:t>
            </a:r>
            <a:endParaRPr lang="en-US" sz="1200" dirty="0"/>
          </a:p>
        </p:txBody>
      </p:sp>
      <p:sp>
        <p:nvSpPr>
          <p:cNvPr id="21" name="Shape 19"/>
          <p:cNvSpPr/>
          <p:nvPr/>
        </p:nvSpPr>
        <p:spPr>
          <a:xfrm>
            <a:off x="661475" y="5156795"/>
            <a:ext cx="19050" cy="580926"/>
          </a:xfrm>
          <a:prstGeom prst="roundRect">
            <a:avLst>
              <a:gd name="adj" fmla="val 49999"/>
            </a:avLst>
          </a:prstGeom>
          <a:solidFill>
            <a:srgbClr val="B499E9"/>
          </a:solidFill>
          <a:ln/>
        </p:spPr>
      </p:sp>
      <p:pic>
        <p:nvPicPr>
          <p:cNvPr id="22"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3"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4" name="Text 20"/>
          <p:cNvSpPr/>
          <p:nvPr/>
        </p:nvSpPr>
        <p:spPr>
          <a:xfrm>
            <a:off x="10894045" y="6300589"/>
            <a:ext cx="1099217"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599307"/>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¿Qué es un dato?</a:t>
            </a:r>
            <a:endParaRPr lang="en-US" sz="2600" dirty="0"/>
          </a:p>
        </p:txBody>
      </p:sp>
      <p:sp>
        <p:nvSpPr>
          <p:cNvPr id="3" name="Text 1"/>
          <p:cNvSpPr/>
          <p:nvPr/>
        </p:nvSpPr>
        <p:spPr>
          <a:xfrm>
            <a:off x="661475" y="2260798"/>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dato</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es una representación elemental de un hecho, medida, evento u observación que puede ser almacenada y procesada.</a:t>
            </a:r>
            <a:endParaRPr lang="en-US" sz="1300" dirty="0"/>
          </a:p>
        </p:txBody>
      </p:sp>
      <p:sp>
        <p:nvSpPr>
          <p:cNvPr id="4" name="Shape 2"/>
          <p:cNvSpPr/>
          <p:nvPr/>
        </p:nvSpPr>
        <p:spPr>
          <a:xfrm>
            <a:off x="661475" y="2711450"/>
            <a:ext cx="3512653" cy="965597"/>
          </a:xfrm>
          <a:prstGeom prst="roundRect">
            <a:avLst>
              <a:gd name="adj" fmla="val 25693"/>
            </a:avLst>
          </a:prstGeom>
          <a:solidFill>
            <a:srgbClr val="3F2077"/>
          </a:solidFill>
          <a:ln w="6350">
            <a:solidFill>
              <a:srgbClr val="4B3082"/>
            </a:solidFill>
            <a:prstDash val="solid"/>
          </a:ln>
        </p:spPr>
      </p:sp>
      <p:sp>
        <p:nvSpPr>
          <p:cNvPr id="5" name="Text 3"/>
          <p:cNvSpPr/>
          <p:nvPr/>
        </p:nvSpPr>
        <p:spPr>
          <a:xfrm>
            <a:off x="833119" y="2883098"/>
            <a:ext cx="31693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Numérico</a:t>
            </a:r>
            <a:endParaRPr lang="en-US" sz="1600" dirty="0"/>
          </a:p>
        </p:txBody>
      </p:sp>
      <p:sp>
        <p:nvSpPr>
          <p:cNvPr id="6" name="Text 4"/>
          <p:cNvSpPr/>
          <p:nvPr/>
        </p:nvSpPr>
        <p:spPr>
          <a:xfrm>
            <a:off x="833119" y="3240782"/>
            <a:ext cx="316936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24,7 °C · 98,6 km/h · ID_48322</a:t>
            </a:r>
            <a:endParaRPr lang="en-US" sz="1300" dirty="0"/>
          </a:p>
        </p:txBody>
      </p:sp>
      <p:sp>
        <p:nvSpPr>
          <p:cNvPr id="7" name="Shape 5"/>
          <p:cNvSpPr/>
          <p:nvPr/>
        </p:nvSpPr>
        <p:spPr>
          <a:xfrm>
            <a:off x="4339422" y="2711450"/>
            <a:ext cx="3512752" cy="965597"/>
          </a:xfrm>
          <a:prstGeom prst="roundRect">
            <a:avLst>
              <a:gd name="adj" fmla="val 25693"/>
            </a:avLst>
          </a:prstGeom>
          <a:solidFill>
            <a:srgbClr val="3F2077"/>
          </a:solidFill>
          <a:ln w="6350">
            <a:solidFill>
              <a:srgbClr val="4B3082"/>
            </a:solidFill>
            <a:prstDash val="solid"/>
          </a:ln>
        </p:spPr>
      </p:sp>
      <p:sp>
        <p:nvSpPr>
          <p:cNvPr id="8" name="Text 6"/>
          <p:cNvSpPr/>
          <p:nvPr/>
        </p:nvSpPr>
        <p:spPr>
          <a:xfrm>
            <a:off x="4511066" y="2883098"/>
            <a:ext cx="31694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Texto / Lugar</a:t>
            </a:r>
            <a:endParaRPr lang="en-US" sz="1600" dirty="0"/>
          </a:p>
        </p:txBody>
      </p:sp>
      <p:sp>
        <p:nvSpPr>
          <p:cNvPr id="9" name="Text 7"/>
          <p:cNvSpPr/>
          <p:nvPr/>
        </p:nvSpPr>
        <p:spPr>
          <a:xfrm>
            <a:off x="4511066" y="3240782"/>
            <a:ext cx="316946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Barcelona · "Producto devuelto"</a:t>
            </a:r>
            <a:endParaRPr lang="en-US" sz="1300" dirty="0"/>
          </a:p>
        </p:txBody>
      </p:sp>
      <p:sp>
        <p:nvSpPr>
          <p:cNvPr id="10" name="Shape 8"/>
          <p:cNvSpPr/>
          <p:nvPr/>
        </p:nvSpPr>
        <p:spPr>
          <a:xfrm>
            <a:off x="8017468" y="2711450"/>
            <a:ext cx="3512653" cy="965597"/>
          </a:xfrm>
          <a:prstGeom prst="roundRect">
            <a:avLst>
              <a:gd name="adj" fmla="val 25693"/>
            </a:avLst>
          </a:prstGeom>
          <a:solidFill>
            <a:srgbClr val="3F2077"/>
          </a:solidFill>
          <a:ln w="6350">
            <a:solidFill>
              <a:srgbClr val="4B3082"/>
            </a:solidFill>
            <a:prstDash val="solid"/>
          </a:ln>
        </p:spPr>
      </p:sp>
      <p:sp>
        <p:nvSpPr>
          <p:cNvPr id="11" name="Text 9"/>
          <p:cNvSpPr/>
          <p:nvPr/>
        </p:nvSpPr>
        <p:spPr>
          <a:xfrm>
            <a:off x="8189112" y="2883098"/>
            <a:ext cx="31693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Temporal</a:t>
            </a:r>
            <a:endParaRPr lang="en-US" sz="1600" dirty="0"/>
          </a:p>
        </p:txBody>
      </p:sp>
      <p:sp>
        <p:nvSpPr>
          <p:cNvPr id="12" name="Text 10"/>
          <p:cNvSpPr/>
          <p:nvPr/>
        </p:nvSpPr>
        <p:spPr>
          <a:xfrm>
            <a:off x="8189112" y="3240782"/>
            <a:ext cx="316936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2026-08-21 18:32:05</a:t>
            </a:r>
            <a:endParaRPr lang="en-US" sz="1300" dirty="0"/>
          </a:p>
        </p:txBody>
      </p:sp>
      <p:sp>
        <p:nvSpPr>
          <p:cNvPr id="13" name="Shape 11"/>
          <p:cNvSpPr/>
          <p:nvPr/>
        </p:nvSpPr>
        <p:spPr>
          <a:xfrm>
            <a:off x="661475" y="3842345"/>
            <a:ext cx="10868646" cy="965597"/>
          </a:xfrm>
          <a:prstGeom prst="roundRect">
            <a:avLst>
              <a:gd name="adj" fmla="val 25693"/>
            </a:avLst>
          </a:prstGeom>
          <a:solidFill>
            <a:srgbClr val="3F2077"/>
          </a:solidFill>
          <a:ln w="6350">
            <a:solidFill>
              <a:srgbClr val="4B3082"/>
            </a:solidFill>
            <a:prstDash val="solid"/>
          </a:ln>
        </p:spPr>
      </p:sp>
      <p:sp>
        <p:nvSpPr>
          <p:cNvPr id="14" name="Text 12"/>
          <p:cNvSpPr/>
          <p:nvPr/>
        </p:nvSpPr>
        <p:spPr>
          <a:xfrm>
            <a:off x="833119" y="4013994"/>
            <a:ext cx="10525358"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Eventos</a:t>
            </a:r>
            <a:endParaRPr lang="en-US" sz="1600" dirty="0"/>
          </a:p>
        </p:txBody>
      </p:sp>
      <p:sp>
        <p:nvSpPr>
          <p:cNvPr id="15" name="Text 13"/>
          <p:cNvSpPr/>
          <p:nvPr/>
        </p:nvSpPr>
        <p:spPr>
          <a:xfrm>
            <a:off x="833119" y="4371677"/>
            <a:ext cx="10525358"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 clic · una transacción · una coordenada GPS</a:t>
            </a:r>
            <a:endParaRPr lang="en-US" sz="1300" dirty="0"/>
          </a:p>
        </p:txBody>
      </p:sp>
      <p:sp>
        <p:nvSpPr>
          <p:cNvPr id="16" name="Text 14"/>
          <p:cNvSpPr/>
          <p:nvPr/>
        </p:nvSpPr>
        <p:spPr>
          <a:xfrm>
            <a:off x="661475" y="4993977"/>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 dato aislado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no necesariamente aporta conocimiento</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Es el punto de partida, no el destino.</a:t>
            </a:r>
            <a:endParaRPr lang="en-US" sz="1300" dirty="0"/>
          </a:p>
        </p:txBody>
      </p:sp>
      <p:pic>
        <p:nvPicPr>
          <p:cNvPr id="1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9" name="Text 15"/>
          <p:cNvSpPr/>
          <p:nvPr/>
        </p:nvSpPr>
        <p:spPr>
          <a:xfrm>
            <a:off x="10896030" y="6300589"/>
            <a:ext cx="109723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217910"/>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Los datos pueden representar cosas muy diferentes</a:t>
            </a:r>
            <a:endParaRPr lang="en-US" sz="2600" dirty="0"/>
          </a:p>
        </p:txBody>
      </p:sp>
      <p:sp>
        <p:nvSpPr>
          <p:cNvPr id="3" name="Text 1"/>
          <p:cNvSpPr/>
          <p:nvPr/>
        </p:nvSpPr>
        <p:spPr>
          <a:xfrm>
            <a:off x="661475" y="1962051"/>
            <a:ext cx="11478330" cy="264616"/>
          </a:xfrm>
          <a:prstGeom prst="rect">
            <a:avLst/>
          </a:prstGeom>
          <a:noFill/>
          <a:ln/>
        </p:spPr>
        <p:txBody>
          <a:bodyPr wrap="none" lIns="0" tIns="0" rIns="0" bIns="0" rtlCol="0" anchor="t"/>
          <a:lstStyle/>
          <a:p>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Dato no significa únicamente número.</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Cualquier observación del mundo puede convertirse en dato.</a:t>
            </a:r>
            <a:endParaRPr lang="en-US" sz="1300" dirty="0"/>
          </a:p>
        </p:txBody>
      </p:sp>
      <p:sp>
        <p:nvSpPr>
          <p:cNvPr id="4" name="Shape 2"/>
          <p:cNvSpPr/>
          <p:nvPr/>
        </p:nvSpPr>
        <p:spPr>
          <a:xfrm>
            <a:off x="661475" y="2412702"/>
            <a:ext cx="5351725" cy="965597"/>
          </a:xfrm>
          <a:prstGeom prst="roundRect">
            <a:avLst>
              <a:gd name="adj" fmla="val 25693"/>
            </a:avLst>
          </a:prstGeom>
          <a:solidFill>
            <a:srgbClr val="3F2077"/>
          </a:solidFill>
          <a:ln w="6350">
            <a:solidFill>
              <a:srgbClr val="4B3082"/>
            </a:solidFill>
            <a:prstDash val="solid"/>
          </a:ln>
        </p:spPr>
      </p:sp>
      <p:sp>
        <p:nvSpPr>
          <p:cNvPr id="5" name="Text 3"/>
          <p:cNvSpPr/>
          <p:nvPr/>
        </p:nvSpPr>
        <p:spPr>
          <a:xfrm>
            <a:off x="833119" y="2584351"/>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Número</a:t>
            </a:r>
            <a:endParaRPr lang="en-US" sz="1600" dirty="0"/>
          </a:p>
        </p:txBody>
      </p:sp>
      <p:sp>
        <p:nvSpPr>
          <p:cNvPr id="6" name="Text 4"/>
          <p:cNvSpPr/>
          <p:nvPr/>
        </p:nvSpPr>
        <p:spPr>
          <a:xfrm>
            <a:off x="833119" y="2942034"/>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Temperatura, precio, velocidad, edad.</a:t>
            </a:r>
            <a:endParaRPr lang="en-US" sz="1300" dirty="0"/>
          </a:p>
        </p:txBody>
      </p:sp>
      <p:sp>
        <p:nvSpPr>
          <p:cNvPr id="7" name="Shape 5"/>
          <p:cNvSpPr/>
          <p:nvPr/>
        </p:nvSpPr>
        <p:spPr>
          <a:xfrm>
            <a:off x="6178495" y="2412702"/>
            <a:ext cx="5351725" cy="965597"/>
          </a:xfrm>
          <a:prstGeom prst="roundRect">
            <a:avLst>
              <a:gd name="adj" fmla="val 25693"/>
            </a:avLst>
          </a:prstGeom>
          <a:solidFill>
            <a:srgbClr val="3F2077"/>
          </a:solidFill>
          <a:ln w="6350">
            <a:solidFill>
              <a:srgbClr val="4B3082"/>
            </a:solidFill>
            <a:prstDash val="solid"/>
          </a:ln>
        </p:spPr>
      </p:sp>
      <p:sp>
        <p:nvSpPr>
          <p:cNvPr id="8" name="Text 6"/>
          <p:cNvSpPr/>
          <p:nvPr/>
        </p:nvSpPr>
        <p:spPr>
          <a:xfrm>
            <a:off x="6350139" y="2584351"/>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Texto</a:t>
            </a:r>
            <a:endParaRPr lang="en-US" sz="1600" dirty="0"/>
          </a:p>
        </p:txBody>
      </p:sp>
      <p:sp>
        <p:nvSpPr>
          <p:cNvPr id="9" name="Text 7"/>
          <p:cNvSpPr/>
          <p:nvPr/>
        </p:nvSpPr>
        <p:spPr>
          <a:xfrm>
            <a:off x="6350139" y="2942034"/>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Opinión, correo, comentario, etiqueta.</a:t>
            </a:r>
            <a:endParaRPr lang="en-US" sz="1300" dirty="0"/>
          </a:p>
        </p:txBody>
      </p:sp>
      <p:sp>
        <p:nvSpPr>
          <p:cNvPr id="10" name="Shape 8"/>
          <p:cNvSpPr/>
          <p:nvPr/>
        </p:nvSpPr>
        <p:spPr>
          <a:xfrm>
            <a:off x="661475" y="3543598"/>
            <a:ext cx="5351725" cy="965597"/>
          </a:xfrm>
          <a:prstGeom prst="roundRect">
            <a:avLst>
              <a:gd name="adj" fmla="val 25693"/>
            </a:avLst>
          </a:prstGeom>
          <a:solidFill>
            <a:srgbClr val="3F2077"/>
          </a:solidFill>
          <a:ln w="6350">
            <a:solidFill>
              <a:srgbClr val="4B3082"/>
            </a:solidFill>
            <a:prstDash val="solid"/>
          </a:ln>
        </p:spPr>
      </p:sp>
      <p:sp>
        <p:nvSpPr>
          <p:cNvPr id="11" name="Text 9"/>
          <p:cNvSpPr/>
          <p:nvPr/>
        </p:nvSpPr>
        <p:spPr>
          <a:xfrm>
            <a:off x="833119" y="3715246"/>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Fecha/Hora</a:t>
            </a:r>
            <a:endParaRPr lang="en-US" sz="1600" dirty="0"/>
          </a:p>
        </p:txBody>
      </p:sp>
      <p:sp>
        <p:nvSpPr>
          <p:cNvPr id="12" name="Text 10"/>
          <p:cNvSpPr/>
          <p:nvPr/>
        </p:nvSpPr>
        <p:spPr>
          <a:xfrm>
            <a:off x="833119" y="4072930"/>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Timestamp de un evento o transacción.</a:t>
            </a:r>
            <a:endParaRPr lang="en-US" sz="1300" dirty="0"/>
          </a:p>
        </p:txBody>
      </p:sp>
      <p:sp>
        <p:nvSpPr>
          <p:cNvPr id="13" name="Shape 11"/>
          <p:cNvSpPr/>
          <p:nvPr/>
        </p:nvSpPr>
        <p:spPr>
          <a:xfrm>
            <a:off x="6178495" y="3543598"/>
            <a:ext cx="5351725" cy="965597"/>
          </a:xfrm>
          <a:prstGeom prst="roundRect">
            <a:avLst>
              <a:gd name="adj" fmla="val 25693"/>
            </a:avLst>
          </a:prstGeom>
          <a:solidFill>
            <a:srgbClr val="3F2077"/>
          </a:solidFill>
          <a:ln w="6350">
            <a:solidFill>
              <a:srgbClr val="4B3082"/>
            </a:solidFill>
            <a:prstDash val="solid"/>
          </a:ln>
        </p:spPr>
      </p:sp>
      <p:sp>
        <p:nvSpPr>
          <p:cNvPr id="14" name="Text 12"/>
          <p:cNvSpPr/>
          <p:nvPr/>
        </p:nvSpPr>
        <p:spPr>
          <a:xfrm>
            <a:off x="6350139" y="3715246"/>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Coordenada</a:t>
            </a:r>
            <a:endParaRPr lang="en-US" sz="1600" dirty="0"/>
          </a:p>
        </p:txBody>
      </p:sp>
      <p:sp>
        <p:nvSpPr>
          <p:cNvPr id="15" name="Text 13"/>
          <p:cNvSpPr/>
          <p:nvPr/>
        </p:nvSpPr>
        <p:spPr>
          <a:xfrm>
            <a:off x="6350139" y="4072930"/>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Posición GPS de un vehículo o dispositivo.</a:t>
            </a:r>
            <a:endParaRPr lang="en-US" sz="1300" dirty="0"/>
          </a:p>
        </p:txBody>
      </p:sp>
      <p:sp>
        <p:nvSpPr>
          <p:cNvPr id="16" name="Shape 14"/>
          <p:cNvSpPr/>
          <p:nvPr/>
        </p:nvSpPr>
        <p:spPr>
          <a:xfrm>
            <a:off x="661475" y="4674493"/>
            <a:ext cx="5351725" cy="965597"/>
          </a:xfrm>
          <a:prstGeom prst="roundRect">
            <a:avLst>
              <a:gd name="adj" fmla="val 25693"/>
            </a:avLst>
          </a:prstGeom>
          <a:solidFill>
            <a:srgbClr val="3F2077"/>
          </a:solidFill>
          <a:ln w="6350">
            <a:solidFill>
              <a:srgbClr val="4B3082"/>
            </a:solidFill>
            <a:prstDash val="solid"/>
          </a:ln>
        </p:spPr>
      </p:sp>
      <p:sp>
        <p:nvSpPr>
          <p:cNvPr id="17" name="Text 15"/>
          <p:cNvSpPr/>
          <p:nvPr/>
        </p:nvSpPr>
        <p:spPr>
          <a:xfrm>
            <a:off x="833119" y="4846141"/>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Imagen / Vídeo</a:t>
            </a:r>
            <a:endParaRPr lang="en-US" sz="1600" dirty="0"/>
          </a:p>
        </p:txBody>
      </p:sp>
      <p:sp>
        <p:nvSpPr>
          <p:cNvPr id="18" name="Text 16"/>
          <p:cNvSpPr/>
          <p:nvPr/>
        </p:nvSpPr>
        <p:spPr>
          <a:xfrm>
            <a:off x="833119" y="5203825"/>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Foto de un producto, cámara de tráfico.</a:t>
            </a:r>
            <a:endParaRPr lang="en-US" sz="1300" dirty="0"/>
          </a:p>
        </p:txBody>
      </p:sp>
      <p:sp>
        <p:nvSpPr>
          <p:cNvPr id="19" name="Shape 17"/>
          <p:cNvSpPr/>
          <p:nvPr/>
        </p:nvSpPr>
        <p:spPr>
          <a:xfrm>
            <a:off x="6178495" y="4674493"/>
            <a:ext cx="5351725" cy="965597"/>
          </a:xfrm>
          <a:prstGeom prst="roundRect">
            <a:avLst>
              <a:gd name="adj" fmla="val 25693"/>
            </a:avLst>
          </a:prstGeom>
          <a:solidFill>
            <a:srgbClr val="3F2077"/>
          </a:solidFill>
          <a:ln w="6350">
            <a:solidFill>
              <a:srgbClr val="4B3082"/>
            </a:solidFill>
            <a:prstDash val="solid"/>
          </a:ln>
        </p:spPr>
      </p:sp>
      <p:sp>
        <p:nvSpPr>
          <p:cNvPr id="20" name="Text 18"/>
          <p:cNvSpPr/>
          <p:nvPr/>
        </p:nvSpPr>
        <p:spPr>
          <a:xfrm>
            <a:off x="6350139" y="4846141"/>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Señal de sensor</a:t>
            </a:r>
            <a:endParaRPr lang="en-US" sz="1600" dirty="0"/>
          </a:p>
        </p:txBody>
      </p:sp>
      <p:sp>
        <p:nvSpPr>
          <p:cNvPr id="21" name="Text 19"/>
          <p:cNvSpPr/>
          <p:nvPr/>
        </p:nvSpPr>
        <p:spPr>
          <a:xfrm>
            <a:off x="6350139" y="5203825"/>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Vibración, presión, temperatura industrial.</a:t>
            </a:r>
            <a:endParaRPr lang="en-US" sz="1300" dirty="0"/>
          </a:p>
        </p:txBody>
      </p:sp>
      <p:pic>
        <p:nvPicPr>
          <p:cNvPr id="22"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3"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4" name="Text 20"/>
          <p:cNvSpPr/>
          <p:nvPr/>
        </p:nvSpPr>
        <p:spPr>
          <a:xfrm>
            <a:off x="10891763" y="6300589"/>
            <a:ext cx="110149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12130"/>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Dato → Información → Conocimiento → Decisión</a:t>
            </a:r>
            <a:endParaRPr lang="en-US" sz="2200" dirty="0"/>
          </a:p>
        </p:txBody>
      </p:sp>
      <p:sp>
        <p:nvSpPr>
          <p:cNvPr id="3" name="Text 1"/>
          <p:cNvSpPr/>
          <p:nvPr/>
        </p:nvSpPr>
        <p:spPr>
          <a:xfrm>
            <a:off x="661475" y="1602482"/>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Un mismo valor puede recorrer todo el camino desde observación bruta hasta acción concreta.</a:t>
            </a:r>
            <a:endParaRPr lang="en-US" sz="1100" dirty="0"/>
          </a:p>
        </p:txBody>
      </p:sp>
      <p:pic>
        <p:nvPicPr>
          <p:cNvPr id="4" name="Image 0" descr="preencoded.png">    </p:cNvPr>
          <p:cNvPicPr>
            <a:picLocks noChangeAspect="1"/>
          </p:cNvPicPr>
          <p:nvPr/>
        </p:nvPicPr>
        <p:blipFill>
          <a:blip r:embed="rId1"/>
          <a:stretch>
            <a:fillRect/>
          </a:stretch>
        </p:blipFill>
        <p:spPr>
          <a:xfrm>
            <a:off x="3053778" y="1944886"/>
            <a:ext cx="6084140" cy="2784574"/>
          </a:xfrm>
          <a:prstGeom prst="rect">
            <a:avLst/>
          </a:prstGeom>
        </p:spPr>
      </p:pic>
      <p:sp>
        <p:nvSpPr>
          <p:cNvPr id="5" name="Text 2"/>
          <p:cNvSpPr/>
          <p:nvPr/>
        </p:nvSpPr>
        <p:spPr>
          <a:xfrm>
            <a:off x="7712428" y="4068211"/>
            <a:ext cx="1142249" cy="220045"/>
          </a:xfrm>
          <a:prstGeom prst="rect">
            <a:avLst/>
          </a:prstGeom>
          <a:noFill/>
          <a:ln/>
        </p:spPr>
        <p:txBody>
          <a:bodyPr wrap="none" lIns="0" tIns="0" rIns="0" bIns="0" rtlCol="0" anchor="t"/>
          <a:lstStyle/>
          <a:p>
            <a:pPr algn="ctr"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Decisión</a:t>
            </a:r>
            <a:endParaRPr lang="en-US" sz="1350" dirty="0"/>
          </a:p>
        </p:txBody>
      </p:sp>
      <p:sp>
        <p:nvSpPr>
          <p:cNvPr id="6" name="Text 3"/>
          <p:cNvSpPr/>
          <p:nvPr/>
        </p:nvSpPr>
        <p:spPr>
          <a:xfrm>
            <a:off x="6272880" y="3958189"/>
            <a:ext cx="1142249" cy="440090"/>
          </a:xfrm>
          <a:prstGeom prst="rect">
            <a:avLst/>
          </a:prstGeom>
          <a:noFill/>
          <a:ln/>
        </p:spPr>
        <p:txBody>
          <a:bodyPr wrap="square" lIns="0" tIns="0" rIns="0" bIns="0" rtlCol="0" anchor="t">
            <a:normAutofit/>
          </a:bodyPr>
          <a:lstStyle/>
          <a:p>
            <a:pPr algn="ctr"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Conocimiento</a:t>
            </a:r>
            <a:endParaRPr lang="en-US" sz="1350" dirty="0"/>
          </a:p>
        </p:txBody>
      </p:sp>
      <p:sp>
        <p:nvSpPr>
          <p:cNvPr id="7" name="Text 4"/>
          <p:cNvSpPr/>
          <p:nvPr/>
        </p:nvSpPr>
        <p:spPr>
          <a:xfrm>
            <a:off x="4841157" y="4068211"/>
            <a:ext cx="1142249" cy="220045"/>
          </a:xfrm>
          <a:prstGeom prst="rect">
            <a:avLst/>
          </a:prstGeom>
          <a:noFill/>
          <a:ln/>
        </p:spPr>
        <p:txBody>
          <a:bodyPr wrap="none" lIns="0" tIns="0" rIns="0" bIns="0" rtlCol="0" anchor="t"/>
          <a:lstStyle/>
          <a:p>
            <a:pPr algn="ctr"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Información</a:t>
            </a:r>
            <a:endParaRPr lang="en-US" sz="1350" dirty="0"/>
          </a:p>
        </p:txBody>
      </p:sp>
      <p:sp>
        <p:nvSpPr>
          <p:cNvPr id="8" name="Text 5"/>
          <p:cNvSpPr/>
          <p:nvPr/>
        </p:nvSpPr>
        <p:spPr>
          <a:xfrm>
            <a:off x="3378139" y="4068211"/>
            <a:ext cx="1142249" cy="220045"/>
          </a:xfrm>
          <a:prstGeom prst="rect">
            <a:avLst/>
          </a:prstGeom>
          <a:noFill/>
          <a:ln/>
        </p:spPr>
        <p:txBody>
          <a:bodyPr wrap="none" lIns="0" tIns="0" rIns="0" bIns="0" rtlCol="0" anchor="t"/>
          <a:lstStyle/>
          <a:p>
            <a:pPr algn="ctr"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Dato</a:t>
            </a:r>
            <a:endParaRPr lang="en-US" sz="1350" dirty="0"/>
          </a:p>
        </p:txBody>
      </p:sp>
      <p:sp>
        <p:nvSpPr>
          <p:cNvPr id="9" name="Text 6"/>
          <p:cNvSpPr/>
          <p:nvPr/>
        </p:nvSpPr>
        <p:spPr>
          <a:xfrm>
            <a:off x="661475" y="498326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El dato</a:t>
            </a:r>
            <a:endParaRPr lang="en-US" sz="1350" dirty="0"/>
          </a:p>
        </p:txBody>
      </p:sp>
      <p:sp>
        <p:nvSpPr>
          <p:cNvPr id="10" name="Text 7"/>
          <p:cNvSpPr/>
          <p:nvPr/>
        </p:nvSpPr>
        <p:spPr>
          <a:xfrm>
            <a:off x="661475" y="5322292"/>
            <a:ext cx="5872512"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38,7 °C registrado por un sensor industrial a las 03:47.</a:t>
            </a:r>
            <a:endParaRPr lang="en-US" sz="1100" dirty="0"/>
          </a:p>
        </p:txBody>
      </p:sp>
      <p:sp>
        <p:nvSpPr>
          <p:cNvPr id="11" name="Text 8"/>
          <p:cNvSpPr/>
          <p:nvPr/>
        </p:nvSpPr>
        <p:spPr>
          <a:xfrm>
            <a:off x="6273643" y="4983262"/>
            <a:ext cx="5262927"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El insight</a:t>
            </a:r>
            <a:endParaRPr lang="en-US" sz="1350" dirty="0"/>
          </a:p>
        </p:txBody>
      </p:sp>
      <p:sp>
        <p:nvSpPr>
          <p:cNvPr id="12" name="Text 9"/>
          <p:cNvSpPr/>
          <p:nvPr/>
        </p:nvSpPr>
        <p:spPr>
          <a:xfrm>
            <a:off x="6273643" y="5322292"/>
            <a:ext cx="5262927"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Información relevante que ayuda a </a:t>
            </a:r>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descubrir patrones</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o tomar decisiones de negocio o operación.</a:t>
            </a:r>
            <a:endParaRPr lang="en-US" sz="1100" dirty="0"/>
          </a:p>
        </p:txBody>
      </p:sp>
      <p:pic>
        <p:nvPicPr>
          <p:cNvPr id="13"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4"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5" name="Text 10"/>
          <p:cNvSpPr/>
          <p:nvPr/>
        </p:nvSpPr>
        <p:spPr>
          <a:xfrm>
            <a:off x="10893152" y="6300589"/>
            <a:ext cx="110011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069181"/>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¿Qué es un dataset?</a:t>
            </a:r>
            <a:endParaRPr lang="en-US" sz="2450" dirty="0"/>
          </a:p>
        </p:txBody>
      </p:sp>
      <p:sp>
        <p:nvSpPr>
          <p:cNvPr id="3" name="Text 1"/>
          <p:cNvSpPr/>
          <p:nvPr/>
        </p:nvSpPr>
        <p:spPr>
          <a:xfrm>
            <a:off x="661475" y="1760339"/>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Un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dataset</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o conjunto de datos es una colección estructurada de observaciones. Cada fila es un registro; cada columna, una variable.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1475" y="2173387"/>
          <a:ext cx="9143771" cy="914400"/>
        </p:xfrm>
        <a:graphic>
          <a:graphicData uri="http://schemas.openxmlformats.org/drawingml/2006/table">
            <a:tbl>
              <a:tblPr/>
              <a:tblGrid>
                <a:gridCol w="2173749"/>
                <a:gridCol w="1630312"/>
                <a:gridCol w="2173749"/>
                <a:gridCol w="2173749"/>
                <a:gridCol w="2717186"/>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customer_id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edad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ciudad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gasto (€)</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canal</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C001</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32</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Barcelona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124,50</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Web</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C002</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27</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Girona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89,20</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App</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0024">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C003</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45</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Madrid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310,00</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Web</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5" name="Shape 2"/>
          <p:cNvSpPr/>
          <p:nvPr/>
        </p:nvSpPr>
        <p:spPr>
          <a:xfrm>
            <a:off x="661475" y="4120455"/>
            <a:ext cx="2605221" cy="1668363"/>
          </a:xfrm>
          <a:prstGeom prst="roundRect">
            <a:avLst>
              <a:gd name="adj" fmla="val 14127"/>
            </a:avLst>
          </a:prstGeom>
          <a:solidFill>
            <a:srgbClr val="4B2885"/>
          </a:solidFill>
          <a:ln w="19050">
            <a:solidFill>
              <a:srgbClr val="4B3082"/>
            </a:solidFill>
            <a:prstDash val="solid"/>
          </a:ln>
        </p:spPr>
      </p:sp>
      <p:sp>
        <p:nvSpPr>
          <p:cNvPr id="6" name="Text 3"/>
          <p:cNvSpPr/>
          <p:nvPr/>
        </p:nvSpPr>
        <p:spPr>
          <a:xfrm>
            <a:off x="837584" y="4296569"/>
            <a:ext cx="2253003" cy="491133"/>
          </a:xfrm>
          <a:prstGeom prst="rect">
            <a:avLst/>
          </a:prstGeom>
          <a:noFill/>
          <a:ln/>
        </p:spPr>
        <p:txBody>
          <a:bodyPr wrap="square" lIns="0" tIns="0" rIns="0" bIns="0" rtlCol="0" anchor="t">
            <a:normAutofit/>
          </a:bodyPr>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Fila / Registro / Observación</a:t>
            </a:r>
            <a:endParaRPr lang="en-US" sz="1500" dirty="0"/>
          </a:p>
        </p:txBody>
      </p:sp>
      <p:sp>
        <p:nvSpPr>
          <p:cNvPr id="7" name="Text 4"/>
          <p:cNvSpPr/>
          <p:nvPr/>
        </p:nvSpPr>
        <p:spPr>
          <a:xfrm>
            <a:off x="837584" y="4877197"/>
            <a:ext cx="2253003"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Cada cliente es un caso individual con sus propios valores.</a:t>
            </a:r>
            <a:endParaRPr lang="en-US" sz="1200" dirty="0"/>
          </a:p>
        </p:txBody>
      </p:sp>
      <p:sp>
        <p:nvSpPr>
          <p:cNvPr id="8" name="Shape 5"/>
          <p:cNvSpPr/>
          <p:nvPr/>
        </p:nvSpPr>
        <p:spPr>
          <a:xfrm>
            <a:off x="3415917" y="4120455"/>
            <a:ext cx="2605320" cy="1668363"/>
          </a:xfrm>
          <a:prstGeom prst="roundRect">
            <a:avLst>
              <a:gd name="adj" fmla="val 14127"/>
            </a:avLst>
          </a:prstGeom>
          <a:solidFill>
            <a:srgbClr val="4B2885"/>
          </a:solidFill>
          <a:ln w="19050">
            <a:solidFill>
              <a:srgbClr val="4B3082"/>
            </a:solidFill>
            <a:prstDash val="solid"/>
          </a:ln>
        </p:spPr>
      </p:sp>
      <p:sp>
        <p:nvSpPr>
          <p:cNvPr id="9" name="Text 6"/>
          <p:cNvSpPr/>
          <p:nvPr/>
        </p:nvSpPr>
        <p:spPr>
          <a:xfrm>
            <a:off x="3592026" y="4296569"/>
            <a:ext cx="2253102" cy="491133"/>
          </a:xfrm>
          <a:prstGeom prst="rect">
            <a:avLst/>
          </a:prstGeom>
          <a:noFill/>
          <a:ln/>
        </p:spPr>
        <p:txBody>
          <a:bodyPr wrap="square" lIns="0" tIns="0" rIns="0" bIns="0" rtlCol="0" anchor="t">
            <a:normAutofit/>
          </a:bodyPr>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Columna / Variable / Atributo</a:t>
            </a:r>
            <a:endParaRPr lang="en-US" sz="1500" dirty="0"/>
          </a:p>
        </p:txBody>
      </p:sp>
      <p:sp>
        <p:nvSpPr>
          <p:cNvPr id="10" name="Text 7"/>
          <p:cNvSpPr/>
          <p:nvPr/>
        </p:nvSpPr>
        <p:spPr>
          <a:xfrm>
            <a:off x="3592026" y="4877197"/>
            <a:ext cx="2253102"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Cada propiedad medible: edad, ciudad, gasto.</a:t>
            </a:r>
            <a:endParaRPr lang="en-US" sz="1200" dirty="0"/>
          </a:p>
        </p:txBody>
      </p:sp>
      <p:sp>
        <p:nvSpPr>
          <p:cNvPr id="11" name="Shape 8"/>
          <p:cNvSpPr/>
          <p:nvPr/>
        </p:nvSpPr>
        <p:spPr>
          <a:xfrm>
            <a:off x="6170458" y="4120455"/>
            <a:ext cx="2605221" cy="1668363"/>
          </a:xfrm>
          <a:prstGeom prst="roundRect">
            <a:avLst>
              <a:gd name="adj" fmla="val 14127"/>
            </a:avLst>
          </a:prstGeom>
          <a:solidFill>
            <a:srgbClr val="4B2885"/>
          </a:solidFill>
          <a:ln w="19050">
            <a:solidFill>
              <a:srgbClr val="4B3082"/>
            </a:solidFill>
            <a:prstDash val="solid"/>
          </a:ln>
        </p:spPr>
      </p:sp>
      <p:sp>
        <p:nvSpPr>
          <p:cNvPr id="12" name="Text 9"/>
          <p:cNvSpPr/>
          <p:nvPr/>
        </p:nvSpPr>
        <p:spPr>
          <a:xfrm>
            <a:off x="6346567" y="4296569"/>
            <a:ext cx="2253003"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Identificador</a:t>
            </a:r>
            <a:endParaRPr lang="en-US" sz="1500" dirty="0"/>
          </a:p>
        </p:txBody>
      </p:sp>
      <p:sp>
        <p:nvSpPr>
          <p:cNvPr id="13" name="Text 10"/>
          <p:cNvSpPr/>
          <p:nvPr/>
        </p:nvSpPr>
        <p:spPr>
          <a:xfrm>
            <a:off x="6346567" y="4631630"/>
            <a:ext cx="2253003"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Clave única que distingue cada registro: customer_id.</a:t>
            </a:r>
            <a:endParaRPr lang="en-US" sz="1200" dirty="0"/>
          </a:p>
        </p:txBody>
      </p:sp>
      <p:sp>
        <p:nvSpPr>
          <p:cNvPr id="14" name="Shape 11"/>
          <p:cNvSpPr/>
          <p:nvPr/>
        </p:nvSpPr>
        <p:spPr>
          <a:xfrm>
            <a:off x="8924900" y="4120455"/>
            <a:ext cx="2605320" cy="1668363"/>
          </a:xfrm>
          <a:prstGeom prst="roundRect">
            <a:avLst>
              <a:gd name="adj" fmla="val 14127"/>
            </a:avLst>
          </a:prstGeom>
          <a:solidFill>
            <a:srgbClr val="4B2885"/>
          </a:solidFill>
          <a:ln w="19050">
            <a:solidFill>
              <a:srgbClr val="4B3082"/>
            </a:solidFill>
            <a:prstDash val="solid"/>
          </a:ln>
        </p:spPr>
      </p:sp>
      <p:sp>
        <p:nvSpPr>
          <p:cNvPr id="15" name="Text 12"/>
          <p:cNvSpPr/>
          <p:nvPr/>
        </p:nvSpPr>
        <p:spPr>
          <a:xfrm>
            <a:off x="9101009" y="4296569"/>
            <a:ext cx="2253102"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Valor</a:t>
            </a:r>
            <a:endParaRPr lang="en-US" sz="1500" dirty="0"/>
          </a:p>
        </p:txBody>
      </p:sp>
      <p:sp>
        <p:nvSpPr>
          <p:cNvPr id="16" name="Text 13"/>
          <p:cNvSpPr/>
          <p:nvPr/>
        </p:nvSpPr>
        <p:spPr>
          <a:xfrm>
            <a:off x="9101009" y="4631630"/>
            <a:ext cx="2253102"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El dato concreto en la celda: 32, Barcelona, 124,50.</a:t>
            </a:r>
            <a:endParaRPr lang="en-US" sz="1200" dirty="0"/>
          </a:p>
        </p:txBody>
      </p:sp>
      <p:pic>
        <p:nvPicPr>
          <p:cNvPr id="1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9" name="Text 14"/>
          <p:cNvSpPr/>
          <p:nvPr/>
        </p:nvSpPr>
        <p:spPr>
          <a:xfrm>
            <a:off x="10888192" y="6300589"/>
            <a:ext cx="110507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035943"/>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Dataset, esquema y metadatos</a:t>
            </a:r>
            <a:endParaRPr lang="en-US" sz="2450" dirty="0"/>
          </a:p>
        </p:txBody>
      </p:sp>
      <p:sp>
        <p:nvSpPr>
          <p:cNvPr id="3" name="Text 1"/>
          <p:cNvSpPr/>
          <p:nvPr/>
        </p:nvSpPr>
        <p:spPr>
          <a:xfrm>
            <a:off x="661475" y="1801713"/>
            <a:ext cx="5242687"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Esquema</a:t>
            </a:r>
            <a:endParaRPr lang="en-US" sz="1500" dirty="0"/>
          </a:p>
        </p:txBody>
      </p:sp>
      <p:sp>
        <p:nvSpPr>
          <p:cNvPr id="4" name="Text 2"/>
          <p:cNvSpPr/>
          <p:nvPr/>
        </p:nvSpPr>
        <p:spPr>
          <a:xfrm>
            <a:off x="661475" y="2196505"/>
            <a:ext cx="5242687"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Define cómo están estructurados los datos: sus campos, tipos y restricciones.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1475" y="2854722"/>
          <a:ext cx="9143771" cy="914400"/>
        </p:xfrm>
        <a:graphic>
          <a:graphicData uri="http://schemas.openxmlformats.org/drawingml/2006/table">
            <a:tbl>
              <a:tblPr/>
              <a:tblGrid>
                <a:gridCol w="2097075"/>
                <a:gridCol w="1572806"/>
                <a:gridCol w="1572806"/>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Campo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Tipo</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¿Nulo?</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customer_id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STRING</a:t>
                      </a:r>
                      <a:endParaRPr lang="en-US" sz="1200" dirty="0">
                        <a:latin typeface="Manrope" charset="0"/>
                        <a:ea typeface="Manrope" charset="0"/>
                        <a:cs typeface="Manrope" charset="0"/>
                      </a:endParaRPr>
                    </a:p>
                  </a:txBody>
                  <a:tcPr marL="157122" marR="157122"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No</a:t>
                      </a:r>
                      <a:endParaRPr lang="en-US" sz="1200" dirty="0">
                        <a:latin typeface="Manrope" charset="0"/>
                        <a:ea typeface="Manrope" charset="0"/>
                        <a:cs typeface="Manrope" charset="0"/>
                      </a:endParaRPr>
                    </a:p>
                  </a:txBody>
                  <a:tcPr marL="157122" marR="15712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edad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INTEGER</a:t>
                      </a:r>
                      <a:endParaRPr lang="en-US" sz="1200" dirty="0">
                        <a:latin typeface="Manrope" charset="0"/>
                        <a:ea typeface="Manrope" charset="0"/>
                        <a:cs typeface="Manrope" charset="0"/>
                      </a:endParaRPr>
                    </a:p>
                  </a:txBody>
                  <a:tcPr marL="157122" marR="157122"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No</a:t>
                      </a:r>
                      <a:endParaRPr lang="en-US" sz="1200" dirty="0">
                        <a:latin typeface="Manrope" charset="0"/>
                        <a:ea typeface="Manrope" charset="0"/>
                        <a:cs typeface="Manrope" charset="0"/>
                      </a:endParaRPr>
                    </a:p>
                  </a:txBody>
                  <a:tcPr marL="157122" marR="15712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0024">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temperatura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DECIMAL</a:t>
                      </a:r>
                      <a:endParaRPr lang="en-US" sz="1200" dirty="0">
                        <a:latin typeface="Manrope" charset="0"/>
                        <a:ea typeface="Manrope" charset="0"/>
                        <a:cs typeface="Manrope" charset="0"/>
                      </a:endParaRPr>
                    </a:p>
                  </a:txBody>
                  <a:tcPr marL="157122" marR="157122"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Sí</a:t>
                      </a:r>
                      <a:endParaRPr lang="en-US" sz="1200" dirty="0">
                        <a:latin typeface="Manrope" charset="0"/>
                        <a:ea typeface="Manrope" charset="0"/>
                        <a:cs typeface="Manrope" charset="0"/>
                      </a:endParaRPr>
                    </a:p>
                  </a:txBody>
                  <a:tcPr marL="157122" marR="15712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6" name="Text 3"/>
          <p:cNvSpPr/>
          <p:nvPr/>
        </p:nvSpPr>
        <p:spPr>
          <a:xfrm>
            <a:off x="6293883" y="1801713"/>
            <a:ext cx="5242687"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Metadatos</a:t>
            </a:r>
            <a:endParaRPr lang="en-US" sz="1500" dirty="0"/>
          </a:p>
        </p:txBody>
      </p:sp>
      <p:sp>
        <p:nvSpPr>
          <p:cNvPr id="7" name="Text 4"/>
          <p:cNvSpPr/>
          <p:nvPr/>
        </p:nvSpPr>
        <p:spPr>
          <a:xfrm>
            <a:off x="6293883" y="2196505"/>
            <a:ext cx="5242687" cy="869851"/>
          </a:xfrm>
          <a:prstGeom prst="rect">
            <a:avLst/>
          </a:prstGeom>
          <a:noFill/>
          <a:ln/>
        </p:spPr>
        <p:txBody>
          <a:bodyPr wrap="square" lIns="0" tIns="0" rIns="0" bIns="0" rtlCol="0" anchor="t">
            <a:normAutofit/>
          </a:bodyPr>
          <a:lstStyle/>
          <a:p>
            <a:pPr algn="l" indent="0" marL="0">
              <a:lnSpc>
                <a:spcPct val="130000"/>
              </a:lnSpc>
              <a:spcAft>
                <a:spcPts val="1050"/>
              </a:spcAft>
              <a:buNone/>
            </a:pPr>
            <a:r>
              <a:rPr lang="en-US" sz="1200" dirty="0">
                <a:solidFill>
                  <a:srgbClr val="FFFFFF"/>
                </a:solidFill>
                <a:latin typeface="Manrope" pitchFamily="34" charset="0"/>
                <a:ea typeface="Manrope" pitchFamily="34" charset="-122"/>
                <a:cs typeface="Manrope" pitchFamily="34" charset="-120"/>
              </a:rPr>
              <a:t>Datos que describen otros datos. Aportan contexto imprescindible para interpretarlos correctamente.</a:t>
            </a:r>
            <a:endParaRPr lang="en-US" sz="1200" dirty="0"/>
          </a:p>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Ejemplo: la columna </a:t>
            </a:r>
            <a:pPr algn="l" indent="0" marL="0">
              <a:lnSpc>
                <a:spcPct val="130000"/>
              </a:lnSpc>
              <a:buNone/>
            </a:pPr>
            <a:r>
              <a:rPr lang="en-US" sz="1200" dirty="0">
                <a:solidFill>
                  <a:srgbClr val="FFFFFF"/>
                </a:solidFill>
                <a:highlight>
                  <a:srgbClr val="583592"/>
                </a:highlight>
                <a:latin typeface="Consolas" pitchFamily="34" charset="0"/>
                <a:ea typeface="Consolas" pitchFamily="34" charset="-122"/>
                <a:cs typeface="Consolas" pitchFamily="34" charset="-120"/>
              </a:rPr>
              <a:t>temperature</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tiene como metadatos:</a:t>
            </a:r>
            <a:endParaRPr lang="en-US" sz="1200" dirty="0"/>
          </a:p>
        </p:txBody>
      </p:sp>
      <p:sp>
        <p:nvSpPr>
          <p:cNvPr id="8" name="Text 5"/>
          <p:cNvSpPr/>
          <p:nvPr/>
        </p:nvSpPr>
        <p:spPr>
          <a:xfrm>
            <a:off x="6293883" y="3200698"/>
            <a:ext cx="5242687" cy="1137245"/>
          </a:xfrm>
          <a:prstGeom prst="rect">
            <a:avLst/>
          </a:prstGeom>
          <a:noFill/>
          <a:ln/>
        </p:spPr>
        <p:txBody>
          <a:bodyPr wrap="square" lIns="0" tIns="0" rIns="0" bIns="0" rtlCol="0" anchor="t">
            <a:normAutofit/>
          </a:bodyPr>
          <a:lstStyle/>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Unidad: °C</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Tipo: decimal</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Sensor de origen: S-47-A</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Fecha de captura: 2026-08-21</a:t>
            </a:r>
            <a:endParaRPr lang="en-US" sz="1200" dirty="0"/>
          </a:p>
        </p:txBody>
      </p:sp>
      <p:sp>
        <p:nvSpPr>
          <p:cNvPr id="9" name="Shape 6"/>
          <p:cNvSpPr/>
          <p:nvPr/>
        </p:nvSpPr>
        <p:spPr>
          <a:xfrm>
            <a:off x="661475" y="4969669"/>
            <a:ext cx="10868745" cy="852289"/>
          </a:xfrm>
          <a:prstGeom prst="roundRect">
            <a:avLst>
              <a:gd name="adj" fmla="val 27653"/>
            </a:avLst>
          </a:prstGeom>
          <a:solidFill>
            <a:srgbClr val="321769"/>
          </a:solidFill>
          <a:ln/>
        </p:spPr>
      </p:sp>
      <p:pic>
        <p:nvPicPr>
          <p:cNvPr id="10" name="Image 0" descr="preencoded.png">    </p:cNvPr>
          <p:cNvPicPr>
            <a:picLocks noChangeAspect="1"/>
          </p:cNvPicPr>
          <p:nvPr/>
        </p:nvPicPr>
        <p:blipFill>
          <a:blip r:embed="rId1"/>
          <a:stretch>
            <a:fillRect/>
          </a:stretch>
        </p:blipFill>
        <p:spPr>
          <a:xfrm>
            <a:off x="818534" y="5185668"/>
            <a:ext cx="196349" cy="157063"/>
          </a:xfrm>
          <a:prstGeom prst="rect">
            <a:avLst/>
          </a:prstGeom>
        </p:spPr>
      </p:pic>
      <p:sp>
        <p:nvSpPr>
          <p:cNvPr id="11" name="Text 7"/>
          <p:cNvSpPr/>
          <p:nvPr/>
        </p:nvSpPr>
        <p:spPr>
          <a:xfrm>
            <a:off x="1171943" y="5158085"/>
            <a:ext cx="10201218"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Comprender los datos requiere conocer tanto sus valores como su contexto. Sin esquema ni metadatos, un dataset pierde gran parte de su utilidad.</a:t>
            </a:r>
            <a:endParaRPr lang="en-US" sz="1200" dirty="0"/>
          </a:p>
        </p:txBody>
      </p:sp>
      <p:pic>
        <p:nvPicPr>
          <p:cNvPr id="12"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3"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4" name="Text 8"/>
          <p:cNvSpPr/>
          <p:nvPr/>
        </p:nvSpPr>
        <p:spPr>
          <a:xfrm>
            <a:off x="10901884" y="6300589"/>
            <a:ext cx="109137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12119"/>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Tipos de datos según su estructura</a:t>
            </a:r>
            <a:endParaRPr lang="en-US" sz="2600" dirty="0"/>
          </a:p>
        </p:txBody>
      </p:sp>
      <p:sp>
        <p:nvSpPr>
          <p:cNvPr id="3" name="Shape 1"/>
          <p:cNvSpPr/>
          <p:nvPr/>
        </p:nvSpPr>
        <p:spPr>
          <a:xfrm>
            <a:off x="661475" y="2456259"/>
            <a:ext cx="3512653" cy="2238970"/>
          </a:xfrm>
          <a:prstGeom prst="roundRect">
            <a:avLst>
              <a:gd name="adj" fmla="val 11080"/>
            </a:avLst>
          </a:prstGeom>
          <a:solidFill>
            <a:srgbClr val="3F2077"/>
          </a:solidFill>
          <a:ln w="6350">
            <a:solidFill>
              <a:srgbClr val="4B3082"/>
            </a:solidFill>
            <a:prstDash val="solid"/>
          </a:ln>
        </p:spPr>
      </p:sp>
      <p:sp>
        <p:nvSpPr>
          <p:cNvPr id="4" name="Text 2"/>
          <p:cNvSpPr/>
          <p:nvPr/>
        </p:nvSpPr>
        <p:spPr>
          <a:xfrm>
            <a:off x="833119" y="2627908"/>
            <a:ext cx="31693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Estructurados</a:t>
            </a:r>
            <a:endParaRPr lang="en-US" sz="1600" dirty="0"/>
          </a:p>
        </p:txBody>
      </p:sp>
      <p:sp>
        <p:nvSpPr>
          <p:cNvPr id="5" name="Text 3"/>
          <p:cNvSpPr/>
          <p:nvPr/>
        </p:nvSpPr>
        <p:spPr>
          <a:xfrm>
            <a:off x="833119" y="2985591"/>
            <a:ext cx="316936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Tienen un esquema definido y caben en filas y columnas.</a:t>
            </a:r>
            <a:endParaRPr lang="en-US" sz="1300" dirty="0"/>
          </a:p>
        </p:txBody>
      </p:sp>
      <p:sp>
        <p:nvSpPr>
          <p:cNvPr id="6" name="Text 4"/>
          <p:cNvSpPr/>
          <p:nvPr/>
        </p:nvSpPr>
        <p:spPr>
          <a:xfrm>
            <a:off x="833119" y="3614043"/>
            <a:ext cx="3169364"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Tablas SQL</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Hojas de cálculo</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Registros transaccionales</a:t>
            </a:r>
            <a:endParaRPr lang="en-US" sz="1300" dirty="0"/>
          </a:p>
        </p:txBody>
      </p:sp>
      <p:sp>
        <p:nvSpPr>
          <p:cNvPr id="7" name="Shape 5"/>
          <p:cNvSpPr/>
          <p:nvPr/>
        </p:nvSpPr>
        <p:spPr>
          <a:xfrm>
            <a:off x="4339422" y="2456259"/>
            <a:ext cx="3512752" cy="2238970"/>
          </a:xfrm>
          <a:prstGeom prst="roundRect">
            <a:avLst>
              <a:gd name="adj" fmla="val 11080"/>
            </a:avLst>
          </a:prstGeom>
          <a:solidFill>
            <a:srgbClr val="3F2077"/>
          </a:solidFill>
          <a:ln w="6350">
            <a:solidFill>
              <a:srgbClr val="4B3082"/>
            </a:solidFill>
            <a:prstDash val="solid"/>
          </a:ln>
        </p:spPr>
      </p:sp>
      <p:sp>
        <p:nvSpPr>
          <p:cNvPr id="8" name="Text 6"/>
          <p:cNvSpPr/>
          <p:nvPr/>
        </p:nvSpPr>
        <p:spPr>
          <a:xfrm>
            <a:off x="4511066" y="2627908"/>
            <a:ext cx="31694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Semiestructurados</a:t>
            </a:r>
            <a:endParaRPr lang="en-US" sz="1600" dirty="0"/>
          </a:p>
        </p:txBody>
      </p:sp>
      <p:sp>
        <p:nvSpPr>
          <p:cNvPr id="9" name="Text 7"/>
          <p:cNvSpPr/>
          <p:nvPr/>
        </p:nvSpPr>
        <p:spPr>
          <a:xfrm>
            <a:off x="4511066" y="2985591"/>
            <a:ext cx="316946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No son una tabla rígida pero contienen organización interna.</a:t>
            </a:r>
            <a:endParaRPr lang="en-US" sz="1300" dirty="0"/>
          </a:p>
        </p:txBody>
      </p:sp>
      <p:sp>
        <p:nvSpPr>
          <p:cNvPr id="10" name="Text 8"/>
          <p:cNvSpPr/>
          <p:nvPr/>
        </p:nvSpPr>
        <p:spPr>
          <a:xfrm>
            <a:off x="4511066" y="3614043"/>
            <a:ext cx="3169464"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JSON / XML</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Logs de aplicación</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Correos con cabeceras</a:t>
            </a:r>
            <a:endParaRPr lang="en-US" sz="1300" dirty="0"/>
          </a:p>
        </p:txBody>
      </p:sp>
      <p:sp>
        <p:nvSpPr>
          <p:cNvPr id="11" name="Shape 9"/>
          <p:cNvSpPr/>
          <p:nvPr/>
        </p:nvSpPr>
        <p:spPr>
          <a:xfrm>
            <a:off x="8017468" y="2456259"/>
            <a:ext cx="3512653" cy="2238970"/>
          </a:xfrm>
          <a:prstGeom prst="roundRect">
            <a:avLst>
              <a:gd name="adj" fmla="val 11080"/>
            </a:avLst>
          </a:prstGeom>
          <a:solidFill>
            <a:srgbClr val="3F2077"/>
          </a:solidFill>
          <a:ln w="6350">
            <a:solidFill>
              <a:srgbClr val="4B3082"/>
            </a:solidFill>
            <a:prstDash val="solid"/>
          </a:ln>
        </p:spPr>
      </p:sp>
      <p:sp>
        <p:nvSpPr>
          <p:cNvPr id="12" name="Text 10"/>
          <p:cNvSpPr/>
          <p:nvPr/>
        </p:nvSpPr>
        <p:spPr>
          <a:xfrm>
            <a:off x="8189112" y="2627908"/>
            <a:ext cx="31693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No estructurados</a:t>
            </a:r>
            <a:endParaRPr lang="en-US" sz="1600" dirty="0"/>
          </a:p>
        </p:txBody>
      </p:sp>
      <p:sp>
        <p:nvSpPr>
          <p:cNvPr id="13" name="Text 11"/>
          <p:cNvSpPr/>
          <p:nvPr/>
        </p:nvSpPr>
        <p:spPr>
          <a:xfrm>
            <a:off x="8189112" y="2985591"/>
            <a:ext cx="316936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Sin estructura tabular directamente explotable.</a:t>
            </a:r>
            <a:endParaRPr lang="en-US" sz="1300" dirty="0"/>
          </a:p>
        </p:txBody>
      </p:sp>
      <p:sp>
        <p:nvSpPr>
          <p:cNvPr id="14" name="Text 12"/>
          <p:cNvSpPr/>
          <p:nvPr/>
        </p:nvSpPr>
        <p:spPr>
          <a:xfrm>
            <a:off x="8189112" y="3614043"/>
            <a:ext cx="3169364"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Texto libre / documentos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Imágenes, vídeos, audio</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Publicaciones en redes</a:t>
            </a:r>
            <a:endParaRPr lang="en-US" sz="1300" dirty="0"/>
          </a:p>
        </p:txBody>
      </p:sp>
      <p:sp>
        <p:nvSpPr>
          <p:cNvPr id="15" name="Text 13"/>
          <p:cNvSpPr/>
          <p:nvPr/>
        </p:nvSpPr>
        <p:spPr>
          <a:xfrm>
            <a:off x="661475" y="4881265"/>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Más del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80% de los datos generados en el mundo son no estructurados</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Procesarlos exige enfoques y tecnologías específicas.</a:t>
            </a:r>
            <a:endParaRPr lang="en-US" sz="1300" dirty="0"/>
          </a:p>
        </p:txBody>
      </p:sp>
      <p:pic>
        <p:nvPicPr>
          <p:cNvPr id="16"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7"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8" name="Text 14"/>
          <p:cNvSpPr/>
          <p:nvPr/>
        </p:nvSpPr>
        <p:spPr>
          <a:xfrm>
            <a:off x="10892855" y="6300589"/>
            <a:ext cx="1100408"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263551"/>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¿De dónde salen tantos datos?</a:t>
            </a:r>
            <a:endParaRPr lang="en-US" sz="2600" dirty="0"/>
          </a:p>
        </p:txBody>
      </p:sp>
      <p:sp>
        <p:nvSpPr>
          <p:cNvPr id="3" name="Text 1"/>
          <p:cNvSpPr/>
          <p:nvPr/>
        </p:nvSpPr>
        <p:spPr>
          <a:xfrm>
            <a:off x="661475" y="2007691"/>
            <a:ext cx="11478330" cy="264616"/>
          </a:xfrm>
          <a:prstGeom prst="rect">
            <a:avLst/>
          </a:prstGeom>
          <a:noFill/>
          <a:ln/>
        </p:spPr>
        <p:txBody>
          <a:bodyPr wrap="none" lIns="0" tIns="0" rIns="0" bIns="0" rtlCol="0" anchor="t"/>
          <a:lstStyle/>
          <a:p>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Cada interacción digital puede generar uno o varios eventos de datos.</a:t>
            </a:r>
            <a:endParaRPr lang="en-US" sz="1300" dirty="0"/>
          </a:p>
        </p:txBody>
      </p:sp>
      <p:sp>
        <p:nvSpPr>
          <p:cNvPr id="4" name="Shape 2"/>
          <p:cNvSpPr/>
          <p:nvPr/>
        </p:nvSpPr>
        <p:spPr>
          <a:xfrm>
            <a:off x="661475" y="2458343"/>
            <a:ext cx="10868745" cy="3136007"/>
          </a:xfrm>
          <a:prstGeom prst="roundRect">
            <a:avLst>
              <a:gd name="adj" fmla="val 7911"/>
            </a:avLst>
          </a:prstGeom>
          <a:solidFill>
            <a:srgbClr val="3F2077"/>
          </a:solidFill>
          <a:ln w="6350">
            <a:solidFill>
              <a:srgbClr val="4B3082"/>
            </a:solidFill>
            <a:prstDash val="solid"/>
          </a:ln>
        </p:spPr>
      </p:sp>
      <p:sp>
        <p:nvSpPr>
          <p:cNvPr id="5" name="Shape 3"/>
          <p:cNvSpPr/>
          <p:nvPr/>
        </p:nvSpPr>
        <p:spPr>
          <a:xfrm>
            <a:off x="667825" y="2464693"/>
            <a:ext cx="5428023" cy="1217513"/>
          </a:xfrm>
          <a:custGeom>
            <a:avLst/>
            <a:gdLst/>
            <a:ahLst/>
            <a:cxnLst/>
            <a:rect l="l" t="t" r="r" b="b"/>
            <a:pathLst>
              <a:path w="5428023" h="1217513">
                <a:moveTo>
                  <a:pt x="206739" y="0"/>
                </a:moveTo>
                <a:lnTo>
                  <a:pt x="5428023" y="0"/>
                </a:lnTo>
                <a:lnTo>
                  <a:pt x="5428023" y="1217513"/>
                </a:lnTo>
                <a:lnTo>
                  <a:pt x="0" y="1217513"/>
                </a:lnTo>
                <a:lnTo>
                  <a:pt x="0" y="206744"/>
                </a:lnTo>
                <a:arcTo hR="206744" wR="206739" stAng="10800000" swAng="5400000"/>
                <a:close/>
              </a:path>
            </a:pathLst>
          </a:custGeom>
          <a:solidFill>
            <a:srgbClr val="3F2077"/>
          </a:solidFill>
          <a:ln/>
        </p:spPr>
      </p:sp>
      <p:sp>
        <p:nvSpPr>
          <p:cNvPr id="6" name="Text 4"/>
          <p:cNvSpPr/>
          <p:nvPr/>
        </p:nvSpPr>
        <p:spPr>
          <a:xfrm>
            <a:off x="833119" y="2629991"/>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Smartphones y apps</a:t>
            </a:r>
            <a:endParaRPr lang="en-US" sz="1600" dirty="0"/>
          </a:p>
        </p:txBody>
      </p:sp>
      <p:sp>
        <p:nvSpPr>
          <p:cNvPr id="7" name="Text 5"/>
          <p:cNvSpPr/>
          <p:nvPr/>
        </p:nvSpPr>
        <p:spPr>
          <a:xfrm>
            <a:off x="833119" y="2987675"/>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Clics, geolocalización, notificaciones, búsquedas, pagos móviles.</a:t>
            </a:r>
            <a:endParaRPr lang="en-US" sz="1300" dirty="0"/>
          </a:p>
        </p:txBody>
      </p:sp>
      <p:sp>
        <p:nvSpPr>
          <p:cNvPr id="8" name="Shape 6"/>
          <p:cNvSpPr/>
          <p:nvPr/>
        </p:nvSpPr>
        <p:spPr>
          <a:xfrm>
            <a:off x="6095848" y="2464693"/>
            <a:ext cx="5428023" cy="1217513"/>
          </a:xfrm>
          <a:custGeom>
            <a:avLst/>
            <a:gdLst/>
            <a:ahLst/>
            <a:cxnLst/>
            <a:rect l="l" t="t" r="r" b="b"/>
            <a:pathLst>
              <a:path w="5428023" h="1217513">
                <a:moveTo>
                  <a:pt x="0" y="0"/>
                </a:moveTo>
                <a:lnTo>
                  <a:pt x="5221284" y="0"/>
                </a:lnTo>
                <a:arcTo hR="206744" wR="206739" stAng="16200000" swAng="5400000"/>
                <a:lnTo>
                  <a:pt x="5428023" y="1217513"/>
                </a:lnTo>
                <a:lnTo>
                  <a:pt x="0" y="1217513"/>
                </a:lnTo>
                <a:lnTo>
                  <a:pt x="0" y="0"/>
                </a:lnTo>
                <a:close/>
              </a:path>
            </a:pathLst>
          </a:custGeom>
          <a:solidFill>
            <a:srgbClr val="3F2077"/>
          </a:solidFill>
          <a:ln/>
        </p:spPr>
      </p:sp>
      <p:sp>
        <p:nvSpPr>
          <p:cNvPr id="9" name="Shape 7"/>
          <p:cNvSpPr/>
          <p:nvPr/>
        </p:nvSpPr>
        <p:spPr>
          <a:xfrm>
            <a:off x="6095848" y="2464693"/>
            <a:ext cx="19050" cy="1217513"/>
          </a:xfrm>
          <a:prstGeom prst="roundRect">
            <a:avLst>
              <a:gd name="adj" fmla="val 49999"/>
            </a:avLst>
          </a:prstGeom>
          <a:solidFill>
            <a:srgbClr val="4B3082"/>
          </a:solidFill>
          <a:ln/>
        </p:spPr>
      </p:sp>
      <p:sp>
        <p:nvSpPr>
          <p:cNvPr id="10" name="Text 8"/>
          <p:cNvSpPr/>
          <p:nvPr/>
        </p:nvSpPr>
        <p:spPr>
          <a:xfrm>
            <a:off x="6261142" y="2629991"/>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Redes sociales</a:t>
            </a:r>
            <a:endParaRPr lang="en-US" sz="1600" dirty="0"/>
          </a:p>
        </p:txBody>
      </p:sp>
      <p:sp>
        <p:nvSpPr>
          <p:cNvPr id="11" name="Text 9"/>
          <p:cNvSpPr/>
          <p:nvPr/>
        </p:nvSpPr>
        <p:spPr>
          <a:xfrm>
            <a:off x="6261142" y="2987675"/>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Publicaciones, reacciones, comentarios, compartidos, seguimientos.</a:t>
            </a:r>
            <a:endParaRPr lang="en-US" sz="1300" dirty="0"/>
          </a:p>
        </p:txBody>
      </p:sp>
      <p:sp>
        <p:nvSpPr>
          <p:cNvPr id="12" name="Shape 10"/>
          <p:cNvSpPr/>
          <p:nvPr/>
        </p:nvSpPr>
        <p:spPr>
          <a:xfrm>
            <a:off x="667825" y="3682206"/>
            <a:ext cx="5428023" cy="952897"/>
          </a:xfrm>
          <a:prstGeom prst="rect">
            <a:avLst/>
          </a:prstGeom>
          <a:solidFill>
            <a:srgbClr val="3F2077"/>
          </a:solidFill>
          <a:ln/>
        </p:spPr>
      </p:sp>
      <p:sp>
        <p:nvSpPr>
          <p:cNvPr id="13" name="Shape 11"/>
          <p:cNvSpPr/>
          <p:nvPr/>
        </p:nvSpPr>
        <p:spPr>
          <a:xfrm>
            <a:off x="667825" y="3682206"/>
            <a:ext cx="5428023" cy="19050"/>
          </a:xfrm>
          <a:prstGeom prst="roundRect">
            <a:avLst>
              <a:gd name="adj" fmla="val 49999"/>
            </a:avLst>
          </a:prstGeom>
          <a:solidFill>
            <a:srgbClr val="4B3082"/>
          </a:solidFill>
          <a:ln/>
        </p:spPr>
      </p:sp>
      <p:sp>
        <p:nvSpPr>
          <p:cNvPr id="14" name="Text 12"/>
          <p:cNvSpPr/>
          <p:nvPr/>
        </p:nvSpPr>
        <p:spPr>
          <a:xfrm>
            <a:off x="833119" y="3847505"/>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Sensores IoT</a:t>
            </a:r>
            <a:endParaRPr lang="en-US" sz="1600" dirty="0"/>
          </a:p>
        </p:txBody>
      </p:sp>
      <p:sp>
        <p:nvSpPr>
          <p:cNvPr id="15" name="Text 13"/>
          <p:cNvSpPr/>
          <p:nvPr/>
        </p:nvSpPr>
        <p:spPr>
          <a:xfrm>
            <a:off x="833119" y="4205188"/>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Temperatura, presión, vibración, energía, vehículos conectados.</a:t>
            </a:r>
            <a:endParaRPr lang="en-US" sz="1300" dirty="0"/>
          </a:p>
        </p:txBody>
      </p:sp>
      <p:sp>
        <p:nvSpPr>
          <p:cNvPr id="16" name="Shape 14"/>
          <p:cNvSpPr/>
          <p:nvPr/>
        </p:nvSpPr>
        <p:spPr>
          <a:xfrm>
            <a:off x="6095848" y="3682206"/>
            <a:ext cx="5428023" cy="952897"/>
          </a:xfrm>
          <a:prstGeom prst="rect">
            <a:avLst/>
          </a:prstGeom>
          <a:solidFill>
            <a:srgbClr val="3F2077"/>
          </a:solidFill>
          <a:ln/>
        </p:spPr>
      </p:sp>
      <p:sp>
        <p:nvSpPr>
          <p:cNvPr id="17" name="Shape 15"/>
          <p:cNvSpPr/>
          <p:nvPr/>
        </p:nvSpPr>
        <p:spPr>
          <a:xfrm>
            <a:off x="6095848" y="3682206"/>
            <a:ext cx="19050" cy="952897"/>
          </a:xfrm>
          <a:prstGeom prst="roundRect">
            <a:avLst>
              <a:gd name="adj" fmla="val 49999"/>
            </a:avLst>
          </a:prstGeom>
          <a:solidFill>
            <a:srgbClr val="4B3082"/>
          </a:solidFill>
          <a:ln/>
        </p:spPr>
      </p:sp>
      <p:sp>
        <p:nvSpPr>
          <p:cNvPr id="18" name="Shape 16"/>
          <p:cNvSpPr/>
          <p:nvPr/>
        </p:nvSpPr>
        <p:spPr>
          <a:xfrm>
            <a:off x="6095848" y="3682206"/>
            <a:ext cx="5428023" cy="19050"/>
          </a:xfrm>
          <a:prstGeom prst="roundRect">
            <a:avLst>
              <a:gd name="adj" fmla="val 49999"/>
            </a:avLst>
          </a:prstGeom>
          <a:solidFill>
            <a:srgbClr val="4B3082"/>
          </a:solidFill>
          <a:ln/>
        </p:spPr>
      </p:sp>
      <p:sp>
        <p:nvSpPr>
          <p:cNvPr id="19" name="Text 17"/>
          <p:cNvSpPr/>
          <p:nvPr/>
        </p:nvSpPr>
        <p:spPr>
          <a:xfrm>
            <a:off x="6261142" y="3847505"/>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Transacciones y banca</a:t>
            </a:r>
            <a:endParaRPr lang="en-US" sz="1600" dirty="0"/>
          </a:p>
        </p:txBody>
      </p:sp>
      <p:sp>
        <p:nvSpPr>
          <p:cNvPr id="20" name="Text 18"/>
          <p:cNvSpPr/>
          <p:nvPr/>
        </p:nvSpPr>
        <p:spPr>
          <a:xfrm>
            <a:off x="6261142" y="4205188"/>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Pagos, transferencias, compras, accesos a cuentas, fraudes.</a:t>
            </a:r>
            <a:endParaRPr lang="en-US" sz="1300" dirty="0"/>
          </a:p>
        </p:txBody>
      </p:sp>
      <p:sp>
        <p:nvSpPr>
          <p:cNvPr id="21" name="Shape 19"/>
          <p:cNvSpPr/>
          <p:nvPr/>
        </p:nvSpPr>
        <p:spPr>
          <a:xfrm>
            <a:off x="667825" y="4635103"/>
            <a:ext cx="5428023" cy="952897"/>
          </a:xfrm>
          <a:custGeom>
            <a:avLst/>
            <a:gdLst/>
            <a:ahLst/>
            <a:cxnLst/>
            <a:rect l="l" t="t" r="r" b="b"/>
            <a:pathLst>
              <a:path w="5428023" h="952897">
                <a:moveTo>
                  <a:pt x="0" y="0"/>
                </a:moveTo>
                <a:lnTo>
                  <a:pt x="5428023" y="0"/>
                </a:lnTo>
                <a:lnTo>
                  <a:pt x="5428023" y="952897"/>
                </a:lnTo>
                <a:lnTo>
                  <a:pt x="206739" y="952897"/>
                </a:lnTo>
                <a:arcTo hR="206744" wR="206739" stAng="5400000" swAng="5400000"/>
                <a:lnTo>
                  <a:pt x="0" y="0"/>
                </a:lnTo>
                <a:close/>
              </a:path>
            </a:pathLst>
          </a:custGeom>
          <a:solidFill>
            <a:srgbClr val="3F2077"/>
          </a:solidFill>
          <a:ln/>
        </p:spPr>
      </p:sp>
      <p:sp>
        <p:nvSpPr>
          <p:cNvPr id="22" name="Shape 20"/>
          <p:cNvSpPr/>
          <p:nvPr/>
        </p:nvSpPr>
        <p:spPr>
          <a:xfrm>
            <a:off x="667825" y="4635103"/>
            <a:ext cx="5428023" cy="19050"/>
          </a:xfrm>
          <a:prstGeom prst="roundRect">
            <a:avLst>
              <a:gd name="adj" fmla="val 49999"/>
            </a:avLst>
          </a:prstGeom>
          <a:solidFill>
            <a:srgbClr val="4B3082"/>
          </a:solidFill>
          <a:ln/>
        </p:spPr>
      </p:sp>
      <p:sp>
        <p:nvSpPr>
          <p:cNvPr id="23" name="Text 21"/>
          <p:cNvSpPr/>
          <p:nvPr/>
        </p:nvSpPr>
        <p:spPr>
          <a:xfrm>
            <a:off x="833119" y="4800402"/>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Salud y dispositivos médicos</a:t>
            </a:r>
            <a:endParaRPr lang="en-US" sz="1600" dirty="0"/>
          </a:p>
        </p:txBody>
      </p:sp>
      <p:sp>
        <p:nvSpPr>
          <p:cNvPr id="24" name="Text 22"/>
          <p:cNvSpPr/>
          <p:nvPr/>
        </p:nvSpPr>
        <p:spPr>
          <a:xfrm>
            <a:off x="833119" y="5158085"/>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Constantes vitales, resultados de pruebas, historiales clínicos.</a:t>
            </a:r>
            <a:endParaRPr lang="en-US" sz="1300" dirty="0"/>
          </a:p>
        </p:txBody>
      </p:sp>
      <p:sp>
        <p:nvSpPr>
          <p:cNvPr id="25" name="Shape 23"/>
          <p:cNvSpPr/>
          <p:nvPr/>
        </p:nvSpPr>
        <p:spPr>
          <a:xfrm>
            <a:off x="6095848" y="4635103"/>
            <a:ext cx="5428023" cy="952897"/>
          </a:xfrm>
          <a:custGeom>
            <a:avLst/>
            <a:gdLst/>
            <a:ahLst/>
            <a:cxnLst/>
            <a:rect l="l" t="t" r="r" b="b"/>
            <a:pathLst>
              <a:path w="5428023" h="952897">
                <a:moveTo>
                  <a:pt x="0" y="0"/>
                </a:moveTo>
                <a:lnTo>
                  <a:pt x="5428023" y="0"/>
                </a:lnTo>
                <a:lnTo>
                  <a:pt x="5428023" y="746153"/>
                </a:lnTo>
                <a:arcTo hR="206744" wR="206739" stAng="0" swAng="5400000"/>
                <a:lnTo>
                  <a:pt x="0" y="952897"/>
                </a:lnTo>
                <a:lnTo>
                  <a:pt x="0" y="0"/>
                </a:lnTo>
                <a:close/>
              </a:path>
            </a:pathLst>
          </a:custGeom>
          <a:solidFill>
            <a:srgbClr val="3F2077"/>
          </a:solidFill>
          <a:ln/>
        </p:spPr>
      </p:sp>
      <p:sp>
        <p:nvSpPr>
          <p:cNvPr id="26" name="Shape 24"/>
          <p:cNvSpPr/>
          <p:nvPr/>
        </p:nvSpPr>
        <p:spPr>
          <a:xfrm>
            <a:off x="6095848" y="4635103"/>
            <a:ext cx="19050" cy="952897"/>
          </a:xfrm>
          <a:prstGeom prst="roundRect">
            <a:avLst>
              <a:gd name="adj" fmla="val 49999"/>
            </a:avLst>
          </a:prstGeom>
          <a:solidFill>
            <a:srgbClr val="4B3082"/>
          </a:solidFill>
          <a:ln/>
        </p:spPr>
      </p:sp>
      <p:sp>
        <p:nvSpPr>
          <p:cNvPr id="27" name="Shape 25"/>
          <p:cNvSpPr/>
          <p:nvPr/>
        </p:nvSpPr>
        <p:spPr>
          <a:xfrm>
            <a:off x="6095848" y="4635103"/>
            <a:ext cx="5428023" cy="19050"/>
          </a:xfrm>
          <a:prstGeom prst="roundRect">
            <a:avLst>
              <a:gd name="adj" fmla="val 49999"/>
            </a:avLst>
          </a:prstGeom>
          <a:solidFill>
            <a:srgbClr val="4B3082"/>
          </a:solidFill>
          <a:ln/>
        </p:spPr>
      </p:sp>
      <p:sp>
        <p:nvSpPr>
          <p:cNvPr id="28" name="Text 26"/>
          <p:cNvSpPr/>
          <p:nvPr/>
        </p:nvSpPr>
        <p:spPr>
          <a:xfrm>
            <a:off x="6261142" y="4800402"/>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Plataformas de streaming</a:t>
            </a:r>
            <a:endParaRPr lang="en-US" sz="1600" dirty="0"/>
          </a:p>
        </p:txBody>
      </p:sp>
      <p:sp>
        <p:nvSpPr>
          <p:cNvPr id="29" name="Text 27"/>
          <p:cNvSpPr/>
          <p:nvPr/>
        </p:nvSpPr>
        <p:spPr>
          <a:xfrm>
            <a:off x="6261142" y="5158085"/>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Qué vemos, cuándo pausamos, cuánto tiempo, valoraciones.</a:t>
            </a:r>
            <a:endParaRPr lang="en-US" sz="1300" dirty="0"/>
          </a:p>
        </p:txBody>
      </p:sp>
      <p:pic>
        <p:nvPicPr>
          <p:cNvPr id="3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3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32" name="Text 28"/>
          <p:cNvSpPr/>
          <p:nvPr/>
        </p:nvSpPr>
        <p:spPr>
          <a:xfrm>
            <a:off x="10888192" y="6300589"/>
            <a:ext cx="110507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848148"/>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¿Qué es Big Data?</a:t>
            </a:r>
            <a:endParaRPr lang="en-US" sz="2600" dirty="0"/>
          </a:p>
        </p:txBody>
      </p:sp>
      <p:sp>
        <p:nvSpPr>
          <p:cNvPr id="3" name="Text 1"/>
          <p:cNvSpPr/>
          <p:nvPr/>
        </p:nvSpPr>
        <p:spPr>
          <a:xfrm>
            <a:off x="661475" y="2509639"/>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Big Data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no se reduce a "muchos datos"</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Engloba los enfoques, arquitecturas y tecnologías necesarios para gestionar, almacenar, procesar y analizar datos cuando su volumen, velocidad, variedad o complejidad hacen que las soluciones convencionales resulten insuficientes.</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224907"/>
            <a:ext cx="3512653" cy="1784846"/>
          </a:xfrm>
          <a:prstGeom prst="rect">
            <a:avLst/>
          </a:prstGeom>
        </p:spPr>
      </p:pic>
      <p:sp>
        <p:nvSpPr>
          <p:cNvPr id="5" name="Text 2"/>
          <p:cNvSpPr/>
          <p:nvPr/>
        </p:nvSpPr>
        <p:spPr>
          <a:xfrm>
            <a:off x="922017" y="3409255"/>
            <a:ext cx="306776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No es solo un número</a:t>
            </a:r>
            <a:endParaRPr lang="en-US" sz="1600" dirty="0"/>
          </a:p>
        </p:txBody>
      </p:sp>
      <p:sp>
        <p:nvSpPr>
          <p:cNvPr id="6" name="Text 3"/>
          <p:cNvSpPr/>
          <p:nvPr/>
        </p:nvSpPr>
        <p:spPr>
          <a:xfrm>
            <a:off x="922017" y="3766939"/>
            <a:ext cx="306776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Big Data no se define por un umbral concreto de gigabytes o terabytes. Depende del contexto, los recursos y el tipo de problema.</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3224907"/>
            <a:ext cx="3512752" cy="1784846"/>
          </a:xfrm>
          <a:prstGeom prst="rect">
            <a:avLst/>
          </a:prstGeom>
        </p:spPr>
      </p:pic>
      <p:sp>
        <p:nvSpPr>
          <p:cNvPr id="8" name="Text 4"/>
          <p:cNvSpPr/>
          <p:nvPr/>
        </p:nvSpPr>
        <p:spPr>
          <a:xfrm>
            <a:off x="4599964" y="3409255"/>
            <a:ext cx="30678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Es una combinación de retos</a:t>
            </a:r>
            <a:endParaRPr lang="en-US" sz="1600" dirty="0"/>
          </a:p>
        </p:txBody>
      </p:sp>
      <p:sp>
        <p:nvSpPr>
          <p:cNvPr id="9" name="Text 5"/>
          <p:cNvSpPr/>
          <p:nvPr/>
        </p:nvSpPr>
        <p:spPr>
          <a:xfrm>
            <a:off x="4599964" y="3766939"/>
            <a:ext cx="306786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Volumen, velocidad de llegada, variedad de formatos, calidad dudosa y necesidad de obtener valor útil, todo al mismo tiempo.</a:t>
            </a:r>
            <a:endParaRPr lang="en-US"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468" y="3224907"/>
            <a:ext cx="3512653" cy="1784846"/>
          </a:xfrm>
          <a:prstGeom prst="rect">
            <a:avLst/>
          </a:prstGeom>
        </p:spPr>
      </p:pic>
      <p:sp>
        <p:nvSpPr>
          <p:cNvPr id="11" name="Text 6"/>
          <p:cNvSpPr/>
          <p:nvPr/>
        </p:nvSpPr>
        <p:spPr>
          <a:xfrm>
            <a:off x="8278010" y="3409255"/>
            <a:ext cx="3067767" cy="516930"/>
          </a:xfrm>
          <a:prstGeom prst="rect">
            <a:avLst/>
          </a:prstGeom>
          <a:noFill/>
          <a:ln/>
        </p:spPr>
        <p:txBody>
          <a:bodyPr wrap="square" lIns="0" tIns="0" rIns="0" bIns="0" rtlCol="0" anchor="t">
            <a:normAutofit/>
          </a:bodyPr>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Implica decisiones de arquitectura</a:t>
            </a:r>
            <a:endParaRPr lang="en-US" sz="1600" dirty="0"/>
          </a:p>
        </p:txBody>
      </p:sp>
      <p:sp>
        <p:nvSpPr>
          <p:cNvPr id="12" name="Text 7"/>
          <p:cNvSpPr/>
          <p:nvPr/>
        </p:nvSpPr>
        <p:spPr>
          <a:xfrm>
            <a:off x="8278010" y="4025404"/>
            <a:ext cx="306776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Cómo almacenamos, cómo procesamos, en qué orden y con qué herramientas: todo cambia a escala.</a:t>
            </a:r>
            <a:endParaRPr lang="en-US" sz="1300" dirty="0"/>
          </a:p>
        </p:txBody>
      </p:sp>
      <p:pic>
        <p:nvPicPr>
          <p:cNvPr id="13" name="Image 3" descr="preencoded.png">    </p:cNvPr>
          <p:cNvPicPr>
            <a:picLocks noChangeAspect="1"/>
          </p:cNvPicPr>
          <p:nvPr/>
        </p:nvPicPr>
        <p:blipFill>
          <a:blip r:embed="rId7"/>
          <a:stretch>
            <a:fillRect/>
          </a:stretch>
        </p:blipFill>
        <p:spPr>
          <a:xfrm>
            <a:off x="198433" y="203597"/>
            <a:ext cx="676357" cy="568623"/>
          </a:xfrm>
          <a:prstGeom prst="rect">
            <a:avLst/>
          </a:prstGeom>
        </p:spPr>
      </p:pic>
      <p:pic>
        <p:nvPicPr>
          <p:cNvPr id="14" name="Image 4" descr="preencoded.png">    </p:cNvPr>
          <p:cNvPicPr>
            <a:picLocks noChangeAspect="1"/>
          </p:cNvPicPr>
          <p:nvPr/>
        </p:nvPicPr>
        <p:blipFill>
          <a:blip r:embed="rId8"/>
          <a:stretch>
            <a:fillRect/>
          </a:stretch>
        </p:blipFill>
        <p:spPr>
          <a:xfrm>
            <a:off x="11386357" y="268784"/>
            <a:ext cx="606906" cy="438249"/>
          </a:xfrm>
          <a:prstGeom prst="rect">
            <a:avLst/>
          </a:prstGeom>
        </p:spPr>
      </p:pic>
      <p:sp>
        <p:nvSpPr>
          <p:cNvPr id="15" name="Text 8"/>
          <p:cNvSpPr/>
          <p:nvPr/>
        </p:nvSpPr>
        <p:spPr>
          <a:xfrm>
            <a:off x="10844338" y="6300589"/>
            <a:ext cx="114892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801118"/>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¿Cuándo un problema se convierte en Big Data?</a:t>
            </a:r>
            <a:endParaRPr lang="en-US" sz="2600" dirty="0"/>
          </a:p>
        </p:txBody>
      </p:sp>
      <p:sp>
        <p:nvSpPr>
          <p:cNvPr id="3" name="Shape 1"/>
          <p:cNvSpPr/>
          <p:nvPr/>
        </p:nvSpPr>
        <p:spPr>
          <a:xfrm>
            <a:off x="542415" y="2462609"/>
            <a:ext cx="5245266" cy="1878905"/>
          </a:xfrm>
          <a:prstGeom prst="roundRect">
            <a:avLst>
              <a:gd name="adj" fmla="val 21126"/>
            </a:avLst>
          </a:prstGeom>
          <a:solidFill>
            <a:srgbClr val="324C85"/>
          </a:solidFill>
          <a:ln/>
        </p:spPr>
      </p:sp>
      <p:sp>
        <p:nvSpPr>
          <p:cNvPr id="4" name="Text 2"/>
          <p:cNvSpPr/>
          <p:nvPr/>
        </p:nvSpPr>
        <p:spPr>
          <a:xfrm>
            <a:off x="707710" y="2627908"/>
            <a:ext cx="4914678"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Escenario A — Sin reto Big Data</a:t>
            </a:r>
            <a:endParaRPr lang="en-US" sz="1600" dirty="0"/>
          </a:p>
        </p:txBody>
      </p:sp>
      <p:sp>
        <p:nvSpPr>
          <p:cNvPr id="5" name="Text 3"/>
          <p:cNvSpPr/>
          <p:nvPr/>
        </p:nvSpPr>
        <p:spPr>
          <a:xfrm>
            <a:off x="707710" y="3051671"/>
            <a:ext cx="4914678" cy="1231999"/>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10.000 registros en un CSV</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Se analiza cómodamente en un portátil</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Una consulta tarda milisegundos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Un solo formato, bien conocido</a:t>
            </a:r>
            <a:endParaRPr lang="en-US" sz="1300" dirty="0"/>
          </a:p>
        </p:txBody>
      </p:sp>
      <p:sp>
        <p:nvSpPr>
          <p:cNvPr id="6" name="Text 4"/>
          <p:cNvSpPr/>
          <p:nvPr/>
        </p:nvSpPr>
        <p:spPr>
          <a:xfrm>
            <a:off x="6078385" y="2627908"/>
            <a:ext cx="5458085"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Escenario B — Reto Big Data</a:t>
            </a:r>
            <a:endParaRPr lang="en-US" sz="1600" dirty="0"/>
          </a:p>
        </p:txBody>
      </p:sp>
      <p:sp>
        <p:nvSpPr>
          <p:cNvPr id="7" name="Text 5"/>
          <p:cNvSpPr/>
          <p:nvPr/>
        </p:nvSpPr>
        <p:spPr>
          <a:xfrm>
            <a:off x="6078385" y="3051671"/>
            <a:ext cx="5458085" cy="1231999"/>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Miles de dispositivos generan eventos continuamente</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Años de históricos acumulados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Múltiples formatos heterogéneos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Se necesita respuesta en segundos</a:t>
            </a:r>
            <a:endParaRPr lang="en-US" sz="1300" dirty="0"/>
          </a:p>
        </p:txBody>
      </p:sp>
      <p:sp>
        <p:nvSpPr>
          <p:cNvPr id="8" name="Text 6"/>
          <p:cNvSpPr/>
          <p:nvPr/>
        </p:nvSpPr>
        <p:spPr>
          <a:xfrm>
            <a:off x="661475" y="4527550"/>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¿Qué cambia?</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El almacenamiento, el procesamiento, la velocidad necesaria, la arquitectura, el coste, la calidad exigida y la escalabilidad del sistema.</a:t>
            </a:r>
            <a:endParaRPr lang="en-US" sz="1300" dirty="0"/>
          </a:p>
        </p:txBody>
      </p:sp>
      <p:pic>
        <p:nvPicPr>
          <p:cNvPr id="9"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0"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1" name="Text 7"/>
          <p:cNvSpPr/>
          <p:nvPr/>
        </p:nvSpPr>
        <p:spPr>
          <a:xfrm>
            <a:off x="10869737" y="6300589"/>
            <a:ext cx="112352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607741"/>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Big Data no significa simplemente "datos grandes"</a:t>
            </a:r>
            <a:endParaRPr lang="en-US" sz="2600" dirty="0"/>
          </a:p>
        </p:txBody>
      </p:sp>
      <p:sp>
        <p:nvSpPr>
          <p:cNvPr id="3" name="Text 1"/>
          <p:cNvSpPr/>
          <p:nvPr/>
        </p:nvSpPr>
        <p:spPr>
          <a:xfrm>
            <a:off x="661475" y="235188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Este error de comprensión es muy frecuente. El reto depende de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varias dimensiones simultáneas</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no solo del volumen.</a:t>
            </a:r>
            <a:endParaRPr lang="en-US" sz="1300" dirty="0"/>
          </a:p>
        </p:txBody>
      </p:sp>
      <p:sp>
        <p:nvSpPr>
          <p:cNvPr id="4" name="Shape 2"/>
          <p:cNvSpPr/>
          <p:nvPr/>
        </p:nvSpPr>
        <p:spPr>
          <a:xfrm>
            <a:off x="661475" y="2802533"/>
            <a:ext cx="10868745" cy="2447727"/>
          </a:xfrm>
          <a:prstGeom prst="roundRect">
            <a:avLst>
              <a:gd name="adj" fmla="val 10135"/>
            </a:avLst>
          </a:prstGeom>
          <a:solidFill>
            <a:srgbClr val="3F2077"/>
          </a:solidFill>
          <a:ln w="6350">
            <a:solidFill>
              <a:srgbClr val="4B3082"/>
            </a:solidFill>
            <a:prstDash val="solid"/>
          </a:ln>
        </p:spPr>
      </p:sp>
      <p:sp>
        <p:nvSpPr>
          <p:cNvPr id="5" name="Shape 3"/>
          <p:cNvSpPr/>
          <p:nvPr/>
        </p:nvSpPr>
        <p:spPr>
          <a:xfrm>
            <a:off x="667825" y="2808883"/>
            <a:ext cx="5428023" cy="1217513"/>
          </a:xfrm>
          <a:custGeom>
            <a:avLst/>
            <a:gdLst/>
            <a:ahLst/>
            <a:cxnLst/>
            <a:rect l="l" t="t" r="r" b="b"/>
            <a:pathLst>
              <a:path w="5428023" h="1217513">
                <a:moveTo>
                  <a:pt x="206739" y="0"/>
                </a:moveTo>
                <a:lnTo>
                  <a:pt x="5428023" y="0"/>
                </a:lnTo>
                <a:lnTo>
                  <a:pt x="5428023" y="1217513"/>
                </a:lnTo>
                <a:lnTo>
                  <a:pt x="0" y="1217513"/>
                </a:lnTo>
                <a:lnTo>
                  <a:pt x="0" y="206744"/>
                </a:lnTo>
                <a:arcTo hR="206744" wR="206739" stAng="10800000" swAng="5400000"/>
                <a:close/>
              </a:path>
            </a:pathLst>
          </a:custGeom>
          <a:solidFill>
            <a:srgbClr val="3F2077"/>
          </a:solidFill>
          <a:ln/>
        </p:spPr>
      </p:sp>
      <p:sp>
        <p:nvSpPr>
          <p:cNvPr id="6" name="Text 4"/>
          <p:cNvSpPr/>
          <p:nvPr/>
        </p:nvSpPr>
        <p:spPr>
          <a:xfrm>
            <a:off x="833119" y="2974181"/>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Mucho volumen pero proceso mensual</a:t>
            </a:r>
            <a:endParaRPr lang="en-US" sz="1600" dirty="0"/>
          </a:p>
        </p:txBody>
      </p:sp>
      <p:sp>
        <p:nvSpPr>
          <p:cNvPr id="7" name="Text 5"/>
          <p:cNvSpPr/>
          <p:nvPr/>
        </p:nvSpPr>
        <p:spPr>
          <a:xfrm>
            <a:off x="833119" y="3331865"/>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Puede gestionarse con herramientas convencionales si no hay restricción de tiempo.</a:t>
            </a:r>
            <a:endParaRPr lang="en-US" sz="1300" dirty="0"/>
          </a:p>
        </p:txBody>
      </p:sp>
      <p:sp>
        <p:nvSpPr>
          <p:cNvPr id="8" name="Shape 6"/>
          <p:cNvSpPr/>
          <p:nvPr/>
        </p:nvSpPr>
        <p:spPr>
          <a:xfrm>
            <a:off x="6095848" y="2808883"/>
            <a:ext cx="5428023" cy="1217513"/>
          </a:xfrm>
          <a:custGeom>
            <a:avLst/>
            <a:gdLst/>
            <a:ahLst/>
            <a:cxnLst/>
            <a:rect l="l" t="t" r="r" b="b"/>
            <a:pathLst>
              <a:path w="5428023" h="1217513">
                <a:moveTo>
                  <a:pt x="0" y="0"/>
                </a:moveTo>
                <a:lnTo>
                  <a:pt x="5221284" y="0"/>
                </a:lnTo>
                <a:arcTo hR="206744" wR="206739" stAng="16200000" swAng="5400000"/>
                <a:lnTo>
                  <a:pt x="5428023" y="1217513"/>
                </a:lnTo>
                <a:lnTo>
                  <a:pt x="0" y="1217513"/>
                </a:lnTo>
                <a:lnTo>
                  <a:pt x="0" y="0"/>
                </a:lnTo>
                <a:close/>
              </a:path>
            </a:pathLst>
          </a:custGeom>
          <a:solidFill>
            <a:srgbClr val="3F2077"/>
          </a:solidFill>
          <a:ln/>
        </p:spPr>
      </p:sp>
      <p:sp>
        <p:nvSpPr>
          <p:cNvPr id="9" name="Shape 7"/>
          <p:cNvSpPr/>
          <p:nvPr/>
        </p:nvSpPr>
        <p:spPr>
          <a:xfrm>
            <a:off x="6095848" y="2808883"/>
            <a:ext cx="19050" cy="1217513"/>
          </a:xfrm>
          <a:prstGeom prst="roundRect">
            <a:avLst>
              <a:gd name="adj" fmla="val 49999"/>
            </a:avLst>
          </a:prstGeom>
          <a:solidFill>
            <a:srgbClr val="4B3082"/>
          </a:solidFill>
          <a:ln/>
        </p:spPr>
      </p:sp>
      <p:sp>
        <p:nvSpPr>
          <p:cNvPr id="10" name="Text 8"/>
          <p:cNvSpPr/>
          <p:nvPr/>
        </p:nvSpPr>
        <p:spPr>
          <a:xfrm>
            <a:off x="6261142" y="2974181"/>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Poco volumen, llegada extremadamente rápida</a:t>
            </a:r>
            <a:endParaRPr lang="en-US" sz="1600" dirty="0"/>
          </a:p>
        </p:txBody>
      </p:sp>
      <p:sp>
        <p:nvSpPr>
          <p:cNvPr id="11" name="Text 9"/>
          <p:cNvSpPr/>
          <p:nvPr/>
        </p:nvSpPr>
        <p:spPr>
          <a:xfrm>
            <a:off x="6261142" y="3331865"/>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Sensores financieros que emiten miles de eventos por segundo exigen arquitecturas especiales.</a:t>
            </a:r>
            <a:endParaRPr lang="en-US" sz="1300" dirty="0"/>
          </a:p>
        </p:txBody>
      </p:sp>
      <p:sp>
        <p:nvSpPr>
          <p:cNvPr id="12" name="Shape 10"/>
          <p:cNvSpPr/>
          <p:nvPr/>
        </p:nvSpPr>
        <p:spPr>
          <a:xfrm>
            <a:off x="667825" y="4026396"/>
            <a:ext cx="5428023" cy="1217513"/>
          </a:xfrm>
          <a:custGeom>
            <a:avLst/>
            <a:gdLst/>
            <a:ahLst/>
            <a:cxnLst/>
            <a:rect l="l" t="t" r="r" b="b"/>
            <a:pathLst>
              <a:path w="5428023" h="1217513">
                <a:moveTo>
                  <a:pt x="0" y="0"/>
                </a:moveTo>
                <a:lnTo>
                  <a:pt x="5428023" y="0"/>
                </a:lnTo>
                <a:lnTo>
                  <a:pt x="5428023" y="1217513"/>
                </a:lnTo>
                <a:lnTo>
                  <a:pt x="206739" y="1217513"/>
                </a:lnTo>
                <a:arcTo hR="206744" wR="206739" stAng="5400000" swAng="5400000"/>
                <a:lnTo>
                  <a:pt x="0" y="0"/>
                </a:lnTo>
                <a:close/>
              </a:path>
            </a:pathLst>
          </a:custGeom>
          <a:solidFill>
            <a:srgbClr val="3F2077"/>
          </a:solidFill>
          <a:ln/>
        </p:spPr>
      </p:sp>
      <p:sp>
        <p:nvSpPr>
          <p:cNvPr id="13" name="Shape 11"/>
          <p:cNvSpPr/>
          <p:nvPr/>
        </p:nvSpPr>
        <p:spPr>
          <a:xfrm>
            <a:off x="667825" y="4026396"/>
            <a:ext cx="5428023" cy="19050"/>
          </a:xfrm>
          <a:prstGeom prst="roundRect">
            <a:avLst>
              <a:gd name="adj" fmla="val 49999"/>
            </a:avLst>
          </a:prstGeom>
          <a:solidFill>
            <a:srgbClr val="4B3082"/>
          </a:solidFill>
          <a:ln/>
        </p:spPr>
      </p:sp>
      <p:sp>
        <p:nvSpPr>
          <p:cNvPr id="14" name="Text 12"/>
          <p:cNvSpPr/>
          <p:nvPr/>
        </p:nvSpPr>
        <p:spPr>
          <a:xfrm>
            <a:off x="833119" y="4191695"/>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Datos altamente heterogéneos</a:t>
            </a:r>
            <a:endParaRPr lang="en-US" sz="1600" dirty="0"/>
          </a:p>
        </p:txBody>
      </p:sp>
      <p:sp>
        <p:nvSpPr>
          <p:cNvPr id="15" name="Text 13"/>
          <p:cNvSpPr/>
          <p:nvPr/>
        </p:nvSpPr>
        <p:spPr>
          <a:xfrm>
            <a:off x="833119" y="4549378"/>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Combinar SQL, JSON, imágenes y audio ya es un reto independientemente del tamaño.</a:t>
            </a:r>
            <a:endParaRPr lang="en-US" sz="1300" dirty="0"/>
          </a:p>
        </p:txBody>
      </p:sp>
      <p:sp>
        <p:nvSpPr>
          <p:cNvPr id="16" name="Shape 14"/>
          <p:cNvSpPr/>
          <p:nvPr/>
        </p:nvSpPr>
        <p:spPr>
          <a:xfrm>
            <a:off x="6095848" y="4026396"/>
            <a:ext cx="5428023" cy="1217513"/>
          </a:xfrm>
          <a:custGeom>
            <a:avLst/>
            <a:gdLst/>
            <a:ahLst/>
            <a:cxnLst/>
            <a:rect l="l" t="t" r="r" b="b"/>
            <a:pathLst>
              <a:path w="5428023" h="1217513">
                <a:moveTo>
                  <a:pt x="0" y="0"/>
                </a:moveTo>
                <a:lnTo>
                  <a:pt x="5428023" y="0"/>
                </a:lnTo>
                <a:lnTo>
                  <a:pt x="5428023" y="1010769"/>
                </a:lnTo>
                <a:arcTo hR="206744" wR="206739" stAng="0" swAng="5400000"/>
                <a:lnTo>
                  <a:pt x="0" y="1217513"/>
                </a:lnTo>
                <a:lnTo>
                  <a:pt x="0" y="0"/>
                </a:lnTo>
                <a:close/>
              </a:path>
            </a:pathLst>
          </a:custGeom>
          <a:solidFill>
            <a:srgbClr val="3F2077"/>
          </a:solidFill>
          <a:ln/>
        </p:spPr>
      </p:sp>
      <p:sp>
        <p:nvSpPr>
          <p:cNvPr id="17" name="Shape 15"/>
          <p:cNvSpPr/>
          <p:nvPr/>
        </p:nvSpPr>
        <p:spPr>
          <a:xfrm>
            <a:off x="6095848" y="4026396"/>
            <a:ext cx="19050" cy="1217513"/>
          </a:xfrm>
          <a:prstGeom prst="roundRect">
            <a:avLst>
              <a:gd name="adj" fmla="val 49999"/>
            </a:avLst>
          </a:prstGeom>
          <a:solidFill>
            <a:srgbClr val="4B3082"/>
          </a:solidFill>
          <a:ln/>
        </p:spPr>
      </p:sp>
      <p:sp>
        <p:nvSpPr>
          <p:cNvPr id="18" name="Shape 16"/>
          <p:cNvSpPr/>
          <p:nvPr/>
        </p:nvSpPr>
        <p:spPr>
          <a:xfrm>
            <a:off x="6095848" y="4026396"/>
            <a:ext cx="5428023" cy="19050"/>
          </a:xfrm>
          <a:prstGeom prst="roundRect">
            <a:avLst>
              <a:gd name="adj" fmla="val 49999"/>
            </a:avLst>
          </a:prstGeom>
          <a:solidFill>
            <a:srgbClr val="4B3082"/>
          </a:solidFill>
          <a:ln/>
        </p:spPr>
      </p:sp>
      <p:sp>
        <p:nvSpPr>
          <p:cNvPr id="19" name="Text 17"/>
          <p:cNvSpPr/>
          <p:nvPr/>
        </p:nvSpPr>
        <p:spPr>
          <a:xfrm>
            <a:off x="6261142" y="4191695"/>
            <a:ext cx="509743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Información que pierde valor rápidamente</a:t>
            </a:r>
            <a:endParaRPr lang="en-US" sz="1600" dirty="0"/>
          </a:p>
        </p:txBody>
      </p:sp>
      <p:sp>
        <p:nvSpPr>
          <p:cNvPr id="20" name="Text 18"/>
          <p:cNvSpPr/>
          <p:nvPr/>
        </p:nvSpPr>
        <p:spPr>
          <a:xfrm>
            <a:off x="6261142" y="4549378"/>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Una alerta de fraude detectada diez minutos tarde puede no servir de nada.</a:t>
            </a:r>
            <a:endParaRPr lang="en-US" sz="1300" dirty="0"/>
          </a:p>
        </p:txBody>
      </p:sp>
      <p:pic>
        <p:nvPicPr>
          <p:cNvPr id="21"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2"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3" name="Text 19"/>
          <p:cNvSpPr/>
          <p:nvPr/>
        </p:nvSpPr>
        <p:spPr>
          <a:xfrm>
            <a:off x="10848902" y="6300589"/>
            <a:ext cx="114436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008063"/>
            <a:ext cx="10868745" cy="386655"/>
          </a:xfrm>
          <a:prstGeom prst="rect">
            <a:avLst/>
          </a:prstGeom>
          <a:noFill/>
          <a:ln/>
        </p:spPr>
        <p:txBody>
          <a:bodyPr wrap="none" lIns="0" tIns="0" rIns="0" bIns="0" rtlCol="0" anchor="t"/>
          <a:lstStyle/>
          <a:p>
            <a:pPr algn="l" indent="0" marL="0">
              <a:lnSpc>
                <a:spcPct val="104000"/>
              </a:lnSpc>
              <a:buNone/>
            </a:pPr>
            <a:r>
              <a:rPr lang="en-US" sz="2400" spc="-24" kern="0" dirty="0">
                <a:solidFill>
                  <a:srgbClr val="FFFFFF"/>
                </a:solidFill>
                <a:latin typeface="Alexandria Medium" pitchFamily="34" charset="0"/>
                <a:ea typeface="Alexandria Medium" pitchFamily="34" charset="-122"/>
                <a:cs typeface="Alexandria Medium" pitchFamily="34" charset="-120"/>
              </a:rPr>
              <a:t>Las 5 V del Big Data</a:t>
            </a:r>
            <a:endParaRPr lang="en-US" sz="2400" dirty="0"/>
          </a:p>
        </p:txBody>
      </p:sp>
      <p:sp>
        <p:nvSpPr>
          <p:cNvPr id="3" name="Text 1"/>
          <p:cNvSpPr/>
          <p:nvPr/>
        </p:nvSpPr>
        <p:spPr>
          <a:xfrm>
            <a:off x="661475" y="1683941"/>
            <a:ext cx="11478330" cy="239415"/>
          </a:xfrm>
          <a:prstGeom prst="rect">
            <a:avLst/>
          </a:prstGeom>
          <a:noFill/>
          <a:ln/>
        </p:spPr>
        <p:txBody>
          <a:bodyPr wrap="none" lIns="0" tIns="0" rIns="0" bIns="0" rtlCol="0" anchor="t"/>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Cinco dimensiones que caracterizan los retos del Big Data. Un sistema puede presentar una o varias simultáneamente.</a:t>
            </a:r>
            <a:endParaRPr lang="en-US" sz="1200" dirty="0"/>
          </a:p>
        </p:txBody>
      </p:sp>
      <p:pic>
        <p:nvPicPr>
          <p:cNvPr id="4" name="Image 0" descr="preencoded.png">    </p:cNvPr>
          <p:cNvPicPr>
            <a:picLocks noChangeAspect="1"/>
          </p:cNvPicPr>
          <p:nvPr/>
        </p:nvPicPr>
        <p:blipFill>
          <a:blip r:embed="rId1"/>
          <a:stretch>
            <a:fillRect/>
          </a:stretch>
        </p:blipFill>
        <p:spPr>
          <a:xfrm>
            <a:off x="661475" y="2086074"/>
            <a:ext cx="6403021" cy="3361630"/>
          </a:xfrm>
          <a:prstGeom prst="rect">
            <a:avLst/>
          </a:prstGeom>
        </p:spPr>
      </p:pic>
      <p:sp>
        <p:nvSpPr>
          <p:cNvPr id="5" name="Text 2"/>
          <p:cNvSpPr/>
          <p:nvPr/>
        </p:nvSpPr>
        <p:spPr>
          <a:xfrm>
            <a:off x="661475" y="5610423"/>
            <a:ext cx="11478330" cy="239415"/>
          </a:xfrm>
          <a:prstGeom prst="rect">
            <a:avLst/>
          </a:prstGeom>
          <a:noFill/>
          <a:ln/>
        </p:spPr>
        <p:txBody>
          <a:bodyPr wrap="none" lIns="0" tIns="0" rIns="0" bIns="0" rtlCol="0" anchor="t"/>
          <a:lstStyle/>
          <a:p>
            <a:pPr algn="l" indent="0" marL="0">
              <a:lnSpc>
                <a:spcPct val="129000"/>
              </a:lnSpc>
              <a:buNone/>
            </a:pPr>
            <a:r>
              <a:rPr lang="en-US" sz="1200" dirty="0">
                <a:solidFill>
                  <a:srgbClr val="FFFFFF"/>
                </a:solidFill>
                <a:latin typeface="Manrope" pitchFamily="34" charset="0"/>
                <a:ea typeface="Manrope" pitchFamily="34" charset="-122"/>
                <a:cs typeface="Manrope" pitchFamily="34" charset="-120"/>
              </a:rPr>
              <a:t>Las siguientes diapositivas desarrollan cada V con ejemplos aplicados.</a:t>
            </a:r>
            <a:endParaRPr lang="en-US" sz="1200" dirty="0"/>
          </a:p>
        </p:txBody>
      </p:sp>
      <p:pic>
        <p:nvPicPr>
          <p:cNvPr id="6"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7"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8" name="Text 3"/>
          <p:cNvSpPr/>
          <p:nvPr/>
        </p:nvSpPr>
        <p:spPr>
          <a:xfrm>
            <a:off x="10850886" y="6300589"/>
            <a:ext cx="114237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187748"/>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Volumen</a:t>
            </a:r>
            <a:endParaRPr lang="en-US" sz="2200" dirty="0"/>
          </a:p>
        </p:txBody>
      </p:sp>
      <p:sp>
        <p:nvSpPr>
          <p:cNvPr id="3" name="Text 1"/>
          <p:cNvSpPr/>
          <p:nvPr/>
        </p:nvSpPr>
        <p:spPr>
          <a:xfrm>
            <a:off x="661475" y="1778099"/>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Cantidad de datos que deben almacenarse y procesarse. A medida que crece, aparecen preguntas críticas.</a:t>
            </a:r>
            <a:endParaRPr lang="en-US" sz="1100" dirty="0"/>
          </a:p>
        </p:txBody>
      </p:sp>
      <p:pic>
        <p:nvPicPr>
          <p:cNvPr id="4" name="Image 0" descr="preencoded.png">    </p:cNvPr>
          <p:cNvPicPr>
            <a:picLocks noChangeAspect="1"/>
          </p:cNvPicPr>
          <p:nvPr/>
        </p:nvPicPr>
        <p:blipFill>
          <a:blip r:embed="rId1"/>
          <a:stretch>
            <a:fillRect/>
          </a:stretch>
        </p:blipFill>
        <p:spPr>
          <a:xfrm>
            <a:off x="661475" y="2120503"/>
            <a:ext cx="7268187" cy="2414389"/>
          </a:xfrm>
          <a:prstGeom prst="rect">
            <a:avLst/>
          </a:prstGeom>
        </p:spPr>
      </p:pic>
      <p:sp>
        <p:nvSpPr>
          <p:cNvPr id="5" name="Shape 2"/>
          <p:cNvSpPr/>
          <p:nvPr/>
        </p:nvSpPr>
        <p:spPr>
          <a:xfrm>
            <a:off x="661475" y="4669234"/>
            <a:ext cx="3543211" cy="1001018"/>
          </a:xfrm>
          <a:prstGeom prst="roundRect">
            <a:avLst>
              <a:gd name="adj" fmla="val 21066"/>
            </a:avLst>
          </a:prstGeom>
          <a:solidFill>
            <a:srgbClr val="3F2077"/>
          </a:solidFill>
          <a:ln w="6350">
            <a:solidFill>
              <a:srgbClr val="4B3082"/>
            </a:solidFill>
            <a:prstDash val="solid"/>
          </a:ln>
        </p:spPr>
      </p:sp>
      <p:sp>
        <p:nvSpPr>
          <p:cNvPr id="6" name="Text 3"/>
          <p:cNvSpPr/>
          <p:nvPr/>
        </p:nvSpPr>
        <p:spPr>
          <a:xfrm>
            <a:off x="808315" y="4816078"/>
            <a:ext cx="3249531"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¿Caben en memoria?</a:t>
            </a:r>
            <a:endParaRPr lang="en-US" sz="1350" dirty="0"/>
          </a:p>
        </p:txBody>
      </p:sp>
      <p:sp>
        <p:nvSpPr>
          <p:cNvPr id="7" name="Text 4"/>
          <p:cNvSpPr/>
          <p:nvPr/>
        </p:nvSpPr>
        <p:spPr>
          <a:xfrm>
            <a:off x="808315" y="5107285"/>
            <a:ext cx="3249531"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Un dataset de miles de millones de filas no cabe en la RAM de un único ordenador.</a:t>
            </a:r>
            <a:endParaRPr lang="en-US" sz="1100" dirty="0"/>
          </a:p>
        </p:txBody>
      </p:sp>
      <p:sp>
        <p:nvSpPr>
          <p:cNvPr id="8" name="Shape 5"/>
          <p:cNvSpPr/>
          <p:nvPr/>
        </p:nvSpPr>
        <p:spPr>
          <a:xfrm>
            <a:off x="4324143" y="4669234"/>
            <a:ext cx="3543311" cy="1001018"/>
          </a:xfrm>
          <a:prstGeom prst="roundRect">
            <a:avLst>
              <a:gd name="adj" fmla="val 21066"/>
            </a:avLst>
          </a:prstGeom>
          <a:solidFill>
            <a:srgbClr val="3F2077"/>
          </a:solidFill>
          <a:ln w="6350">
            <a:solidFill>
              <a:srgbClr val="4B3082"/>
            </a:solidFill>
            <a:prstDash val="solid"/>
          </a:ln>
        </p:spPr>
      </p:sp>
      <p:sp>
        <p:nvSpPr>
          <p:cNvPr id="9" name="Text 6"/>
          <p:cNvSpPr/>
          <p:nvPr/>
        </p:nvSpPr>
        <p:spPr>
          <a:xfrm>
            <a:off x="4470983" y="4816078"/>
            <a:ext cx="3249630"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¿Cuánto tardamos?</a:t>
            </a:r>
            <a:endParaRPr lang="en-US" sz="1350" dirty="0"/>
          </a:p>
        </p:txBody>
      </p:sp>
      <p:sp>
        <p:nvSpPr>
          <p:cNvPr id="10" name="Text 7"/>
          <p:cNvSpPr/>
          <p:nvPr/>
        </p:nvSpPr>
        <p:spPr>
          <a:xfrm>
            <a:off x="4470983" y="5107285"/>
            <a:ext cx="3249630"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tiempo de procesamiento crece con el volumen. La eficiencia del algoritmo importa cada vez más.</a:t>
            </a:r>
            <a:endParaRPr lang="en-US" sz="1100" dirty="0"/>
          </a:p>
        </p:txBody>
      </p:sp>
      <p:sp>
        <p:nvSpPr>
          <p:cNvPr id="11" name="Shape 8"/>
          <p:cNvSpPr/>
          <p:nvPr/>
        </p:nvSpPr>
        <p:spPr>
          <a:xfrm>
            <a:off x="7986910" y="4669234"/>
            <a:ext cx="3543311" cy="1001018"/>
          </a:xfrm>
          <a:prstGeom prst="roundRect">
            <a:avLst>
              <a:gd name="adj" fmla="val 21066"/>
            </a:avLst>
          </a:prstGeom>
          <a:solidFill>
            <a:srgbClr val="3F2077"/>
          </a:solidFill>
          <a:ln w="6350">
            <a:solidFill>
              <a:srgbClr val="4B3082"/>
            </a:solidFill>
            <a:prstDash val="solid"/>
          </a:ln>
        </p:spPr>
      </p:sp>
      <p:sp>
        <p:nvSpPr>
          <p:cNvPr id="12" name="Text 9"/>
          <p:cNvSpPr/>
          <p:nvPr/>
        </p:nvSpPr>
        <p:spPr>
          <a:xfrm>
            <a:off x="8133750" y="4816078"/>
            <a:ext cx="3249630"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¿Dónde almacenamos?</a:t>
            </a:r>
            <a:endParaRPr lang="en-US" sz="1350" dirty="0"/>
          </a:p>
        </p:txBody>
      </p:sp>
      <p:sp>
        <p:nvSpPr>
          <p:cNvPr id="13" name="Text 10"/>
          <p:cNvSpPr/>
          <p:nvPr/>
        </p:nvSpPr>
        <p:spPr>
          <a:xfrm>
            <a:off x="8133750" y="5107285"/>
            <a:ext cx="3249630"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El almacenamiento debe escalar: disco local → servidores → almacenamiento distribuido.</a:t>
            </a:r>
            <a:endParaRPr lang="en-US" sz="1100" dirty="0"/>
          </a:p>
        </p:txBody>
      </p:sp>
      <p:pic>
        <p:nvPicPr>
          <p:cNvPr id="14"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5"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6" name="Text 11"/>
          <p:cNvSpPr/>
          <p:nvPr/>
        </p:nvSpPr>
        <p:spPr>
          <a:xfrm>
            <a:off x="10846620" y="6300589"/>
            <a:ext cx="114664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1334691"/>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Velocidad</a:t>
            </a:r>
            <a:endParaRPr lang="en-US" sz="2600" dirty="0"/>
          </a:p>
        </p:txBody>
      </p:sp>
      <p:sp>
        <p:nvSpPr>
          <p:cNvPr id="3" name="Text 1"/>
          <p:cNvSpPr/>
          <p:nvPr/>
        </p:nvSpPr>
        <p:spPr>
          <a:xfrm>
            <a:off x="661475" y="1996182"/>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Los datos pueden generarse y necesitar procesarse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muy rápidamente</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La velocidad de llegada determina los requisitos del sistema.</a:t>
            </a:r>
            <a:endParaRPr lang="en-US" sz="1300" dirty="0"/>
          </a:p>
        </p:txBody>
      </p:sp>
      <p:sp>
        <p:nvSpPr>
          <p:cNvPr id="4" name="Shape 2"/>
          <p:cNvSpPr/>
          <p:nvPr/>
        </p:nvSpPr>
        <p:spPr>
          <a:xfrm>
            <a:off x="661475" y="2446834"/>
            <a:ext cx="5351725" cy="1230213"/>
          </a:xfrm>
          <a:prstGeom prst="roundRect">
            <a:avLst>
              <a:gd name="adj" fmla="val 20166"/>
            </a:avLst>
          </a:prstGeom>
          <a:solidFill>
            <a:srgbClr val="3F2077"/>
          </a:solidFill>
          <a:ln w="6350">
            <a:solidFill>
              <a:srgbClr val="4B3082"/>
            </a:solidFill>
            <a:prstDash val="solid"/>
          </a:ln>
        </p:spPr>
      </p:sp>
      <p:sp>
        <p:nvSpPr>
          <p:cNvPr id="5" name="Text 3"/>
          <p:cNvSpPr/>
          <p:nvPr/>
        </p:nvSpPr>
        <p:spPr>
          <a:xfrm>
            <a:off x="833119" y="2618482"/>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Fraude bancario</a:t>
            </a:r>
            <a:endParaRPr lang="en-US" sz="1600" dirty="0"/>
          </a:p>
        </p:txBody>
      </p:sp>
      <p:sp>
        <p:nvSpPr>
          <p:cNvPr id="6" name="Text 4"/>
          <p:cNvSpPr/>
          <p:nvPr/>
        </p:nvSpPr>
        <p:spPr>
          <a:xfrm>
            <a:off x="833119" y="2976166"/>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Cada transacción debe analizarse en milisegundos antes de aprobarse o rechazarse.</a:t>
            </a:r>
            <a:endParaRPr lang="en-US" sz="1300" dirty="0"/>
          </a:p>
        </p:txBody>
      </p:sp>
      <p:sp>
        <p:nvSpPr>
          <p:cNvPr id="7" name="Shape 5"/>
          <p:cNvSpPr/>
          <p:nvPr/>
        </p:nvSpPr>
        <p:spPr>
          <a:xfrm>
            <a:off x="6178495" y="2446834"/>
            <a:ext cx="5351725" cy="1230213"/>
          </a:xfrm>
          <a:prstGeom prst="roundRect">
            <a:avLst>
              <a:gd name="adj" fmla="val 20166"/>
            </a:avLst>
          </a:prstGeom>
          <a:solidFill>
            <a:srgbClr val="3F2077"/>
          </a:solidFill>
          <a:ln w="6350">
            <a:solidFill>
              <a:srgbClr val="4B3082"/>
            </a:solidFill>
            <a:prstDash val="solid"/>
          </a:ln>
        </p:spPr>
      </p:sp>
      <p:sp>
        <p:nvSpPr>
          <p:cNvPr id="8" name="Text 6"/>
          <p:cNvSpPr/>
          <p:nvPr/>
        </p:nvSpPr>
        <p:spPr>
          <a:xfrm>
            <a:off x="6350139" y="2618482"/>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Sensores industriales</a:t>
            </a:r>
            <a:endParaRPr lang="en-US" sz="1600" dirty="0"/>
          </a:p>
        </p:txBody>
      </p:sp>
      <p:sp>
        <p:nvSpPr>
          <p:cNvPr id="9" name="Text 7"/>
          <p:cNvSpPr/>
          <p:nvPr/>
        </p:nvSpPr>
        <p:spPr>
          <a:xfrm>
            <a:off x="6350139" y="2976166"/>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Miles de lecturas por segundo desde maquinaria que no puede detenerse.</a:t>
            </a:r>
            <a:endParaRPr lang="en-US" sz="1300" dirty="0"/>
          </a:p>
        </p:txBody>
      </p:sp>
      <p:sp>
        <p:nvSpPr>
          <p:cNvPr id="10" name="Shape 8"/>
          <p:cNvSpPr/>
          <p:nvPr/>
        </p:nvSpPr>
        <p:spPr>
          <a:xfrm>
            <a:off x="661475" y="3842345"/>
            <a:ext cx="5351725" cy="1230213"/>
          </a:xfrm>
          <a:prstGeom prst="roundRect">
            <a:avLst>
              <a:gd name="adj" fmla="val 20166"/>
            </a:avLst>
          </a:prstGeom>
          <a:solidFill>
            <a:srgbClr val="3F2077"/>
          </a:solidFill>
          <a:ln w="6350">
            <a:solidFill>
              <a:srgbClr val="4B3082"/>
            </a:solidFill>
            <a:prstDash val="solid"/>
          </a:ln>
        </p:spPr>
      </p:sp>
      <p:sp>
        <p:nvSpPr>
          <p:cNvPr id="11" name="Text 9"/>
          <p:cNvSpPr/>
          <p:nvPr/>
        </p:nvSpPr>
        <p:spPr>
          <a:xfrm>
            <a:off x="833119" y="4013994"/>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Mercados financieros</a:t>
            </a:r>
            <a:endParaRPr lang="en-US" sz="1600" dirty="0"/>
          </a:p>
        </p:txBody>
      </p:sp>
      <p:sp>
        <p:nvSpPr>
          <p:cNvPr id="12" name="Text 10"/>
          <p:cNvSpPr/>
          <p:nvPr/>
        </p:nvSpPr>
        <p:spPr>
          <a:xfrm>
            <a:off x="833119" y="4371677"/>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Millones de operaciones por segundo. Un retardo de microsegundos tiene impacto económico.</a:t>
            </a:r>
            <a:endParaRPr lang="en-US" sz="1300" dirty="0"/>
          </a:p>
        </p:txBody>
      </p:sp>
      <p:sp>
        <p:nvSpPr>
          <p:cNvPr id="13" name="Shape 11"/>
          <p:cNvSpPr/>
          <p:nvPr/>
        </p:nvSpPr>
        <p:spPr>
          <a:xfrm>
            <a:off x="6178495" y="3842345"/>
            <a:ext cx="5351725" cy="1230213"/>
          </a:xfrm>
          <a:prstGeom prst="roundRect">
            <a:avLst>
              <a:gd name="adj" fmla="val 20166"/>
            </a:avLst>
          </a:prstGeom>
          <a:solidFill>
            <a:srgbClr val="3F2077"/>
          </a:solidFill>
          <a:ln w="6350">
            <a:solidFill>
              <a:srgbClr val="4B3082"/>
            </a:solidFill>
            <a:prstDash val="solid"/>
          </a:ln>
        </p:spPr>
      </p:sp>
      <p:sp>
        <p:nvSpPr>
          <p:cNvPr id="14" name="Text 12"/>
          <p:cNvSpPr/>
          <p:nvPr/>
        </p:nvSpPr>
        <p:spPr>
          <a:xfrm>
            <a:off x="6350139" y="4013994"/>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Clickstream web</a:t>
            </a:r>
            <a:endParaRPr lang="en-US" sz="1600" dirty="0"/>
          </a:p>
        </p:txBody>
      </p:sp>
      <p:sp>
        <p:nvSpPr>
          <p:cNvPr id="15" name="Text 13"/>
          <p:cNvSpPr/>
          <p:nvPr/>
        </p:nvSpPr>
        <p:spPr>
          <a:xfrm>
            <a:off x="6350139" y="4371677"/>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Cada clic de cada usuario en una plataforma digital genera un evento de datos.</a:t>
            </a:r>
            <a:endParaRPr lang="en-US" sz="1300" dirty="0"/>
          </a:p>
        </p:txBody>
      </p:sp>
      <p:sp>
        <p:nvSpPr>
          <p:cNvPr id="16" name="Text 14"/>
          <p:cNvSpPr/>
          <p:nvPr/>
        </p:nvSpPr>
        <p:spPr>
          <a:xfrm>
            <a:off x="661475" y="5258594"/>
            <a:ext cx="11478330" cy="264616"/>
          </a:xfrm>
          <a:prstGeom prst="rect">
            <a:avLst/>
          </a:prstGeom>
          <a:noFill/>
          <a:ln/>
        </p:spPr>
        <p:txBody>
          <a:bodyPr wrap="none" lIns="0" tIns="0" rIns="0" bIns="0" rtlCol="0" anchor="t"/>
          <a:lstStyle/>
          <a:p>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Latencia:</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tiempo entre la llegada del dato y la obtención de una respuesta útil. Reducirla es uno de los grandes retos de la velocidad.</a:t>
            </a:r>
            <a:endParaRPr lang="en-US" sz="1300" dirty="0"/>
          </a:p>
        </p:txBody>
      </p:sp>
      <p:pic>
        <p:nvPicPr>
          <p:cNvPr id="1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9" name="Text 15"/>
          <p:cNvSpPr/>
          <p:nvPr/>
        </p:nvSpPr>
        <p:spPr>
          <a:xfrm>
            <a:off x="10848009" y="6300589"/>
            <a:ext cx="114525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1319014"/>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Variedad</a:t>
            </a:r>
            <a:endParaRPr lang="en-US" sz="2600" dirty="0"/>
          </a:p>
        </p:txBody>
      </p:sp>
      <p:sp>
        <p:nvSpPr>
          <p:cNvPr id="3" name="Text 1"/>
          <p:cNvSpPr/>
          <p:nvPr/>
        </p:nvSpPr>
        <p:spPr>
          <a:xfrm>
            <a:off x="661475" y="2063155"/>
            <a:ext cx="10868745" cy="715268"/>
          </a:xfrm>
          <a:prstGeom prst="rect">
            <a:avLst/>
          </a:prstGeom>
          <a:noFill/>
          <a:ln/>
        </p:spPr>
        <p:txBody>
          <a:bodyPr wrap="square" lIns="0" tIns="0" rIns="0" bIns="0" rtlCol="0" anchor="t"/>
          <a:lstStyle/>
          <a:p>
            <a:pPr algn="l" indent="0" marL="0">
              <a:lnSpc>
                <a:spcPct val="133000"/>
              </a:lnSpc>
              <a:spcAft>
                <a:spcPts val="1450"/>
              </a:spcAft>
              <a:buNone/>
            </a:pPr>
            <a:r>
              <a:rPr lang="en-US" sz="1300" dirty="0">
                <a:solidFill>
                  <a:srgbClr val="FFFFFF"/>
                </a:solidFill>
                <a:latin typeface="Manrope" pitchFamily="34" charset="0"/>
                <a:ea typeface="Manrope" pitchFamily="34" charset="-122"/>
                <a:cs typeface="Manrope" pitchFamily="34" charset="-120"/>
              </a:rPr>
              <a:t>Los datos provienen de fuentes muy distintas y en formatos muy diferentes. Combinarlos es uno de los mayores desafíos técnicos.</a:t>
            </a:r>
            <a:endParaRPr lang="en-US" sz="1300" dirty="0"/>
          </a:p>
          <a:p>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Ejemplo: datos que maneja una empresa de comercio electrónico</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64458"/>
            <a:ext cx="3512653" cy="1751707"/>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93781" y="3104257"/>
            <a:ext cx="248041" cy="248047"/>
          </a:xfrm>
          <a:prstGeom prst="rect">
            <a:avLst/>
          </a:prstGeom>
        </p:spPr>
      </p:pic>
      <p:sp>
        <p:nvSpPr>
          <p:cNvPr id="6" name="Text 2"/>
          <p:cNvSpPr/>
          <p:nvPr/>
        </p:nvSpPr>
        <p:spPr>
          <a:xfrm>
            <a:off x="845819" y="3644900"/>
            <a:ext cx="3143965"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Estructurado</a:t>
            </a:r>
            <a:endParaRPr lang="en-US" sz="1600" dirty="0"/>
          </a:p>
        </p:txBody>
      </p:sp>
      <p:sp>
        <p:nvSpPr>
          <p:cNvPr id="7" name="Text 3"/>
          <p:cNvSpPr/>
          <p:nvPr/>
        </p:nvSpPr>
        <p:spPr>
          <a:xfrm>
            <a:off x="845819" y="4002584"/>
            <a:ext cx="3143965"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Base SQL de clientes, pedidos, inventario.</a:t>
            </a:r>
            <a:endParaRPr lang="en-US" sz="13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9422" y="2964458"/>
            <a:ext cx="3512752" cy="1751707"/>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71728" y="3104257"/>
            <a:ext cx="248041" cy="248047"/>
          </a:xfrm>
          <a:prstGeom prst="rect">
            <a:avLst/>
          </a:prstGeom>
        </p:spPr>
      </p:pic>
      <p:sp>
        <p:nvSpPr>
          <p:cNvPr id="10" name="Text 4"/>
          <p:cNvSpPr/>
          <p:nvPr/>
        </p:nvSpPr>
        <p:spPr>
          <a:xfrm>
            <a:off x="4523766" y="3644900"/>
            <a:ext cx="31440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Semiestructurado</a:t>
            </a:r>
            <a:endParaRPr lang="en-US" sz="1600" dirty="0"/>
          </a:p>
        </p:txBody>
      </p:sp>
      <p:sp>
        <p:nvSpPr>
          <p:cNvPr id="11" name="Text 5"/>
          <p:cNvSpPr/>
          <p:nvPr/>
        </p:nvSpPr>
        <p:spPr>
          <a:xfrm>
            <a:off x="4523766" y="4002584"/>
            <a:ext cx="314406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JSON de una API de pagos, logs de servidor.</a:t>
            </a:r>
            <a:endParaRPr lang="en-US" sz="130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17468" y="2964458"/>
            <a:ext cx="3512653" cy="1751707"/>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49774" y="3104257"/>
            <a:ext cx="248041" cy="248047"/>
          </a:xfrm>
          <a:prstGeom prst="rect">
            <a:avLst/>
          </a:prstGeom>
        </p:spPr>
      </p:pic>
      <p:sp>
        <p:nvSpPr>
          <p:cNvPr id="14" name="Text 6"/>
          <p:cNvSpPr/>
          <p:nvPr/>
        </p:nvSpPr>
        <p:spPr>
          <a:xfrm>
            <a:off x="8201812" y="3644900"/>
            <a:ext cx="3143965"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No estructurado</a:t>
            </a:r>
            <a:endParaRPr lang="en-US" sz="1600" dirty="0"/>
          </a:p>
        </p:txBody>
      </p:sp>
      <p:sp>
        <p:nvSpPr>
          <p:cNvPr id="15" name="Text 7"/>
          <p:cNvSpPr/>
          <p:nvPr/>
        </p:nvSpPr>
        <p:spPr>
          <a:xfrm>
            <a:off x="8201812" y="4002584"/>
            <a:ext cx="314396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Correos de soporte, reseñas de productos, imágenes de artículos.</a:t>
            </a:r>
            <a:endParaRPr lang="en-US" sz="1300" dirty="0"/>
          </a:p>
        </p:txBody>
      </p:sp>
      <p:sp>
        <p:nvSpPr>
          <p:cNvPr id="16" name="Text 8"/>
          <p:cNvSpPr/>
          <p:nvPr/>
        </p:nvSpPr>
        <p:spPr>
          <a:xfrm>
            <a:off x="909516" y="5088235"/>
            <a:ext cx="11230289"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¿Cómo combinamos información que llega en formatos tan distintos para obtener una visión unificada del cliente?</a:t>
            </a:r>
            <a:endParaRPr lang="en-US" sz="1300" dirty="0"/>
          </a:p>
        </p:txBody>
      </p:sp>
      <p:sp>
        <p:nvSpPr>
          <p:cNvPr id="17" name="Shape 9"/>
          <p:cNvSpPr/>
          <p:nvPr/>
        </p:nvSpPr>
        <p:spPr>
          <a:xfrm>
            <a:off x="661475" y="4902200"/>
            <a:ext cx="19050" cy="636687"/>
          </a:xfrm>
          <a:prstGeom prst="roundRect">
            <a:avLst>
              <a:gd name="adj" fmla="val 49999"/>
            </a:avLst>
          </a:prstGeom>
          <a:solidFill>
            <a:srgbClr val="B499E9"/>
          </a:solidFill>
          <a:ln/>
        </p:spPr>
      </p:sp>
      <p:pic>
        <p:nvPicPr>
          <p:cNvPr id="18" name="Image 6" descr="preencoded.png">    </p:cNvPr>
          <p:cNvPicPr>
            <a:picLocks noChangeAspect="1"/>
          </p:cNvPicPr>
          <p:nvPr/>
        </p:nvPicPr>
        <p:blipFill>
          <a:blip r:embed="rId13"/>
          <a:stretch>
            <a:fillRect/>
          </a:stretch>
        </p:blipFill>
        <p:spPr>
          <a:xfrm>
            <a:off x="198433" y="203597"/>
            <a:ext cx="676357" cy="568623"/>
          </a:xfrm>
          <a:prstGeom prst="rect">
            <a:avLst/>
          </a:prstGeom>
        </p:spPr>
      </p:pic>
      <p:pic>
        <p:nvPicPr>
          <p:cNvPr id="19" name="Image 7" descr="preencoded.png">    </p:cNvPr>
          <p:cNvPicPr>
            <a:picLocks noChangeAspect="1"/>
          </p:cNvPicPr>
          <p:nvPr/>
        </p:nvPicPr>
        <p:blipFill>
          <a:blip r:embed="rId14"/>
          <a:stretch>
            <a:fillRect/>
          </a:stretch>
        </p:blipFill>
        <p:spPr>
          <a:xfrm>
            <a:off x="11386357" y="268784"/>
            <a:ext cx="606906" cy="438249"/>
          </a:xfrm>
          <a:prstGeom prst="rect">
            <a:avLst/>
          </a:prstGeom>
        </p:spPr>
      </p:pic>
      <p:sp>
        <p:nvSpPr>
          <p:cNvPr id="20" name="Text 10"/>
          <p:cNvSpPr/>
          <p:nvPr/>
        </p:nvSpPr>
        <p:spPr>
          <a:xfrm>
            <a:off x="10843048" y="6300589"/>
            <a:ext cx="115021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1293416"/>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Veracidad</a:t>
            </a:r>
            <a:endParaRPr lang="en-US" sz="2600" dirty="0"/>
          </a:p>
        </p:txBody>
      </p:sp>
      <p:sp>
        <p:nvSpPr>
          <p:cNvPr id="3" name="Text 1"/>
          <p:cNvSpPr/>
          <p:nvPr/>
        </p:nvSpPr>
        <p:spPr>
          <a:xfrm>
            <a:off x="661475" y="2037556"/>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Disponer de muchos datos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no sirve si los datos son incorrectos</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La calidad de los datos determina la calidad de cualquier análisis o decisión.</a:t>
            </a:r>
            <a:endParaRPr lang="en-US" sz="1300" dirty="0"/>
          </a:p>
        </p:txBody>
      </p:sp>
      <p:sp>
        <p:nvSpPr>
          <p:cNvPr id="4" name="Shape 2"/>
          <p:cNvSpPr/>
          <p:nvPr/>
        </p:nvSpPr>
        <p:spPr>
          <a:xfrm>
            <a:off x="661475" y="2488208"/>
            <a:ext cx="5351725" cy="1230213"/>
          </a:xfrm>
          <a:prstGeom prst="roundRect">
            <a:avLst>
              <a:gd name="adj" fmla="val 20166"/>
            </a:avLst>
          </a:prstGeom>
          <a:solidFill>
            <a:srgbClr val="3F2077"/>
          </a:solidFill>
          <a:ln w="6350">
            <a:solidFill>
              <a:srgbClr val="4B3082"/>
            </a:solidFill>
            <a:prstDash val="solid"/>
          </a:ln>
        </p:spPr>
      </p:sp>
      <p:sp>
        <p:nvSpPr>
          <p:cNvPr id="5" name="Text 3"/>
          <p:cNvSpPr/>
          <p:nvPr/>
        </p:nvSpPr>
        <p:spPr>
          <a:xfrm>
            <a:off x="833119" y="2659856"/>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Nulos y vacíos</a:t>
            </a:r>
            <a:endParaRPr lang="en-US" sz="1600" dirty="0"/>
          </a:p>
        </p:txBody>
      </p:sp>
      <p:sp>
        <p:nvSpPr>
          <p:cNvPr id="6" name="Text 4"/>
          <p:cNvSpPr/>
          <p:nvPr/>
        </p:nvSpPr>
        <p:spPr>
          <a:xfrm>
            <a:off x="833119" y="3017540"/>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Campos sin valor que impiden el cálculo o introducen sesgos.</a:t>
            </a:r>
            <a:endParaRPr lang="en-US" sz="1300" dirty="0"/>
          </a:p>
        </p:txBody>
      </p:sp>
      <p:sp>
        <p:nvSpPr>
          <p:cNvPr id="7" name="Shape 5"/>
          <p:cNvSpPr/>
          <p:nvPr/>
        </p:nvSpPr>
        <p:spPr>
          <a:xfrm>
            <a:off x="6178495" y="2488208"/>
            <a:ext cx="5351725" cy="1230213"/>
          </a:xfrm>
          <a:prstGeom prst="roundRect">
            <a:avLst>
              <a:gd name="adj" fmla="val 20166"/>
            </a:avLst>
          </a:prstGeom>
          <a:solidFill>
            <a:srgbClr val="3F2077"/>
          </a:solidFill>
          <a:ln w="6350">
            <a:solidFill>
              <a:srgbClr val="4B3082"/>
            </a:solidFill>
            <a:prstDash val="solid"/>
          </a:ln>
        </p:spPr>
      </p:sp>
      <p:sp>
        <p:nvSpPr>
          <p:cNvPr id="8" name="Text 6"/>
          <p:cNvSpPr/>
          <p:nvPr/>
        </p:nvSpPr>
        <p:spPr>
          <a:xfrm>
            <a:off x="6350139" y="2659856"/>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Duplicados</a:t>
            </a:r>
            <a:endParaRPr lang="en-US" sz="1600" dirty="0"/>
          </a:p>
        </p:txBody>
      </p:sp>
      <p:sp>
        <p:nvSpPr>
          <p:cNvPr id="9" name="Text 7"/>
          <p:cNvSpPr/>
          <p:nvPr/>
        </p:nvSpPr>
        <p:spPr>
          <a:xfrm>
            <a:off x="6350139" y="3017540"/>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El mismo registro aparece varias veces distorsionando totales y medias.</a:t>
            </a:r>
            <a:endParaRPr lang="en-US" sz="1300" dirty="0"/>
          </a:p>
        </p:txBody>
      </p:sp>
      <p:sp>
        <p:nvSpPr>
          <p:cNvPr id="10" name="Shape 8"/>
          <p:cNvSpPr/>
          <p:nvPr/>
        </p:nvSpPr>
        <p:spPr>
          <a:xfrm>
            <a:off x="661475" y="3883720"/>
            <a:ext cx="5351725" cy="1230213"/>
          </a:xfrm>
          <a:prstGeom prst="roundRect">
            <a:avLst>
              <a:gd name="adj" fmla="val 20166"/>
            </a:avLst>
          </a:prstGeom>
          <a:solidFill>
            <a:srgbClr val="3F2077"/>
          </a:solidFill>
          <a:ln w="6350">
            <a:solidFill>
              <a:srgbClr val="4B3082"/>
            </a:solidFill>
            <a:prstDash val="solid"/>
          </a:ln>
        </p:spPr>
      </p:sp>
      <p:sp>
        <p:nvSpPr>
          <p:cNvPr id="11" name="Text 9"/>
          <p:cNvSpPr/>
          <p:nvPr/>
        </p:nvSpPr>
        <p:spPr>
          <a:xfrm>
            <a:off x="833119" y="4055368"/>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Valores imposibles</a:t>
            </a:r>
            <a:endParaRPr lang="en-US" sz="1600" dirty="0"/>
          </a:p>
        </p:txBody>
      </p:sp>
      <p:sp>
        <p:nvSpPr>
          <p:cNvPr id="12" name="Text 10"/>
          <p:cNvSpPr/>
          <p:nvPr/>
        </p:nvSpPr>
        <p:spPr>
          <a:xfrm>
            <a:off x="833119" y="4413052"/>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highlight>
                  <a:srgbClr val="583592"/>
                </a:highlight>
                <a:latin typeface="Consolas" pitchFamily="34" charset="0"/>
                <a:ea typeface="Consolas" pitchFamily="34" charset="-122"/>
                <a:cs typeface="Consolas" pitchFamily="34" charset="-120"/>
              </a:rPr>
              <a:t>edad = -8</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 </a:t>
            </a:r>
            <a:pPr algn="l" indent="0" marL="0">
              <a:lnSpc>
                <a:spcPct val="133000"/>
              </a:lnSpc>
              <a:buNone/>
            </a:pPr>
            <a:r>
              <a:rPr lang="en-US" sz="1300" dirty="0">
                <a:solidFill>
                  <a:srgbClr val="FFFFFF"/>
                </a:solidFill>
                <a:highlight>
                  <a:srgbClr val="583592"/>
                </a:highlight>
                <a:latin typeface="Consolas" pitchFamily="34" charset="0"/>
                <a:ea typeface="Consolas" pitchFamily="34" charset="-122"/>
                <a:cs typeface="Consolas" pitchFamily="34" charset="-120"/>
              </a:rPr>
              <a:t>temperatura = 900 °C</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 fechas en el futuro.</a:t>
            </a:r>
            <a:endParaRPr lang="en-US" sz="1300" dirty="0"/>
          </a:p>
        </p:txBody>
      </p:sp>
      <p:sp>
        <p:nvSpPr>
          <p:cNvPr id="13" name="Shape 11"/>
          <p:cNvSpPr/>
          <p:nvPr/>
        </p:nvSpPr>
        <p:spPr>
          <a:xfrm>
            <a:off x="6178495" y="3883720"/>
            <a:ext cx="5351725" cy="1230213"/>
          </a:xfrm>
          <a:prstGeom prst="roundRect">
            <a:avLst>
              <a:gd name="adj" fmla="val 20166"/>
            </a:avLst>
          </a:prstGeom>
          <a:solidFill>
            <a:srgbClr val="3F2077"/>
          </a:solidFill>
          <a:ln w="6350">
            <a:solidFill>
              <a:srgbClr val="4B3082"/>
            </a:solidFill>
            <a:prstDash val="solid"/>
          </a:ln>
        </p:spPr>
      </p:sp>
      <p:sp>
        <p:nvSpPr>
          <p:cNvPr id="14" name="Text 12"/>
          <p:cNvSpPr/>
          <p:nvPr/>
        </p:nvSpPr>
        <p:spPr>
          <a:xfrm>
            <a:off x="6350139" y="4055368"/>
            <a:ext cx="5008437"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Inconsistencias</a:t>
            </a:r>
            <a:endParaRPr lang="en-US" sz="1600" dirty="0"/>
          </a:p>
        </p:txBody>
      </p:sp>
      <p:sp>
        <p:nvSpPr>
          <p:cNvPr id="15" name="Text 13"/>
          <p:cNvSpPr/>
          <p:nvPr/>
        </p:nvSpPr>
        <p:spPr>
          <a:xfrm>
            <a:off x="6350139" y="4413052"/>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highlight>
                  <a:srgbClr val="583592"/>
                </a:highlight>
                <a:latin typeface="Consolas" pitchFamily="34" charset="0"/>
                <a:ea typeface="Consolas" pitchFamily="34" charset="-122"/>
                <a:cs typeface="Consolas" pitchFamily="34" charset="-120"/>
              </a:rPr>
              <a:t>cliente_id</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duplicado con información diferente en dos fuentes distintas.</a:t>
            </a:r>
            <a:endParaRPr lang="en-US" sz="1300" dirty="0"/>
          </a:p>
        </p:txBody>
      </p:sp>
      <p:sp>
        <p:nvSpPr>
          <p:cNvPr id="16" name="Text 14"/>
          <p:cNvSpPr/>
          <p:nvPr/>
        </p:nvSpPr>
        <p:spPr>
          <a:xfrm>
            <a:off x="661475" y="5299968"/>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La veracidad se trabaja activamente: detectar, medir y corregir problemas de calidad es una tarea continua en cualquier proyecto de datos.</a:t>
            </a:r>
            <a:endParaRPr lang="en-US" sz="1300" dirty="0"/>
          </a:p>
        </p:txBody>
      </p:sp>
      <p:pic>
        <p:nvPicPr>
          <p:cNvPr id="17"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8"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9" name="Text 15"/>
          <p:cNvSpPr/>
          <p:nvPr/>
        </p:nvSpPr>
        <p:spPr>
          <a:xfrm>
            <a:off x="10856740" y="6300589"/>
            <a:ext cx="113652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1019274"/>
            <a:ext cx="10868745" cy="366316"/>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Valor</a:t>
            </a:r>
            <a:endParaRPr lang="en-US" sz="2300" dirty="0"/>
          </a:p>
        </p:txBody>
      </p:sp>
      <p:sp>
        <p:nvSpPr>
          <p:cNvPr id="3" name="Text 1"/>
          <p:cNvSpPr/>
          <p:nvPr/>
        </p:nvSpPr>
        <p:spPr>
          <a:xfrm>
            <a:off x="661475" y="1645146"/>
            <a:ext cx="11478330" cy="221059"/>
          </a:xfrm>
          <a:prstGeom prst="rect">
            <a:avLst/>
          </a:prstGeom>
          <a:noFill/>
          <a:ln/>
        </p:spPr>
        <p:txBody>
          <a:bodyPr wrap="none" lIns="0" tIns="0" rIns="0" bIns="0" rtlCol="0" anchor="t"/>
          <a:lstStyle/>
          <a:p>
            <a:pPr algn="l" indent="0" marL="0">
              <a:lnSpc>
                <a:spcPct val="126000"/>
              </a:lnSpc>
              <a:buNone/>
            </a:pPr>
            <a:r>
              <a:rPr lang="en-US" sz="1150" dirty="0">
                <a:solidFill>
                  <a:srgbClr val="FFFFFF"/>
                </a:solidFill>
                <a:latin typeface="Manrope" pitchFamily="34" charset="0"/>
                <a:ea typeface="Manrope" pitchFamily="34" charset="-122"/>
                <a:cs typeface="Manrope" pitchFamily="34" charset="-120"/>
              </a:rPr>
              <a:t>Los datos tienen valor cuando pueden convertirse en </a:t>
            </a:r>
            <a:pPr algn="l" indent="0" marL="0">
              <a:lnSpc>
                <a:spcPct val="126000"/>
              </a:lnSpc>
              <a:buNone/>
            </a:pPr>
            <a:r>
              <a:rPr lang="en-US" sz="1150" b="1" dirty="0">
                <a:solidFill>
                  <a:srgbClr val="FFFFFF"/>
                </a:solidFill>
                <a:latin typeface="Manrope Bold" pitchFamily="34" charset="0"/>
                <a:ea typeface="Manrope Bold" pitchFamily="34" charset="-122"/>
                <a:cs typeface="Manrope Bold" pitchFamily="34" charset="-120"/>
              </a:rPr>
              <a:t>información útil para alcanzar un objetivo</a:t>
            </a:r>
            <a:pPr algn="l" indent="0" marL="0">
              <a:lnSpc>
                <a:spcPct val="126000"/>
              </a:lnSpc>
              <a:buNone/>
            </a:pPr>
            <a:r>
              <a:rPr lang="en-US" sz="1150" dirty="0">
                <a:solidFill>
                  <a:srgbClr val="FFFFFF"/>
                </a:solidFill>
                <a:latin typeface="Manrope" pitchFamily="34" charset="0"/>
                <a:ea typeface="Manrope" pitchFamily="34" charset="-122"/>
                <a:cs typeface="Manrope" pitchFamily="34" charset="-120"/>
              </a:rPr>
              <a:t>. Sin valor, todo el esfuerzo técnico carece de sentido.</a:t>
            </a:r>
            <a:endParaRPr lang="en-US" sz="1150" dirty="0"/>
          </a:p>
        </p:txBody>
      </p:sp>
      <p:pic>
        <p:nvPicPr>
          <p:cNvPr id="4" name="Image 0" descr="preencoded.png">    </p:cNvPr>
          <p:cNvPicPr>
            <a:picLocks noChangeAspect="1"/>
          </p:cNvPicPr>
          <p:nvPr/>
        </p:nvPicPr>
        <p:blipFill>
          <a:blip r:embed="rId1"/>
          <a:stretch>
            <a:fillRect/>
          </a:stretch>
        </p:blipFill>
        <p:spPr>
          <a:xfrm>
            <a:off x="3423557" y="2012156"/>
            <a:ext cx="5344582" cy="2405063"/>
          </a:xfrm>
          <a:prstGeom prst="rect">
            <a:avLst/>
          </a:prstGeom>
        </p:spPr>
      </p:pic>
      <p:sp>
        <p:nvSpPr>
          <p:cNvPr id="5" name="Text 2"/>
          <p:cNvSpPr/>
          <p:nvPr/>
        </p:nvSpPr>
        <p:spPr>
          <a:xfrm>
            <a:off x="4228662" y="2118711"/>
            <a:ext cx="935279" cy="144535"/>
          </a:xfrm>
          <a:prstGeom prst="rect">
            <a:avLst/>
          </a:prstGeom>
          <a:noFill/>
          <a:ln/>
        </p:spPr>
        <p:txBody>
          <a:bodyPr wrap="none" lIns="0" tIns="0" rIns="0" bIns="0" rtlCol="0" anchor="t"/>
          <a:lstStyle/>
          <a:p>
            <a:pPr algn="ctr" indent="0" marL="0">
              <a:lnSpc>
                <a:spcPct val="104000"/>
              </a:lnSpc>
              <a:buNone/>
            </a:pPr>
            <a:r>
              <a:rPr lang="en-US" sz="900" spc="-9" kern="0" dirty="0">
                <a:solidFill>
                  <a:srgbClr val="FFFFFF"/>
                </a:solidFill>
                <a:latin typeface="Alexandria Medium" pitchFamily="34" charset="0"/>
                <a:ea typeface="Alexandria Medium" pitchFamily="34" charset="-122"/>
                <a:cs typeface="Alexandria Medium" pitchFamily="34" charset="-120"/>
              </a:rPr>
              <a:t>Datos</a:t>
            </a:r>
            <a:endParaRPr lang="en-US" sz="900" dirty="0"/>
          </a:p>
        </p:txBody>
      </p:sp>
      <p:sp>
        <p:nvSpPr>
          <p:cNvPr id="6" name="Text 3"/>
          <p:cNvSpPr/>
          <p:nvPr/>
        </p:nvSpPr>
        <p:spPr>
          <a:xfrm>
            <a:off x="4228662" y="2304358"/>
            <a:ext cx="935279" cy="217927"/>
          </a:xfrm>
          <a:prstGeom prst="rect">
            <a:avLst/>
          </a:prstGeom>
          <a:noFill/>
          <a:ln/>
        </p:spPr>
        <p:txBody>
          <a:bodyPr wrap="square" lIns="0" tIns="0" rIns="0" bIns="0" rtlCol="0" anchor="t">
            <a:normAutofit/>
          </a:bodyPr>
          <a:lstStyle/>
          <a:p>
            <a:pPr algn="ctr" indent="0" marL="0">
              <a:lnSpc>
                <a:spcPct val="98000"/>
              </a:lnSpc>
              <a:buNone/>
            </a:pPr>
            <a:r>
              <a:rPr lang="en-US" sz="700" dirty="0">
                <a:solidFill>
                  <a:srgbClr val="FFFFFF"/>
                </a:solidFill>
                <a:latin typeface="Manrope" pitchFamily="34" charset="0"/>
                <a:ea typeface="Manrope" pitchFamily="34" charset="-122"/>
                <a:cs typeface="Manrope" pitchFamily="34" charset="-120"/>
              </a:rPr>
              <a:t>Recolección de datos brutos</a:t>
            </a:r>
            <a:endParaRPr lang="en-US" sz="700" dirty="0"/>
          </a:p>
        </p:txBody>
      </p:sp>
      <p:sp>
        <p:nvSpPr>
          <p:cNvPr id="7" name="Text 4"/>
          <p:cNvSpPr/>
          <p:nvPr/>
        </p:nvSpPr>
        <p:spPr>
          <a:xfrm>
            <a:off x="5153663" y="3922507"/>
            <a:ext cx="940418" cy="144535"/>
          </a:xfrm>
          <a:prstGeom prst="rect">
            <a:avLst/>
          </a:prstGeom>
          <a:noFill/>
          <a:ln/>
        </p:spPr>
        <p:txBody>
          <a:bodyPr wrap="none" lIns="0" tIns="0" rIns="0" bIns="0" rtlCol="0" anchor="t"/>
          <a:lstStyle/>
          <a:p>
            <a:pPr algn="ctr" indent="0" marL="0">
              <a:lnSpc>
                <a:spcPct val="104000"/>
              </a:lnSpc>
              <a:buNone/>
            </a:pPr>
            <a:r>
              <a:rPr lang="en-US" sz="900" spc="-9" kern="0" dirty="0">
                <a:solidFill>
                  <a:srgbClr val="FFFFFF"/>
                </a:solidFill>
                <a:latin typeface="Alexandria Medium" pitchFamily="34" charset="0"/>
                <a:ea typeface="Alexandria Medium" pitchFamily="34" charset="-122"/>
                <a:cs typeface="Alexandria Medium" pitchFamily="34" charset="-120"/>
              </a:rPr>
              <a:t>Análisis</a:t>
            </a:r>
            <a:endParaRPr lang="en-US" sz="900" dirty="0"/>
          </a:p>
        </p:txBody>
      </p:sp>
      <p:sp>
        <p:nvSpPr>
          <p:cNvPr id="8" name="Text 5"/>
          <p:cNvSpPr/>
          <p:nvPr/>
        </p:nvSpPr>
        <p:spPr>
          <a:xfrm>
            <a:off x="5153663" y="4108155"/>
            <a:ext cx="940418" cy="217927"/>
          </a:xfrm>
          <a:prstGeom prst="rect">
            <a:avLst/>
          </a:prstGeom>
          <a:noFill/>
          <a:ln/>
        </p:spPr>
        <p:txBody>
          <a:bodyPr wrap="square" lIns="0" tIns="0" rIns="0" bIns="0" rtlCol="0" anchor="t">
            <a:normAutofit/>
          </a:bodyPr>
          <a:lstStyle/>
          <a:p>
            <a:pPr algn="ctr" indent="0" marL="0">
              <a:lnSpc>
                <a:spcPct val="98000"/>
              </a:lnSpc>
              <a:buNone/>
            </a:pPr>
            <a:r>
              <a:rPr lang="en-US" sz="700" dirty="0">
                <a:solidFill>
                  <a:srgbClr val="FFFFFF"/>
                </a:solidFill>
                <a:latin typeface="Manrope" pitchFamily="34" charset="0"/>
                <a:ea typeface="Manrope" pitchFamily="34" charset="-122"/>
                <a:cs typeface="Manrope" pitchFamily="34" charset="-120"/>
              </a:rPr>
              <a:t>Procesamiento y modelado</a:t>
            </a:r>
            <a:endParaRPr lang="en-US" sz="700" dirty="0"/>
          </a:p>
        </p:txBody>
      </p:sp>
      <p:sp>
        <p:nvSpPr>
          <p:cNvPr id="9" name="Text 6"/>
          <p:cNvSpPr/>
          <p:nvPr/>
        </p:nvSpPr>
        <p:spPr>
          <a:xfrm>
            <a:off x="6068386" y="2100724"/>
            <a:ext cx="935279" cy="144535"/>
          </a:xfrm>
          <a:prstGeom prst="rect">
            <a:avLst/>
          </a:prstGeom>
          <a:noFill/>
          <a:ln/>
        </p:spPr>
        <p:txBody>
          <a:bodyPr wrap="none" lIns="0" tIns="0" rIns="0" bIns="0" rtlCol="0" anchor="t"/>
          <a:lstStyle/>
          <a:p>
            <a:pPr algn="ctr" indent="0" marL="0">
              <a:lnSpc>
                <a:spcPct val="104000"/>
              </a:lnSpc>
              <a:buNone/>
            </a:pPr>
            <a:r>
              <a:rPr lang="en-US" sz="900" spc="-9" kern="0" dirty="0">
                <a:solidFill>
                  <a:srgbClr val="FFFFFF"/>
                </a:solidFill>
                <a:latin typeface="Alexandria Medium" pitchFamily="34" charset="0"/>
                <a:ea typeface="Alexandria Medium" pitchFamily="34" charset="-122"/>
                <a:cs typeface="Alexandria Medium" pitchFamily="34" charset="-120"/>
              </a:rPr>
              <a:t>Insight</a:t>
            </a:r>
            <a:endParaRPr lang="en-US" sz="900" dirty="0"/>
          </a:p>
        </p:txBody>
      </p:sp>
      <p:sp>
        <p:nvSpPr>
          <p:cNvPr id="10" name="Text 7"/>
          <p:cNvSpPr/>
          <p:nvPr/>
        </p:nvSpPr>
        <p:spPr>
          <a:xfrm>
            <a:off x="6068386" y="2286371"/>
            <a:ext cx="935279" cy="217927"/>
          </a:xfrm>
          <a:prstGeom prst="rect">
            <a:avLst/>
          </a:prstGeom>
          <a:noFill/>
          <a:ln/>
        </p:spPr>
        <p:txBody>
          <a:bodyPr wrap="square" lIns="0" tIns="0" rIns="0" bIns="0" rtlCol="0" anchor="t">
            <a:normAutofit/>
          </a:bodyPr>
          <a:lstStyle/>
          <a:p>
            <a:pPr algn="ctr" indent="0" marL="0">
              <a:lnSpc>
                <a:spcPct val="98000"/>
              </a:lnSpc>
              <a:buNone/>
            </a:pPr>
            <a:r>
              <a:rPr lang="en-US" sz="700" dirty="0">
                <a:solidFill>
                  <a:srgbClr val="FFFFFF"/>
                </a:solidFill>
                <a:latin typeface="Manrope" pitchFamily="34" charset="0"/>
                <a:ea typeface="Manrope" pitchFamily="34" charset="-122"/>
                <a:cs typeface="Manrope" pitchFamily="34" charset="-120"/>
              </a:rPr>
              <a:t>Descubrimiento de patrones</a:t>
            </a:r>
            <a:endParaRPr lang="en-US" sz="700" dirty="0"/>
          </a:p>
        </p:txBody>
      </p:sp>
      <p:sp>
        <p:nvSpPr>
          <p:cNvPr id="11" name="Text 8"/>
          <p:cNvSpPr/>
          <p:nvPr/>
        </p:nvSpPr>
        <p:spPr>
          <a:xfrm>
            <a:off x="6993387" y="3922507"/>
            <a:ext cx="935279" cy="144535"/>
          </a:xfrm>
          <a:prstGeom prst="rect">
            <a:avLst/>
          </a:prstGeom>
          <a:noFill/>
          <a:ln/>
        </p:spPr>
        <p:txBody>
          <a:bodyPr wrap="none" lIns="0" tIns="0" rIns="0" bIns="0" rtlCol="0" anchor="t"/>
          <a:lstStyle/>
          <a:p>
            <a:pPr algn="ctr" indent="0" marL="0">
              <a:lnSpc>
                <a:spcPct val="104000"/>
              </a:lnSpc>
              <a:buNone/>
            </a:pPr>
            <a:r>
              <a:rPr lang="en-US" sz="900" spc="-9" kern="0" dirty="0">
                <a:solidFill>
                  <a:srgbClr val="FFFFFF"/>
                </a:solidFill>
                <a:latin typeface="Alexandria Medium" pitchFamily="34" charset="0"/>
                <a:ea typeface="Alexandria Medium" pitchFamily="34" charset="-122"/>
                <a:cs typeface="Alexandria Medium" pitchFamily="34" charset="-120"/>
              </a:rPr>
              <a:t>Acción</a:t>
            </a:r>
            <a:endParaRPr lang="en-US" sz="900" dirty="0"/>
          </a:p>
        </p:txBody>
      </p:sp>
      <p:sp>
        <p:nvSpPr>
          <p:cNvPr id="12" name="Text 9"/>
          <p:cNvSpPr/>
          <p:nvPr/>
        </p:nvSpPr>
        <p:spPr>
          <a:xfrm>
            <a:off x="6993387" y="4108155"/>
            <a:ext cx="935279" cy="217927"/>
          </a:xfrm>
          <a:prstGeom prst="rect">
            <a:avLst/>
          </a:prstGeom>
          <a:noFill/>
          <a:ln/>
        </p:spPr>
        <p:txBody>
          <a:bodyPr wrap="square" lIns="0" tIns="0" rIns="0" bIns="0" rtlCol="0" anchor="t">
            <a:normAutofit/>
          </a:bodyPr>
          <a:lstStyle/>
          <a:p>
            <a:pPr algn="ctr" indent="0" marL="0">
              <a:lnSpc>
                <a:spcPct val="98000"/>
              </a:lnSpc>
              <a:buNone/>
            </a:pPr>
            <a:r>
              <a:rPr lang="en-US" sz="700" dirty="0">
                <a:solidFill>
                  <a:srgbClr val="FFFFFF"/>
                </a:solidFill>
                <a:latin typeface="Manrope" pitchFamily="34" charset="0"/>
                <a:ea typeface="Manrope" pitchFamily="34" charset="-122"/>
                <a:cs typeface="Manrope" pitchFamily="34" charset="-120"/>
              </a:rPr>
              <a:t>Implementar decisiones</a:t>
            </a:r>
            <a:endParaRPr lang="en-US" sz="700" dirty="0"/>
          </a:p>
        </p:txBody>
      </p:sp>
      <p:sp>
        <p:nvSpPr>
          <p:cNvPr id="13" name="Shape 10"/>
          <p:cNvSpPr/>
          <p:nvPr/>
        </p:nvSpPr>
        <p:spPr>
          <a:xfrm>
            <a:off x="661475" y="4563170"/>
            <a:ext cx="2619806" cy="1275556"/>
          </a:xfrm>
          <a:prstGeom prst="roundRect">
            <a:avLst>
              <a:gd name="adj" fmla="val 17231"/>
            </a:avLst>
          </a:prstGeom>
          <a:solidFill>
            <a:srgbClr val="3F2077"/>
          </a:solidFill>
          <a:ln w="6350">
            <a:solidFill>
              <a:srgbClr val="4B3082"/>
            </a:solidFill>
            <a:prstDash val="solid"/>
          </a:ln>
        </p:spPr>
      </p:sp>
      <p:sp>
        <p:nvSpPr>
          <p:cNvPr id="14" name="Text 11"/>
          <p:cNvSpPr/>
          <p:nvPr/>
        </p:nvSpPr>
        <p:spPr>
          <a:xfrm>
            <a:off x="814268" y="4715966"/>
            <a:ext cx="2314219" cy="228898"/>
          </a:xfrm>
          <a:prstGeom prst="rect">
            <a:avLst/>
          </a:prstGeom>
          <a:noFill/>
          <a:ln/>
        </p:spPr>
        <p:txBody>
          <a:bodyPr wrap="none" lIns="0" tIns="0" rIns="0" bIns="0" rtlCol="0" anchor="t"/>
          <a:lstStyle/>
          <a:p>
            <a:pPr algn="l" indent="0" marL="0">
              <a:lnSpc>
                <a:spcPct val="104000"/>
              </a:lnSpc>
              <a:buNone/>
            </a:pPr>
            <a:r>
              <a:rPr lang="en-US" sz="1400" spc="-14" kern="0" dirty="0">
                <a:solidFill>
                  <a:srgbClr val="FFFFFF"/>
                </a:solidFill>
                <a:latin typeface="Alexandria Medium" pitchFamily="34" charset="0"/>
                <a:ea typeface="Alexandria Medium" pitchFamily="34" charset="-122"/>
                <a:cs typeface="Alexandria Medium" pitchFamily="34" charset="-120"/>
              </a:rPr>
              <a:t>Reducir fraude</a:t>
            </a:r>
            <a:endParaRPr lang="en-US" sz="1400" dirty="0"/>
          </a:p>
        </p:txBody>
      </p:sp>
      <p:sp>
        <p:nvSpPr>
          <p:cNvPr id="15" name="Text 12"/>
          <p:cNvSpPr/>
          <p:nvPr/>
        </p:nvSpPr>
        <p:spPr>
          <a:xfrm>
            <a:off x="814268" y="5022751"/>
            <a:ext cx="2314219" cy="663178"/>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FFFFFF"/>
                </a:solidFill>
                <a:latin typeface="Manrope" pitchFamily="34" charset="0"/>
                <a:ea typeface="Manrope" pitchFamily="34" charset="-122"/>
                <a:cs typeface="Manrope" pitchFamily="34" charset="-120"/>
              </a:rPr>
              <a:t>Detectar patrones anómalos en transacciones antes de que se materialice el daño.</a:t>
            </a:r>
            <a:endParaRPr lang="en-US" sz="1150" dirty="0"/>
          </a:p>
        </p:txBody>
      </p:sp>
      <p:sp>
        <p:nvSpPr>
          <p:cNvPr id="16" name="Shape 13"/>
          <p:cNvSpPr/>
          <p:nvPr/>
        </p:nvSpPr>
        <p:spPr>
          <a:xfrm>
            <a:off x="3411055" y="4563170"/>
            <a:ext cx="2619905" cy="1275556"/>
          </a:xfrm>
          <a:prstGeom prst="roundRect">
            <a:avLst>
              <a:gd name="adj" fmla="val 17231"/>
            </a:avLst>
          </a:prstGeom>
          <a:solidFill>
            <a:srgbClr val="3F2077"/>
          </a:solidFill>
          <a:ln w="6350">
            <a:solidFill>
              <a:srgbClr val="4B3082"/>
            </a:solidFill>
            <a:prstDash val="solid"/>
          </a:ln>
        </p:spPr>
      </p:sp>
      <p:sp>
        <p:nvSpPr>
          <p:cNvPr id="17" name="Text 14"/>
          <p:cNvSpPr/>
          <p:nvPr/>
        </p:nvSpPr>
        <p:spPr>
          <a:xfrm>
            <a:off x="3563848" y="4715966"/>
            <a:ext cx="2314319" cy="228898"/>
          </a:xfrm>
          <a:prstGeom prst="rect">
            <a:avLst/>
          </a:prstGeom>
          <a:noFill/>
          <a:ln/>
        </p:spPr>
        <p:txBody>
          <a:bodyPr wrap="none" lIns="0" tIns="0" rIns="0" bIns="0" rtlCol="0" anchor="t"/>
          <a:lstStyle/>
          <a:p>
            <a:pPr algn="l" indent="0" marL="0">
              <a:lnSpc>
                <a:spcPct val="104000"/>
              </a:lnSpc>
              <a:buNone/>
            </a:pPr>
            <a:r>
              <a:rPr lang="en-US" sz="1400" spc="-14" kern="0" dirty="0">
                <a:solidFill>
                  <a:srgbClr val="FFFFFF"/>
                </a:solidFill>
                <a:latin typeface="Alexandria Medium" pitchFamily="34" charset="0"/>
                <a:ea typeface="Alexandria Medium" pitchFamily="34" charset="-122"/>
                <a:cs typeface="Alexandria Medium" pitchFamily="34" charset="-120"/>
              </a:rPr>
              <a:t>Anticipar averías</a:t>
            </a:r>
            <a:endParaRPr lang="en-US" sz="1400" dirty="0"/>
          </a:p>
        </p:txBody>
      </p:sp>
      <p:sp>
        <p:nvSpPr>
          <p:cNvPr id="18" name="Text 15"/>
          <p:cNvSpPr/>
          <p:nvPr/>
        </p:nvSpPr>
        <p:spPr>
          <a:xfrm>
            <a:off x="3563848" y="5022751"/>
            <a:ext cx="2314319" cy="663178"/>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FFFFFF"/>
                </a:solidFill>
                <a:latin typeface="Manrope" pitchFamily="34" charset="0"/>
                <a:ea typeface="Manrope" pitchFamily="34" charset="-122"/>
                <a:cs typeface="Manrope" pitchFamily="34" charset="-120"/>
              </a:rPr>
              <a:t>Predecir fallos de maquinaria industrial antes de que ocurran, ahorrando paradas.</a:t>
            </a:r>
            <a:endParaRPr lang="en-US" sz="1150" dirty="0"/>
          </a:p>
        </p:txBody>
      </p:sp>
      <p:sp>
        <p:nvSpPr>
          <p:cNvPr id="19" name="Shape 16"/>
          <p:cNvSpPr/>
          <p:nvPr/>
        </p:nvSpPr>
        <p:spPr>
          <a:xfrm>
            <a:off x="6160735" y="4563170"/>
            <a:ext cx="2619806" cy="1275556"/>
          </a:xfrm>
          <a:prstGeom prst="roundRect">
            <a:avLst>
              <a:gd name="adj" fmla="val 17231"/>
            </a:avLst>
          </a:prstGeom>
          <a:solidFill>
            <a:srgbClr val="3F2077"/>
          </a:solidFill>
          <a:ln w="6350">
            <a:solidFill>
              <a:srgbClr val="4B3082"/>
            </a:solidFill>
            <a:prstDash val="solid"/>
          </a:ln>
        </p:spPr>
      </p:sp>
      <p:sp>
        <p:nvSpPr>
          <p:cNvPr id="20" name="Text 17"/>
          <p:cNvSpPr/>
          <p:nvPr/>
        </p:nvSpPr>
        <p:spPr>
          <a:xfrm>
            <a:off x="6313528" y="4715966"/>
            <a:ext cx="2314219" cy="228898"/>
          </a:xfrm>
          <a:prstGeom prst="rect">
            <a:avLst/>
          </a:prstGeom>
          <a:noFill/>
          <a:ln/>
        </p:spPr>
        <p:txBody>
          <a:bodyPr wrap="none" lIns="0" tIns="0" rIns="0" bIns="0" rtlCol="0" anchor="t"/>
          <a:lstStyle/>
          <a:p>
            <a:pPr algn="l" indent="0" marL="0">
              <a:lnSpc>
                <a:spcPct val="104000"/>
              </a:lnSpc>
              <a:buNone/>
            </a:pPr>
            <a:r>
              <a:rPr lang="en-US" sz="1400" spc="-14" kern="0" dirty="0">
                <a:solidFill>
                  <a:srgbClr val="FFFFFF"/>
                </a:solidFill>
                <a:latin typeface="Alexandria Medium" pitchFamily="34" charset="0"/>
                <a:ea typeface="Alexandria Medium" pitchFamily="34" charset="-122"/>
                <a:cs typeface="Alexandria Medium" pitchFamily="34" charset="-120"/>
              </a:rPr>
              <a:t>Personalizar</a:t>
            </a:r>
            <a:endParaRPr lang="en-US" sz="1400" dirty="0"/>
          </a:p>
        </p:txBody>
      </p:sp>
      <p:sp>
        <p:nvSpPr>
          <p:cNvPr id="21" name="Text 18"/>
          <p:cNvSpPr/>
          <p:nvPr/>
        </p:nvSpPr>
        <p:spPr>
          <a:xfrm>
            <a:off x="6313528" y="5022751"/>
            <a:ext cx="2314219" cy="663178"/>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FFFFFF"/>
                </a:solidFill>
                <a:latin typeface="Manrope" pitchFamily="34" charset="0"/>
                <a:ea typeface="Manrope" pitchFamily="34" charset="-122"/>
                <a:cs typeface="Manrope" pitchFamily="34" charset="-120"/>
              </a:rPr>
              <a:t>Recomendar el producto adecuado al usuario adecuado en el momento adecuado.</a:t>
            </a:r>
            <a:endParaRPr lang="en-US" sz="1150" dirty="0"/>
          </a:p>
        </p:txBody>
      </p:sp>
      <p:sp>
        <p:nvSpPr>
          <p:cNvPr id="22" name="Shape 19"/>
          <p:cNvSpPr/>
          <p:nvPr/>
        </p:nvSpPr>
        <p:spPr>
          <a:xfrm>
            <a:off x="8910315" y="4563170"/>
            <a:ext cx="2619905" cy="1275556"/>
          </a:xfrm>
          <a:prstGeom prst="roundRect">
            <a:avLst>
              <a:gd name="adj" fmla="val 17231"/>
            </a:avLst>
          </a:prstGeom>
          <a:solidFill>
            <a:srgbClr val="3F2077"/>
          </a:solidFill>
          <a:ln w="6350">
            <a:solidFill>
              <a:srgbClr val="4B3082"/>
            </a:solidFill>
            <a:prstDash val="solid"/>
          </a:ln>
        </p:spPr>
      </p:sp>
      <p:sp>
        <p:nvSpPr>
          <p:cNvPr id="23" name="Text 20"/>
          <p:cNvSpPr/>
          <p:nvPr/>
        </p:nvSpPr>
        <p:spPr>
          <a:xfrm>
            <a:off x="9063108" y="4715966"/>
            <a:ext cx="2314319" cy="228898"/>
          </a:xfrm>
          <a:prstGeom prst="rect">
            <a:avLst/>
          </a:prstGeom>
          <a:noFill/>
          <a:ln/>
        </p:spPr>
        <p:txBody>
          <a:bodyPr wrap="none" lIns="0" tIns="0" rIns="0" bIns="0" rtlCol="0" anchor="t"/>
          <a:lstStyle/>
          <a:p>
            <a:pPr algn="l" indent="0" marL="0">
              <a:lnSpc>
                <a:spcPct val="104000"/>
              </a:lnSpc>
              <a:buNone/>
            </a:pPr>
            <a:r>
              <a:rPr lang="en-US" sz="1400" spc="-14" kern="0" dirty="0">
                <a:solidFill>
                  <a:srgbClr val="FFFFFF"/>
                </a:solidFill>
                <a:latin typeface="Alexandria Medium" pitchFamily="34" charset="0"/>
                <a:ea typeface="Alexandria Medium" pitchFamily="34" charset="-122"/>
                <a:cs typeface="Alexandria Medium" pitchFamily="34" charset="-120"/>
              </a:rPr>
              <a:t>Optimizar operaciones</a:t>
            </a:r>
            <a:endParaRPr lang="en-US" sz="1400" dirty="0"/>
          </a:p>
        </p:txBody>
      </p:sp>
      <p:sp>
        <p:nvSpPr>
          <p:cNvPr id="24" name="Text 21"/>
          <p:cNvSpPr/>
          <p:nvPr/>
        </p:nvSpPr>
        <p:spPr>
          <a:xfrm>
            <a:off x="9063108" y="5022751"/>
            <a:ext cx="2314319" cy="663178"/>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FFFFFF"/>
                </a:solidFill>
                <a:latin typeface="Manrope" pitchFamily="34" charset="0"/>
                <a:ea typeface="Manrope" pitchFamily="34" charset="-122"/>
                <a:cs typeface="Manrope" pitchFamily="34" charset="-120"/>
              </a:rPr>
              <a:t>Mejorar rutas de reparto, gestionar inventario o reducir consumo energético.</a:t>
            </a:r>
            <a:endParaRPr lang="en-US" sz="1150" dirty="0"/>
          </a:p>
        </p:txBody>
      </p:sp>
      <p:pic>
        <p:nvPicPr>
          <p:cNvPr id="25"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26"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27" name="Text 22"/>
          <p:cNvSpPr/>
          <p:nvPr/>
        </p:nvSpPr>
        <p:spPr>
          <a:xfrm>
            <a:off x="10847711" y="6300589"/>
            <a:ext cx="114555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1176338"/>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Las 5V en un único caso realista</a:t>
            </a:r>
            <a:endParaRPr lang="en-US" sz="2450" dirty="0"/>
          </a:p>
        </p:txBody>
      </p:sp>
      <p:sp>
        <p:nvSpPr>
          <p:cNvPr id="3" name="Text 1"/>
          <p:cNvSpPr/>
          <p:nvPr/>
        </p:nvSpPr>
        <p:spPr>
          <a:xfrm>
            <a:off x="661475" y="1867495"/>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Una tienda online de tamaño medio ilustra perfectamente las cinco dimensiones simultáneas.</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1475" y="2280543"/>
          <a:ext cx="9143771" cy="914400"/>
        </p:xfrm>
        <a:graphic>
          <a:graphicData uri="http://schemas.openxmlformats.org/drawingml/2006/table">
            <a:tbl>
              <a:tblPr/>
              <a:tblGrid>
                <a:gridCol w="1630312"/>
                <a:gridCol w="2717186"/>
                <a:gridCol w="6521247"/>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V</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Dimensión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Manifestación en la tienda online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688362">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Volumen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Cantidad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Millones de visitas, historiales de compra, catálogo de miles de productos con fotografías.</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688362">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Velocidad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Rapidez</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Clics continuos de miles de usuarios simultáneos; un carrito abandonado debe detectarse al instante.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688362">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Variedad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Formatos</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SQL de pedidos + JSON de la API de pagos + imágenes de productos + reseñas en texto libre.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Veracidad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Calidad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Direcciones duplicadas, correos con errores, precios desactualizados en el catálogo.</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Valor</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Utilidad</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Recomendaciones personalizadas que aumentan el ticket medio y reducen el churn.</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pic>
        <p:nvPicPr>
          <p:cNvPr id="5"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6"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7" name="Text 2"/>
          <p:cNvSpPr/>
          <p:nvPr/>
        </p:nvSpPr>
        <p:spPr>
          <a:xfrm>
            <a:off x="10843048" y="6300589"/>
            <a:ext cx="115021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1119882"/>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Aplicaciones de Big Data</a:t>
            </a:r>
            <a:endParaRPr lang="en-US" sz="26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64023"/>
            <a:ext cx="413434" cy="413445"/>
          </a:xfrm>
          <a:prstGeom prst="rect">
            <a:avLst/>
          </a:prstGeom>
        </p:spPr>
      </p:pic>
      <p:sp>
        <p:nvSpPr>
          <p:cNvPr id="4" name="Text 1"/>
          <p:cNvSpPr/>
          <p:nvPr/>
        </p:nvSpPr>
        <p:spPr>
          <a:xfrm>
            <a:off x="661475" y="2484140"/>
            <a:ext cx="3485071"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Salud</a:t>
            </a:r>
            <a:endParaRPr lang="en-US" sz="1600" dirty="0"/>
          </a:p>
        </p:txBody>
      </p:sp>
      <p:sp>
        <p:nvSpPr>
          <p:cNvPr id="5" name="Text 2"/>
          <p:cNvSpPr/>
          <p:nvPr/>
        </p:nvSpPr>
        <p:spPr>
          <a:xfrm>
            <a:off x="661475" y="2841823"/>
            <a:ext cx="3485071"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Historiales clínicos, imágenes diagnósticas, dispositivos de monitorización y análisis poblacionales para anticipar epidemias.</a:t>
            </a:r>
            <a:endParaRPr lang="en-US" sz="13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1864023"/>
            <a:ext cx="413434" cy="413445"/>
          </a:xfrm>
          <a:prstGeom prst="rect">
            <a:avLst/>
          </a:prstGeom>
        </p:spPr>
      </p:pic>
      <p:sp>
        <p:nvSpPr>
          <p:cNvPr id="7" name="Text 3"/>
          <p:cNvSpPr/>
          <p:nvPr/>
        </p:nvSpPr>
        <p:spPr>
          <a:xfrm>
            <a:off x="4353213" y="2484140"/>
            <a:ext cx="348517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Finanzas y banca</a:t>
            </a:r>
            <a:endParaRPr lang="en-US" sz="1600" dirty="0"/>
          </a:p>
        </p:txBody>
      </p:sp>
      <p:sp>
        <p:nvSpPr>
          <p:cNvPr id="8" name="Text 4"/>
          <p:cNvSpPr/>
          <p:nvPr/>
        </p:nvSpPr>
        <p:spPr>
          <a:xfrm>
            <a:off x="4353213" y="2841823"/>
            <a:ext cx="348517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Análisis de transacciones en tiempo real para detectar operaciones anómalas y prevenir el fraude.</a:t>
            </a:r>
            <a:endParaRPr lang="en-US" sz="13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1864023"/>
            <a:ext cx="413434" cy="413445"/>
          </a:xfrm>
          <a:prstGeom prst="rect">
            <a:avLst/>
          </a:prstGeom>
        </p:spPr>
      </p:pic>
      <p:sp>
        <p:nvSpPr>
          <p:cNvPr id="10" name="Text 5"/>
          <p:cNvSpPr/>
          <p:nvPr/>
        </p:nvSpPr>
        <p:spPr>
          <a:xfrm>
            <a:off x="8045050" y="2484140"/>
            <a:ext cx="348517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Comercio electrónico</a:t>
            </a:r>
            <a:endParaRPr lang="en-US" sz="1600" dirty="0"/>
          </a:p>
        </p:txBody>
      </p:sp>
      <p:sp>
        <p:nvSpPr>
          <p:cNvPr id="11" name="Text 6"/>
          <p:cNvSpPr/>
          <p:nvPr/>
        </p:nvSpPr>
        <p:spPr>
          <a:xfrm>
            <a:off x="8045050" y="2841823"/>
            <a:ext cx="348517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Navegación, compras, recomendación personalizada, gestión de inventario y previsión de demanda.</a:t>
            </a:r>
            <a:endParaRPr lang="en-US" sz="13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66369"/>
            <a:ext cx="413434" cy="413445"/>
          </a:xfrm>
          <a:prstGeom prst="rect">
            <a:avLst/>
          </a:prstGeom>
        </p:spPr>
      </p:pic>
      <p:sp>
        <p:nvSpPr>
          <p:cNvPr id="13" name="Text 7"/>
          <p:cNvSpPr/>
          <p:nvPr/>
        </p:nvSpPr>
        <p:spPr>
          <a:xfrm>
            <a:off x="661475" y="4586486"/>
            <a:ext cx="3485071"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Transporte</a:t>
            </a:r>
            <a:endParaRPr lang="en-US" sz="1600" dirty="0"/>
          </a:p>
        </p:txBody>
      </p:sp>
      <p:sp>
        <p:nvSpPr>
          <p:cNvPr id="14" name="Text 8"/>
          <p:cNvSpPr/>
          <p:nvPr/>
        </p:nvSpPr>
        <p:spPr>
          <a:xfrm>
            <a:off x="661475" y="4944170"/>
            <a:ext cx="3485071"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GPS, análisis de tráfico, predicción de accidentes y optimización de rutas de reparto y transporte público.</a:t>
            </a:r>
            <a:endParaRPr lang="en-US" sz="13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53213" y="3966369"/>
            <a:ext cx="413434" cy="413445"/>
          </a:xfrm>
          <a:prstGeom prst="rect">
            <a:avLst/>
          </a:prstGeom>
        </p:spPr>
      </p:pic>
      <p:sp>
        <p:nvSpPr>
          <p:cNvPr id="16" name="Text 9"/>
          <p:cNvSpPr/>
          <p:nvPr/>
        </p:nvSpPr>
        <p:spPr>
          <a:xfrm>
            <a:off x="4353213" y="4586486"/>
            <a:ext cx="348517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Industria / IoT</a:t>
            </a:r>
            <a:endParaRPr lang="en-US" sz="1600" dirty="0"/>
          </a:p>
        </p:txBody>
      </p:sp>
      <p:sp>
        <p:nvSpPr>
          <p:cNvPr id="17" name="Text 10"/>
          <p:cNvSpPr/>
          <p:nvPr/>
        </p:nvSpPr>
        <p:spPr>
          <a:xfrm>
            <a:off x="4353213" y="4944170"/>
            <a:ext cx="348517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Mantenimiento predictivo, control de calidad automatizado y monitorización de plantas en tiempo real.</a:t>
            </a:r>
            <a:endParaRPr lang="en-US" sz="1300" dirty="0"/>
          </a:p>
        </p:txBody>
      </p:sp>
      <p:pic>
        <p:nvPicPr>
          <p:cNvPr id="18" name="Image 5" descr="preencoded.png">    </p:cNvPr>
          <p:cNvPicPr>
            <a:picLocks noChangeAspect="1"/>
          </p:cNvPicPr>
          <p:nvPr/>
        </p:nvPicPr>
        <p:blipFill>
          <a:blip r:embed="rId11"/>
          <a:stretch>
            <a:fillRect/>
          </a:stretch>
        </p:blipFill>
        <p:spPr>
          <a:xfrm>
            <a:off x="198433" y="203597"/>
            <a:ext cx="676357" cy="568623"/>
          </a:xfrm>
          <a:prstGeom prst="rect">
            <a:avLst/>
          </a:prstGeom>
        </p:spPr>
      </p:pic>
      <p:pic>
        <p:nvPicPr>
          <p:cNvPr id="19" name="Image 6" descr="preencoded.png">    </p:cNvPr>
          <p:cNvPicPr>
            <a:picLocks noChangeAspect="1"/>
          </p:cNvPicPr>
          <p:nvPr/>
        </p:nvPicPr>
        <p:blipFill>
          <a:blip r:embed="rId12"/>
          <a:stretch>
            <a:fillRect/>
          </a:stretch>
        </p:blipFill>
        <p:spPr>
          <a:xfrm>
            <a:off x="11386357" y="268784"/>
            <a:ext cx="606906" cy="438249"/>
          </a:xfrm>
          <a:prstGeom prst="rect">
            <a:avLst/>
          </a:prstGeom>
        </p:spPr>
      </p:pic>
      <p:sp>
        <p:nvSpPr>
          <p:cNvPr id="20" name="Text 11"/>
          <p:cNvSpPr/>
          <p:nvPr/>
        </p:nvSpPr>
        <p:spPr>
          <a:xfrm>
            <a:off x="10823503" y="6300589"/>
            <a:ext cx="116976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475" y="1018580"/>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Del problema a los datos</a:t>
            </a:r>
            <a:endParaRPr lang="en-US" sz="2600" dirty="0"/>
          </a:p>
        </p:txBody>
      </p:sp>
      <p:sp>
        <p:nvSpPr>
          <p:cNvPr id="3" name="Text 1"/>
          <p:cNvSpPr/>
          <p:nvPr/>
        </p:nvSpPr>
        <p:spPr>
          <a:xfrm>
            <a:off x="661475" y="168007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 proyecto de datos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no empieza diciendo "tenemos muchos datos"</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Empieza identificando claramente qué problema queremos resolver.</a:t>
            </a:r>
            <a:endParaRPr lang="en-US" sz="1300" dirty="0"/>
          </a:p>
        </p:txBody>
      </p:sp>
      <p:sp>
        <p:nvSpPr>
          <p:cNvPr id="4" name="Shape 2"/>
          <p:cNvSpPr/>
          <p:nvPr/>
        </p:nvSpPr>
        <p:spPr>
          <a:xfrm>
            <a:off x="661475" y="2130723"/>
            <a:ext cx="372061" cy="372070"/>
          </a:xfrm>
          <a:prstGeom prst="ellipse">
            <a:avLst/>
          </a:prstGeom>
          <a:solidFill>
            <a:srgbClr val="3F2077"/>
          </a:solidFill>
          <a:ln w="6350">
            <a:solidFill>
              <a:srgbClr val="4B3082"/>
            </a:solidFill>
            <a:prstDash val="solid"/>
          </a:ln>
        </p:spPr>
      </p:sp>
      <p:sp>
        <p:nvSpPr>
          <p:cNvPr id="5" name="Text 3"/>
          <p:cNvSpPr/>
          <p:nvPr/>
        </p:nvSpPr>
        <p:spPr>
          <a:xfrm>
            <a:off x="723485" y="2161729"/>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1</a:t>
            </a:r>
            <a:endParaRPr lang="en-US" sz="1950" dirty="0"/>
          </a:p>
        </p:txBody>
      </p:sp>
      <p:sp>
        <p:nvSpPr>
          <p:cNvPr id="6" name="Text 4"/>
          <p:cNvSpPr/>
          <p:nvPr/>
        </p:nvSpPr>
        <p:spPr>
          <a:xfrm>
            <a:off x="1198830" y="2187575"/>
            <a:ext cx="1033139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¿Qué problema queremos resolver?</a:t>
            </a:r>
            <a:endParaRPr lang="en-US" sz="1600" dirty="0"/>
          </a:p>
        </p:txBody>
      </p:sp>
      <p:sp>
        <p:nvSpPr>
          <p:cNvPr id="7" name="Text 5"/>
          <p:cNvSpPr/>
          <p:nvPr/>
        </p:nvSpPr>
        <p:spPr>
          <a:xfrm>
            <a:off x="1198830" y="2545259"/>
            <a:ext cx="1033139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Definir el objetivo antes de buscar datos evita construir soluciones sin propósito.</a:t>
            </a:r>
            <a:endParaRPr lang="en-US" sz="1300" dirty="0"/>
          </a:p>
        </p:txBody>
      </p:sp>
      <p:sp>
        <p:nvSpPr>
          <p:cNvPr id="8" name="Shape 6"/>
          <p:cNvSpPr/>
          <p:nvPr/>
        </p:nvSpPr>
        <p:spPr>
          <a:xfrm>
            <a:off x="661475" y="3140571"/>
            <a:ext cx="372061" cy="372070"/>
          </a:xfrm>
          <a:prstGeom prst="ellipse">
            <a:avLst/>
          </a:prstGeom>
          <a:solidFill>
            <a:srgbClr val="3F2077"/>
          </a:solidFill>
          <a:ln w="6350">
            <a:solidFill>
              <a:srgbClr val="4B3082"/>
            </a:solidFill>
            <a:prstDash val="solid"/>
          </a:ln>
        </p:spPr>
      </p:sp>
      <p:sp>
        <p:nvSpPr>
          <p:cNvPr id="9" name="Text 7"/>
          <p:cNvSpPr/>
          <p:nvPr/>
        </p:nvSpPr>
        <p:spPr>
          <a:xfrm>
            <a:off x="723485" y="3171577"/>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2</a:t>
            </a:r>
            <a:endParaRPr lang="en-US" sz="1950" dirty="0"/>
          </a:p>
        </p:txBody>
      </p:sp>
      <p:sp>
        <p:nvSpPr>
          <p:cNvPr id="10" name="Text 8"/>
          <p:cNvSpPr/>
          <p:nvPr/>
        </p:nvSpPr>
        <p:spPr>
          <a:xfrm>
            <a:off x="1198830" y="3197423"/>
            <a:ext cx="1033139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¿Qué datos necesitamos y de dónde proceden?</a:t>
            </a:r>
            <a:endParaRPr lang="en-US" sz="1600" dirty="0"/>
          </a:p>
        </p:txBody>
      </p:sp>
      <p:sp>
        <p:nvSpPr>
          <p:cNvPr id="11" name="Text 9"/>
          <p:cNvSpPr/>
          <p:nvPr/>
        </p:nvSpPr>
        <p:spPr>
          <a:xfrm>
            <a:off x="1198830" y="3555107"/>
            <a:ext cx="1033139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No todos los datos disponibles son relevantes. Elegir las fuentes correctas es fundamental.</a:t>
            </a:r>
            <a:endParaRPr lang="en-US" sz="1300" dirty="0"/>
          </a:p>
        </p:txBody>
      </p:sp>
      <p:sp>
        <p:nvSpPr>
          <p:cNvPr id="12" name="Shape 10"/>
          <p:cNvSpPr/>
          <p:nvPr/>
        </p:nvSpPr>
        <p:spPr>
          <a:xfrm>
            <a:off x="661475" y="4150420"/>
            <a:ext cx="372061" cy="372070"/>
          </a:xfrm>
          <a:prstGeom prst="ellipse">
            <a:avLst/>
          </a:prstGeom>
          <a:solidFill>
            <a:srgbClr val="3F2077"/>
          </a:solidFill>
          <a:ln w="6350">
            <a:solidFill>
              <a:srgbClr val="4B3082"/>
            </a:solidFill>
            <a:prstDash val="solid"/>
          </a:ln>
        </p:spPr>
      </p:sp>
      <p:sp>
        <p:nvSpPr>
          <p:cNvPr id="13" name="Text 11"/>
          <p:cNvSpPr/>
          <p:nvPr/>
        </p:nvSpPr>
        <p:spPr>
          <a:xfrm>
            <a:off x="723485" y="4181425"/>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3</a:t>
            </a:r>
            <a:endParaRPr lang="en-US" sz="1950" dirty="0"/>
          </a:p>
        </p:txBody>
      </p:sp>
      <p:sp>
        <p:nvSpPr>
          <p:cNvPr id="14" name="Text 12"/>
          <p:cNvSpPr/>
          <p:nvPr/>
        </p:nvSpPr>
        <p:spPr>
          <a:xfrm>
            <a:off x="1198830" y="4207272"/>
            <a:ext cx="1033139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¿Con qué frecuencia llegan y qué calidad tienen?</a:t>
            </a:r>
            <a:endParaRPr lang="en-US" sz="1600" dirty="0"/>
          </a:p>
        </p:txBody>
      </p:sp>
      <p:sp>
        <p:nvSpPr>
          <p:cNvPr id="15" name="Text 13"/>
          <p:cNvSpPr/>
          <p:nvPr/>
        </p:nvSpPr>
        <p:spPr>
          <a:xfrm>
            <a:off x="1198830" y="4564955"/>
            <a:ext cx="1033139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La veracidad y la velocidad de llegada condicionan la arquitectura del sistema desde el inicio.</a:t>
            </a:r>
            <a:endParaRPr lang="en-US" sz="1300" dirty="0"/>
          </a:p>
        </p:txBody>
      </p:sp>
      <p:sp>
        <p:nvSpPr>
          <p:cNvPr id="16" name="Shape 14"/>
          <p:cNvSpPr/>
          <p:nvPr/>
        </p:nvSpPr>
        <p:spPr>
          <a:xfrm>
            <a:off x="661475" y="5160268"/>
            <a:ext cx="372061" cy="372070"/>
          </a:xfrm>
          <a:prstGeom prst="ellipse">
            <a:avLst/>
          </a:prstGeom>
          <a:solidFill>
            <a:srgbClr val="3F2077"/>
          </a:solidFill>
          <a:ln w="6350">
            <a:solidFill>
              <a:srgbClr val="4B3082"/>
            </a:solidFill>
            <a:prstDash val="solid"/>
          </a:ln>
        </p:spPr>
      </p:sp>
      <p:sp>
        <p:nvSpPr>
          <p:cNvPr id="17" name="Text 15"/>
          <p:cNvSpPr/>
          <p:nvPr/>
        </p:nvSpPr>
        <p:spPr>
          <a:xfrm>
            <a:off x="723485" y="5191274"/>
            <a:ext cx="248041" cy="310059"/>
          </a:xfrm>
          <a:prstGeom prst="rect">
            <a:avLst/>
          </a:prstGeom>
          <a:noFill/>
          <a:ln/>
        </p:spPr>
        <p:txBody>
          <a:bodyPr wrap="none" lIns="0" tIns="0" rIns="0" bIns="0" rtlCol="0" anchor="ctr"/>
          <a:lstStyle/>
          <a:p>
            <a:pPr algn="ctr" indent="0" marL="0">
              <a:lnSpc>
                <a:spcPct val="100000"/>
              </a:lnSpc>
              <a:buNone/>
            </a:pPr>
            <a:r>
              <a:rPr lang="en-US" sz="1950" spc="-20" kern="0" dirty="0">
                <a:solidFill>
                  <a:srgbClr val="FFFFFF"/>
                </a:solidFill>
                <a:latin typeface="Alexandria Medium" pitchFamily="34" charset="0"/>
                <a:ea typeface="Alexandria Medium" pitchFamily="34" charset="-122"/>
                <a:cs typeface="Alexandria Medium" pitchFamily="34" charset="-120"/>
              </a:rPr>
              <a:t>4</a:t>
            </a:r>
            <a:endParaRPr lang="en-US" sz="1950" dirty="0"/>
          </a:p>
        </p:txBody>
      </p:sp>
      <p:sp>
        <p:nvSpPr>
          <p:cNvPr id="18" name="Text 16"/>
          <p:cNvSpPr/>
          <p:nvPr/>
        </p:nvSpPr>
        <p:spPr>
          <a:xfrm>
            <a:off x="1198830" y="5217120"/>
            <a:ext cx="1033139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¿Cuándo necesitamos la respuesta?</a:t>
            </a:r>
            <a:endParaRPr lang="en-US" sz="1600" dirty="0"/>
          </a:p>
        </p:txBody>
      </p:sp>
      <p:sp>
        <p:nvSpPr>
          <p:cNvPr id="19" name="Text 17"/>
          <p:cNvSpPr/>
          <p:nvPr/>
        </p:nvSpPr>
        <p:spPr>
          <a:xfrm>
            <a:off x="1198830" y="5574804"/>
            <a:ext cx="1033139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La urgencia de la respuesta determina si podemos procesar en lotes o necesitamos tiempo real.</a:t>
            </a:r>
            <a:endParaRPr lang="en-US" sz="1300" dirty="0"/>
          </a:p>
        </p:txBody>
      </p:sp>
      <p:pic>
        <p:nvPicPr>
          <p:cNvPr id="2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2" name="Text 18"/>
          <p:cNvSpPr/>
          <p:nvPr/>
        </p:nvSpPr>
        <p:spPr>
          <a:xfrm>
            <a:off x="10848902" y="6300589"/>
            <a:ext cx="114436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1174948"/>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¿Por qué matemática discreta en Big Data?</a:t>
            </a:r>
            <a:endParaRPr lang="en-US" sz="2600" dirty="0"/>
          </a:p>
        </p:txBody>
      </p:sp>
      <p:sp>
        <p:nvSpPr>
          <p:cNvPr id="3" name="Text 1"/>
          <p:cNvSpPr/>
          <p:nvPr/>
        </p:nvSpPr>
        <p:spPr>
          <a:xfrm>
            <a:off x="661475" y="1919089"/>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Muchos problemas cotidianos de datos pueden representarse mediante herramientas matemáticas sencillas. No necesitamos abstracciones complejas: necesitamos reconocerlas cuando aparecen.</a:t>
            </a:r>
            <a:endParaRPr lang="en-US" sz="1300" dirty="0"/>
          </a:p>
        </p:txBody>
      </p:sp>
      <p:sp>
        <p:nvSpPr>
          <p:cNvPr id="4" name="Text 2"/>
          <p:cNvSpPr/>
          <p:nvPr/>
        </p:nvSpPr>
        <p:spPr>
          <a:xfrm>
            <a:off x="661475" y="2799655"/>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Estas estructuras aparecen constantemente</a:t>
            </a:r>
            <a:endParaRPr lang="en-US" sz="1600" dirty="0"/>
          </a:p>
        </p:txBody>
      </p:sp>
      <p:sp>
        <p:nvSpPr>
          <p:cNvPr id="5" name="Text 3"/>
          <p:cNvSpPr/>
          <p:nvPr/>
        </p:nvSpPr>
        <p:spPr>
          <a:xfrm>
            <a:off x="661475" y="3223419"/>
            <a:ext cx="5232666" cy="1554460"/>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Conjuntos:</a:t>
            </a:r>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 grupos de clientes, productos, eventos</a:t>
            </a:r>
            <a:endParaRPr lang="en-US" sz="1300" dirty="0"/>
          </a:p>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Relaciones:</a:t>
            </a:r>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 cliente→compra, usuario→película</a:t>
            </a:r>
            <a:endParaRPr lang="en-US" sz="1300" dirty="0"/>
          </a:p>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Grafos:</a:t>
            </a:r>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 redes sociales, rutas, transferencias</a:t>
            </a:r>
            <a:endParaRPr lang="en-US" sz="1300" dirty="0"/>
          </a:p>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Combinatoria:</a:t>
            </a:r>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 selección de variables, muestreo</a:t>
            </a:r>
            <a:endParaRPr lang="en-US" sz="1300" dirty="0"/>
          </a:p>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Lógica:</a:t>
            </a:r>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 filtros, condiciones, consultas</a:t>
            </a:r>
            <a:endParaRPr lang="en-US" sz="1300" dirty="0"/>
          </a:p>
        </p:txBody>
      </p:sp>
      <p:sp>
        <p:nvSpPr>
          <p:cNvPr id="6" name="Text 4"/>
          <p:cNvSpPr/>
          <p:nvPr/>
        </p:nvSpPr>
        <p:spPr>
          <a:xfrm>
            <a:off x="6303904" y="2799655"/>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Con aplicaciones directas</a:t>
            </a:r>
            <a:endParaRPr lang="en-US" sz="1600" dirty="0"/>
          </a:p>
        </p:txBody>
      </p:sp>
      <p:sp>
        <p:nvSpPr>
          <p:cNvPr id="7" name="Text 5"/>
          <p:cNvSpPr/>
          <p:nvPr/>
        </p:nvSpPr>
        <p:spPr>
          <a:xfrm>
            <a:off x="6303904" y="3223419"/>
            <a:ext cx="5232666" cy="1554460"/>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Combinar datasets de diferentes fuentes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Relacionar clientes con sus compras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Construir redes de conexiones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Filtrar registros con condiciones complejas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Seleccionar subconjuntos de datos</a:t>
            </a:r>
            <a:endParaRPr lang="en-US" sz="1300" dirty="0"/>
          </a:p>
        </p:txBody>
      </p:sp>
      <p:sp>
        <p:nvSpPr>
          <p:cNvPr id="8" name="Shape 6"/>
          <p:cNvSpPr/>
          <p:nvPr/>
        </p:nvSpPr>
        <p:spPr>
          <a:xfrm>
            <a:off x="661475" y="5021759"/>
            <a:ext cx="10868745" cy="661293"/>
          </a:xfrm>
          <a:prstGeom prst="roundRect">
            <a:avLst>
              <a:gd name="adj" fmla="val 37515"/>
            </a:avLst>
          </a:prstGeom>
          <a:solidFill>
            <a:srgbClr val="321769"/>
          </a:solidFill>
          <a:ln/>
        </p:spPr>
      </p:sp>
      <p:pic>
        <p:nvPicPr>
          <p:cNvPr id="9" name="Image 0" descr="preencoded.png">    </p:cNvPr>
          <p:cNvPicPr>
            <a:picLocks noChangeAspect="1"/>
          </p:cNvPicPr>
          <p:nvPr/>
        </p:nvPicPr>
        <p:blipFill>
          <a:blip r:embed="rId1"/>
          <a:stretch>
            <a:fillRect/>
          </a:stretch>
        </p:blipFill>
        <p:spPr>
          <a:xfrm>
            <a:off x="826769" y="5261471"/>
            <a:ext cx="206667" cy="165298"/>
          </a:xfrm>
          <a:prstGeom prst="rect">
            <a:avLst/>
          </a:prstGeom>
        </p:spPr>
      </p:pic>
      <p:sp>
        <p:nvSpPr>
          <p:cNvPr id="10" name="Text 7"/>
          <p:cNvSpPr/>
          <p:nvPr/>
        </p:nvSpPr>
        <p:spPr>
          <a:xfrm>
            <a:off x="1198731" y="5228332"/>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El objetivo no es hacer matemáticas abstractas, sino reconocer estas herramientas cuando las usamos con datos.</a:t>
            </a:r>
            <a:endParaRPr lang="en-US" sz="1300" dirty="0"/>
          </a:p>
        </p:txBody>
      </p:sp>
      <p:pic>
        <p:nvPicPr>
          <p:cNvPr id="11"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2"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3" name="Text 8"/>
          <p:cNvSpPr/>
          <p:nvPr/>
        </p:nvSpPr>
        <p:spPr>
          <a:xfrm>
            <a:off x="10828067" y="6300589"/>
            <a:ext cx="116519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1043484"/>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Conjuntos</a:t>
            </a:r>
            <a:endParaRPr lang="en-US" sz="2300" dirty="0"/>
          </a:p>
        </p:txBody>
      </p:sp>
      <p:sp>
        <p:nvSpPr>
          <p:cNvPr id="3" name="Text 1"/>
          <p:cNvSpPr/>
          <p:nvPr/>
        </p:nvSpPr>
        <p:spPr>
          <a:xfrm>
            <a:off x="661475" y="1683544"/>
            <a:ext cx="10868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Un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conjunto</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es una colección de elementos distintos. En el contexto de datos, un conjunto puede representar grupos de clientes, productos, eventos o cualquier colección de registros.</a:t>
            </a:r>
            <a:endParaRPr lang="en-US" sz="1150" dirty="0"/>
          </a:p>
        </p:txBody>
      </p:sp>
      <p:sp>
        <p:nvSpPr>
          <p:cNvPr id="4" name="Text 2"/>
          <p:cNvSpPr/>
          <p:nvPr/>
        </p:nvSpPr>
        <p:spPr>
          <a:xfrm>
            <a:off x="661475" y="2420640"/>
            <a:ext cx="5814371"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Ejemplo aplicado a datos</a:t>
            </a:r>
            <a:endParaRPr lang="en-US" sz="1450" dirty="0"/>
          </a:p>
        </p:txBody>
      </p:sp>
      <p:sp>
        <p:nvSpPr>
          <p:cNvPr id="5" name="Text 3"/>
          <p:cNvSpPr/>
          <p:nvPr/>
        </p:nvSpPr>
        <p:spPr>
          <a:xfrm>
            <a:off x="661475" y="2787055"/>
            <a:ext cx="5814371" cy="1145977"/>
          </a:xfrm>
          <a:prstGeom prst="rect">
            <a:avLst/>
          </a:prstGeom>
          <a:noFill/>
          <a:ln/>
        </p:spPr>
        <p:txBody>
          <a:bodyPr wrap="square" lIns="0" tIns="0" rIns="0" bIns="0" rtlCol="0" anchor="t"/>
          <a:lstStyle/>
          <a:p>
            <a:pPr algn="l" indent="0" marL="0">
              <a:lnSpc>
                <a:spcPct val="127000"/>
              </a:lnSpc>
              <a:spcAft>
                <a:spcPts val="900"/>
              </a:spcAft>
              <a:buNone/>
            </a:pPr>
            <a:r>
              <a:rPr lang="en-US" sz="1150" b="1" dirty="0">
                <a:solidFill>
                  <a:srgbClr val="FFFFFF"/>
                </a:solidFill>
                <a:latin typeface="Manrope Bold" pitchFamily="34" charset="0"/>
                <a:ea typeface="Manrope Bold" pitchFamily="34" charset="-122"/>
                <a:cs typeface="Manrope Bold" pitchFamily="34" charset="-120"/>
              </a:rPr>
              <a:t>A</a:t>
            </a:r>
            <a:pPr algn="l" indent="0" marL="0">
              <a:lnSpc>
                <a:spcPct val="127000"/>
              </a:lnSpc>
              <a:spcAft>
                <a:spcPts val="900"/>
              </a:spcAft>
              <a:buNone/>
            </a:pPr>
            <a:r>
              <a:rPr lang="en-US" sz="1150" dirty="0">
                <a:solidFill>
                  <a:srgbClr val="FFFFFF"/>
                </a:solidFill>
                <a:latin typeface="Manrope" pitchFamily="34" charset="0"/>
                <a:ea typeface="Manrope" pitchFamily="34" charset="-122"/>
                <a:cs typeface="Manrope" pitchFamily="34" charset="-120"/>
              </a:rPr>
              <a:t> = clientes que compraron el Producto A</a:t>
            </a:r>
            <a:endParaRPr lang="en-US" sz="1150" dirty="0"/>
          </a:p>
          <a:p>
            <a:pPr algn="l" indent="0" marL="0">
              <a:lnSpc>
                <a:spcPct val="127000"/>
              </a:lnSpc>
              <a:spcAft>
                <a:spcPts val="900"/>
              </a:spcAft>
              <a:buNone/>
            </a:pPr>
            <a:r>
              <a:rPr lang="en-US" sz="1150" b="1" dirty="0">
                <a:solidFill>
                  <a:srgbClr val="FFFFFF"/>
                </a:solidFill>
                <a:latin typeface="Manrope Bold" pitchFamily="34" charset="0"/>
                <a:ea typeface="Manrope Bold" pitchFamily="34" charset="-122"/>
                <a:cs typeface="Manrope Bold" pitchFamily="34" charset="-120"/>
              </a:rPr>
              <a:t>B</a:t>
            </a:r>
            <a:pPr algn="l" indent="0" marL="0">
              <a:lnSpc>
                <a:spcPct val="127000"/>
              </a:lnSpc>
              <a:spcAft>
                <a:spcPts val="900"/>
              </a:spcAft>
              <a:buNone/>
            </a:pPr>
            <a:r>
              <a:rPr lang="en-US" sz="1150" dirty="0">
                <a:solidFill>
                  <a:srgbClr val="FFFFFF"/>
                </a:solidFill>
                <a:latin typeface="Manrope" pitchFamily="34" charset="0"/>
                <a:ea typeface="Manrope" pitchFamily="34" charset="-122"/>
                <a:cs typeface="Manrope" pitchFamily="34" charset="-120"/>
              </a:rPr>
              <a:t> = clientes que compraron el Producto B</a:t>
            </a:r>
            <a:endParaRPr lang="en-US" sz="1150" dirty="0"/>
          </a:p>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Cada conjunto contiene identificadores únicos de clientes. Los conjuntos pueden solaparse si un cliente compró ambos productos.</a:t>
            </a:r>
            <a:endParaRPr lang="en-US" sz="1150" dirty="0"/>
          </a:p>
        </p:txBody>
      </p:sp>
      <p:sp>
        <p:nvSpPr>
          <p:cNvPr id="6" name="Text 4"/>
          <p:cNvSpPr/>
          <p:nvPr/>
        </p:nvSpPr>
        <p:spPr>
          <a:xfrm>
            <a:off x="661475" y="4053582"/>
            <a:ext cx="5814371" cy="49926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 = {C001, C003, C007, C012}</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B = {C003, C007, C018, C025}</a:t>
            </a:r>
            <a:endParaRPr lang="en-US" sz="1150" dirty="0"/>
          </a:p>
        </p:txBody>
      </p:sp>
      <p:pic>
        <p:nvPicPr>
          <p:cNvPr id="7" name="Image 0" descr="preencoded.png">    </p:cNvPr>
          <p:cNvPicPr>
            <a:picLocks noChangeAspect="1"/>
          </p:cNvPicPr>
          <p:nvPr/>
        </p:nvPicPr>
        <p:blipFill>
          <a:blip r:embed="rId1"/>
          <a:stretch>
            <a:fillRect/>
          </a:stretch>
        </p:blipFill>
        <p:spPr>
          <a:xfrm>
            <a:off x="6845327" y="2437408"/>
            <a:ext cx="4221950" cy="2879527"/>
          </a:xfrm>
          <a:prstGeom prst="rect">
            <a:avLst/>
          </a:prstGeom>
        </p:spPr>
      </p:pic>
      <p:pic>
        <p:nvPicPr>
          <p:cNvPr id="8"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9"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0" name="Text 5"/>
          <p:cNvSpPr/>
          <p:nvPr/>
        </p:nvSpPr>
        <p:spPr>
          <a:xfrm>
            <a:off x="10830051" y="6300589"/>
            <a:ext cx="116321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475" y="1124744"/>
            <a:ext cx="10868745" cy="289421"/>
          </a:xfrm>
          <a:prstGeom prst="rect">
            <a:avLst/>
          </a:prstGeom>
          <a:noFill/>
          <a:ln/>
        </p:spPr>
        <p:txBody>
          <a:bodyPr wrap="none" lIns="0" tIns="0" rIns="0" bIns="0" rtlCol="0" anchor="t"/>
          <a:lstStyle/>
          <a:p>
            <a:pPr algn="l" indent="0" marL="0">
              <a:lnSpc>
                <a:spcPct val="104000"/>
              </a:lnSpc>
              <a:buNone/>
            </a:pPr>
            <a:r>
              <a:rPr lang="en-US" sz="1800" spc="-18" kern="0" dirty="0">
                <a:solidFill>
                  <a:srgbClr val="FFFFFF"/>
                </a:solidFill>
                <a:latin typeface="Alexandria Medium" pitchFamily="34" charset="0"/>
                <a:ea typeface="Alexandria Medium" pitchFamily="34" charset="-122"/>
                <a:cs typeface="Alexandria Medium" pitchFamily="34" charset="-120"/>
              </a:rPr>
              <a:t>Unión, intersección y diferencia</a:t>
            </a:r>
            <a:endParaRPr lang="en-US" sz="1800" dirty="0"/>
          </a:p>
        </p:txBody>
      </p:sp>
      <p:sp>
        <p:nvSpPr>
          <p:cNvPr id="3" name="Text 1"/>
          <p:cNvSpPr/>
          <p:nvPr/>
        </p:nvSpPr>
        <p:spPr>
          <a:xfrm>
            <a:off x="661475" y="1576189"/>
            <a:ext cx="11478330" cy="157460"/>
          </a:xfrm>
          <a:prstGeom prst="rect">
            <a:avLst/>
          </a:prstGeom>
          <a:noFill/>
          <a:ln/>
        </p:spPr>
        <p:txBody>
          <a:bodyPr wrap="none" lIns="0" tIns="0" rIns="0" bIns="0" rtlCol="0" anchor="t"/>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Estas tres operaciones sobre conjuntos son la base de cómo integramos y comparamos datasets.</a:t>
            </a:r>
            <a:endParaRPr lang="en-US" sz="900" dirty="0"/>
          </a:p>
        </p:txBody>
      </p:sp>
      <p:sp>
        <p:nvSpPr>
          <p:cNvPr id="4" name="Shape 2"/>
          <p:cNvSpPr/>
          <p:nvPr/>
        </p:nvSpPr>
        <p:spPr>
          <a:xfrm>
            <a:off x="661475" y="1915815"/>
            <a:ext cx="2606114" cy="1208683"/>
          </a:xfrm>
          <a:prstGeom prst="roundRect">
            <a:avLst>
              <a:gd name="adj" fmla="val 14368"/>
            </a:avLst>
          </a:prstGeom>
          <a:solidFill>
            <a:srgbClr val="3F2077"/>
          </a:solidFill>
          <a:ln w="6350">
            <a:solidFill>
              <a:srgbClr val="4B3082"/>
            </a:solidFill>
            <a:prstDash val="solid"/>
          </a:ln>
        </p:spPr>
      </p:sp>
      <p:sp>
        <p:nvSpPr>
          <p:cNvPr id="5" name="Text 3"/>
          <p:cNvSpPr/>
          <p:nvPr/>
        </p:nvSpPr>
        <p:spPr>
          <a:xfrm>
            <a:off x="783511" y="2037854"/>
            <a:ext cx="2362042" cy="180876"/>
          </a:xfrm>
          <a:prstGeom prst="rect">
            <a:avLst/>
          </a:prstGeom>
          <a:noFill/>
          <a:ln/>
        </p:spPr>
        <p:txBody>
          <a:bodyPr wrap="none" lIns="0" tIns="0" rIns="0" bIns="0" rtlCol="0" anchor="t"/>
          <a:lstStyle/>
          <a:p>
            <a:pPr algn="l" indent="0" marL="0">
              <a:lnSpc>
                <a:spcPct val="104000"/>
              </a:lnSpc>
              <a:buNone/>
            </a:pPr>
            <a:r>
              <a:rPr lang="en-US" sz="1100" spc="-11" kern="0" dirty="0">
                <a:solidFill>
                  <a:srgbClr val="FFFFFF"/>
                </a:solidFill>
                <a:latin typeface="Alexandria Medium" pitchFamily="34" charset="0"/>
                <a:ea typeface="Alexandria Medium" pitchFamily="34" charset="-122"/>
                <a:cs typeface="Alexandria Medium" pitchFamily="34" charset="-120"/>
              </a:rPr>
              <a:t>A ∪ B — Unión</a:t>
            </a:r>
            <a:endParaRPr lang="en-US" sz="1100" dirty="0"/>
          </a:p>
        </p:txBody>
      </p:sp>
      <p:sp>
        <p:nvSpPr>
          <p:cNvPr id="6" name="Text 4"/>
          <p:cNvSpPr/>
          <p:nvPr/>
        </p:nvSpPr>
        <p:spPr>
          <a:xfrm>
            <a:off x="783511" y="2299692"/>
            <a:ext cx="2362042" cy="702766"/>
          </a:xfrm>
          <a:prstGeom prst="rect">
            <a:avLst/>
          </a:prstGeom>
          <a:noFill/>
          <a:ln/>
        </p:spPr>
        <p:txBody>
          <a:bodyPr wrap="square" lIns="0" tIns="0" rIns="0" bIns="0" rtlCol="0" anchor="t">
            <a:normAutofit/>
          </a:bodyPr>
          <a:lstStyle/>
          <a:p>
            <a:pPr algn="l" indent="0" marL="0">
              <a:lnSpc>
                <a:spcPct val="113000"/>
              </a:lnSpc>
              <a:spcAft>
                <a:spcPts val="550"/>
              </a:spcAft>
              <a:buNone/>
            </a:pPr>
            <a:r>
              <a:rPr lang="en-US" sz="900" dirty="0">
                <a:solidFill>
                  <a:srgbClr val="FFFFFF"/>
                </a:solidFill>
                <a:latin typeface="Manrope" pitchFamily="34" charset="0"/>
                <a:ea typeface="Manrope" pitchFamily="34" charset="-122"/>
                <a:cs typeface="Manrope" pitchFamily="34" charset="-120"/>
              </a:rPr>
              <a:t>Todos los clientes que compraron A </a:t>
            </a:r>
            <a:pPr algn="l" indent="0" marL="0">
              <a:lnSpc>
                <a:spcPct val="113000"/>
              </a:lnSpc>
              <a:spcAft>
                <a:spcPts val="550"/>
              </a:spcAft>
              <a:buNone/>
            </a:pPr>
            <a:r>
              <a:rPr lang="en-US" sz="900" b="1" dirty="0">
                <a:solidFill>
                  <a:srgbClr val="FFFFFF"/>
                </a:solidFill>
                <a:latin typeface="Manrope Bold" pitchFamily="34" charset="0"/>
                <a:ea typeface="Manrope Bold" pitchFamily="34" charset="-122"/>
                <a:cs typeface="Manrope Bold" pitchFamily="34" charset="-120"/>
              </a:rPr>
              <a:t>o</a:t>
            </a:r>
            <a:pPr algn="l" indent="0" marL="0">
              <a:lnSpc>
                <a:spcPct val="113000"/>
              </a:lnSpc>
              <a:spcAft>
                <a:spcPts val="550"/>
              </a:spcAft>
              <a:buNone/>
            </a:pPr>
            <a:r>
              <a:rPr lang="en-US" sz="900" dirty="0">
                <a:solidFill>
                  <a:srgbClr val="FFFFFF"/>
                </a:solidFill>
                <a:latin typeface="Manrope" pitchFamily="34" charset="0"/>
                <a:ea typeface="Manrope" pitchFamily="34" charset="-122"/>
                <a:cs typeface="Manrope" pitchFamily="34" charset="-120"/>
              </a:rPr>
              <a:t> B (o ambos).</a:t>
            </a:r>
            <a:endParaRPr lang="en-US" sz="900" dirty="0"/>
          </a:p>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 Campaña para cualquiera que haya comprado alguno de los dos.</a:t>
            </a:r>
            <a:endParaRPr lang="en-US" sz="900" dirty="0"/>
          </a:p>
        </p:txBody>
      </p:sp>
      <p:sp>
        <p:nvSpPr>
          <p:cNvPr id="7" name="Shape 5"/>
          <p:cNvSpPr/>
          <p:nvPr/>
        </p:nvSpPr>
        <p:spPr>
          <a:xfrm>
            <a:off x="3348549" y="1915815"/>
            <a:ext cx="2606114" cy="1208683"/>
          </a:xfrm>
          <a:prstGeom prst="roundRect">
            <a:avLst>
              <a:gd name="adj" fmla="val 14368"/>
            </a:avLst>
          </a:prstGeom>
          <a:solidFill>
            <a:srgbClr val="3F2077"/>
          </a:solidFill>
          <a:ln w="6350">
            <a:solidFill>
              <a:srgbClr val="4B3082"/>
            </a:solidFill>
            <a:prstDash val="solid"/>
          </a:ln>
        </p:spPr>
      </p:sp>
      <p:sp>
        <p:nvSpPr>
          <p:cNvPr id="8" name="Text 6"/>
          <p:cNvSpPr/>
          <p:nvPr/>
        </p:nvSpPr>
        <p:spPr>
          <a:xfrm>
            <a:off x="3470585" y="2037854"/>
            <a:ext cx="2362042" cy="180876"/>
          </a:xfrm>
          <a:prstGeom prst="rect">
            <a:avLst/>
          </a:prstGeom>
          <a:noFill/>
          <a:ln/>
        </p:spPr>
        <p:txBody>
          <a:bodyPr wrap="none" lIns="0" tIns="0" rIns="0" bIns="0" rtlCol="0" anchor="t"/>
          <a:lstStyle/>
          <a:p>
            <a:pPr algn="l" indent="0" marL="0">
              <a:lnSpc>
                <a:spcPct val="104000"/>
              </a:lnSpc>
              <a:buNone/>
            </a:pPr>
            <a:r>
              <a:rPr lang="en-US" sz="1100" spc="-11" kern="0" dirty="0">
                <a:solidFill>
                  <a:srgbClr val="FFFFFF"/>
                </a:solidFill>
                <a:latin typeface="Alexandria Medium" pitchFamily="34" charset="0"/>
                <a:ea typeface="Alexandria Medium" pitchFamily="34" charset="-122"/>
                <a:cs typeface="Alexandria Medium" pitchFamily="34" charset="-120"/>
              </a:rPr>
              <a:t>A ∩ B — Intersección</a:t>
            </a:r>
            <a:endParaRPr lang="en-US" sz="1100" dirty="0"/>
          </a:p>
        </p:txBody>
      </p:sp>
      <p:sp>
        <p:nvSpPr>
          <p:cNvPr id="9" name="Text 7"/>
          <p:cNvSpPr/>
          <p:nvPr/>
        </p:nvSpPr>
        <p:spPr>
          <a:xfrm>
            <a:off x="3470585" y="2299692"/>
            <a:ext cx="2362042" cy="545306"/>
          </a:xfrm>
          <a:prstGeom prst="rect">
            <a:avLst/>
          </a:prstGeom>
          <a:noFill/>
          <a:ln/>
        </p:spPr>
        <p:txBody>
          <a:bodyPr wrap="square" lIns="0" tIns="0" rIns="0" bIns="0" rtlCol="0" anchor="t"/>
          <a:lstStyle/>
          <a:p>
            <a:pPr algn="l" indent="0" marL="0">
              <a:lnSpc>
                <a:spcPct val="113000"/>
              </a:lnSpc>
              <a:spcAft>
                <a:spcPts val="550"/>
              </a:spcAft>
              <a:buNone/>
            </a:pPr>
            <a:r>
              <a:rPr lang="en-US" sz="900" dirty="0">
                <a:solidFill>
                  <a:srgbClr val="FFFFFF"/>
                </a:solidFill>
                <a:latin typeface="Manrope" pitchFamily="34" charset="0"/>
                <a:ea typeface="Manrope" pitchFamily="34" charset="-122"/>
                <a:cs typeface="Manrope" pitchFamily="34" charset="-120"/>
              </a:rPr>
              <a:t>Clientes que compraron </a:t>
            </a:r>
            <a:pPr algn="l" indent="0" marL="0">
              <a:lnSpc>
                <a:spcPct val="113000"/>
              </a:lnSpc>
              <a:spcAft>
                <a:spcPts val="550"/>
              </a:spcAft>
              <a:buNone/>
            </a:pPr>
            <a:r>
              <a:rPr lang="en-US" sz="900" b="1" dirty="0">
                <a:solidFill>
                  <a:srgbClr val="FFFFFF"/>
                </a:solidFill>
                <a:latin typeface="Manrope Bold" pitchFamily="34" charset="0"/>
                <a:ea typeface="Manrope Bold" pitchFamily="34" charset="-122"/>
                <a:cs typeface="Manrope Bold" pitchFamily="34" charset="-120"/>
              </a:rPr>
              <a:t>ambos</a:t>
            </a:r>
            <a:pPr algn="l" indent="0" marL="0">
              <a:lnSpc>
                <a:spcPct val="113000"/>
              </a:lnSpc>
              <a:spcAft>
                <a:spcPts val="550"/>
              </a:spcAft>
              <a:buNone/>
            </a:pPr>
            <a:r>
              <a:rPr lang="en-US" sz="900" dirty="0">
                <a:solidFill>
                  <a:srgbClr val="FFFFFF"/>
                </a:solidFill>
                <a:latin typeface="Manrope" pitchFamily="34" charset="0"/>
                <a:ea typeface="Manrope" pitchFamily="34" charset="-122"/>
                <a:cs typeface="Manrope" pitchFamily="34" charset="-120"/>
              </a:rPr>
              <a:t> productos.</a:t>
            </a:r>
            <a:endParaRPr lang="en-US" sz="900" dirty="0"/>
          </a:p>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 Segmento de mayor fidelidad, candidatos a ofertas cruzadas.</a:t>
            </a:r>
            <a:endParaRPr lang="en-US" sz="900" dirty="0"/>
          </a:p>
        </p:txBody>
      </p:sp>
      <p:sp>
        <p:nvSpPr>
          <p:cNvPr id="10" name="Shape 8"/>
          <p:cNvSpPr/>
          <p:nvPr/>
        </p:nvSpPr>
        <p:spPr>
          <a:xfrm>
            <a:off x="661475" y="3205460"/>
            <a:ext cx="5293188" cy="893762"/>
          </a:xfrm>
          <a:prstGeom prst="roundRect">
            <a:avLst>
              <a:gd name="adj" fmla="val 19430"/>
            </a:avLst>
          </a:prstGeom>
          <a:solidFill>
            <a:srgbClr val="3F2077"/>
          </a:solidFill>
          <a:ln w="6350">
            <a:solidFill>
              <a:srgbClr val="4B3082"/>
            </a:solidFill>
            <a:prstDash val="solid"/>
          </a:ln>
        </p:spPr>
      </p:sp>
      <p:sp>
        <p:nvSpPr>
          <p:cNvPr id="11" name="Text 9"/>
          <p:cNvSpPr/>
          <p:nvPr/>
        </p:nvSpPr>
        <p:spPr>
          <a:xfrm>
            <a:off x="783511" y="3327499"/>
            <a:ext cx="5049116" cy="180876"/>
          </a:xfrm>
          <a:prstGeom prst="rect">
            <a:avLst/>
          </a:prstGeom>
          <a:noFill/>
          <a:ln/>
        </p:spPr>
        <p:txBody>
          <a:bodyPr wrap="none" lIns="0" tIns="0" rIns="0" bIns="0" rtlCol="0" anchor="t"/>
          <a:lstStyle/>
          <a:p>
            <a:pPr algn="l" indent="0" marL="0">
              <a:lnSpc>
                <a:spcPct val="104000"/>
              </a:lnSpc>
              <a:buNone/>
            </a:pPr>
            <a:r>
              <a:rPr lang="en-US" sz="1100" spc="-11" kern="0" dirty="0">
                <a:solidFill>
                  <a:srgbClr val="FFFFFF"/>
                </a:solidFill>
                <a:latin typeface="Alexandria Medium" pitchFamily="34" charset="0"/>
                <a:ea typeface="Alexandria Medium" pitchFamily="34" charset="-122"/>
                <a:cs typeface="Alexandria Medium" pitchFamily="34" charset="-120"/>
              </a:rPr>
              <a:t>A − B — Diferencia</a:t>
            </a:r>
            <a:endParaRPr lang="en-US" sz="1100" dirty="0"/>
          </a:p>
        </p:txBody>
      </p:sp>
      <p:sp>
        <p:nvSpPr>
          <p:cNvPr id="12" name="Text 10"/>
          <p:cNvSpPr/>
          <p:nvPr/>
        </p:nvSpPr>
        <p:spPr>
          <a:xfrm>
            <a:off x="783511" y="3589337"/>
            <a:ext cx="5049116" cy="387846"/>
          </a:xfrm>
          <a:prstGeom prst="rect">
            <a:avLst/>
          </a:prstGeom>
          <a:noFill/>
          <a:ln/>
        </p:spPr>
        <p:txBody>
          <a:bodyPr wrap="square" lIns="0" tIns="0" rIns="0" bIns="0" rtlCol="0" anchor="t"/>
          <a:lstStyle/>
          <a:p>
            <a:pPr algn="l" indent="0" marL="0">
              <a:lnSpc>
                <a:spcPct val="113000"/>
              </a:lnSpc>
              <a:spcAft>
                <a:spcPts val="550"/>
              </a:spcAft>
              <a:buNone/>
            </a:pPr>
            <a:r>
              <a:rPr lang="en-US" sz="900" dirty="0">
                <a:solidFill>
                  <a:srgbClr val="FFFFFF"/>
                </a:solidFill>
                <a:latin typeface="Manrope" pitchFamily="34" charset="0"/>
                <a:ea typeface="Manrope" pitchFamily="34" charset="-122"/>
                <a:cs typeface="Manrope" pitchFamily="34" charset="-120"/>
              </a:rPr>
              <a:t>Clientes que compraron A pero </a:t>
            </a:r>
            <a:pPr algn="l" indent="0" marL="0">
              <a:lnSpc>
                <a:spcPct val="113000"/>
              </a:lnSpc>
              <a:spcAft>
                <a:spcPts val="550"/>
              </a:spcAft>
              <a:buNone/>
            </a:pPr>
            <a:r>
              <a:rPr lang="en-US" sz="900" b="1" dirty="0">
                <a:solidFill>
                  <a:srgbClr val="FFFFFF"/>
                </a:solidFill>
                <a:latin typeface="Manrope Bold" pitchFamily="34" charset="0"/>
                <a:ea typeface="Manrope Bold" pitchFamily="34" charset="-122"/>
                <a:cs typeface="Manrope Bold" pitchFamily="34" charset="-120"/>
              </a:rPr>
              <a:t>no</a:t>
            </a:r>
            <a:pPr algn="l" indent="0" marL="0">
              <a:lnSpc>
                <a:spcPct val="113000"/>
              </a:lnSpc>
              <a:spcAft>
                <a:spcPts val="550"/>
              </a:spcAft>
              <a:buNone/>
            </a:pPr>
            <a:r>
              <a:rPr lang="en-US" sz="900" dirty="0">
                <a:solidFill>
                  <a:srgbClr val="FFFFFF"/>
                </a:solidFill>
                <a:latin typeface="Manrope" pitchFamily="34" charset="0"/>
                <a:ea typeface="Manrope" pitchFamily="34" charset="-122"/>
                <a:cs typeface="Manrope" pitchFamily="34" charset="-120"/>
              </a:rPr>
              <a:t> B.</a:t>
            </a:r>
            <a:endParaRPr lang="en-US" sz="900" dirty="0"/>
          </a:p>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 Candidatos a una campaña específica para introducirles el Producto B.</a:t>
            </a:r>
            <a:endParaRPr lang="en-US" sz="900" dirty="0"/>
          </a:p>
        </p:txBody>
      </p:sp>
      <p:pic>
        <p:nvPicPr>
          <p:cNvPr id="13" name="Image 0" descr="preencoded.png">    </p:cNvPr>
          <p:cNvPicPr>
            <a:picLocks noChangeAspect="1"/>
          </p:cNvPicPr>
          <p:nvPr/>
        </p:nvPicPr>
        <p:blipFill>
          <a:blip r:embed="rId1"/>
          <a:stretch>
            <a:fillRect/>
          </a:stretch>
        </p:blipFill>
        <p:spPr>
          <a:xfrm>
            <a:off x="6243382" y="1915815"/>
            <a:ext cx="2595200" cy="2107406"/>
          </a:xfrm>
          <a:prstGeom prst="rect">
            <a:avLst/>
          </a:prstGeom>
        </p:spPr>
      </p:pic>
      <p:sp>
        <p:nvSpPr>
          <p:cNvPr id="14" name="Text 11"/>
          <p:cNvSpPr/>
          <p:nvPr/>
        </p:nvSpPr>
        <p:spPr>
          <a:xfrm>
            <a:off x="6243382" y="4114304"/>
            <a:ext cx="5293188"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Estas operaciones aparecen constantemente al </a:t>
            </a:r>
            <a:pPr algn="l" indent="0" marL="0">
              <a:lnSpc>
                <a:spcPct val="113000"/>
              </a:lnSpc>
              <a:buNone/>
            </a:pPr>
            <a:r>
              <a:rPr lang="en-US" sz="900" b="1" dirty="0">
                <a:solidFill>
                  <a:srgbClr val="FFFFFF"/>
                </a:solidFill>
                <a:latin typeface="Manrope Bold" pitchFamily="34" charset="0"/>
                <a:ea typeface="Manrope Bold" pitchFamily="34" charset="-122"/>
                <a:cs typeface="Manrope Bold" pitchFamily="34" charset="-120"/>
              </a:rPr>
              <a:t>integrar, comparar y filtrar datasets</a:t>
            </a:r>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 procedentes de fuentes distintas.</a:t>
            </a:r>
            <a:endParaRPr lang="en-US" sz="900" dirty="0"/>
          </a:p>
        </p:txBody>
      </p:sp>
      <p:sp>
        <p:nvSpPr>
          <p:cNvPr id="15" name="Text 12"/>
          <p:cNvSpPr/>
          <p:nvPr/>
        </p:nvSpPr>
        <p:spPr>
          <a:xfrm>
            <a:off x="661475" y="4593233"/>
            <a:ext cx="10868745" cy="406003"/>
          </a:xfrm>
          <a:prstGeom prst="rect">
            <a:avLst/>
          </a:prstGeom>
          <a:noFill/>
          <a:ln/>
        </p:spPr>
        <p:txBody>
          <a:bodyPr wrap="square" lIns="0" tIns="0" rIns="0" bIns="0" rtlCol="0" anchor="t"/>
          <a:lstStyle/>
          <a:p>
            <a:pPr algn="l" indent="0" marL="0">
              <a:lnSpc>
                <a:spcPct val="113000"/>
              </a:lnSpc>
              <a:spcAft>
                <a:spcPts val="700"/>
              </a:spcAft>
              <a:buNone/>
            </a:pPr>
            <a:endParaRPr lang="en-US" sz="900" dirty="0"/>
          </a:p>
        </p:txBody>
      </p:sp>
      <p:pic>
        <p:nvPicPr>
          <p:cNvPr id="16"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7"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8" name="Text 13"/>
          <p:cNvSpPr/>
          <p:nvPr/>
        </p:nvSpPr>
        <p:spPr>
          <a:xfrm>
            <a:off x="10828166" y="6300589"/>
            <a:ext cx="1165097"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475" y="1009749"/>
            <a:ext cx="10868745" cy="345976"/>
          </a:xfrm>
          <a:prstGeom prst="rect">
            <a:avLst/>
          </a:prstGeom>
          <a:noFill/>
          <a:ln/>
        </p:spPr>
        <p:txBody>
          <a:bodyPr wrap="none" lIns="0" tIns="0" rIns="0" bIns="0" rtlCol="0" anchor="t"/>
          <a:lstStyle/>
          <a:p>
            <a:pPr algn="l" indent="0" marL="0">
              <a:lnSpc>
                <a:spcPct val="104000"/>
              </a:lnSpc>
              <a:buNone/>
            </a:pPr>
            <a:r>
              <a:rPr lang="en-US" sz="2150" spc="-22" kern="0" dirty="0">
                <a:solidFill>
                  <a:srgbClr val="FFFFFF"/>
                </a:solidFill>
                <a:latin typeface="Alexandria Medium" pitchFamily="34" charset="0"/>
                <a:ea typeface="Alexandria Medium" pitchFamily="34" charset="-122"/>
                <a:cs typeface="Alexandria Medium" pitchFamily="34" charset="-120"/>
              </a:rPr>
              <a:t>Del conjunto al DataFrame</a:t>
            </a:r>
            <a:endParaRPr lang="en-US" sz="2150" dirty="0"/>
          </a:p>
        </p:txBody>
      </p:sp>
      <p:sp>
        <p:nvSpPr>
          <p:cNvPr id="3" name="Text 1"/>
          <p:cNvSpPr/>
          <p:nvPr/>
        </p:nvSpPr>
        <p:spPr>
          <a:xfrm>
            <a:off x="661475" y="1587302"/>
            <a:ext cx="11478330" cy="203299"/>
          </a:xfrm>
          <a:prstGeom prst="rect">
            <a:avLst/>
          </a:prstGeom>
          <a:noFill/>
          <a:ln/>
        </p:spPr>
        <p:txBody>
          <a:bodyPr wrap="none" lIns="0" tIns="0" rIns="0" bIns="0" rtlCol="0" anchor="t"/>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La idea matemática de conjunto se convierte directamente en operaciones sobre datos reales. Los conceptos no cambian: solo cambia la sintaxis.</a:t>
            </a:r>
            <a:endParaRPr lang="en-US" sz="1050" dirty="0"/>
          </a:p>
        </p:txBody>
      </p:sp>
      <p:sp>
        <p:nvSpPr>
          <p:cNvPr id="4" name="Text 2"/>
          <p:cNvSpPr/>
          <p:nvPr/>
        </p:nvSpPr>
        <p:spPr>
          <a:xfrm>
            <a:off x="661475" y="2036564"/>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Operaciones con conjuntos Python</a:t>
            </a:r>
            <a:endParaRPr lang="en-US" sz="1350" dirty="0"/>
          </a:p>
        </p:txBody>
      </p:sp>
      <p:sp>
        <p:nvSpPr>
          <p:cNvPr id="5" name="Shape 3"/>
          <p:cNvSpPr/>
          <p:nvPr/>
        </p:nvSpPr>
        <p:spPr>
          <a:xfrm>
            <a:off x="661475" y="2382838"/>
            <a:ext cx="5265606" cy="2712641"/>
          </a:xfrm>
          <a:prstGeom prst="roundRect">
            <a:avLst>
              <a:gd name="adj" fmla="val 7652"/>
            </a:avLst>
          </a:prstGeom>
          <a:solidFill>
            <a:srgbClr val="583592"/>
          </a:solidFill>
          <a:ln/>
        </p:spPr>
      </p:sp>
      <p:sp>
        <p:nvSpPr>
          <p:cNvPr id="6" name="Text 4"/>
          <p:cNvSpPr/>
          <p:nvPr/>
        </p:nvSpPr>
        <p:spPr>
          <a:xfrm>
            <a:off x="827464" y="2521148"/>
            <a:ext cx="4933628" cy="243601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clientes_A = {C001, C003, C007, C012}</a:t>
            </a:r>
            <a:endParaRPr lang="en-US" sz="1050" dirty="0"/>
          </a:p>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clientes_B = {C003, C007, C018, C025}</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 Unión: A ∪ B</a:t>
            </a:r>
            <a:endParaRPr lang="en-US" sz="1050" dirty="0"/>
          </a:p>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clientes_A | clientes_B</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 Intersección: A ∩ B</a:t>
            </a:r>
            <a:endParaRPr lang="en-US" sz="1050" dirty="0"/>
          </a:p>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clientes_A &amp; clientes_B</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 Diferencia: A − B</a:t>
            </a:r>
            <a:endParaRPr lang="en-US" sz="1050" dirty="0"/>
          </a:p>
          <a:p>
            <a:pPr algn="l" indent="0" marL="0">
              <a:lnSpc>
                <a:spcPct val="133000"/>
              </a:lnSpc>
              <a:buNone/>
            </a:pPr>
            <a:r>
              <a:rPr lang="en-US" sz="1050" dirty="0">
                <a:solidFill>
                  <a:srgbClr val="7EE787"/>
                </a:solidFill>
                <a:latin typeface="Consolas" pitchFamily="34" charset="0"/>
                <a:ea typeface="Consolas" pitchFamily="34" charset="-122"/>
                <a:cs typeface="Consolas" pitchFamily="34" charset="-120"/>
              </a:rPr>
              <a:t>clientes_A - clientes_B</a:t>
            </a:r>
            <a:endParaRPr lang="en-US" sz="1050" dirty="0"/>
          </a:p>
        </p:txBody>
      </p:sp>
      <p:sp>
        <p:nvSpPr>
          <p:cNvPr id="7" name="Text 5"/>
          <p:cNvSpPr/>
          <p:nvPr/>
        </p:nvSpPr>
        <p:spPr>
          <a:xfrm>
            <a:off x="6270964" y="2036564"/>
            <a:ext cx="5265606" cy="216098"/>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Filtros equivalentes en Pandas</a:t>
            </a:r>
            <a:endParaRPr lang="en-US" sz="1350" dirty="0"/>
          </a:p>
        </p:txBody>
      </p:sp>
      <p:sp>
        <p:nvSpPr>
          <p:cNvPr id="8" name="Shape 6"/>
          <p:cNvSpPr/>
          <p:nvPr/>
        </p:nvSpPr>
        <p:spPr>
          <a:xfrm>
            <a:off x="6270964" y="2382838"/>
            <a:ext cx="5265606" cy="2712641"/>
          </a:xfrm>
          <a:prstGeom prst="roundRect">
            <a:avLst>
              <a:gd name="adj" fmla="val 7652"/>
            </a:avLst>
          </a:prstGeom>
          <a:solidFill>
            <a:srgbClr val="583592"/>
          </a:solidFill>
          <a:ln/>
        </p:spPr>
      </p:sp>
      <p:sp>
        <p:nvSpPr>
          <p:cNvPr id="9" name="Text 7"/>
          <p:cNvSpPr/>
          <p:nvPr/>
        </p:nvSpPr>
        <p:spPr>
          <a:xfrm>
            <a:off x="6436953" y="2521148"/>
            <a:ext cx="4933628" cy="2436019"/>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df_A = df[df["compro_A"] == True]</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df_B = df[df["compro_B"] == True]</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Unión (merge outer)</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pd.merge(df_A, df_B, how="outer")</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Intersección (merge inner)</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pd.merge(df_A, df_B, how="inner")</a:t>
            </a:r>
            <a:endParaRPr lang="en-US" sz="1050" dirty="0"/>
          </a:p>
          <a:p>
            <a:pPr algn="l" indent="0" marL="0">
              <a:lnSpc>
                <a:spcPct val="133000"/>
              </a:lnSpc>
              <a:buNone/>
            </a:pP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 Diferencia</a:t>
            </a:r>
            <a:endParaRPr lang="en-US" sz="1050" dirty="0"/>
          </a:p>
          <a:p>
            <a:pPr algn="l" indent="0" marL="0">
              <a:lnSpc>
                <a:spcPct val="133000"/>
              </a:lnSpc>
              <a:buNone/>
            </a:pPr>
            <a:r>
              <a:rPr lang="en-US" sz="1050" dirty="0">
                <a:solidFill>
                  <a:srgbClr val="E6EDF3"/>
                </a:solidFill>
                <a:latin typeface="Consolas" pitchFamily="34" charset="0"/>
                <a:ea typeface="Consolas" pitchFamily="34" charset="-122"/>
                <a:cs typeface="Consolas" pitchFamily="34" charset="-120"/>
              </a:rPr>
              <a:t>df_A[~df_A.id.isin(df_B.id)]</a:t>
            </a:r>
            <a:endParaRPr lang="en-US" sz="1050" dirty="0"/>
          </a:p>
        </p:txBody>
      </p:sp>
      <p:sp>
        <p:nvSpPr>
          <p:cNvPr id="10" name="Shape 8"/>
          <p:cNvSpPr/>
          <p:nvPr/>
        </p:nvSpPr>
        <p:spPr>
          <a:xfrm>
            <a:off x="661475" y="5355828"/>
            <a:ext cx="10868745" cy="492323"/>
          </a:xfrm>
          <a:prstGeom prst="roundRect">
            <a:avLst>
              <a:gd name="adj" fmla="val 42163"/>
            </a:avLst>
          </a:prstGeom>
          <a:solidFill>
            <a:srgbClr val="321769"/>
          </a:solidFill>
          <a:ln/>
        </p:spPr>
      </p:sp>
      <p:pic>
        <p:nvPicPr>
          <p:cNvPr id="11" name="Image 0" descr="preencoded.png">    </p:cNvPr>
          <p:cNvPicPr>
            <a:picLocks noChangeAspect="1"/>
          </p:cNvPicPr>
          <p:nvPr/>
        </p:nvPicPr>
        <p:blipFill>
          <a:blip r:embed="rId1"/>
          <a:stretch>
            <a:fillRect/>
          </a:stretch>
        </p:blipFill>
        <p:spPr>
          <a:xfrm>
            <a:off x="799782" y="5524798"/>
            <a:ext cx="172934" cy="138311"/>
          </a:xfrm>
          <a:prstGeom prst="rect">
            <a:avLst/>
          </a:prstGeom>
        </p:spPr>
      </p:pic>
      <p:sp>
        <p:nvSpPr>
          <p:cNvPr id="12" name="Text 9"/>
          <p:cNvSpPr/>
          <p:nvPr/>
        </p:nvSpPr>
        <p:spPr>
          <a:xfrm>
            <a:off x="1111024" y="5506145"/>
            <a:ext cx="10890474" cy="203299"/>
          </a:xfrm>
          <a:prstGeom prst="rect">
            <a:avLst/>
          </a:prstGeom>
          <a:noFill/>
          <a:ln/>
        </p:spPr>
        <p:txBody>
          <a:bodyPr wrap="none" lIns="0" tIns="0" rIns="0" bIns="0" rtlCol="0" anchor="t"/>
          <a:lstStyle/>
          <a:p>
            <a:pPr algn="l" indent="0" marL="0">
              <a:lnSpc>
                <a:spcPct val="122000"/>
              </a:lnSpc>
              <a:buNone/>
            </a:pPr>
            <a:r>
              <a:rPr lang="en-US" sz="1050" dirty="0">
                <a:solidFill>
                  <a:srgbClr val="FFFFFF"/>
                </a:solidFill>
                <a:latin typeface="Manrope" pitchFamily="34" charset="0"/>
                <a:ea typeface="Manrope" pitchFamily="34" charset="-122"/>
                <a:cs typeface="Manrope" pitchFamily="34" charset="-120"/>
              </a:rPr>
              <a:t>La lógica matemática de conjuntos está directamente detrás de las operaciones de filtrado, combinación y comparación de datasets.</a:t>
            </a:r>
            <a:endParaRPr lang="en-US" sz="1050" dirty="0"/>
          </a:p>
        </p:txBody>
      </p:sp>
      <p:pic>
        <p:nvPicPr>
          <p:cNvPr id="13"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4"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5" name="Text 10"/>
          <p:cNvSpPr/>
          <p:nvPr/>
        </p:nvSpPr>
        <p:spPr>
          <a:xfrm>
            <a:off x="10827273" y="6300589"/>
            <a:ext cx="116599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61475" y="1594247"/>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Relaciones entre datos</a:t>
            </a:r>
            <a:endParaRPr lang="en-US" sz="2600" dirty="0"/>
          </a:p>
        </p:txBody>
      </p:sp>
      <p:sp>
        <p:nvSpPr>
          <p:cNvPr id="3" name="Text 1"/>
          <p:cNvSpPr/>
          <p:nvPr/>
        </p:nvSpPr>
        <p:spPr>
          <a:xfrm>
            <a:off x="661475" y="2338388"/>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Una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relación</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asocia elementos de un conjunto con elementos de otro. Modelar relaciones correctamente es fundamental para integrar y consultar datos.</a:t>
            </a:r>
            <a:endParaRPr lang="en-US" sz="1300" dirty="0"/>
          </a:p>
        </p:txBody>
      </p:sp>
      <p:sp>
        <p:nvSpPr>
          <p:cNvPr id="4" name="Shape 2"/>
          <p:cNvSpPr/>
          <p:nvPr/>
        </p:nvSpPr>
        <p:spPr>
          <a:xfrm>
            <a:off x="661475" y="3053655"/>
            <a:ext cx="3512653" cy="1494830"/>
          </a:xfrm>
          <a:prstGeom prst="roundRect">
            <a:avLst>
              <a:gd name="adj" fmla="val 16596"/>
            </a:avLst>
          </a:prstGeom>
          <a:solidFill>
            <a:srgbClr val="3F2077"/>
          </a:solidFill>
          <a:ln w="6350">
            <a:solidFill>
              <a:srgbClr val="4B3082"/>
            </a:solidFill>
            <a:prstDash val="solid"/>
          </a:ln>
        </p:spPr>
      </p:sp>
      <p:sp>
        <p:nvSpPr>
          <p:cNvPr id="5" name="Text 3"/>
          <p:cNvSpPr/>
          <p:nvPr/>
        </p:nvSpPr>
        <p:spPr>
          <a:xfrm>
            <a:off x="833119" y="3225304"/>
            <a:ext cx="31693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Uno a uno</a:t>
            </a:r>
            <a:endParaRPr lang="en-US" sz="1600" dirty="0"/>
          </a:p>
        </p:txBody>
      </p:sp>
      <p:sp>
        <p:nvSpPr>
          <p:cNvPr id="6" name="Text 4"/>
          <p:cNvSpPr/>
          <p:nvPr/>
        </p:nvSpPr>
        <p:spPr>
          <a:xfrm>
            <a:off x="833119" y="3582988"/>
            <a:ext cx="316936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 usuario tiene un único perfil. Un DNI corresponde a una persona.</a:t>
            </a:r>
            <a:endParaRPr lang="en-US" sz="1300" dirty="0"/>
          </a:p>
        </p:txBody>
      </p:sp>
      <p:sp>
        <p:nvSpPr>
          <p:cNvPr id="7" name="Shape 5"/>
          <p:cNvSpPr/>
          <p:nvPr/>
        </p:nvSpPr>
        <p:spPr>
          <a:xfrm>
            <a:off x="4339422" y="3053655"/>
            <a:ext cx="3512752" cy="1494830"/>
          </a:xfrm>
          <a:prstGeom prst="roundRect">
            <a:avLst>
              <a:gd name="adj" fmla="val 16596"/>
            </a:avLst>
          </a:prstGeom>
          <a:solidFill>
            <a:srgbClr val="3F2077"/>
          </a:solidFill>
          <a:ln w="6350">
            <a:solidFill>
              <a:srgbClr val="4B3082"/>
            </a:solidFill>
            <a:prstDash val="solid"/>
          </a:ln>
        </p:spPr>
      </p:sp>
      <p:sp>
        <p:nvSpPr>
          <p:cNvPr id="8" name="Text 6"/>
          <p:cNvSpPr/>
          <p:nvPr/>
        </p:nvSpPr>
        <p:spPr>
          <a:xfrm>
            <a:off x="4511066" y="3225304"/>
            <a:ext cx="31694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Uno a muchos</a:t>
            </a:r>
            <a:endParaRPr lang="en-US" sz="1600" dirty="0"/>
          </a:p>
        </p:txBody>
      </p:sp>
      <p:sp>
        <p:nvSpPr>
          <p:cNvPr id="9" name="Text 7"/>
          <p:cNvSpPr/>
          <p:nvPr/>
        </p:nvSpPr>
        <p:spPr>
          <a:xfrm>
            <a:off x="4511066" y="3582988"/>
            <a:ext cx="316946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 cliente puede tener muchos pedidos. Un edificio alberga muchos sensores.</a:t>
            </a:r>
            <a:endParaRPr lang="en-US" sz="1300" dirty="0"/>
          </a:p>
        </p:txBody>
      </p:sp>
      <p:sp>
        <p:nvSpPr>
          <p:cNvPr id="10" name="Shape 8"/>
          <p:cNvSpPr/>
          <p:nvPr/>
        </p:nvSpPr>
        <p:spPr>
          <a:xfrm>
            <a:off x="8017468" y="3053655"/>
            <a:ext cx="3512653" cy="1494830"/>
          </a:xfrm>
          <a:prstGeom prst="roundRect">
            <a:avLst>
              <a:gd name="adj" fmla="val 16596"/>
            </a:avLst>
          </a:prstGeom>
          <a:solidFill>
            <a:srgbClr val="3F2077"/>
          </a:solidFill>
          <a:ln w="6350">
            <a:solidFill>
              <a:srgbClr val="4B3082"/>
            </a:solidFill>
            <a:prstDash val="solid"/>
          </a:ln>
        </p:spPr>
      </p:sp>
      <p:sp>
        <p:nvSpPr>
          <p:cNvPr id="11" name="Text 9"/>
          <p:cNvSpPr/>
          <p:nvPr/>
        </p:nvSpPr>
        <p:spPr>
          <a:xfrm>
            <a:off x="8189112" y="3225304"/>
            <a:ext cx="3169364"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Muchos a muchos</a:t>
            </a:r>
            <a:endParaRPr lang="en-US" sz="1600" dirty="0"/>
          </a:p>
        </p:txBody>
      </p:sp>
      <p:sp>
        <p:nvSpPr>
          <p:cNvPr id="12" name="Text 10"/>
          <p:cNvSpPr/>
          <p:nvPr/>
        </p:nvSpPr>
        <p:spPr>
          <a:xfrm>
            <a:off x="8189112" y="3582988"/>
            <a:ext cx="31693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Un usuario puede ver muchas películas; una película puede ser vista por muchos usuarios.</a:t>
            </a:r>
            <a:endParaRPr lang="en-US" sz="1300" dirty="0"/>
          </a:p>
        </p:txBody>
      </p:sp>
      <p:sp>
        <p:nvSpPr>
          <p:cNvPr id="13" name="Text 11"/>
          <p:cNvSpPr/>
          <p:nvPr/>
        </p:nvSpPr>
        <p:spPr>
          <a:xfrm>
            <a:off x="661475" y="4734520"/>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Entender las relaciones entre entidades será fundamental cuando trabajemos con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bases de datos, integración de datos y modelos de datos</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en unidades posteriores.</a:t>
            </a:r>
            <a:endParaRPr lang="en-US" sz="1300" dirty="0"/>
          </a:p>
        </p:txBody>
      </p:sp>
      <p:pic>
        <p:nvPicPr>
          <p:cNvPr id="14"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5"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6" name="Text 12"/>
          <p:cNvSpPr/>
          <p:nvPr/>
        </p:nvSpPr>
        <p:spPr>
          <a:xfrm>
            <a:off x="10822213" y="6300589"/>
            <a:ext cx="117105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475" y="1437382"/>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Combinatoria y datos</a:t>
            </a:r>
            <a:endParaRPr lang="en-US" sz="2600" dirty="0"/>
          </a:p>
        </p:txBody>
      </p:sp>
      <p:sp>
        <p:nvSpPr>
          <p:cNvPr id="3" name="Text 1"/>
          <p:cNvSpPr/>
          <p:nvPr/>
        </p:nvSpPr>
        <p:spPr>
          <a:xfrm>
            <a:off x="661475" y="2264172"/>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Permutación — importa el orden</a:t>
            </a:r>
            <a:endParaRPr lang="en-US" sz="1600" dirty="0"/>
          </a:p>
        </p:txBody>
      </p:sp>
      <p:sp>
        <p:nvSpPr>
          <p:cNvPr id="4" name="Text 2"/>
          <p:cNvSpPr/>
          <p:nvPr/>
        </p:nvSpPr>
        <p:spPr>
          <a:xfrm>
            <a:off x="661475" y="2687935"/>
            <a:ext cx="5232666" cy="1207294"/>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¿De cuántas maneras podemos ordenar 4 columnas en un informe? La secuencia A,B,C,D es diferente de D,C,B,A.</a:t>
            </a:r>
            <a:endParaRPr lang="en-US" sz="1300" dirty="0"/>
          </a:p>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Aparece en: ordenaciones de registros, priorización de variables, pipelines de transformación.</a:t>
            </a:r>
            <a:endParaRPr lang="en-US" sz="1300" dirty="0"/>
          </a:p>
        </p:txBody>
      </p:sp>
      <p:sp>
        <p:nvSpPr>
          <p:cNvPr id="5" name="Text 3"/>
          <p:cNvSpPr/>
          <p:nvPr/>
        </p:nvSpPr>
        <p:spPr>
          <a:xfrm>
            <a:off x="6303904" y="2264172"/>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Combinación — importa la selección</a:t>
            </a:r>
            <a:endParaRPr lang="en-US" sz="1600" dirty="0"/>
          </a:p>
        </p:txBody>
      </p:sp>
      <p:sp>
        <p:nvSpPr>
          <p:cNvPr id="6" name="Text 4"/>
          <p:cNvSpPr/>
          <p:nvPr/>
        </p:nvSpPr>
        <p:spPr>
          <a:xfrm>
            <a:off x="6303904" y="2687935"/>
            <a:ext cx="5232666" cy="1207294"/>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¿Cuántas combinaciones de 3 variables podemos elegir de entre 10? El orden no importa, solo qué elementos elegimos.</a:t>
            </a:r>
            <a:endParaRPr lang="en-US" sz="1300" dirty="0"/>
          </a:p>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Aparece en: selección de features, muestreo, generación de subconjuntos de prueba.</a:t>
            </a:r>
            <a:endParaRPr lang="en-US" sz="1300" dirty="0"/>
          </a:p>
        </p:txBody>
      </p:sp>
      <p:sp>
        <p:nvSpPr>
          <p:cNvPr id="7" name="Shape 5"/>
          <p:cNvSpPr/>
          <p:nvPr/>
        </p:nvSpPr>
        <p:spPr>
          <a:xfrm>
            <a:off x="661475" y="4230092"/>
            <a:ext cx="10868745" cy="1190526"/>
          </a:xfrm>
          <a:prstGeom prst="roundRect">
            <a:avLst>
              <a:gd name="adj" fmla="val 20838"/>
            </a:avLst>
          </a:prstGeom>
          <a:solidFill>
            <a:srgbClr val="321769"/>
          </a:solidFill>
          <a:ln/>
        </p:spPr>
      </p:sp>
      <p:pic>
        <p:nvPicPr>
          <p:cNvPr id="8" name="Image 0" descr="preencoded.png">    </p:cNvPr>
          <p:cNvPicPr>
            <a:picLocks noChangeAspect="1"/>
          </p:cNvPicPr>
          <p:nvPr/>
        </p:nvPicPr>
        <p:blipFill>
          <a:blip r:embed="rId1"/>
          <a:stretch>
            <a:fillRect/>
          </a:stretch>
        </p:blipFill>
        <p:spPr>
          <a:xfrm>
            <a:off x="826769" y="4469805"/>
            <a:ext cx="206667" cy="165298"/>
          </a:xfrm>
          <a:prstGeom prst="rect">
            <a:avLst/>
          </a:prstGeom>
        </p:spPr>
      </p:pic>
      <p:sp>
        <p:nvSpPr>
          <p:cNvPr id="9" name="Text 6"/>
          <p:cNvSpPr/>
          <p:nvPr/>
        </p:nvSpPr>
        <p:spPr>
          <a:xfrm>
            <a:off x="1198731" y="4436666"/>
            <a:ext cx="1016619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El número de combinaciones puede crecer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extremadamente rápido</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al aumentar el número de elementos. Con 30 variables, hay más de 1.000 millones de combinaciones posibles de 15. Esto anticipa directamente el concepto de crecimiento exponencial que veremos en complejidad.</a:t>
            </a:r>
            <a:endParaRPr lang="en-US" sz="1300" dirty="0"/>
          </a:p>
        </p:txBody>
      </p:sp>
      <p:pic>
        <p:nvPicPr>
          <p:cNvPr id="10"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1"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2" name="Text 7"/>
          <p:cNvSpPr/>
          <p:nvPr/>
        </p:nvSpPr>
        <p:spPr>
          <a:xfrm>
            <a:off x="10836004" y="6300589"/>
            <a:ext cx="115725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475" y="1217116"/>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PERMUTACIÓN — el orden importa</a:t>
            </a:r>
            <a:endParaRPr lang="en-US" sz="1450" dirty="0"/>
          </a:p>
        </p:txBody>
      </p:sp>
      <p:sp>
        <p:nvSpPr>
          <p:cNvPr id="3" name="Text 1"/>
          <p:cNvSpPr/>
          <p:nvPr/>
        </p:nvSpPr>
        <p:spPr>
          <a:xfrm>
            <a:off x="661475" y="1583531"/>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Tenemos 3 tareas de procesamiento:</a:t>
            </a:r>
            <a:endParaRPr lang="en-US" sz="1150" dirty="0"/>
          </a:p>
        </p:txBody>
      </p:sp>
      <p:sp>
        <p:nvSpPr>
          <p:cNvPr id="4" name="Text 2"/>
          <p:cNvSpPr/>
          <p:nvPr/>
        </p:nvSpPr>
        <p:spPr>
          <a:xfrm>
            <a:off x="661475" y="1930301"/>
            <a:ext cx="5252807" cy="77231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 = Limpiar datos</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B = Filtrar datos</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C = Exportar datos</a:t>
            </a:r>
            <a:endParaRPr lang="en-US" sz="1150" dirty="0"/>
          </a:p>
        </p:txBody>
      </p:sp>
      <p:sp>
        <p:nvSpPr>
          <p:cNvPr id="5" name="Text 3"/>
          <p:cNvSpPr/>
          <p:nvPr/>
        </p:nvSpPr>
        <p:spPr>
          <a:xfrm>
            <a:off x="661475" y="2823170"/>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Podemos ordenarlas de:</a:t>
            </a:r>
            <a:endParaRPr lang="en-US" sz="1150" dirty="0"/>
          </a:p>
        </p:txBody>
      </p:sp>
      <p:sp>
        <p:nvSpPr>
          <p:cNvPr id="6" name="Text 4"/>
          <p:cNvSpPr/>
          <p:nvPr/>
        </p:nvSpPr>
        <p:spPr>
          <a:xfrm>
            <a:off x="661475" y="3169940"/>
            <a:ext cx="5252807" cy="159146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 → B → C</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 → C → B</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B → A → C</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B → C → A</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C → A → B</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C → B → A</a:t>
            </a:r>
            <a:endParaRPr lang="en-US" sz="1150" dirty="0"/>
          </a:p>
        </p:txBody>
      </p:sp>
      <p:sp>
        <p:nvSpPr>
          <p:cNvPr id="7" name="Text 5"/>
          <p:cNvSpPr/>
          <p:nvPr/>
        </p:nvSpPr>
        <p:spPr>
          <a:xfrm>
            <a:off x="661475" y="4881959"/>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Son 6 órdenes diferentes: </a:t>
            </a:r>
            <a:pPr algn="l" indent="0" marL="0">
              <a:lnSpc>
                <a:spcPct val="127000"/>
              </a:lnSpc>
              <a:buNone/>
            </a:pPr>
            <a:r>
              <a:rPr lang="en-US" sz="1150" i="1" dirty="0">
                <a:solidFill>
                  <a:srgbClr val="FFFFFF"/>
                </a:solidFill>
                <a:latin typeface="Manrope" pitchFamily="34" charset="0"/>
                <a:ea typeface="Manrope" pitchFamily="34" charset="-122"/>
                <a:cs typeface="Manrope" pitchFamily="34" charset="-120"/>
              </a:rPr>
              <a:t>         </a:t>
            </a:r>
            <a:endParaRPr lang="en-US" sz="1150" dirty="0"/>
          </a:p>
        </p:txBody>
      </p:sp>
      <p:pic>
        <p:nvPicPr>
          <p:cNvPr id="8" name="Image 0" descr="preencoded.png">    </p:cNvPr>
          <p:cNvPicPr>
            <a:picLocks noChangeAspect="1"/>
          </p:cNvPicPr>
          <p:nvPr/>
        </p:nvPicPr>
        <p:blipFill>
          <a:blip r:embed="rId1"/>
          <a:stretch>
            <a:fillRect/>
          </a:stretch>
        </p:blipFill>
        <p:spPr>
          <a:xfrm>
            <a:off x="2458480" y="4913709"/>
            <a:ext cx="1147039" cy="182563"/>
          </a:xfrm>
          <a:prstGeom prst="rect">
            <a:avLst/>
          </a:prstGeom>
        </p:spPr>
      </p:pic>
      <p:sp>
        <p:nvSpPr>
          <p:cNvPr id="9" name="Text 6"/>
          <p:cNvSpPr/>
          <p:nvPr/>
        </p:nvSpPr>
        <p:spPr>
          <a:xfrm>
            <a:off x="661475" y="5228729"/>
            <a:ext cx="5862392" cy="226219"/>
          </a:xfrm>
          <a:prstGeom prst="rect">
            <a:avLst/>
          </a:prstGeom>
          <a:noFill/>
          <a:ln/>
        </p:spPr>
        <p:txBody>
          <a:bodyPr wrap="none" lIns="0" tIns="0" rIns="0" bIns="0" rtlCol="0" anchor="t"/>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ABC y BAC cuentan como posibilidades distintas porque cambia el orden.</a:t>
            </a:r>
            <a:endParaRPr lang="en-US" sz="1150" dirty="0"/>
          </a:p>
        </p:txBody>
      </p:sp>
      <p:sp>
        <p:nvSpPr>
          <p:cNvPr id="10" name="Text 7"/>
          <p:cNvSpPr/>
          <p:nvPr/>
        </p:nvSpPr>
        <p:spPr>
          <a:xfrm>
            <a:off x="6283763" y="1217116"/>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COMBINACIÓN — el orden NO importa</a:t>
            </a:r>
            <a:endParaRPr lang="en-US" sz="1450" dirty="0"/>
          </a:p>
        </p:txBody>
      </p:sp>
      <p:sp>
        <p:nvSpPr>
          <p:cNvPr id="11" name="Text 8"/>
          <p:cNvSpPr/>
          <p:nvPr/>
        </p:nvSpPr>
        <p:spPr>
          <a:xfrm>
            <a:off x="6283763" y="1583531"/>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Tenemos 5 variables:</a:t>
            </a:r>
            <a:endParaRPr lang="en-US" sz="1150" dirty="0"/>
          </a:p>
        </p:txBody>
      </p:sp>
      <p:sp>
        <p:nvSpPr>
          <p:cNvPr id="12" name="Text 9"/>
          <p:cNvSpPr/>
          <p:nvPr/>
        </p:nvSpPr>
        <p:spPr>
          <a:xfrm>
            <a:off x="6283763" y="1930301"/>
            <a:ext cx="5252807" cy="131841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Edad</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Ciudad</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Gasto</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Canal</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Antigüedad</a:t>
            </a:r>
            <a:endParaRPr lang="en-US" sz="1150" dirty="0"/>
          </a:p>
        </p:txBody>
      </p:sp>
      <p:sp>
        <p:nvSpPr>
          <p:cNvPr id="13" name="Text 10"/>
          <p:cNvSpPr/>
          <p:nvPr/>
        </p:nvSpPr>
        <p:spPr>
          <a:xfrm>
            <a:off x="6283763" y="3369270"/>
            <a:ext cx="5862392"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Queremos seleccionar 2 variables para un análisis. Algunas posibilidades:</a:t>
            </a:r>
            <a:endParaRPr lang="en-US" sz="1150" dirty="0"/>
          </a:p>
        </p:txBody>
      </p:sp>
      <p:sp>
        <p:nvSpPr>
          <p:cNvPr id="14" name="Text 11"/>
          <p:cNvSpPr/>
          <p:nvPr/>
        </p:nvSpPr>
        <p:spPr>
          <a:xfrm>
            <a:off x="6283763" y="3716040"/>
            <a:ext cx="5252807" cy="1591469"/>
          </a:xfrm>
          <a:prstGeom prst="rect">
            <a:avLst/>
          </a:prstGeom>
          <a:noFill/>
          <a:ln/>
        </p:spPr>
        <p:txBody>
          <a:bodyPr wrap="square" lIns="0" tIns="0" rIns="0" bIns="0" rtlCol="0" anchor="t">
            <a:normAutofit/>
          </a:bodyPr>
          <a:lstStyle/>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Edad + Ciudad</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Edad + Gasto</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Edad + Canal</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Ciudad + Gasto</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Ciudad + Canal</a:t>
            </a:r>
            <a:endParaRPr lang="en-US" sz="1150" dirty="0"/>
          </a:p>
          <a:p>
            <a:pPr algn="l" marL="233680" indent="-233680">
              <a:lnSpc>
                <a:spcPct val="127000"/>
              </a:lnSpc>
              <a:buSzPct val="100000"/>
              <a:buChar char="•"/>
            </a:pPr>
            <a:r>
              <a:rPr lang="en-US" sz="1150" dirty="0">
                <a:solidFill>
                  <a:srgbClr val="FFFFFF"/>
                </a:solidFill>
                <a:latin typeface="Manrope" pitchFamily="34" charset="0"/>
                <a:ea typeface="Manrope" pitchFamily="34" charset="-122"/>
                <a:cs typeface="Manrope" pitchFamily="34" charset="-120"/>
              </a:rPr>
              <a:t>Gasto + Canal</a:t>
            </a:r>
            <a:endParaRPr lang="en-US" sz="1150" dirty="0"/>
          </a:p>
        </p:txBody>
      </p:sp>
      <p:sp>
        <p:nvSpPr>
          <p:cNvPr id="15" name="Text 12"/>
          <p:cNvSpPr/>
          <p:nvPr/>
        </p:nvSpPr>
        <p:spPr>
          <a:xfrm>
            <a:off x="6283763" y="5428059"/>
            <a:ext cx="5862392" cy="226219"/>
          </a:xfrm>
          <a:prstGeom prst="rect">
            <a:avLst/>
          </a:prstGeom>
          <a:noFill/>
          <a:ln/>
        </p:spPr>
        <p:txBody>
          <a:bodyPr wrap="none" lIns="0" tIns="0" rIns="0" bIns="0" rtlCol="0" anchor="t"/>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Edad + Gasto es la misma combinación que Gasto + Edad.</a:t>
            </a:r>
            <a:endParaRPr lang="en-US" sz="1150" dirty="0"/>
          </a:p>
        </p:txBody>
      </p:sp>
      <p:pic>
        <p:nvPicPr>
          <p:cNvPr id="16"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7"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8" name="Text 13"/>
          <p:cNvSpPr/>
          <p:nvPr/>
        </p:nvSpPr>
        <p:spPr>
          <a:xfrm>
            <a:off x="10826876" y="6300589"/>
            <a:ext cx="116638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61475" y="1035546"/>
            <a:ext cx="10868745" cy="351433"/>
          </a:xfrm>
          <a:prstGeom prst="rect">
            <a:avLst/>
          </a:prstGeom>
          <a:noFill/>
          <a:ln/>
        </p:spPr>
        <p:txBody>
          <a:bodyPr wrap="none" lIns="0" tIns="0" rIns="0" bIns="0" rtlCol="0" anchor="t"/>
          <a:lstStyle/>
          <a:p>
            <a:pPr algn="l" indent="0" marL="0">
              <a:lnSpc>
                <a:spcPct val="104000"/>
              </a:lnSpc>
              <a:buNone/>
            </a:pPr>
            <a:r>
              <a:rPr lang="en-US" sz="2200" spc="-22" kern="0" dirty="0">
                <a:solidFill>
                  <a:srgbClr val="FFFFFF"/>
                </a:solidFill>
                <a:latin typeface="Alexandria Medium" pitchFamily="34" charset="0"/>
                <a:ea typeface="Alexandria Medium" pitchFamily="34" charset="-122"/>
                <a:cs typeface="Alexandria Medium" pitchFamily="34" charset="-120"/>
              </a:rPr>
              <a:t>Grafos: cuando los datos representan relaciones</a:t>
            </a:r>
            <a:endParaRPr lang="en-US" sz="2200" dirty="0"/>
          </a:p>
        </p:txBody>
      </p:sp>
      <p:sp>
        <p:nvSpPr>
          <p:cNvPr id="3" name="Text 1"/>
          <p:cNvSpPr/>
          <p:nvPr/>
        </p:nvSpPr>
        <p:spPr>
          <a:xfrm>
            <a:off x="661475" y="1685627"/>
            <a:ext cx="4702256"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Conceptos básicos</a:t>
            </a:r>
            <a:endParaRPr lang="en-US" sz="1350" dirty="0"/>
          </a:p>
        </p:txBody>
      </p:sp>
      <p:sp>
        <p:nvSpPr>
          <p:cNvPr id="4" name="Text 2"/>
          <p:cNvSpPr/>
          <p:nvPr/>
        </p:nvSpPr>
        <p:spPr>
          <a:xfrm>
            <a:off x="661475" y="2024658"/>
            <a:ext cx="4702256" cy="523577"/>
          </a:xfrm>
          <a:prstGeom prst="rect">
            <a:avLst/>
          </a:prstGeom>
          <a:noFill/>
          <a:ln/>
        </p:spPr>
        <p:txBody>
          <a:bodyPr wrap="square" lIns="0" tIns="0" rIns="0" bIns="0" rtlCol="0" anchor="t"/>
          <a:lstStyle/>
          <a:p>
            <a:pPr algn="l" indent="0" marL="0">
              <a:lnSpc>
                <a:spcPct val="123000"/>
              </a:lnSpc>
              <a:spcAft>
                <a:spcPts val="800"/>
              </a:spcAft>
              <a:buNone/>
            </a:pPr>
            <a:r>
              <a:rPr lang="en-US" sz="1100" b="1" dirty="0">
                <a:solidFill>
                  <a:srgbClr val="FFFFFF"/>
                </a:solidFill>
                <a:latin typeface="Manrope Bold" pitchFamily="34" charset="0"/>
                <a:ea typeface="Manrope Bold" pitchFamily="34" charset="-122"/>
                <a:cs typeface="Manrope Bold" pitchFamily="34" charset="-120"/>
              </a:rPr>
              <a:t>Nodo / vértice:</a:t>
            </a:r>
            <a:pPr algn="l" indent="0" marL="0">
              <a:lnSpc>
                <a:spcPct val="123000"/>
              </a:lnSpc>
              <a:spcAft>
                <a:spcPts val="800"/>
              </a:spcAft>
              <a:buNone/>
            </a:pPr>
            <a:r>
              <a:rPr lang="en-US" sz="1100" dirty="0">
                <a:solidFill>
                  <a:srgbClr val="FFFFFF"/>
                </a:solidFill>
                <a:latin typeface="Manrope" pitchFamily="34" charset="0"/>
                <a:ea typeface="Manrope" pitchFamily="34" charset="-122"/>
                <a:cs typeface="Manrope" pitchFamily="34" charset="-120"/>
              </a:rPr>
              <a:t> una entidad del sistema.</a:t>
            </a:r>
            <a:endParaRPr lang="en-US" sz="1100" dirty="0"/>
          </a:p>
          <a:p>
            <a:pPr algn="l" indent="0" marL="0">
              <a:lnSpc>
                <a:spcPct val="123000"/>
              </a:lnSpc>
              <a:buNone/>
            </a:pPr>
            <a:r>
              <a:rPr lang="en-US" sz="1100" b="1" dirty="0">
                <a:solidFill>
                  <a:srgbClr val="FFFFFF"/>
                </a:solidFill>
                <a:latin typeface="Manrope Bold" pitchFamily="34" charset="0"/>
                <a:ea typeface="Manrope Bold" pitchFamily="34" charset="-122"/>
                <a:cs typeface="Manrope Bold" pitchFamily="34" charset="-120"/>
              </a:rPr>
              <a:t>Arista / enlace:</a:t>
            </a:r>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 la relación entre dos nodos.</a:t>
            </a:r>
            <a:endParaRPr lang="en-US" sz="1100" dirty="0"/>
          </a:p>
        </p:txBody>
      </p:sp>
      <p:sp>
        <p:nvSpPr>
          <p:cNvPr id="5" name="Text 3"/>
          <p:cNvSpPr/>
          <p:nvPr/>
        </p:nvSpPr>
        <p:spPr>
          <a:xfrm>
            <a:off x="661475" y="2667695"/>
            <a:ext cx="4702256" cy="219571"/>
          </a:xfrm>
          <a:prstGeom prst="rect">
            <a:avLst/>
          </a:prstGeom>
          <a:noFill/>
          <a:ln/>
        </p:spPr>
        <p:txBody>
          <a:bodyPr wrap="none" lIns="0" tIns="0" rIns="0" bIns="0" rtlCol="0" anchor="t"/>
          <a:lstStyle/>
          <a:p>
            <a:pPr algn="l" indent="0" marL="0">
              <a:lnSpc>
                <a:spcPct val="104000"/>
              </a:lnSpc>
              <a:buNone/>
            </a:pPr>
            <a:r>
              <a:rPr lang="en-US" sz="1350" spc="-14" kern="0" dirty="0">
                <a:solidFill>
                  <a:srgbClr val="FFFFFF"/>
                </a:solidFill>
                <a:latin typeface="Alexandria Medium" pitchFamily="34" charset="0"/>
                <a:ea typeface="Alexandria Medium" pitchFamily="34" charset="-122"/>
                <a:cs typeface="Alexandria Medium" pitchFamily="34" charset="-120"/>
              </a:rPr>
              <a:t>Aplicaciones en datos</a:t>
            </a:r>
            <a:endParaRPr lang="en-US" sz="1350" dirty="0"/>
          </a:p>
        </p:txBody>
      </p:sp>
      <p:sp>
        <p:nvSpPr>
          <p:cNvPr id="6" name="Text 4"/>
          <p:cNvSpPr/>
          <p:nvPr/>
        </p:nvSpPr>
        <p:spPr>
          <a:xfrm>
            <a:off x="661475" y="3006725"/>
            <a:ext cx="4702256" cy="1207393"/>
          </a:xfrm>
          <a:prstGeom prst="rect">
            <a:avLst/>
          </a:prstGeom>
          <a:noFill/>
          <a:ln/>
        </p:spPr>
        <p:txBody>
          <a:bodyPr wrap="square" lIns="0" tIns="0" rIns="0" bIns="0" rtlCol="0" anchor="t">
            <a:normAutofit/>
          </a:bodyPr>
          <a:lstStyle/>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Red social: usuarios y sus conexiones</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Logística: ciudades y rutas entre ellas</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Banca: cuentas y transferencias entre ellas</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E-commerce: productos comprados conjuntamente</a:t>
            </a:r>
            <a:endParaRPr lang="en-US" sz="1100" dirty="0"/>
          </a:p>
          <a:p>
            <a:pPr algn="l" marL="223520" indent="-223520">
              <a:lnSpc>
                <a:spcPct val="123000"/>
              </a:lnSpc>
              <a:buSzPct val="100000"/>
              <a:buChar char="•"/>
            </a:pPr>
            <a:r>
              <a:rPr lang="en-US" sz="1100" dirty="0">
                <a:solidFill>
                  <a:srgbClr val="FFFFFF"/>
                </a:solidFill>
                <a:latin typeface="Manrope" pitchFamily="34" charset="0"/>
                <a:ea typeface="Manrope" pitchFamily="34" charset="-122"/>
                <a:cs typeface="Manrope" pitchFamily="34" charset="-120"/>
              </a:rPr>
              <a:t>Telecomunicaciones: dispositivos y llamadas</a:t>
            </a:r>
            <a:endParaRPr lang="en-US" sz="1100" dirty="0"/>
          </a:p>
        </p:txBody>
      </p:sp>
      <p:pic>
        <p:nvPicPr>
          <p:cNvPr id="7" name="Image 0" descr="preencoded.png">    </p:cNvPr>
          <p:cNvPicPr>
            <a:picLocks noChangeAspect="1"/>
          </p:cNvPicPr>
          <p:nvPr/>
        </p:nvPicPr>
        <p:blipFill>
          <a:blip r:embed="rId1"/>
          <a:stretch>
            <a:fillRect/>
          </a:stretch>
        </p:blipFill>
        <p:spPr>
          <a:xfrm>
            <a:off x="5712972" y="1700510"/>
            <a:ext cx="2395378" cy="1724620"/>
          </a:xfrm>
          <a:prstGeom prst="rect">
            <a:avLst/>
          </a:prstGeom>
        </p:spPr>
      </p:pic>
      <p:pic>
        <p:nvPicPr>
          <p:cNvPr id="8" name="Image 1" descr="preencoded.png">    </p:cNvPr>
          <p:cNvPicPr>
            <a:picLocks noChangeAspect="1"/>
          </p:cNvPicPr>
          <p:nvPr/>
        </p:nvPicPr>
        <p:blipFill>
          <a:blip r:embed="rId2"/>
          <a:stretch>
            <a:fillRect/>
          </a:stretch>
        </p:blipFill>
        <p:spPr>
          <a:xfrm>
            <a:off x="5712972" y="3559473"/>
            <a:ext cx="3269771" cy="1470720"/>
          </a:xfrm>
          <a:prstGeom prst="rect">
            <a:avLst/>
          </a:prstGeom>
        </p:spPr>
      </p:pic>
      <p:sp>
        <p:nvSpPr>
          <p:cNvPr id="9" name="Text 5"/>
          <p:cNvSpPr/>
          <p:nvPr/>
        </p:nvSpPr>
        <p:spPr>
          <a:xfrm>
            <a:off x="661475" y="5614392"/>
            <a:ext cx="11478330" cy="208062"/>
          </a:xfrm>
          <a:prstGeom prst="rect">
            <a:avLst/>
          </a:prstGeom>
          <a:noFill/>
          <a:ln/>
        </p:spPr>
        <p:txBody>
          <a:bodyPr wrap="none" lIns="0" tIns="0" rIns="0" bIns="0" rtlCol="0" anchor="t"/>
          <a:lstStyle/>
          <a:p>
            <a:pPr algn="l" indent="0" marL="0">
              <a:lnSpc>
                <a:spcPct val="123000"/>
              </a:lnSpc>
              <a:buNone/>
            </a:pPr>
            <a:r>
              <a:rPr lang="en-US" sz="1100" dirty="0">
                <a:solidFill>
                  <a:srgbClr val="FFFFFF"/>
                </a:solidFill>
                <a:latin typeface="Manrope" pitchFamily="34" charset="0"/>
                <a:ea typeface="Manrope" pitchFamily="34" charset="-122"/>
                <a:cs typeface="Manrope" pitchFamily="34" charset="-120"/>
              </a:rPr>
              <a:t>Los grafos permiten representar y analizar estructuras de relación que las tablas convencionales no pueden capturar de forma eficiente.</a:t>
            </a:r>
            <a:endParaRPr lang="en-US" sz="1100" dirty="0"/>
          </a:p>
        </p:txBody>
      </p:sp>
      <p:pic>
        <p:nvPicPr>
          <p:cNvPr id="10" name="Image 2" descr="preencoded.png">    </p:cNvPr>
          <p:cNvPicPr>
            <a:picLocks noChangeAspect="1"/>
          </p:cNvPicPr>
          <p:nvPr/>
        </p:nvPicPr>
        <p:blipFill>
          <a:blip r:embed="rId3"/>
          <a:stretch>
            <a:fillRect/>
          </a:stretch>
        </p:blipFill>
        <p:spPr>
          <a:xfrm>
            <a:off x="198433" y="203597"/>
            <a:ext cx="676357" cy="568623"/>
          </a:xfrm>
          <a:prstGeom prst="rect">
            <a:avLst/>
          </a:prstGeom>
        </p:spPr>
      </p:pic>
      <p:pic>
        <p:nvPicPr>
          <p:cNvPr id="11" name="Image 3" descr="preencoded.png">    </p:cNvPr>
          <p:cNvPicPr>
            <a:picLocks noChangeAspect="1"/>
          </p:cNvPicPr>
          <p:nvPr/>
        </p:nvPicPr>
        <p:blipFill>
          <a:blip r:embed="rId4"/>
          <a:stretch>
            <a:fillRect/>
          </a:stretch>
        </p:blipFill>
        <p:spPr>
          <a:xfrm>
            <a:off x="11386357" y="268784"/>
            <a:ext cx="606906" cy="438249"/>
          </a:xfrm>
          <a:prstGeom prst="rect">
            <a:avLst/>
          </a:prstGeom>
        </p:spPr>
      </p:pic>
      <p:sp>
        <p:nvSpPr>
          <p:cNvPr id="12" name="Text 6"/>
          <p:cNvSpPr/>
          <p:nvPr/>
        </p:nvSpPr>
        <p:spPr>
          <a:xfrm>
            <a:off x="10822213" y="6300589"/>
            <a:ext cx="1171050"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475" y="1142305"/>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Álgebra booleana</a:t>
            </a:r>
            <a:endParaRPr lang="en-US" sz="2450" dirty="0"/>
          </a:p>
        </p:txBody>
      </p:sp>
      <p:sp>
        <p:nvSpPr>
          <p:cNvPr id="3" name="Text 1"/>
          <p:cNvSpPr/>
          <p:nvPr/>
        </p:nvSpPr>
        <p:spPr>
          <a:xfrm>
            <a:off x="661475" y="1833463"/>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Las operaciones booleanas trabajan con valores de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verdad (True/False)</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Aparecen constantemente en programación, SQL y filtrado de datasets.</a:t>
            </a:r>
            <a:endParaRPr lang="en-US" sz="1200" dirty="0"/>
          </a:p>
        </p:txBody>
      </p:sp>
      <p:sp>
        <p:nvSpPr>
          <p:cNvPr id="4" name="Text 2"/>
          <p:cNvSpPr/>
          <p:nvPr/>
        </p:nvSpPr>
        <p:spPr>
          <a:xfrm>
            <a:off x="661475" y="2395736"/>
            <a:ext cx="4117475"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Operadores fundamentales</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1475" y="2809180"/>
          <a:ext cx="9143771" cy="914400"/>
        </p:xfrm>
        <a:graphic>
          <a:graphicData uri="http://schemas.openxmlformats.org/drawingml/2006/table">
            <a:tbl>
              <a:tblPr/>
              <a:tblGrid>
                <a:gridCol w="1358767"/>
                <a:gridCol w="1358767"/>
                <a:gridCol w="1399942"/>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A</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B</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A AND B</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True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True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True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True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False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False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False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True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False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40024">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False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False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False</a:t>
                      </a:r>
                      <a:endParaRPr lang="en-US" sz="1200" dirty="0">
                        <a:latin typeface="Manrope" charset="0"/>
                        <a:ea typeface="Manrope" charset="0"/>
                        <a:cs typeface="Manrope" charset="0"/>
                      </a:endParaRPr>
                    </a:p>
                  </a:txBody>
                  <a:tcPr marL="157122" marR="157122" marT="6350" marB="6350" anchor="ctr">
                    <a:lnL w="12700" cap="flat" cmpd="sng" algn="ctr">
                      <a:solidFill>
                        <a:srgbClr val="765CA2"/>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6" name="Text 3"/>
          <p:cNvSpPr/>
          <p:nvPr/>
        </p:nvSpPr>
        <p:spPr>
          <a:xfrm>
            <a:off x="5168671" y="2395736"/>
            <a:ext cx="6367899"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Ejemplos aplicados a filtros de datos</a:t>
            </a:r>
            <a:endParaRPr lang="en-US" sz="1500" dirty="0"/>
          </a:p>
        </p:txBody>
      </p:sp>
      <p:sp>
        <p:nvSpPr>
          <p:cNvPr id="7" name="Shape 4"/>
          <p:cNvSpPr/>
          <p:nvPr/>
        </p:nvSpPr>
        <p:spPr>
          <a:xfrm>
            <a:off x="5168671" y="2809180"/>
            <a:ext cx="6367899" cy="2325489"/>
          </a:xfrm>
          <a:prstGeom prst="roundRect">
            <a:avLst>
              <a:gd name="adj" fmla="val 10135"/>
            </a:avLst>
          </a:prstGeom>
          <a:solidFill>
            <a:srgbClr val="583592"/>
          </a:solidFill>
          <a:ln/>
        </p:spPr>
      </p:sp>
      <p:sp>
        <p:nvSpPr>
          <p:cNvPr id="8" name="Text 5"/>
          <p:cNvSpPr/>
          <p:nvPr/>
        </p:nvSpPr>
        <p:spPr>
          <a:xfrm>
            <a:off x="5357182" y="2966244"/>
            <a:ext cx="5990877" cy="2011362"/>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edad &gt; 30 AND ciudad == "Barcelona"</a:t>
            </a: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 Ambas condiciones deben cumplirse</a:t>
            </a:r>
            <a:endParaRPr lang="en-US" sz="1200" dirty="0"/>
          </a:p>
          <a:p>
            <a:pPr algn="l" indent="0" marL="0">
              <a:lnSpc>
                <a:spcPct val="133000"/>
              </a:lnSpc>
              <a:buNone/>
            </a:pP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importe &gt; 500 OR cliente_vip == True</a:t>
            </a: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 Basta con que se cumpla una</a:t>
            </a:r>
            <a:endParaRPr lang="en-US" sz="1200" dirty="0"/>
          </a:p>
          <a:p>
            <a:pPr algn="l" indent="0" marL="0">
              <a:lnSpc>
                <a:spcPct val="133000"/>
              </a:lnSpc>
              <a:buNone/>
            </a:pP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NOT bloqueado</a:t>
            </a:r>
            <a:endParaRPr lang="en-US" sz="1200" dirty="0"/>
          </a:p>
          <a:p>
            <a:pPr algn="l" indent="0" marL="0">
              <a:lnSpc>
                <a:spcPct val="133000"/>
              </a:lnSpc>
              <a:buNone/>
            </a:pPr>
            <a:r>
              <a:rPr lang="en-US" sz="1200" dirty="0">
                <a:solidFill>
                  <a:srgbClr val="E6EDF3"/>
                </a:solidFill>
                <a:latin typeface="Consolas" pitchFamily="34" charset="0"/>
                <a:ea typeface="Consolas" pitchFamily="34" charset="-122"/>
                <a:cs typeface="Consolas" pitchFamily="34" charset="-120"/>
              </a:rPr>
              <a:t>→ Clientes que NO están bloqueados</a:t>
            </a:r>
            <a:endParaRPr lang="en-US" sz="1200" dirty="0"/>
          </a:p>
        </p:txBody>
      </p:sp>
      <p:sp>
        <p:nvSpPr>
          <p:cNvPr id="9" name="Text 6"/>
          <p:cNvSpPr/>
          <p:nvPr/>
        </p:nvSpPr>
        <p:spPr>
          <a:xfrm>
            <a:off x="661475" y="5470426"/>
            <a:ext cx="11478330" cy="245170"/>
          </a:xfrm>
          <a:prstGeom prst="rect">
            <a:avLst/>
          </a:prstGeom>
          <a:noFill/>
          <a:ln/>
        </p:spPr>
        <p:txBody>
          <a:bodyPr wrap="none" lIns="0" tIns="0" rIns="0" bIns="0" rtlCol="0" anchor="t"/>
          <a:lstStyle/>
          <a:p>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AND</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restringe el conjunto de resultados.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OR</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lo amplía.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NOT</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invierte la condición. Combinados, permiten construir cualquier filtro sobre un dataset.</a:t>
            </a:r>
            <a:endParaRPr lang="en-US" sz="1200" dirty="0"/>
          </a:p>
        </p:txBody>
      </p:sp>
      <p:pic>
        <p:nvPicPr>
          <p:cNvPr id="1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2" name="Text 7"/>
          <p:cNvSpPr/>
          <p:nvPr/>
        </p:nvSpPr>
        <p:spPr>
          <a:xfrm>
            <a:off x="10825388" y="6300589"/>
            <a:ext cx="116787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61475" y="1402159"/>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Lógica proposicional aplicada</a:t>
            </a:r>
            <a:endParaRPr lang="en-US" sz="2600" dirty="0"/>
          </a:p>
        </p:txBody>
      </p:sp>
      <p:sp>
        <p:nvSpPr>
          <p:cNvPr id="3" name="Text 1"/>
          <p:cNvSpPr/>
          <p:nvPr/>
        </p:nvSpPr>
        <p:spPr>
          <a:xfrm>
            <a:off x="661475" y="2228949"/>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Una proposición es verdadera o falsa</a:t>
            </a:r>
            <a:endParaRPr lang="en-US" sz="1600" dirty="0"/>
          </a:p>
        </p:txBody>
      </p:sp>
      <p:sp>
        <p:nvSpPr>
          <p:cNvPr id="4" name="Shape 2"/>
          <p:cNvSpPr/>
          <p:nvPr/>
        </p:nvSpPr>
        <p:spPr>
          <a:xfrm>
            <a:off x="661475" y="2673449"/>
            <a:ext cx="5232666" cy="1918295"/>
          </a:xfrm>
          <a:prstGeom prst="roundRect">
            <a:avLst>
              <a:gd name="adj" fmla="val 12933"/>
            </a:avLst>
          </a:prstGeom>
          <a:solidFill>
            <a:srgbClr val="583592"/>
          </a:solidFill>
          <a:ln/>
        </p:spPr>
      </p:sp>
      <p:sp>
        <p:nvSpPr>
          <p:cNvPr id="5" name="Text 3"/>
          <p:cNvSpPr/>
          <p:nvPr/>
        </p:nvSpPr>
        <p:spPr>
          <a:xfrm>
            <a:off x="859907" y="2838748"/>
            <a:ext cx="4835801" cy="1587698"/>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temperatura &gt; 80       → True / False</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estado == "activo"     → True / False</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Combinadas con AND</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temperatura &gt; 80 AND estado == "activo"</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True solo si ambas son True</a:t>
            </a:r>
            <a:endParaRPr lang="en-US" sz="1300" dirty="0"/>
          </a:p>
        </p:txBody>
      </p:sp>
      <p:sp>
        <p:nvSpPr>
          <p:cNvPr id="6" name="Text 4"/>
          <p:cNvSpPr/>
          <p:nvPr/>
        </p:nvSpPr>
        <p:spPr>
          <a:xfrm>
            <a:off x="661475" y="4777780"/>
            <a:ext cx="523266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Al evaluar una condición sobre un dataset, cada fila devuelve True o False. Solo se seleccionan las filas con True.</a:t>
            </a:r>
            <a:endParaRPr lang="en-US" sz="1300" dirty="0"/>
          </a:p>
        </p:txBody>
      </p:sp>
      <p:sp>
        <p:nvSpPr>
          <p:cNvPr id="7" name="Text 5"/>
          <p:cNvSpPr/>
          <p:nvPr/>
        </p:nvSpPr>
        <p:spPr>
          <a:xfrm>
            <a:off x="6303904" y="2228949"/>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Cuantificadores</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03904" y="2673449"/>
            <a:ext cx="2533686" cy="2522835"/>
          </a:xfrm>
          <a:prstGeom prst="rect">
            <a:avLst/>
          </a:prstGeom>
        </p:spPr>
      </p:pic>
      <p:sp>
        <p:nvSpPr>
          <p:cNvPr id="9" name="Text 6"/>
          <p:cNvSpPr/>
          <p:nvPr/>
        </p:nvSpPr>
        <p:spPr>
          <a:xfrm>
            <a:off x="6564446" y="2857798"/>
            <a:ext cx="2088800" cy="516930"/>
          </a:xfrm>
          <a:prstGeom prst="rect">
            <a:avLst/>
          </a:prstGeom>
          <a:noFill/>
          <a:ln/>
        </p:spPr>
        <p:txBody>
          <a:bodyPr wrap="square" lIns="0" tIns="0" rIns="0" bIns="0" rtlCol="0" anchor="t">
            <a:normAutofit/>
          </a:bodyPr>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 — Para todo (universal)</a:t>
            </a:r>
            <a:endParaRPr lang="en-US" sz="1600" dirty="0"/>
          </a:p>
        </p:txBody>
      </p:sp>
      <p:sp>
        <p:nvSpPr>
          <p:cNvPr id="10" name="Text 7"/>
          <p:cNvSpPr/>
          <p:nvPr/>
        </p:nvSpPr>
        <p:spPr>
          <a:xfrm>
            <a:off x="6564446" y="3540026"/>
            <a:ext cx="2088800" cy="1471910"/>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"Todos los sensores han enviado datos en la última hora."</a:t>
            </a:r>
            <a:endParaRPr lang="en-US" sz="1300" dirty="0"/>
          </a:p>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Falla si existe al menos uno que no lo ha hecho.</a:t>
            </a:r>
            <a:endParaRPr lang="en-US" sz="13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02884" y="2673449"/>
            <a:ext cx="2533686" cy="2522835"/>
          </a:xfrm>
          <a:prstGeom prst="rect">
            <a:avLst/>
          </a:prstGeom>
        </p:spPr>
      </p:pic>
      <p:sp>
        <p:nvSpPr>
          <p:cNvPr id="12" name="Text 8"/>
          <p:cNvSpPr/>
          <p:nvPr/>
        </p:nvSpPr>
        <p:spPr>
          <a:xfrm>
            <a:off x="9263426" y="2857798"/>
            <a:ext cx="2088800" cy="516930"/>
          </a:xfrm>
          <a:prstGeom prst="rect">
            <a:avLst/>
          </a:prstGeom>
          <a:noFill/>
          <a:ln/>
        </p:spPr>
        <p:txBody>
          <a:bodyPr wrap="square" lIns="0" tIns="0" rIns="0" bIns="0" rtlCol="0" anchor="t">
            <a:normAutofit/>
          </a:bodyPr>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 — Existe al menos uno (existencial)</a:t>
            </a:r>
            <a:endParaRPr lang="en-US" sz="1600" dirty="0"/>
          </a:p>
        </p:txBody>
      </p:sp>
      <p:sp>
        <p:nvSpPr>
          <p:cNvPr id="13" name="Text 9"/>
          <p:cNvSpPr/>
          <p:nvPr/>
        </p:nvSpPr>
        <p:spPr>
          <a:xfrm>
            <a:off x="9263426" y="3540026"/>
            <a:ext cx="2088800" cy="1471910"/>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"Existe al menos una transacción superior a 10.000 €."</a:t>
            </a:r>
            <a:endParaRPr lang="en-US" sz="1300" dirty="0"/>
          </a:p>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Es verdadera si encontramos un solo caso.</a:t>
            </a:r>
            <a:endParaRPr lang="en-US" sz="1300" dirty="0"/>
          </a:p>
        </p:txBody>
      </p:sp>
      <p:pic>
        <p:nvPicPr>
          <p:cNvPr id="14" name="Image 2" descr="preencoded.png">    </p:cNvPr>
          <p:cNvPicPr>
            <a:picLocks noChangeAspect="1"/>
          </p:cNvPicPr>
          <p:nvPr/>
        </p:nvPicPr>
        <p:blipFill>
          <a:blip r:embed="rId5"/>
          <a:stretch>
            <a:fillRect/>
          </a:stretch>
        </p:blipFill>
        <p:spPr>
          <a:xfrm>
            <a:off x="198433" y="203597"/>
            <a:ext cx="676357" cy="568623"/>
          </a:xfrm>
          <a:prstGeom prst="rect">
            <a:avLst/>
          </a:prstGeom>
        </p:spPr>
      </p:pic>
      <p:pic>
        <p:nvPicPr>
          <p:cNvPr id="15" name="Image 3" descr="preencoded.png">    </p:cNvPr>
          <p:cNvPicPr>
            <a:picLocks noChangeAspect="1"/>
          </p:cNvPicPr>
          <p:nvPr/>
        </p:nvPicPr>
        <p:blipFill>
          <a:blip r:embed="rId6"/>
          <a:stretch>
            <a:fillRect/>
          </a:stretch>
        </p:blipFill>
        <p:spPr>
          <a:xfrm>
            <a:off x="11386357" y="268784"/>
            <a:ext cx="606906" cy="438249"/>
          </a:xfrm>
          <a:prstGeom prst="rect">
            <a:avLst/>
          </a:prstGeom>
        </p:spPr>
      </p:pic>
      <p:sp>
        <p:nvSpPr>
          <p:cNvPr id="16" name="Text 10"/>
          <p:cNvSpPr/>
          <p:nvPr/>
        </p:nvSpPr>
        <p:spPr>
          <a:xfrm>
            <a:off x="10850886" y="6300589"/>
            <a:ext cx="1142376"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61475" y="1022449"/>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De la lógica a una consulta</a:t>
            </a:r>
            <a:endParaRPr lang="en-US" sz="2450" dirty="0"/>
          </a:p>
        </p:txBody>
      </p:sp>
      <p:sp>
        <p:nvSpPr>
          <p:cNvPr id="3" name="Text 1"/>
          <p:cNvSpPr/>
          <p:nvPr/>
        </p:nvSpPr>
        <p:spPr>
          <a:xfrm>
            <a:off x="661475" y="1713607"/>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La misma condición lógica puede expresarse en lenguaje natural, SQL o Python. La lógica matemática está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detrás de todas ellas</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a:t>
            </a:r>
            <a:endParaRPr lang="en-US" sz="1200" dirty="0"/>
          </a:p>
        </p:txBody>
      </p:sp>
      <p:sp>
        <p:nvSpPr>
          <p:cNvPr id="4" name="Text 2"/>
          <p:cNvSpPr/>
          <p:nvPr/>
        </p:nvSpPr>
        <p:spPr>
          <a:xfrm>
            <a:off x="897113" y="2294533"/>
            <a:ext cx="11242691" cy="245170"/>
          </a:xfrm>
          <a:prstGeom prst="rect">
            <a:avLst/>
          </a:prstGeom>
          <a:noFill/>
          <a:ln/>
        </p:spPr>
        <p:txBody>
          <a:bodyPr wrap="none" lIns="0" tIns="0" rIns="0" bIns="0" rtlCol="0" anchor="t"/>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Clientes de Barcelona, mayores de 30 años, con gasto superior a 100 €</a:t>
            </a:r>
            <a:endParaRPr lang="en-US" sz="1200" dirty="0"/>
          </a:p>
        </p:txBody>
      </p:sp>
      <p:sp>
        <p:nvSpPr>
          <p:cNvPr id="5" name="Shape 3"/>
          <p:cNvSpPr/>
          <p:nvPr/>
        </p:nvSpPr>
        <p:spPr>
          <a:xfrm>
            <a:off x="661475" y="2126655"/>
            <a:ext cx="19050" cy="580926"/>
          </a:xfrm>
          <a:prstGeom prst="roundRect">
            <a:avLst>
              <a:gd name="adj" fmla="val 49999"/>
            </a:avLst>
          </a:prstGeom>
          <a:solidFill>
            <a:srgbClr val="B499E9"/>
          </a:solidFill>
          <a:ln/>
        </p:spPr>
      </p:sp>
      <p:sp>
        <p:nvSpPr>
          <p:cNvPr id="6" name="Text 4"/>
          <p:cNvSpPr/>
          <p:nvPr/>
        </p:nvSpPr>
        <p:spPr>
          <a:xfrm>
            <a:off x="661475" y="3024684"/>
            <a:ext cx="5242687"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En SQL</a:t>
            </a:r>
            <a:endParaRPr lang="en-US" sz="1500" dirty="0"/>
          </a:p>
        </p:txBody>
      </p:sp>
      <p:sp>
        <p:nvSpPr>
          <p:cNvPr id="7" name="Shape 5"/>
          <p:cNvSpPr/>
          <p:nvPr/>
        </p:nvSpPr>
        <p:spPr>
          <a:xfrm>
            <a:off x="661475" y="3438128"/>
            <a:ext cx="5242687" cy="1571228"/>
          </a:xfrm>
          <a:prstGeom prst="roundRect">
            <a:avLst>
              <a:gd name="adj" fmla="val 15000"/>
            </a:avLst>
          </a:prstGeom>
          <a:solidFill>
            <a:srgbClr val="583592"/>
          </a:solidFill>
          <a:ln/>
        </p:spPr>
      </p:sp>
      <p:sp>
        <p:nvSpPr>
          <p:cNvPr id="8" name="Text 6"/>
          <p:cNvSpPr/>
          <p:nvPr/>
        </p:nvSpPr>
        <p:spPr>
          <a:xfrm>
            <a:off x="849986" y="3595191"/>
            <a:ext cx="4865665" cy="1257102"/>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7B72"/>
                </a:solidFill>
                <a:latin typeface="Consolas" pitchFamily="34" charset="0"/>
                <a:ea typeface="Consolas" pitchFamily="34" charset="-122"/>
                <a:cs typeface="Consolas" pitchFamily="34" charset="-120"/>
              </a:rPr>
              <a:t>SELECT *</a:t>
            </a:r>
            <a:endParaRPr lang="en-US" sz="1200" dirty="0"/>
          </a:p>
          <a:p>
            <a:pPr algn="l" indent="0" marL="0">
              <a:lnSpc>
                <a:spcPct val="133000"/>
              </a:lnSpc>
              <a:buNone/>
            </a:pPr>
            <a:r>
              <a:rPr lang="en-US" sz="1200" dirty="0">
                <a:solidFill>
                  <a:srgbClr val="FF7B72"/>
                </a:solidFill>
                <a:latin typeface="Consolas" pitchFamily="34" charset="0"/>
                <a:ea typeface="Consolas" pitchFamily="34" charset="-122"/>
                <a:cs typeface="Consolas" pitchFamily="34" charset="-120"/>
              </a:rPr>
              <a:t>FROM clientes</a:t>
            </a:r>
            <a:endParaRPr lang="en-US" sz="1200" dirty="0"/>
          </a:p>
          <a:p>
            <a:pPr algn="l" indent="0" marL="0">
              <a:lnSpc>
                <a:spcPct val="133000"/>
              </a:lnSpc>
              <a:buNone/>
            </a:pPr>
            <a:r>
              <a:rPr lang="en-US" sz="1200" dirty="0">
                <a:solidFill>
                  <a:srgbClr val="FF7B72"/>
                </a:solidFill>
                <a:latin typeface="Consolas" pitchFamily="34" charset="0"/>
                <a:ea typeface="Consolas" pitchFamily="34" charset="-122"/>
                <a:cs typeface="Consolas" pitchFamily="34" charset="-120"/>
              </a:rPr>
              <a:t>WHERE ciudad = 'Barcelona'</a:t>
            </a:r>
            <a:endParaRPr lang="en-US" sz="1200" dirty="0"/>
          </a:p>
          <a:p>
            <a:pPr algn="l" indent="0" marL="0">
              <a:lnSpc>
                <a:spcPct val="133000"/>
              </a:lnSpc>
              <a:buNone/>
            </a:pPr>
            <a:r>
              <a:rPr lang="en-US" sz="1200" dirty="0">
                <a:solidFill>
                  <a:srgbClr val="FF7B72"/>
                </a:solidFill>
                <a:latin typeface="Consolas" pitchFamily="34" charset="0"/>
                <a:ea typeface="Consolas" pitchFamily="34" charset="-122"/>
                <a:cs typeface="Consolas" pitchFamily="34" charset="-120"/>
              </a:rPr>
              <a:t>  AND edad &gt; 30</a:t>
            </a:r>
            <a:endParaRPr lang="en-US" sz="1200" dirty="0"/>
          </a:p>
          <a:p>
            <a:pPr algn="l" indent="0" marL="0">
              <a:lnSpc>
                <a:spcPct val="133000"/>
              </a:lnSpc>
              <a:buNone/>
            </a:pPr>
            <a:r>
              <a:rPr lang="en-US" sz="1200" dirty="0">
                <a:solidFill>
                  <a:srgbClr val="FF7B72"/>
                </a:solidFill>
                <a:latin typeface="Consolas" pitchFamily="34" charset="0"/>
                <a:ea typeface="Consolas" pitchFamily="34" charset="-122"/>
                <a:cs typeface="Consolas" pitchFamily="34" charset="-120"/>
              </a:rPr>
              <a:t>  AND gasto &gt; 100;</a:t>
            </a:r>
            <a:endParaRPr lang="en-US" sz="1200" dirty="0"/>
          </a:p>
        </p:txBody>
      </p:sp>
      <p:sp>
        <p:nvSpPr>
          <p:cNvPr id="9" name="Text 7"/>
          <p:cNvSpPr/>
          <p:nvPr/>
        </p:nvSpPr>
        <p:spPr>
          <a:xfrm>
            <a:off x="6293883" y="3024684"/>
            <a:ext cx="5242687"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En Python / Pandas</a:t>
            </a:r>
            <a:endParaRPr lang="en-US" sz="1500" dirty="0"/>
          </a:p>
        </p:txBody>
      </p:sp>
      <p:sp>
        <p:nvSpPr>
          <p:cNvPr id="10" name="Shape 8"/>
          <p:cNvSpPr/>
          <p:nvPr/>
        </p:nvSpPr>
        <p:spPr>
          <a:xfrm>
            <a:off x="6293883" y="3438128"/>
            <a:ext cx="5242687" cy="1571228"/>
          </a:xfrm>
          <a:prstGeom prst="roundRect">
            <a:avLst>
              <a:gd name="adj" fmla="val 15000"/>
            </a:avLst>
          </a:prstGeom>
          <a:solidFill>
            <a:srgbClr val="583592"/>
          </a:solidFill>
          <a:ln/>
        </p:spPr>
      </p:sp>
      <p:sp>
        <p:nvSpPr>
          <p:cNvPr id="11" name="Text 9"/>
          <p:cNvSpPr/>
          <p:nvPr/>
        </p:nvSpPr>
        <p:spPr>
          <a:xfrm>
            <a:off x="6482394" y="3595191"/>
            <a:ext cx="4865665" cy="1257102"/>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FFA657"/>
                </a:solidFill>
                <a:latin typeface="Consolas" pitchFamily="34" charset="0"/>
                <a:ea typeface="Consolas" pitchFamily="34" charset="-122"/>
                <a:cs typeface="Consolas" pitchFamily="34" charset="-120"/>
              </a:rPr>
              <a:t>df[</a:t>
            </a:r>
            <a:endParaRPr lang="en-US" sz="1200" dirty="0"/>
          </a:p>
          <a:p>
            <a:pPr algn="l" indent="0" marL="0">
              <a:lnSpc>
                <a:spcPct val="133000"/>
              </a:lnSpc>
              <a:buNone/>
            </a:pPr>
            <a:r>
              <a:rPr lang="en-US" sz="1200" dirty="0">
                <a:solidFill>
                  <a:srgbClr val="FFA657"/>
                </a:solidFill>
                <a:latin typeface="Consolas" pitchFamily="34" charset="0"/>
                <a:ea typeface="Consolas" pitchFamily="34" charset="-122"/>
                <a:cs typeface="Consolas" pitchFamily="34" charset="-120"/>
              </a:rPr>
              <a:t>  (df["ciudad"] == "Barcelona") &amp;</a:t>
            </a:r>
            <a:endParaRPr lang="en-US" sz="1200" dirty="0"/>
          </a:p>
          <a:p>
            <a:pPr algn="l" indent="0" marL="0">
              <a:lnSpc>
                <a:spcPct val="133000"/>
              </a:lnSpc>
              <a:buNone/>
            </a:pPr>
            <a:r>
              <a:rPr lang="en-US" sz="1200" dirty="0">
                <a:solidFill>
                  <a:srgbClr val="FFA657"/>
                </a:solidFill>
                <a:latin typeface="Consolas" pitchFamily="34" charset="0"/>
                <a:ea typeface="Consolas" pitchFamily="34" charset="-122"/>
                <a:cs typeface="Consolas" pitchFamily="34" charset="-120"/>
              </a:rPr>
              <a:t>  (df["edad"] &gt; 30) &amp;</a:t>
            </a:r>
            <a:endParaRPr lang="en-US" sz="1200" dirty="0"/>
          </a:p>
          <a:p>
            <a:pPr algn="l" indent="0" marL="0">
              <a:lnSpc>
                <a:spcPct val="133000"/>
              </a:lnSpc>
              <a:buNone/>
            </a:pPr>
            <a:r>
              <a:rPr lang="en-US" sz="1200" dirty="0">
                <a:solidFill>
                  <a:srgbClr val="FFA657"/>
                </a:solidFill>
                <a:latin typeface="Consolas" pitchFamily="34" charset="0"/>
                <a:ea typeface="Consolas" pitchFamily="34" charset="-122"/>
                <a:cs typeface="Consolas" pitchFamily="34" charset="-120"/>
              </a:rPr>
              <a:t>  (df["gasto"] &gt; 100)</a:t>
            </a:r>
            <a:endParaRPr lang="en-US" sz="1200" dirty="0"/>
          </a:p>
          <a:p>
            <a:pPr algn="l" indent="0" marL="0">
              <a:lnSpc>
                <a:spcPct val="133000"/>
              </a:lnSpc>
              <a:buNone/>
            </a:pPr>
            <a:r>
              <a:rPr lang="en-US" sz="1200" dirty="0">
                <a:solidFill>
                  <a:srgbClr val="FFA657"/>
                </a:solidFill>
                <a:latin typeface="Consolas" pitchFamily="34" charset="0"/>
                <a:ea typeface="Consolas" pitchFamily="34" charset="-122"/>
                <a:cs typeface="Consolas" pitchFamily="34" charset="-120"/>
              </a:rPr>
              <a:t>]</a:t>
            </a:r>
            <a:endParaRPr lang="en-US" sz="1200" dirty="0"/>
          </a:p>
        </p:txBody>
      </p:sp>
      <p:sp>
        <p:nvSpPr>
          <p:cNvPr id="12" name="Text 10"/>
          <p:cNvSpPr/>
          <p:nvPr/>
        </p:nvSpPr>
        <p:spPr>
          <a:xfrm>
            <a:off x="661475" y="5345113"/>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Cada condición es una proposición booleana. El operador </a:t>
            </a:r>
            <a:pPr algn="l" indent="0" marL="0">
              <a:lnSpc>
                <a:spcPct val="130000"/>
              </a:lnSpc>
              <a:buNone/>
            </a:pPr>
            <a:r>
              <a:rPr lang="en-US" sz="1200" b="1" dirty="0">
                <a:solidFill>
                  <a:srgbClr val="FFFFFF"/>
                </a:solidFill>
                <a:latin typeface="Manrope Bold" pitchFamily="34" charset="0"/>
                <a:ea typeface="Manrope Bold" pitchFamily="34" charset="-122"/>
                <a:cs typeface="Manrope Bold" pitchFamily="34" charset="-120"/>
              </a:rPr>
              <a:t>AND</a:t>
            </a:r>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 (&amp; en Pandas) garantiza que todas se cumplan simultáneamente. Comprender la lógica permite escribir y depurar filtros complejos con seguridad.</a:t>
            </a:r>
            <a:endParaRPr lang="en-US" sz="1200" dirty="0"/>
          </a:p>
        </p:txBody>
      </p:sp>
      <p:pic>
        <p:nvPicPr>
          <p:cNvPr id="13"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4"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5" name="Text 11"/>
          <p:cNvSpPr/>
          <p:nvPr/>
        </p:nvSpPr>
        <p:spPr>
          <a:xfrm>
            <a:off x="10830051" y="6300589"/>
            <a:ext cx="116321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61475" y="1554460"/>
            <a:ext cx="10868745" cy="289421"/>
          </a:xfrm>
          <a:prstGeom prst="rect">
            <a:avLst/>
          </a:prstGeom>
          <a:noFill/>
          <a:ln/>
        </p:spPr>
        <p:txBody>
          <a:bodyPr wrap="none" lIns="0" tIns="0" rIns="0" bIns="0" rtlCol="0" anchor="t"/>
          <a:lstStyle/>
          <a:p>
            <a:pPr algn="l" indent="0" marL="0">
              <a:lnSpc>
                <a:spcPct val="104000"/>
              </a:lnSpc>
              <a:buNone/>
            </a:pPr>
            <a:r>
              <a:rPr lang="en-US" sz="1800" spc="-18" kern="0" dirty="0">
                <a:solidFill>
                  <a:srgbClr val="FFFFFF"/>
                </a:solidFill>
                <a:latin typeface="Alexandria Medium" pitchFamily="34" charset="0"/>
                <a:ea typeface="Alexandria Medium" pitchFamily="34" charset="-122"/>
                <a:cs typeface="Alexandria Medium" pitchFamily="34" charset="-120"/>
              </a:rPr>
              <a:t>El problema de la escala</a:t>
            </a:r>
            <a:endParaRPr lang="en-US" sz="1800" dirty="0"/>
          </a:p>
        </p:txBody>
      </p:sp>
      <p:sp>
        <p:nvSpPr>
          <p:cNvPr id="3" name="Text 1"/>
          <p:cNvSpPr/>
          <p:nvPr/>
        </p:nvSpPr>
        <p:spPr>
          <a:xfrm>
            <a:off x="661475" y="2005905"/>
            <a:ext cx="11478330" cy="157460"/>
          </a:xfrm>
          <a:prstGeom prst="rect">
            <a:avLst/>
          </a:prstGeom>
          <a:noFill/>
          <a:ln/>
        </p:spPr>
        <p:txBody>
          <a:bodyPr wrap="none" lIns="0" tIns="0" rIns="0" bIns="0" rtlCol="0" anchor="t"/>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Una operación que tarda milisegundos con pocos datos puede convertirse en un problema serio cuando el volumen crece.</a:t>
            </a:r>
            <a:endParaRPr lang="en-US" sz="900" dirty="0"/>
          </a:p>
        </p:txBody>
      </p:sp>
      <p:pic>
        <p:nvPicPr>
          <p:cNvPr id="4" name="Image 0" descr="preencoded.png">    </p:cNvPr>
          <p:cNvPicPr>
            <a:picLocks noChangeAspect="1"/>
          </p:cNvPicPr>
          <p:nvPr/>
        </p:nvPicPr>
        <p:blipFill>
          <a:blip r:embed="rId1"/>
          <a:stretch>
            <a:fillRect/>
          </a:stretch>
        </p:blipFill>
        <p:spPr>
          <a:xfrm>
            <a:off x="661475" y="2254448"/>
            <a:ext cx="6323053" cy="2618284"/>
          </a:xfrm>
          <a:prstGeom prst="rect">
            <a:avLst/>
          </a:prstGeom>
        </p:spPr>
      </p:pic>
      <p:sp>
        <p:nvSpPr>
          <p:cNvPr id="5" name="Text 2"/>
          <p:cNvSpPr/>
          <p:nvPr/>
        </p:nvSpPr>
        <p:spPr>
          <a:xfrm>
            <a:off x="835103" y="5054898"/>
            <a:ext cx="11304702" cy="157460"/>
          </a:xfrm>
          <a:prstGeom prst="rect">
            <a:avLst/>
          </a:prstGeom>
          <a:noFill/>
          <a:ln/>
        </p:spPr>
        <p:txBody>
          <a:bodyPr wrap="none" lIns="0" tIns="0" rIns="0" bIns="0" rtlCol="0" anchor="t"/>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¿Cómo crece el trabajo necesario cuando aumenta el tamaño de los datos? Esto introduce la complejidad algorítmica.</a:t>
            </a:r>
            <a:endParaRPr lang="en-US" sz="900" dirty="0"/>
          </a:p>
        </p:txBody>
      </p:sp>
      <p:sp>
        <p:nvSpPr>
          <p:cNvPr id="6" name="Shape 3"/>
          <p:cNvSpPr/>
          <p:nvPr/>
        </p:nvSpPr>
        <p:spPr>
          <a:xfrm>
            <a:off x="661475" y="4963815"/>
            <a:ext cx="12700" cy="339626"/>
          </a:xfrm>
          <a:prstGeom prst="roundRect">
            <a:avLst>
              <a:gd name="adj" fmla="val 49999"/>
            </a:avLst>
          </a:prstGeom>
          <a:solidFill>
            <a:srgbClr val="B499E9"/>
          </a:solidFill>
          <a:ln/>
        </p:spPr>
      </p:sp>
      <p:pic>
        <p:nvPicPr>
          <p:cNvPr id="7"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8"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9" name="Text 4"/>
          <p:cNvSpPr/>
          <p:nvPr/>
        </p:nvSpPr>
        <p:spPr>
          <a:xfrm>
            <a:off x="10832035" y="6300589"/>
            <a:ext cx="1161227"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61475" y="1243013"/>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Complejidad temporal y espacial</a:t>
            </a:r>
            <a:endParaRPr lang="en-US" sz="2600" dirty="0"/>
          </a:p>
        </p:txBody>
      </p:sp>
      <p:sp>
        <p:nvSpPr>
          <p:cNvPr id="3" name="Text 1"/>
          <p:cNvSpPr/>
          <p:nvPr/>
        </p:nvSpPr>
        <p:spPr>
          <a:xfrm>
            <a:off x="661475" y="198715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Medir la complejidad nos permite comparar algoritmos independientemente del hardware o los datos concretos. El parámetro clave es </a:t>
            </a:r>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n</a:t>
            </a:r>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 el tamaño de la entrada.</a:t>
            </a:r>
            <a:endParaRPr lang="en-US" sz="1300" dirty="0"/>
          </a:p>
        </p:txBody>
      </p:sp>
      <p:sp>
        <p:nvSpPr>
          <p:cNvPr id="4" name="Shape 2"/>
          <p:cNvSpPr/>
          <p:nvPr/>
        </p:nvSpPr>
        <p:spPr>
          <a:xfrm>
            <a:off x="542415" y="2702421"/>
            <a:ext cx="5470785" cy="2912566"/>
          </a:xfrm>
          <a:prstGeom prst="roundRect">
            <a:avLst>
              <a:gd name="adj" fmla="val 13628"/>
            </a:avLst>
          </a:prstGeom>
          <a:solidFill>
            <a:srgbClr val="324C85"/>
          </a:solidFill>
          <a:ln/>
        </p:spPr>
      </p:sp>
      <p:sp>
        <p:nvSpPr>
          <p:cNvPr id="5" name="Text 3"/>
          <p:cNvSpPr/>
          <p:nvPr/>
        </p:nvSpPr>
        <p:spPr>
          <a:xfrm>
            <a:off x="707710" y="2867720"/>
            <a:ext cx="514019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Complejidad temporal</a:t>
            </a:r>
            <a:endParaRPr lang="en-US" sz="1600" dirty="0"/>
          </a:p>
        </p:txBody>
      </p:sp>
      <p:sp>
        <p:nvSpPr>
          <p:cNvPr id="6" name="Text 4"/>
          <p:cNvSpPr/>
          <p:nvPr/>
        </p:nvSpPr>
        <p:spPr>
          <a:xfrm>
            <a:off x="707710" y="3291483"/>
            <a:ext cx="5140196" cy="1207294"/>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Cómo crece el </a:t>
            </a:r>
            <a:pPr algn="l" indent="0" marL="0">
              <a:lnSpc>
                <a:spcPct val="133000"/>
              </a:lnSpc>
              <a:spcAft>
                <a:spcPts val="1150"/>
              </a:spcAft>
              <a:buNone/>
            </a:pPr>
            <a:r>
              <a:rPr lang="en-US" sz="1300" b="1" dirty="0">
                <a:solidFill>
                  <a:srgbClr val="FFFFFF"/>
                </a:solidFill>
                <a:latin typeface="Manrope Bold" pitchFamily="34" charset="0"/>
                <a:ea typeface="Manrope Bold" pitchFamily="34" charset="-122"/>
                <a:cs typeface="Manrope Bold" pitchFamily="34" charset="-120"/>
              </a:rPr>
              <a:t>número de operaciones</a:t>
            </a:r>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 (o tiempo de ejecución) al aumentar n.</a:t>
            </a:r>
            <a:endParaRPr lang="en-US" sz="1300" dirty="0"/>
          </a:p>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No medimos segundos concretos en un ordenador. Medimos cómo escala el coste con el tamaño del problema.</a:t>
            </a:r>
            <a:endParaRPr lang="en-US" sz="1300" dirty="0"/>
          </a:p>
        </p:txBody>
      </p:sp>
      <p:sp>
        <p:nvSpPr>
          <p:cNvPr id="7" name="Text 5"/>
          <p:cNvSpPr/>
          <p:nvPr/>
        </p:nvSpPr>
        <p:spPr>
          <a:xfrm>
            <a:off x="707710" y="4647605"/>
            <a:ext cx="5140196"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¿Necesita pasar por todos los datos?</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¿Se duplica el trabajo al doblar n?</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¿Crece cuadráticamente? ¿Exponencialmente?</a:t>
            </a:r>
            <a:endParaRPr lang="en-US" sz="1300" dirty="0"/>
          </a:p>
        </p:txBody>
      </p:sp>
      <p:sp>
        <p:nvSpPr>
          <p:cNvPr id="8" name="Text 6"/>
          <p:cNvSpPr/>
          <p:nvPr/>
        </p:nvSpPr>
        <p:spPr>
          <a:xfrm>
            <a:off x="6303904" y="2867720"/>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Complejidad espacial</a:t>
            </a:r>
            <a:endParaRPr lang="en-US" sz="1600" dirty="0"/>
          </a:p>
        </p:txBody>
      </p:sp>
      <p:sp>
        <p:nvSpPr>
          <p:cNvPr id="9" name="Text 7"/>
          <p:cNvSpPr/>
          <p:nvPr/>
        </p:nvSpPr>
        <p:spPr>
          <a:xfrm>
            <a:off x="6303904" y="3291483"/>
            <a:ext cx="5232666" cy="1207294"/>
          </a:xfrm>
          <a:prstGeom prst="rect">
            <a:avLst/>
          </a:prstGeom>
          <a:noFill/>
          <a:ln/>
        </p:spPr>
        <p:txBody>
          <a:bodyPr wrap="square" lIns="0" tIns="0" rIns="0" bIns="0" rtlCol="0" anchor="t"/>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Cómo crece la </a:t>
            </a:r>
            <a:pPr algn="l" indent="0" marL="0">
              <a:lnSpc>
                <a:spcPct val="133000"/>
              </a:lnSpc>
              <a:spcAft>
                <a:spcPts val="1150"/>
              </a:spcAft>
              <a:buNone/>
            </a:pPr>
            <a:r>
              <a:rPr lang="en-US" sz="1300" b="1" dirty="0">
                <a:solidFill>
                  <a:srgbClr val="FFFFFF"/>
                </a:solidFill>
                <a:latin typeface="Manrope Bold" pitchFamily="34" charset="0"/>
                <a:ea typeface="Manrope Bold" pitchFamily="34" charset="-122"/>
                <a:cs typeface="Manrope Bold" pitchFamily="34" charset="-120"/>
              </a:rPr>
              <a:t>memoria necesaria</a:t>
            </a:r>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 al aumentar n.</a:t>
            </a:r>
            <a:endParaRPr lang="en-US" sz="1300" dirty="0"/>
          </a:p>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En Big Data, la memoria es un recurso limitado y costoso. Un algoritmo que necesita cargar todos los datos en RAM puede resultar inviable a escala.</a:t>
            </a:r>
            <a:endParaRPr lang="en-US" sz="1300" dirty="0"/>
          </a:p>
        </p:txBody>
      </p:sp>
      <p:sp>
        <p:nvSpPr>
          <p:cNvPr id="10" name="Text 8"/>
          <p:cNvSpPr/>
          <p:nvPr/>
        </p:nvSpPr>
        <p:spPr>
          <a:xfrm>
            <a:off x="6303904" y="4647605"/>
            <a:ext cx="5232666"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¿Necesita almacenar todos los datos a la vez?</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¿Puede procesar en bloques (streaming)?</a:t>
            </a:r>
            <a:endParaRPr lang="en-US" sz="1300" dirty="0"/>
          </a:p>
          <a:p>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¿Genera estructuras intermedias grandes?</a:t>
            </a:r>
            <a:endParaRPr lang="en-US" sz="1300" dirty="0"/>
          </a:p>
        </p:txBody>
      </p:sp>
      <p:pic>
        <p:nvPicPr>
          <p:cNvPr id="11"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2"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3" name="Text 9"/>
          <p:cNvSpPr/>
          <p:nvPr/>
        </p:nvSpPr>
        <p:spPr>
          <a:xfrm>
            <a:off x="10827769" y="6300589"/>
            <a:ext cx="116549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475" y="1400175"/>
            <a:ext cx="10868745" cy="330696"/>
          </a:xfrm>
          <a:prstGeom prst="rect">
            <a:avLst/>
          </a:prstGeom>
          <a:noFill/>
          <a:ln/>
        </p:spPr>
        <p:txBody>
          <a:bodyPr wrap="none" lIns="0" tIns="0" rIns="0" bIns="0" rtlCol="0" anchor="t"/>
          <a:lstStyle/>
          <a:p>
            <a:pPr algn="l" indent="0" marL="0">
              <a:lnSpc>
                <a:spcPct val="104000"/>
              </a:lnSpc>
              <a:buNone/>
            </a:pPr>
            <a:r>
              <a:rPr lang="en-US" sz="2050" spc="-21" kern="0" dirty="0">
                <a:solidFill>
                  <a:srgbClr val="FFFFFF"/>
                </a:solidFill>
                <a:latin typeface="Alexandria Medium" pitchFamily="34" charset="0"/>
                <a:ea typeface="Alexandria Medium" pitchFamily="34" charset="-122"/>
                <a:cs typeface="Alexandria Medium" pitchFamily="34" charset="-120"/>
              </a:rPr>
              <a:t>Notación Big-O</a:t>
            </a:r>
            <a:endParaRPr lang="en-US" sz="2050" dirty="0"/>
          </a:p>
        </p:txBody>
      </p:sp>
      <p:sp>
        <p:nvSpPr>
          <p:cNvPr id="3" name="Text 1"/>
          <p:cNvSpPr/>
          <p:nvPr/>
        </p:nvSpPr>
        <p:spPr>
          <a:xfrm>
            <a:off x="661475" y="1942505"/>
            <a:ext cx="11478330" cy="190500"/>
          </a:xfrm>
          <a:prstGeom prst="rect">
            <a:avLst/>
          </a:prstGeom>
          <a:noFill/>
          <a:ln/>
        </p:spPr>
        <p:txBody>
          <a:bodyPr wrap="none" lIns="0" tIns="0" rIns="0" bIns="0" rtlCol="0" anchor="t"/>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Big-O describe cómo </a:t>
            </a:r>
            <a:pPr algn="l" indent="0" marL="0">
              <a:lnSpc>
                <a:spcPct val="120000"/>
              </a:lnSpc>
              <a:buNone/>
            </a:pPr>
            <a:r>
              <a:rPr lang="en-US" sz="1000" b="1" dirty="0">
                <a:solidFill>
                  <a:srgbClr val="FFFFFF"/>
                </a:solidFill>
                <a:latin typeface="Manrope Bold" pitchFamily="34" charset="0"/>
                <a:ea typeface="Manrope Bold" pitchFamily="34" charset="-122"/>
                <a:cs typeface="Manrope Bold" pitchFamily="34" charset="-120"/>
              </a:rPr>
              <a:t>escala asintóticamente el coste computacional</a:t>
            </a:r>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 de un algoritmo al crecer n. Nos permite comparar algoritmos sin depender de hardware ni datos concretos.</a:t>
            </a:r>
            <a:endParaRPr lang="en-US" sz="1000" dirty="0"/>
          </a:p>
        </p:txBody>
      </p:sp>
      <p:sp>
        <p:nvSpPr>
          <p:cNvPr id="4" name="Shape 2"/>
          <p:cNvSpPr/>
          <p:nvPr/>
        </p:nvSpPr>
        <p:spPr>
          <a:xfrm>
            <a:off x="661475" y="2371130"/>
            <a:ext cx="1761684" cy="1367830"/>
          </a:xfrm>
          <a:prstGeom prst="roundRect">
            <a:avLst>
              <a:gd name="adj" fmla="val 14510"/>
            </a:avLst>
          </a:prstGeom>
          <a:solidFill>
            <a:srgbClr val="3F2077"/>
          </a:solidFill>
          <a:ln w="6350">
            <a:solidFill>
              <a:srgbClr val="4B3082"/>
            </a:solidFill>
            <a:prstDash val="solid"/>
          </a:ln>
        </p:spPr>
      </p:sp>
      <p:sp>
        <p:nvSpPr>
          <p:cNvPr id="5" name="Text 3"/>
          <p:cNvSpPr/>
          <p:nvPr/>
        </p:nvSpPr>
        <p:spPr>
          <a:xfrm>
            <a:off x="800080" y="2509738"/>
            <a:ext cx="1484474"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O(1) — Constante</a:t>
            </a:r>
            <a:endParaRPr lang="en-US" sz="1300" dirty="0"/>
          </a:p>
        </p:txBody>
      </p:sp>
      <p:sp>
        <p:nvSpPr>
          <p:cNvPr id="6" name="Text 4"/>
          <p:cNvSpPr/>
          <p:nvPr/>
        </p:nvSpPr>
        <p:spPr>
          <a:xfrm>
            <a:off x="800080" y="2822178"/>
            <a:ext cx="1484474" cy="190500"/>
          </a:xfrm>
          <a:prstGeom prst="rect">
            <a:avLst/>
          </a:prstGeom>
          <a:noFill/>
          <a:ln/>
        </p:spPr>
        <p:txBody>
          <a:bodyPr wrap="none" lIns="0" tIns="0" rIns="0" bIns="0" rtlCol="0" anchor="t"/>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El coste no crece con n.</a:t>
            </a:r>
            <a:endParaRPr lang="en-US" sz="1000" dirty="0"/>
          </a:p>
        </p:txBody>
      </p:sp>
      <p:sp>
        <p:nvSpPr>
          <p:cNvPr id="7" name="Shape 5"/>
          <p:cNvSpPr/>
          <p:nvPr/>
        </p:nvSpPr>
        <p:spPr>
          <a:xfrm>
            <a:off x="2528923" y="2371130"/>
            <a:ext cx="1761783" cy="1367830"/>
          </a:xfrm>
          <a:prstGeom prst="roundRect">
            <a:avLst>
              <a:gd name="adj" fmla="val 14510"/>
            </a:avLst>
          </a:prstGeom>
          <a:solidFill>
            <a:srgbClr val="3F2077"/>
          </a:solidFill>
          <a:ln w="6350">
            <a:solidFill>
              <a:srgbClr val="4B3082"/>
            </a:solidFill>
            <a:prstDash val="solid"/>
          </a:ln>
        </p:spPr>
      </p:sp>
      <p:sp>
        <p:nvSpPr>
          <p:cNvPr id="8" name="Text 6"/>
          <p:cNvSpPr/>
          <p:nvPr/>
        </p:nvSpPr>
        <p:spPr>
          <a:xfrm>
            <a:off x="2667529" y="2509738"/>
            <a:ext cx="1484573" cy="413345"/>
          </a:xfrm>
          <a:prstGeom prst="rect">
            <a:avLst/>
          </a:prstGeom>
          <a:noFill/>
          <a:ln/>
        </p:spPr>
        <p:txBody>
          <a:bodyPr wrap="square" lIns="0" tIns="0" rIns="0" bIns="0" rtlCol="0" anchor="t">
            <a:normAutofit/>
          </a:bodyPr>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O(log n) — Logarítmica</a:t>
            </a:r>
            <a:endParaRPr lang="en-US" sz="1300" dirty="0"/>
          </a:p>
        </p:txBody>
      </p:sp>
      <p:sp>
        <p:nvSpPr>
          <p:cNvPr id="9" name="Text 7"/>
          <p:cNvSpPr/>
          <p:nvPr/>
        </p:nvSpPr>
        <p:spPr>
          <a:xfrm>
            <a:off x="2667529" y="3028851"/>
            <a:ext cx="1484573"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Crece muy lentamente. Extremadamente eficiente.</a:t>
            </a:r>
            <a:endParaRPr lang="en-US" sz="1000" dirty="0"/>
          </a:p>
        </p:txBody>
      </p:sp>
      <p:sp>
        <p:nvSpPr>
          <p:cNvPr id="10" name="Shape 8"/>
          <p:cNvSpPr/>
          <p:nvPr/>
        </p:nvSpPr>
        <p:spPr>
          <a:xfrm>
            <a:off x="4396471" y="2371130"/>
            <a:ext cx="1761684" cy="1367830"/>
          </a:xfrm>
          <a:prstGeom prst="roundRect">
            <a:avLst>
              <a:gd name="adj" fmla="val 14510"/>
            </a:avLst>
          </a:prstGeom>
          <a:solidFill>
            <a:srgbClr val="3F2077"/>
          </a:solidFill>
          <a:ln w="6350">
            <a:solidFill>
              <a:srgbClr val="4B3082"/>
            </a:solidFill>
            <a:prstDash val="solid"/>
          </a:ln>
        </p:spPr>
      </p:sp>
      <p:sp>
        <p:nvSpPr>
          <p:cNvPr id="11" name="Text 9"/>
          <p:cNvSpPr/>
          <p:nvPr/>
        </p:nvSpPr>
        <p:spPr>
          <a:xfrm>
            <a:off x="4535076" y="2509738"/>
            <a:ext cx="1484474"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O(n) — Lineal</a:t>
            </a:r>
            <a:endParaRPr lang="en-US" sz="1300" dirty="0"/>
          </a:p>
        </p:txBody>
      </p:sp>
      <p:sp>
        <p:nvSpPr>
          <p:cNvPr id="12" name="Text 10"/>
          <p:cNvSpPr/>
          <p:nvPr/>
        </p:nvSpPr>
        <p:spPr>
          <a:xfrm>
            <a:off x="4535076" y="2822178"/>
            <a:ext cx="1484474"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El coste crece proporcionalmente a n.</a:t>
            </a:r>
            <a:endParaRPr lang="en-US" sz="1000" dirty="0"/>
          </a:p>
        </p:txBody>
      </p:sp>
      <p:sp>
        <p:nvSpPr>
          <p:cNvPr id="13" name="Shape 11"/>
          <p:cNvSpPr/>
          <p:nvPr/>
        </p:nvSpPr>
        <p:spPr>
          <a:xfrm>
            <a:off x="661475" y="3844727"/>
            <a:ext cx="1761684" cy="1177330"/>
          </a:xfrm>
          <a:prstGeom prst="roundRect">
            <a:avLst>
              <a:gd name="adj" fmla="val 16858"/>
            </a:avLst>
          </a:prstGeom>
          <a:solidFill>
            <a:srgbClr val="3F2077"/>
          </a:solidFill>
          <a:ln w="6350">
            <a:solidFill>
              <a:srgbClr val="4B3082"/>
            </a:solidFill>
            <a:prstDash val="solid"/>
          </a:ln>
        </p:spPr>
      </p:sp>
      <p:sp>
        <p:nvSpPr>
          <p:cNvPr id="14" name="Text 12"/>
          <p:cNvSpPr/>
          <p:nvPr/>
        </p:nvSpPr>
        <p:spPr>
          <a:xfrm>
            <a:off x="800080" y="3983335"/>
            <a:ext cx="1484474"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O(n log n)</a:t>
            </a:r>
            <a:endParaRPr lang="en-US" sz="1300" dirty="0"/>
          </a:p>
        </p:txBody>
      </p:sp>
      <p:sp>
        <p:nvSpPr>
          <p:cNvPr id="15" name="Text 13"/>
          <p:cNvSpPr/>
          <p:nvPr/>
        </p:nvSpPr>
        <p:spPr>
          <a:xfrm>
            <a:off x="800080" y="4295775"/>
            <a:ext cx="1484474"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Ligeramente más que lineal. Muy eficiente en práctica.</a:t>
            </a:r>
            <a:endParaRPr lang="en-US" sz="1000" dirty="0"/>
          </a:p>
        </p:txBody>
      </p:sp>
      <p:sp>
        <p:nvSpPr>
          <p:cNvPr id="16" name="Shape 14"/>
          <p:cNvSpPr/>
          <p:nvPr/>
        </p:nvSpPr>
        <p:spPr>
          <a:xfrm>
            <a:off x="2528923" y="3844727"/>
            <a:ext cx="1761783" cy="1177330"/>
          </a:xfrm>
          <a:prstGeom prst="roundRect">
            <a:avLst>
              <a:gd name="adj" fmla="val 16858"/>
            </a:avLst>
          </a:prstGeom>
          <a:solidFill>
            <a:srgbClr val="3F2077"/>
          </a:solidFill>
          <a:ln w="6350">
            <a:solidFill>
              <a:srgbClr val="4B3082"/>
            </a:solidFill>
            <a:prstDash val="solid"/>
          </a:ln>
        </p:spPr>
      </p:sp>
      <p:sp>
        <p:nvSpPr>
          <p:cNvPr id="17" name="Text 15"/>
          <p:cNvSpPr/>
          <p:nvPr/>
        </p:nvSpPr>
        <p:spPr>
          <a:xfrm>
            <a:off x="2667529" y="3983335"/>
            <a:ext cx="1484573" cy="206673"/>
          </a:xfrm>
          <a:prstGeom prst="rect">
            <a:avLst/>
          </a:prstGeom>
          <a:noFill/>
          <a:ln/>
        </p:spPr>
        <p:txBody>
          <a:bodyPr wrap="none" lIns="0" tIns="0" rIns="0" bIns="0" rtlCol="0" anchor="t"/>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O(n²) — Cuadrática</a:t>
            </a:r>
            <a:endParaRPr lang="en-US" sz="1300" dirty="0"/>
          </a:p>
        </p:txBody>
      </p:sp>
      <p:sp>
        <p:nvSpPr>
          <p:cNvPr id="18" name="Text 16"/>
          <p:cNvSpPr/>
          <p:nvPr/>
        </p:nvSpPr>
        <p:spPr>
          <a:xfrm>
            <a:off x="2667529" y="4295775"/>
            <a:ext cx="1484573"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El coste crece al cuadrado. Problemático a escala.</a:t>
            </a:r>
            <a:endParaRPr lang="en-US" sz="1000" dirty="0"/>
          </a:p>
        </p:txBody>
      </p:sp>
      <p:sp>
        <p:nvSpPr>
          <p:cNvPr id="19" name="Shape 17"/>
          <p:cNvSpPr/>
          <p:nvPr/>
        </p:nvSpPr>
        <p:spPr>
          <a:xfrm>
            <a:off x="4396471" y="3844727"/>
            <a:ext cx="1761684" cy="1177330"/>
          </a:xfrm>
          <a:prstGeom prst="roundRect">
            <a:avLst>
              <a:gd name="adj" fmla="val 16858"/>
            </a:avLst>
          </a:prstGeom>
          <a:solidFill>
            <a:srgbClr val="3F2077"/>
          </a:solidFill>
          <a:ln w="6350">
            <a:solidFill>
              <a:srgbClr val="4B3082"/>
            </a:solidFill>
            <a:prstDash val="solid"/>
          </a:ln>
        </p:spPr>
      </p:sp>
      <p:sp>
        <p:nvSpPr>
          <p:cNvPr id="20" name="Text 18"/>
          <p:cNvSpPr/>
          <p:nvPr/>
        </p:nvSpPr>
        <p:spPr>
          <a:xfrm>
            <a:off x="4535076" y="3983335"/>
            <a:ext cx="1484474" cy="413345"/>
          </a:xfrm>
          <a:prstGeom prst="rect">
            <a:avLst/>
          </a:prstGeom>
          <a:noFill/>
          <a:ln/>
        </p:spPr>
        <p:txBody>
          <a:bodyPr wrap="square" lIns="0" tIns="0" rIns="0" bIns="0" rtlCol="0" anchor="t">
            <a:normAutofit/>
          </a:bodyPr>
          <a:lstStyle/>
          <a:p>
            <a:pPr algn="l" indent="0" marL="0">
              <a:lnSpc>
                <a:spcPct val="104000"/>
              </a:lnSpc>
              <a:buNone/>
            </a:pPr>
            <a:r>
              <a:rPr lang="en-US" sz="1300" spc="-13" kern="0" dirty="0">
                <a:solidFill>
                  <a:srgbClr val="FFFFFF"/>
                </a:solidFill>
                <a:latin typeface="Alexandria Medium" pitchFamily="34" charset="0"/>
                <a:ea typeface="Alexandria Medium" pitchFamily="34" charset="-122"/>
                <a:cs typeface="Alexandria Medium" pitchFamily="34" charset="-120"/>
              </a:rPr>
              <a:t>O(2ⁿ) — Exponencial</a:t>
            </a:r>
            <a:endParaRPr lang="en-US" sz="1300" dirty="0"/>
          </a:p>
        </p:txBody>
      </p:sp>
      <p:sp>
        <p:nvSpPr>
          <p:cNvPr id="21" name="Text 19"/>
          <p:cNvSpPr/>
          <p:nvPr/>
        </p:nvSpPr>
        <p:spPr>
          <a:xfrm>
            <a:off x="4535076" y="4502448"/>
            <a:ext cx="1484474"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Manrope" pitchFamily="34" charset="0"/>
                <a:ea typeface="Manrope" pitchFamily="34" charset="-122"/>
                <a:cs typeface="Manrope" pitchFamily="34" charset="-120"/>
              </a:rPr>
              <a:t>Inviable para valores moderados de n.</a:t>
            </a:r>
            <a:endParaRPr lang="en-US" sz="1000" dirty="0"/>
          </a:p>
        </p:txBody>
      </p:sp>
      <p:pic>
        <p:nvPicPr>
          <p:cNvPr id="22" name="Image 0" descr="preencoded.png">    </p:cNvPr>
          <p:cNvPicPr>
            <a:picLocks noChangeAspect="1"/>
          </p:cNvPicPr>
          <p:nvPr/>
        </p:nvPicPr>
        <p:blipFill>
          <a:blip r:embed="rId1"/>
          <a:stretch>
            <a:fillRect/>
          </a:stretch>
        </p:blipFill>
        <p:spPr>
          <a:xfrm>
            <a:off x="6487256" y="2371130"/>
            <a:ext cx="4039293" cy="2967534"/>
          </a:xfrm>
          <a:prstGeom prst="rect">
            <a:avLst/>
          </a:prstGeom>
        </p:spPr>
      </p:pic>
      <p:pic>
        <p:nvPicPr>
          <p:cNvPr id="23"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24"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25" name="Text 20"/>
          <p:cNvSpPr/>
          <p:nvPr/>
        </p:nvSpPr>
        <p:spPr>
          <a:xfrm>
            <a:off x="10829158" y="6300589"/>
            <a:ext cx="1164104"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61475" y="1000522"/>
            <a:ext cx="10868745" cy="406995"/>
          </a:xfrm>
          <a:prstGeom prst="rect">
            <a:avLst/>
          </a:prstGeom>
          <a:noFill/>
          <a:ln/>
        </p:spPr>
        <p:txBody>
          <a:bodyPr wrap="none" lIns="0" tIns="0" rIns="0" bIns="0" rtlCol="0" anchor="t"/>
          <a:lstStyle/>
          <a:p>
            <a:pPr algn="l" indent="0" marL="0">
              <a:lnSpc>
                <a:spcPct val="104000"/>
              </a:lnSpc>
              <a:buNone/>
            </a:pPr>
            <a:r>
              <a:rPr lang="en-US" sz="2550" spc="-26" kern="0" dirty="0">
                <a:solidFill>
                  <a:srgbClr val="FFFFFF"/>
                </a:solidFill>
                <a:latin typeface="Alexandria Medium" pitchFamily="34" charset="0"/>
                <a:ea typeface="Alexandria Medium" pitchFamily="34" charset="-122"/>
                <a:cs typeface="Alexandria Medium" pitchFamily="34" charset="-120"/>
              </a:rPr>
              <a:t>O(1) y O(log n)</a:t>
            </a:r>
            <a:endParaRPr lang="en-US" sz="2550" dirty="0"/>
          </a:p>
        </p:txBody>
      </p:sp>
      <p:sp>
        <p:nvSpPr>
          <p:cNvPr id="3" name="Shape 1"/>
          <p:cNvSpPr/>
          <p:nvPr/>
        </p:nvSpPr>
        <p:spPr>
          <a:xfrm>
            <a:off x="544300" y="1647825"/>
            <a:ext cx="5470190" cy="4209554"/>
          </a:xfrm>
          <a:prstGeom prst="roundRect">
            <a:avLst>
              <a:gd name="adj" fmla="val 9282"/>
            </a:avLst>
          </a:prstGeom>
          <a:solidFill>
            <a:srgbClr val="324C85"/>
          </a:solidFill>
          <a:ln/>
        </p:spPr>
      </p:sp>
      <p:sp>
        <p:nvSpPr>
          <p:cNvPr id="4" name="Text 2"/>
          <p:cNvSpPr/>
          <p:nvPr/>
        </p:nvSpPr>
        <p:spPr>
          <a:xfrm>
            <a:off x="707015" y="1808063"/>
            <a:ext cx="5144760"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O(1) — Coste constante</a:t>
            </a:r>
            <a:endParaRPr lang="en-US" sz="1600" dirty="0"/>
          </a:p>
        </p:txBody>
      </p:sp>
      <p:sp>
        <p:nvSpPr>
          <p:cNvPr id="5" name="Text 3"/>
          <p:cNvSpPr/>
          <p:nvPr/>
        </p:nvSpPr>
        <p:spPr>
          <a:xfrm>
            <a:off x="707015" y="2222599"/>
            <a:ext cx="5144760" cy="919559"/>
          </a:xfrm>
          <a:prstGeom prst="rect">
            <a:avLst/>
          </a:prstGeom>
          <a:noFill/>
          <a:ln/>
        </p:spPr>
        <p:txBody>
          <a:bodyPr wrap="square" lIns="0" tIns="0" rIns="0" bIns="0" rtlCol="0" anchor="t">
            <a:normAutofit/>
          </a:bodyPr>
          <a:lstStyle/>
          <a:p>
            <a:pPr algn="l" indent="0" marL="0">
              <a:lnSpc>
                <a:spcPct val="132000"/>
              </a:lnSpc>
              <a:spcAft>
                <a:spcPts val="1100"/>
              </a:spcAft>
              <a:buNone/>
            </a:pPr>
            <a:r>
              <a:rPr lang="en-US" sz="1250" dirty="0">
                <a:solidFill>
                  <a:srgbClr val="FFFFFF"/>
                </a:solidFill>
                <a:latin typeface="Manrope" pitchFamily="34" charset="0"/>
                <a:ea typeface="Manrope" pitchFamily="34" charset="-122"/>
                <a:cs typeface="Manrope" pitchFamily="34" charset="-120"/>
              </a:rPr>
              <a:t>El coste no varía con el tamaño de la entrada. Acceder directamente a una posición conocida es una operación O(1).</a:t>
            </a:r>
            <a:endParaRPr lang="en-US" sz="1250" dirty="0"/>
          </a:p>
          <a:p>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Ejemplos:</a:t>
            </a:r>
            <a:endParaRPr lang="en-US" sz="1250" dirty="0"/>
          </a:p>
        </p:txBody>
      </p:sp>
      <p:sp>
        <p:nvSpPr>
          <p:cNvPr id="6" name="Text 4"/>
          <p:cNvSpPr/>
          <p:nvPr/>
        </p:nvSpPr>
        <p:spPr>
          <a:xfrm>
            <a:off x="707015" y="3286323"/>
            <a:ext cx="5144760" cy="887512"/>
          </a:xfrm>
          <a:prstGeom prst="rect">
            <a:avLst/>
          </a:prstGeom>
          <a:noFill/>
          <a:ln/>
        </p:spPr>
        <p:txBody>
          <a:bodyPr wrap="square" lIns="0" tIns="0" rIns="0" bIns="0" rtlCol="0" anchor="t">
            <a:normAutofit/>
          </a:bodyPr>
          <a:lstStyle/>
          <a:p>
            <a:pPr algn="l" marL="254000" indent="-254000">
              <a:lnSpc>
                <a:spcPct val="132000"/>
              </a:lnSpc>
              <a:buSzPct val="100000"/>
              <a:buChar char="•"/>
            </a:pPr>
            <a:r>
              <a:rPr lang="en-US" sz="1250" dirty="0">
                <a:solidFill>
                  <a:srgbClr val="FFFFFF"/>
                </a:solidFill>
                <a:latin typeface="Manrope" pitchFamily="34" charset="0"/>
                <a:ea typeface="Manrope" pitchFamily="34" charset="-122"/>
                <a:cs typeface="Manrope" pitchFamily="34" charset="-120"/>
              </a:rPr>
              <a:t>Acceder al elemento 42 de una lista por índice.</a:t>
            </a:r>
            <a:endParaRPr lang="en-US" sz="1250" dirty="0"/>
          </a:p>
          <a:p>
            <a:pPr algn="l" marL="254000" indent="-254000">
              <a:lnSpc>
                <a:spcPct val="132000"/>
              </a:lnSpc>
              <a:buSzPct val="100000"/>
              <a:buChar char="•"/>
            </a:pPr>
            <a:r>
              <a:rPr lang="en-US" sz="1250" dirty="0">
                <a:solidFill>
                  <a:srgbClr val="FFFFFF"/>
                </a:solidFill>
                <a:latin typeface="Manrope" pitchFamily="34" charset="0"/>
                <a:ea typeface="Manrope" pitchFamily="34" charset="-122"/>
                <a:cs typeface="Manrope" pitchFamily="34" charset="-120"/>
              </a:rPr>
              <a:t>Consultar una clave en un diccionario (hash).</a:t>
            </a:r>
            <a:endParaRPr lang="en-US" sz="1250" dirty="0"/>
          </a:p>
          <a:p>
            <a:pPr algn="l" marL="254000" indent="-254000">
              <a:lnSpc>
                <a:spcPct val="132000"/>
              </a:lnSpc>
              <a:buSzPct val="100000"/>
              <a:buChar char="•"/>
            </a:pPr>
            <a:r>
              <a:rPr lang="en-US" sz="1250" dirty="0">
                <a:solidFill>
                  <a:srgbClr val="FFFFFF"/>
                </a:solidFill>
                <a:latin typeface="Manrope" pitchFamily="34" charset="0"/>
                <a:ea typeface="Manrope" pitchFamily="34" charset="-122"/>
                <a:cs typeface="Manrope" pitchFamily="34" charset="-120"/>
              </a:rPr>
              <a:t>Leer el valor de una variable.</a:t>
            </a:r>
            <a:endParaRPr lang="en-US" sz="1250" dirty="0"/>
          </a:p>
        </p:txBody>
      </p:sp>
      <p:sp>
        <p:nvSpPr>
          <p:cNvPr id="7" name="Text 5"/>
          <p:cNvSpPr/>
          <p:nvPr/>
        </p:nvSpPr>
        <p:spPr>
          <a:xfrm>
            <a:off x="707015" y="4318000"/>
            <a:ext cx="5144760"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FFFFFF"/>
                </a:solidFill>
                <a:latin typeface="Manrope" pitchFamily="34" charset="0"/>
                <a:ea typeface="Manrope" pitchFamily="34" charset="-122"/>
                <a:cs typeface="Manrope" pitchFamily="34" charset="-120"/>
              </a:rPr>
              <a:t>Independientemente de si el dataset tiene 100 o 100 millones de filas, la operación tarda lo mismo.</a:t>
            </a:r>
            <a:endParaRPr lang="en-US" sz="1250" dirty="0"/>
          </a:p>
        </p:txBody>
      </p:sp>
      <p:sp>
        <p:nvSpPr>
          <p:cNvPr id="8" name="Shape 6"/>
          <p:cNvSpPr/>
          <p:nvPr/>
        </p:nvSpPr>
        <p:spPr>
          <a:xfrm>
            <a:off x="6183555" y="1647825"/>
            <a:ext cx="5470190" cy="4209554"/>
          </a:xfrm>
          <a:prstGeom prst="roundRect">
            <a:avLst>
              <a:gd name="adj" fmla="val 9282"/>
            </a:avLst>
          </a:prstGeom>
          <a:solidFill>
            <a:srgbClr val="324C85"/>
          </a:solidFill>
          <a:ln/>
        </p:spPr>
      </p:sp>
      <p:sp>
        <p:nvSpPr>
          <p:cNvPr id="9" name="Text 7"/>
          <p:cNvSpPr/>
          <p:nvPr/>
        </p:nvSpPr>
        <p:spPr>
          <a:xfrm>
            <a:off x="6346269" y="1808063"/>
            <a:ext cx="5144760" cy="254298"/>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O(log n) — Crecimiento logarítmico</a:t>
            </a:r>
            <a:endParaRPr lang="en-US" sz="1600" dirty="0"/>
          </a:p>
        </p:txBody>
      </p:sp>
      <p:sp>
        <p:nvSpPr>
          <p:cNvPr id="10" name="Text 8"/>
          <p:cNvSpPr/>
          <p:nvPr/>
        </p:nvSpPr>
        <p:spPr>
          <a:xfrm>
            <a:off x="6346269" y="2222599"/>
            <a:ext cx="5144760" cy="919559"/>
          </a:xfrm>
          <a:prstGeom prst="rect">
            <a:avLst/>
          </a:prstGeom>
          <a:noFill/>
          <a:ln/>
        </p:spPr>
        <p:txBody>
          <a:bodyPr wrap="square" lIns="0" tIns="0" rIns="0" bIns="0" rtlCol="0" anchor="t">
            <a:normAutofit/>
          </a:bodyPr>
          <a:lstStyle/>
          <a:p>
            <a:pPr algn="l" indent="0" marL="0">
              <a:lnSpc>
                <a:spcPct val="132000"/>
              </a:lnSpc>
              <a:spcAft>
                <a:spcPts val="1100"/>
              </a:spcAft>
              <a:buNone/>
            </a:pPr>
            <a:r>
              <a:rPr lang="en-US" sz="1250" dirty="0">
                <a:solidFill>
                  <a:srgbClr val="FFFFFF"/>
                </a:solidFill>
                <a:latin typeface="Manrope" pitchFamily="34" charset="0"/>
                <a:ea typeface="Manrope" pitchFamily="34" charset="-122"/>
                <a:cs typeface="Manrope" pitchFamily="34" charset="-120"/>
              </a:rPr>
              <a:t>El problema se reduce drásticamente en cada paso. Es extremadamente eficiente incluso con n muy grande.</a:t>
            </a:r>
            <a:endParaRPr lang="en-US" sz="1250" dirty="0"/>
          </a:p>
          <a:p>
            <a:pPr algn="l" indent="0" marL="0">
              <a:lnSpc>
                <a:spcPct val="132000"/>
              </a:lnSpc>
              <a:buNone/>
            </a:pPr>
            <a:r>
              <a:rPr lang="en-US" sz="1250" b="1" dirty="0">
                <a:solidFill>
                  <a:srgbClr val="FFFFFF"/>
                </a:solidFill>
                <a:latin typeface="Manrope Bold" pitchFamily="34" charset="0"/>
                <a:ea typeface="Manrope Bold" pitchFamily="34" charset="-122"/>
                <a:cs typeface="Manrope Bold" pitchFamily="34" charset="-120"/>
              </a:rPr>
              <a:t>Ejemplo: búsqueda binaria sobre datos ordenados.</a:t>
            </a:r>
            <a:endParaRPr lang="en-US" sz="1250" dirty="0"/>
          </a:p>
        </p:txBody>
      </p:sp>
      <p:pic>
        <p:nvPicPr>
          <p:cNvPr id="11" name="Image 0" descr="preencoded.png">    </p:cNvPr>
          <p:cNvPicPr>
            <a:picLocks noChangeAspect="1"/>
          </p:cNvPicPr>
          <p:nvPr/>
        </p:nvPicPr>
        <p:blipFill>
          <a:blip r:embed="rId1"/>
          <a:stretch>
            <a:fillRect/>
          </a:stretch>
        </p:blipFill>
        <p:spPr>
          <a:xfrm>
            <a:off x="6346269" y="3322439"/>
            <a:ext cx="5144760" cy="2354659"/>
          </a:xfrm>
          <a:prstGeom prst="rect">
            <a:avLst/>
          </a:prstGeom>
        </p:spPr>
      </p:pic>
      <p:sp>
        <p:nvSpPr>
          <p:cNvPr id="12" name="Text 9"/>
          <p:cNvSpPr/>
          <p:nvPr/>
        </p:nvSpPr>
        <p:spPr>
          <a:xfrm>
            <a:off x="10285644" y="4931869"/>
            <a:ext cx="965895" cy="558216"/>
          </a:xfrm>
          <a:prstGeom prst="rect">
            <a:avLst/>
          </a:prstGeom>
          <a:noFill/>
          <a:ln/>
        </p:spPr>
        <p:txBody>
          <a:bodyPr wrap="square" lIns="0" tIns="0" rIns="0" bIns="0" rtlCol="0" anchor="t">
            <a:normAutofit/>
          </a:bodyPr>
          <a:lstStyle/>
          <a:p>
            <a:pPr algn="ctr" indent="0" marL="0">
              <a:lnSpc>
                <a:spcPct val="104000"/>
              </a:lnSpc>
              <a:buNone/>
            </a:pPr>
            <a:r>
              <a:rPr lang="en-US" sz="1150" spc="-12" kern="0" dirty="0">
                <a:solidFill>
                  <a:srgbClr val="FFFFFF"/>
                </a:solidFill>
                <a:latin typeface="Alexandria Medium" pitchFamily="34" charset="0"/>
                <a:ea typeface="Alexandria Medium" pitchFamily="34" charset="-122"/>
                <a:cs typeface="Alexandria Medium" pitchFamily="34" charset="-120"/>
              </a:rPr>
              <a:t>≈20 comparaciones</a:t>
            </a:r>
            <a:endParaRPr lang="en-US" sz="1150" dirty="0"/>
          </a:p>
        </p:txBody>
      </p:sp>
      <p:sp>
        <p:nvSpPr>
          <p:cNvPr id="13" name="Text 10"/>
          <p:cNvSpPr/>
          <p:nvPr/>
        </p:nvSpPr>
        <p:spPr>
          <a:xfrm>
            <a:off x="9068350" y="4931869"/>
            <a:ext cx="965896" cy="558216"/>
          </a:xfrm>
          <a:prstGeom prst="rect">
            <a:avLst/>
          </a:prstGeom>
          <a:noFill/>
          <a:ln/>
        </p:spPr>
        <p:txBody>
          <a:bodyPr wrap="square" lIns="0" tIns="0" rIns="0" bIns="0" rtlCol="0" anchor="t">
            <a:normAutofit/>
          </a:bodyPr>
          <a:lstStyle/>
          <a:p>
            <a:pPr algn="ctr" indent="0" marL="0">
              <a:lnSpc>
                <a:spcPct val="104000"/>
              </a:lnSpc>
              <a:buNone/>
            </a:pPr>
            <a:r>
              <a:rPr lang="en-US" sz="1150" spc="-12" kern="0" dirty="0">
                <a:solidFill>
                  <a:srgbClr val="FFFFFF"/>
                </a:solidFill>
                <a:latin typeface="Alexandria Medium" pitchFamily="34" charset="0"/>
                <a:ea typeface="Alexandria Medium" pitchFamily="34" charset="-122"/>
                <a:cs typeface="Alexandria Medium" pitchFamily="34" charset="-120"/>
              </a:rPr>
              <a:t>Buscar mitad250.000</a:t>
            </a:r>
            <a:endParaRPr lang="en-US" sz="1150" dirty="0"/>
          </a:p>
        </p:txBody>
      </p:sp>
      <p:sp>
        <p:nvSpPr>
          <p:cNvPr id="14" name="Text 11"/>
          <p:cNvSpPr/>
          <p:nvPr/>
        </p:nvSpPr>
        <p:spPr>
          <a:xfrm>
            <a:off x="7857673" y="4931869"/>
            <a:ext cx="965896" cy="558216"/>
          </a:xfrm>
          <a:prstGeom prst="rect">
            <a:avLst/>
          </a:prstGeom>
          <a:noFill/>
          <a:ln/>
        </p:spPr>
        <p:txBody>
          <a:bodyPr wrap="square" lIns="0" tIns="0" rIns="0" bIns="0" rtlCol="0" anchor="t">
            <a:normAutofit/>
          </a:bodyPr>
          <a:lstStyle/>
          <a:p>
            <a:pPr algn="ctr" indent="0" marL="0">
              <a:lnSpc>
                <a:spcPct val="104000"/>
              </a:lnSpc>
              <a:buNone/>
            </a:pPr>
            <a:r>
              <a:rPr lang="en-US" sz="1150" spc="-12" kern="0" dirty="0">
                <a:solidFill>
                  <a:srgbClr val="FFFFFF"/>
                </a:solidFill>
                <a:latin typeface="Alexandria Medium" pitchFamily="34" charset="0"/>
                <a:ea typeface="Alexandria Medium" pitchFamily="34" charset="-122"/>
                <a:cs typeface="Alexandria Medium" pitchFamily="34" charset="-120"/>
              </a:rPr>
              <a:t>Buscar mitad500.000</a:t>
            </a:r>
            <a:endParaRPr lang="en-US" sz="1150" dirty="0"/>
          </a:p>
        </p:txBody>
      </p:sp>
      <p:sp>
        <p:nvSpPr>
          <p:cNvPr id="15" name="Text 12"/>
          <p:cNvSpPr/>
          <p:nvPr/>
        </p:nvSpPr>
        <p:spPr>
          <a:xfrm>
            <a:off x="6620533" y="5024905"/>
            <a:ext cx="965895" cy="372144"/>
          </a:xfrm>
          <a:prstGeom prst="rect">
            <a:avLst/>
          </a:prstGeom>
          <a:noFill/>
          <a:ln/>
        </p:spPr>
        <p:txBody>
          <a:bodyPr wrap="square" lIns="0" tIns="0" rIns="0" bIns="0" rtlCol="0" anchor="t">
            <a:normAutofit/>
          </a:bodyPr>
          <a:lstStyle/>
          <a:p>
            <a:pPr algn="ctr" indent="0" marL="0">
              <a:lnSpc>
                <a:spcPct val="104000"/>
              </a:lnSpc>
              <a:buNone/>
            </a:pPr>
            <a:r>
              <a:rPr lang="en-US" sz="1150" spc="-12" kern="0" dirty="0">
                <a:solidFill>
                  <a:srgbClr val="FFFFFF"/>
                </a:solidFill>
                <a:latin typeface="Alexandria Medium" pitchFamily="34" charset="0"/>
                <a:ea typeface="Alexandria Medium" pitchFamily="34" charset="-122"/>
                <a:cs typeface="Alexandria Medium" pitchFamily="34" charset="-120"/>
              </a:rPr>
              <a:t>Lista 1.000.000</a:t>
            </a:r>
            <a:endParaRPr lang="en-US" sz="1150" dirty="0"/>
          </a:p>
        </p:txBody>
      </p:sp>
      <p:pic>
        <p:nvPicPr>
          <p:cNvPr id="16" name="Image 1" descr="preencoded.png">    </p:cNvPr>
          <p:cNvPicPr>
            <a:picLocks noChangeAspect="1"/>
          </p:cNvPicPr>
          <p:nvPr/>
        </p:nvPicPr>
        <p:blipFill>
          <a:blip r:embed="rId2"/>
          <a:stretch>
            <a:fillRect/>
          </a:stretch>
        </p:blipFill>
        <p:spPr>
          <a:xfrm>
            <a:off x="198433" y="203597"/>
            <a:ext cx="676357" cy="568623"/>
          </a:xfrm>
          <a:prstGeom prst="rect">
            <a:avLst/>
          </a:prstGeom>
        </p:spPr>
      </p:pic>
      <p:pic>
        <p:nvPicPr>
          <p:cNvPr id="17" name="Image 2" descr="preencoded.png">    </p:cNvPr>
          <p:cNvPicPr>
            <a:picLocks noChangeAspect="1"/>
          </p:cNvPicPr>
          <p:nvPr/>
        </p:nvPicPr>
        <p:blipFill>
          <a:blip r:embed="rId3"/>
          <a:stretch>
            <a:fillRect/>
          </a:stretch>
        </p:blipFill>
        <p:spPr>
          <a:xfrm>
            <a:off x="11386357" y="268784"/>
            <a:ext cx="606906" cy="438249"/>
          </a:xfrm>
          <a:prstGeom prst="rect">
            <a:avLst/>
          </a:prstGeom>
        </p:spPr>
      </p:pic>
      <p:sp>
        <p:nvSpPr>
          <p:cNvPr id="18" name="Text 13"/>
          <p:cNvSpPr/>
          <p:nvPr/>
        </p:nvSpPr>
        <p:spPr>
          <a:xfrm>
            <a:off x="10824197" y="6300589"/>
            <a:ext cx="116906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61475" y="980480"/>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O(n) y O(n log n)</a:t>
            </a:r>
            <a:endParaRPr lang="en-US" sz="2600" dirty="0"/>
          </a:p>
        </p:txBody>
      </p:sp>
      <p:sp>
        <p:nvSpPr>
          <p:cNvPr id="3" name="Text 1"/>
          <p:cNvSpPr/>
          <p:nvPr/>
        </p:nvSpPr>
        <p:spPr>
          <a:xfrm>
            <a:off x="661475" y="1807270"/>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O(n) — Lineal</a:t>
            </a:r>
            <a:endParaRPr lang="en-US" sz="1600" dirty="0"/>
          </a:p>
        </p:txBody>
      </p:sp>
      <p:sp>
        <p:nvSpPr>
          <p:cNvPr id="4" name="Text 2"/>
          <p:cNvSpPr/>
          <p:nvPr/>
        </p:nvSpPr>
        <p:spPr>
          <a:xfrm>
            <a:off x="661475" y="2231033"/>
            <a:ext cx="5232666" cy="1885355"/>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Hay que recorrer aproximadamente todos los elementos una vez. El coste crece proporcionalmente a n.</a:t>
            </a:r>
            <a:endParaRPr lang="en-US" sz="1300" dirty="0"/>
          </a:p>
          <a:p>
            <a:pPr algn="l" indent="0" marL="0">
              <a:lnSpc>
                <a:spcPct val="133000"/>
              </a:lnSpc>
              <a:spcAft>
                <a:spcPts val="1150"/>
              </a:spcAft>
              <a:buNone/>
            </a:pPr>
            <a:r>
              <a:rPr lang="en-US" sz="1300" b="1" dirty="0">
                <a:solidFill>
                  <a:srgbClr val="FFFFFF"/>
                </a:solidFill>
                <a:latin typeface="Manrope Bold" pitchFamily="34" charset="0"/>
                <a:ea typeface="Manrope Bold" pitchFamily="34" charset="-122"/>
                <a:cs typeface="Manrope Bold" pitchFamily="34" charset="-120"/>
              </a:rPr>
              <a:t>Ejemplo: búsqueda lineal</a:t>
            </a:r>
            <a:endParaRPr lang="en-US" sz="1300" dirty="0"/>
          </a:p>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Buscar un valor en una lista sin ordenar: en el peor caso hay que mirar todos los elementos. Con 1 millón de registros → hasta 1 millón de comparaciones.</a:t>
            </a:r>
            <a:endParaRPr lang="en-US" sz="1300" dirty="0"/>
          </a:p>
        </p:txBody>
      </p:sp>
      <p:sp>
        <p:nvSpPr>
          <p:cNvPr id="5" name="Shape 3"/>
          <p:cNvSpPr/>
          <p:nvPr/>
        </p:nvSpPr>
        <p:spPr>
          <a:xfrm>
            <a:off x="661475" y="4302423"/>
            <a:ext cx="5232666" cy="1389063"/>
          </a:xfrm>
          <a:prstGeom prst="roundRect">
            <a:avLst>
              <a:gd name="adj" fmla="val 17860"/>
            </a:avLst>
          </a:prstGeom>
          <a:solidFill>
            <a:srgbClr val="583592"/>
          </a:solidFill>
          <a:ln/>
        </p:spPr>
      </p:sp>
      <p:sp>
        <p:nvSpPr>
          <p:cNvPr id="6" name="Text 4"/>
          <p:cNvSpPr/>
          <p:nvPr/>
        </p:nvSpPr>
        <p:spPr>
          <a:xfrm>
            <a:off x="859907" y="4467721"/>
            <a:ext cx="4835801"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Búsqueda lineal O(n)</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for registro in dataset:</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if registro["id"] == objetivo:</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return registro</a:t>
            </a:r>
            <a:endParaRPr lang="en-US" sz="1300" dirty="0"/>
          </a:p>
        </p:txBody>
      </p:sp>
      <p:sp>
        <p:nvSpPr>
          <p:cNvPr id="7" name="Text 5"/>
          <p:cNvSpPr/>
          <p:nvPr/>
        </p:nvSpPr>
        <p:spPr>
          <a:xfrm>
            <a:off x="6303904" y="1807270"/>
            <a:ext cx="5232666"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O(n log n) — Linealítmica</a:t>
            </a:r>
            <a:endParaRPr lang="en-US" sz="1600" dirty="0"/>
          </a:p>
        </p:txBody>
      </p:sp>
      <p:sp>
        <p:nvSpPr>
          <p:cNvPr id="8" name="Text 6"/>
          <p:cNvSpPr/>
          <p:nvPr/>
        </p:nvSpPr>
        <p:spPr>
          <a:xfrm>
            <a:off x="6303904" y="2231033"/>
            <a:ext cx="5232666" cy="1207294"/>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Ligeramente superior a lineal, pero mucho mejor que cuadrático. Es el orden de los algoritmos de ordenación eficientes basados en </a:t>
            </a:r>
            <a:pPr algn="l" indent="0" marL="0">
              <a:lnSpc>
                <a:spcPct val="133000"/>
              </a:lnSpc>
              <a:spcAft>
                <a:spcPts val="1150"/>
              </a:spcAft>
              <a:buNone/>
            </a:pPr>
            <a:r>
              <a:rPr lang="en-US" sz="1300" b="1" dirty="0">
                <a:solidFill>
                  <a:srgbClr val="FFFFFF"/>
                </a:solidFill>
                <a:latin typeface="Manrope Bold" pitchFamily="34" charset="0"/>
                <a:ea typeface="Manrope Bold" pitchFamily="34" charset="-122"/>
                <a:cs typeface="Manrope Bold" pitchFamily="34" charset="-120"/>
              </a:rPr>
              <a:t>divide y vencerás</a:t>
            </a:r>
            <a:pPr algn="l" indent="0" marL="0">
              <a:lnSpc>
                <a:spcPct val="133000"/>
              </a:lnSpc>
              <a:spcAft>
                <a:spcPts val="1150"/>
              </a:spcAft>
              <a:buNone/>
            </a:pPr>
            <a:r>
              <a:rPr lang="en-US" sz="1300" dirty="0">
                <a:solidFill>
                  <a:srgbClr val="FFFFFF"/>
                </a:solidFill>
                <a:latin typeface="Manrope" pitchFamily="34" charset="0"/>
                <a:ea typeface="Manrope" pitchFamily="34" charset="-122"/>
                <a:cs typeface="Manrope" pitchFamily="34" charset="-120"/>
              </a:rPr>
              <a:t>.</a:t>
            </a:r>
            <a:endParaRPr lang="en-US" sz="1300" dirty="0"/>
          </a:p>
          <a:p>
            <a:pPr algn="l" indent="0" marL="0">
              <a:lnSpc>
                <a:spcPct val="133000"/>
              </a:lnSpc>
              <a:buNone/>
            </a:pPr>
            <a:r>
              <a:rPr lang="en-US" sz="1300" b="1" dirty="0">
                <a:solidFill>
                  <a:srgbClr val="FFFFFF"/>
                </a:solidFill>
                <a:latin typeface="Manrope Bold" pitchFamily="34" charset="0"/>
                <a:ea typeface="Manrope Bold" pitchFamily="34" charset="-122"/>
                <a:cs typeface="Manrope Bold" pitchFamily="34" charset="-120"/>
              </a:rPr>
              <a:t>Ejemplos conceptuales:</a:t>
            </a:r>
            <a:endParaRPr lang="en-US" sz="1300" dirty="0"/>
          </a:p>
        </p:txBody>
      </p:sp>
      <p:sp>
        <p:nvSpPr>
          <p:cNvPr id="9" name="Text 7"/>
          <p:cNvSpPr/>
          <p:nvPr/>
        </p:nvSpPr>
        <p:spPr>
          <a:xfrm>
            <a:off x="6303904" y="3587155"/>
            <a:ext cx="5232666" cy="587077"/>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Merge Sort:</a:t>
            </a:r>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 divide el array, ordena cada mitad y las combina.</a:t>
            </a:r>
            <a:endParaRPr lang="en-US" sz="1300" dirty="0"/>
          </a:p>
          <a:p>
            <a:pPr algn="l" marL="264160" indent="-264160">
              <a:lnSpc>
                <a:spcPct val="133000"/>
              </a:lnSpc>
              <a:buSzPct val="100000"/>
              <a:buChar char="•"/>
            </a:pPr>
            <a:r>
              <a:rPr lang="en-US" sz="1300" b="1" dirty="0">
                <a:solidFill>
                  <a:srgbClr val="FFFFFF"/>
                </a:solidFill>
                <a:latin typeface="Manrope Bold" pitchFamily="34" charset="0"/>
                <a:ea typeface="Manrope Bold" pitchFamily="34" charset="-122"/>
                <a:cs typeface="Manrope Bold" pitchFamily="34" charset="-120"/>
              </a:rPr>
              <a:t>QuickSort:</a:t>
            </a:r>
            <a:pPr algn="l" marL="264160" indent="-264160">
              <a:lnSpc>
                <a:spcPct val="133000"/>
              </a:lnSpc>
              <a:buSzPct val="100000"/>
              <a:buChar char="•"/>
            </a:pPr>
            <a:r>
              <a:rPr lang="en-US" sz="1300" dirty="0">
                <a:solidFill>
                  <a:srgbClr val="FFFFFF"/>
                </a:solidFill>
                <a:latin typeface="Manrope" pitchFamily="34" charset="0"/>
                <a:ea typeface="Manrope" pitchFamily="34" charset="-122"/>
                <a:cs typeface="Manrope" pitchFamily="34" charset="-120"/>
              </a:rPr>
              <a:t> O(n log n) en comportamiento promedio.</a:t>
            </a:r>
            <a:endParaRPr lang="en-US" sz="1300" dirty="0"/>
          </a:p>
        </p:txBody>
      </p:sp>
      <p:sp>
        <p:nvSpPr>
          <p:cNvPr id="10" name="Text 8"/>
          <p:cNvSpPr/>
          <p:nvPr/>
        </p:nvSpPr>
        <p:spPr>
          <a:xfrm>
            <a:off x="6303904" y="4323060"/>
            <a:ext cx="523266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Con 10 millones de registros: O(n log n) es ~230 millones de operaciones vs. O(n²) son 100.000 millones.</a:t>
            </a:r>
            <a:endParaRPr lang="en-US" sz="1300" dirty="0"/>
          </a:p>
        </p:txBody>
      </p:sp>
      <p:pic>
        <p:nvPicPr>
          <p:cNvPr id="11"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2"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3" name="Text 9"/>
          <p:cNvSpPr/>
          <p:nvPr/>
        </p:nvSpPr>
        <p:spPr>
          <a:xfrm>
            <a:off x="10837889" y="6300589"/>
            <a:ext cx="115537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61475" y="1150342"/>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O(n²) y O(2ⁿ): cuando el crecimiento se dispara</a:t>
            </a:r>
            <a:endParaRPr lang="en-US" sz="2300" dirty="0"/>
          </a:p>
        </p:txBody>
      </p:sp>
      <p:sp>
        <p:nvSpPr>
          <p:cNvPr id="3" name="Text 1"/>
          <p:cNvSpPr/>
          <p:nvPr/>
        </p:nvSpPr>
        <p:spPr>
          <a:xfrm>
            <a:off x="661475" y="1857375"/>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O(n²) — Cuadrática</a:t>
            </a:r>
            <a:endParaRPr lang="en-US" sz="1450" dirty="0"/>
          </a:p>
        </p:txBody>
      </p:sp>
      <p:sp>
        <p:nvSpPr>
          <p:cNvPr id="4" name="Text 2"/>
          <p:cNvSpPr/>
          <p:nvPr/>
        </p:nvSpPr>
        <p:spPr>
          <a:xfrm>
            <a:off x="661475" y="2223790"/>
            <a:ext cx="5252807" cy="1372195"/>
          </a:xfrm>
          <a:prstGeom prst="rect">
            <a:avLst/>
          </a:prstGeom>
          <a:noFill/>
          <a:ln/>
        </p:spPr>
        <p:txBody>
          <a:bodyPr wrap="square" lIns="0" tIns="0" rIns="0" bIns="0" rtlCol="0" anchor="t">
            <a:normAutofit/>
          </a:bodyPr>
          <a:lstStyle/>
          <a:p>
            <a:pPr algn="l" indent="0" marL="0">
              <a:lnSpc>
                <a:spcPct val="127000"/>
              </a:lnSpc>
              <a:spcAft>
                <a:spcPts val="900"/>
              </a:spcAft>
              <a:buNone/>
            </a:pPr>
            <a:r>
              <a:rPr lang="en-US" sz="1150" dirty="0">
                <a:solidFill>
                  <a:srgbClr val="FFFFFF"/>
                </a:solidFill>
                <a:latin typeface="Manrope" pitchFamily="34" charset="0"/>
                <a:ea typeface="Manrope" pitchFamily="34" charset="-122"/>
                <a:cs typeface="Manrope" pitchFamily="34" charset="-120"/>
              </a:rPr>
              <a:t>El trabajo crece aproximadamente al cuadrado del tamaño. Aparece cuando comparamos cada elemento con todos los demás.</a:t>
            </a:r>
            <a:endParaRPr lang="en-US" sz="1150" dirty="0"/>
          </a:p>
          <a:p>
            <a:pPr algn="l" indent="0" marL="0">
              <a:lnSpc>
                <a:spcPct val="127000"/>
              </a:lnSpc>
              <a:spcAft>
                <a:spcPts val="900"/>
              </a:spcAft>
              <a:buNone/>
            </a:pPr>
            <a:r>
              <a:rPr lang="en-US" sz="1150" b="1" dirty="0">
                <a:solidFill>
                  <a:srgbClr val="FFFFFF"/>
                </a:solidFill>
                <a:latin typeface="Manrope Bold" pitchFamily="34" charset="0"/>
                <a:ea typeface="Manrope Bold" pitchFamily="34" charset="-122"/>
                <a:cs typeface="Manrope Bold" pitchFamily="34" charset="-120"/>
              </a:rPr>
              <a:t>Ejemplo conceptual: Bubble Sort</a:t>
            </a:r>
            <a:endParaRPr lang="en-US" sz="1150" dirty="0"/>
          </a:p>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En cada pasada, cada elemento se compara con sus vecinos. Necesita ~n² comparaciones para ordenar n elementos.</a:t>
            </a:r>
            <a:endParaRPr lang="en-US" sz="11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61475" y="3746698"/>
          <a:ext cx="9143771" cy="914400"/>
        </p:xfrm>
        <a:graphic>
          <a:graphicData uri="http://schemas.openxmlformats.org/drawingml/2006/table">
            <a:tbl>
              <a:tblPr/>
              <a:tblGrid>
                <a:gridCol w="2626403"/>
                <a:gridCol w="2626403"/>
              </a:tblGrid>
              <a:tr h="40281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n</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n² operaciones</a:t>
                      </a:r>
                      <a:endParaRPr lang="en-US" sz="1150" dirty="0">
                        <a:latin typeface="Manrope" charset="0"/>
                        <a:ea typeface="Manrope" charset="0"/>
                        <a:cs typeface="Manrope" charset="0"/>
                      </a:endParaRPr>
                    </a:p>
                  </a:txBody>
                  <a:tcPr marL="148852" marR="148852" marT="6350" marB="6350" anchor="ctr">
                    <a:lnL w="12700" cap="flat" cmpd="sng" algn="ctr">
                      <a:solidFill>
                        <a:srgbClr val="324C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1.000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1.000.000</a:t>
                      </a:r>
                      <a:endParaRPr lang="en-US" sz="1150" dirty="0">
                        <a:latin typeface="Manrope" charset="0"/>
                        <a:ea typeface="Manrope" charset="0"/>
                        <a:cs typeface="Manrope" charset="0"/>
                      </a:endParaRPr>
                    </a:p>
                  </a:txBody>
                  <a:tcPr marL="148852" marR="14885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10.000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100.000.000</a:t>
                      </a:r>
                      <a:endParaRPr lang="en-US" sz="1150" dirty="0">
                        <a:latin typeface="Manrope" charset="0"/>
                        <a:ea typeface="Manrope" charset="0"/>
                        <a:cs typeface="Manrope" charset="0"/>
                      </a:endParaRPr>
                    </a:p>
                  </a:txBody>
                  <a:tcPr marL="148852" marR="14885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2818">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100.000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10.000.000.000</a:t>
                      </a:r>
                      <a:endParaRPr lang="en-US" sz="1150" dirty="0">
                        <a:latin typeface="Manrope" charset="0"/>
                        <a:ea typeface="Manrope" charset="0"/>
                        <a:cs typeface="Manrope" charset="0"/>
                      </a:endParaRPr>
                    </a:p>
                  </a:txBody>
                  <a:tcPr marL="148852" marR="14885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6" name="Text 3"/>
          <p:cNvSpPr/>
          <p:nvPr/>
        </p:nvSpPr>
        <p:spPr>
          <a:xfrm>
            <a:off x="6283763" y="1857375"/>
            <a:ext cx="5252807"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O(2ⁿ) — Exponencial</a:t>
            </a:r>
            <a:endParaRPr lang="en-US" sz="1450" dirty="0"/>
          </a:p>
        </p:txBody>
      </p:sp>
      <p:sp>
        <p:nvSpPr>
          <p:cNvPr id="7" name="Text 4"/>
          <p:cNvSpPr/>
          <p:nvPr/>
        </p:nvSpPr>
        <p:spPr>
          <a:xfrm>
            <a:off x="6283763" y="2223790"/>
            <a:ext cx="5252807" cy="572988"/>
          </a:xfrm>
          <a:prstGeom prst="rect">
            <a:avLst/>
          </a:prstGeom>
          <a:noFill/>
          <a:ln/>
        </p:spPr>
        <p:txBody>
          <a:bodyPr wrap="square" lIns="0" tIns="0" rIns="0" bIns="0" rtlCol="0" anchor="t"/>
          <a:lstStyle/>
          <a:p>
            <a:pPr algn="l" indent="0" marL="0">
              <a:lnSpc>
                <a:spcPct val="127000"/>
              </a:lnSpc>
              <a:spcAft>
                <a:spcPts val="900"/>
              </a:spcAft>
              <a:buNone/>
            </a:pPr>
            <a:r>
              <a:rPr lang="en-US" sz="1150" dirty="0">
                <a:solidFill>
                  <a:srgbClr val="FFFFFF"/>
                </a:solidFill>
                <a:latin typeface="Manrope" pitchFamily="34" charset="0"/>
                <a:ea typeface="Manrope" pitchFamily="34" charset="-122"/>
                <a:cs typeface="Manrope" pitchFamily="34" charset="-120"/>
              </a:rPr>
              <a:t>Crecimiento explosivo. Cada elemento añadido </a:t>
            </a:r>
            <a:pPr algn="l" indent="0" marL="0">
              <a:lnSpc>
                <a:spcPct val="127000"/>
              </a:lnSpc>
              <a:spcAft>
                <a:spcPts val="900"/>
              </a:spcAft>
              <a:buNone/>
            </a:pPr>
            <a:r>
              <a:rPr lang="en-US" sz="1150" b="1" dirty="0">
                <a:solidFill>
                  <a:srgbClr val="FFFFFF"/>
                </a:solidFill>
                <a:latin typeface="Manrope Bold" pitchFamily="34" charset="0"/>
                <a:ea typeface="Manrope Bold" pitchFamily="34" charset="-122"/>
                <a:cs typeface="Manrope Bold" pitchFamily="34" charset="-120"/>
              </a:rPr>
              <a:t>duplica</a:t>
            </a:r>
            <a:pPr algn="l" indent="0" marL="0">
              <a:lnSpc>
                <a:spcPct val="127000"/>
              </a:lnSpc>
              <a:spcAft>
                <a:spcPts val="900"/>
              </a:spcAft>
              <a:buNone/>
            </a:pPr>
            <a:r>
              <a:rPr lang="en-US" sz="1150" dirty="0">
                <a:solidFill>
                  <a:srgbClr val="FFFFFF"/>
                </a:solidFill>
                <a:latin typeface="Manrope" pitchFamily="34" charset="0"/>
                <a:ea typeface="Manrope" pitchFamily="34" charset="-122"/>
                <a:cs typeface="Manrope" pitchFamily="34" charset="-120"/>
              </a:rPr>
              <a:t> el trabajo necesario.</a:t>
            </a:r>
            <a:endParaRPr lang="en-US" sz="1150" dirty="0"/>
          </a:p>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Ejemplo: generar todos los subconjuntos posibles de n elementos.</a:t>
            </a:r>
            <a:endParaRPr lang="en-US" sz="1150" dirty="0"/>
          </a:p>
        </p:txBody>
      </p:sp>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283763" y="2947491"/>
          <a:ext cx="9143771" cy="914400"/>
        </p:xfrm>
        <a:graphic>
          <a:graphicData uri="http://schemas.openxmlformats.org/drawingml/2006/table">
            <a:tbl>
              <a:tblPr/>
              <a:tblGrid>
                <a:gridCol w="2101123"/>
                <a:gridCol w="3151684"/>
              </a:tblGrid>
              <a:tr h="402818">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n elementos</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150" b="1" dirty="0">
                          <a:solidFill>
                            <a:srgbClr val="FFFFFF"/>
                          </a:solidFill>
                          <a:latin typeface="Manrope" pitchFamily="34" charset="0"/>
                          <a:ea typeface="Manrope" pitchFamily="34" charset="-122"/>
                          <a:cs typeface="Manrope" pitchFamily="34" charset="-120"/>
                        </a:rPr>
                        <a:t>2ⁿ subconjuntos</a:t>
                      </a:r>
                      <a:endParaRPr lang="en-US" sz="1150" dirty="0">
                        <a:latin typeface="Manrope" charset="0"/>
                        <a:ea typeface="Manrope" charset="0"/>
                        <a:cs typeface="Manrope" charset="0"/>
                      </a:endParaRPr>
                    </a:p>
                  </a:txBody>
                  <a:tcPr marL="148852" marR="148852" marT="6350" marB="6350" anchor="ctr">
                    <a:lnL w="12700" cap="flat" cmpd="sng" algn="ctr">
                      <a:solidFill>
                        <a:srgbClr val="324C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1.024</a:t>
                      </a:r>
                      <a:endParaRPr lang="en-US" sz="1150" dirty="0">
                        <a:latin typeface="Manrope" charset="0"/>
                        <a:ea typeface="Manrope" charset="0"/>
                        <a:cs typeface="Manrope" charset="0"/>
                      </a:endParaRPr>
                    </a:p>
                  </a:txBody>
                  <a:tcPr marL="148852" marR="14885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20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1.048.576</a:t>
                      </a:r>
                      <a:endParaRPr lang="en-US" sz="1150" dirty="0">
                        <a:latin typeface="Manrope" charset="0"/>
                        <a:ea typeface="Manrope" charset="0"/>
                        <a:cs typeface="Manrope" charset="0"/>
                      </a:endParaRPr>
                    </a:p>
                  </a:txBody>
                  <a:tcPr marL="148852" marR="14885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5993">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30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&gt; 1.000 millones</a:t>
                      </a:r>
                      <a:endParaRPr lang="en-US" sz="1150" dirty="0">
                        <a:latin typeface="Manrope" charset="0"/>
                        <a:ea typeface="Manrope" charset="0"/>
                        <a:cs typeface="Manrope" charset="0"/>
                      </a:endParaRPr>
                    </a:p>
                  </a:txBody>
                  <a:tcPr marL="148852" marR="14885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02818">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50</a:t>
                      </a:r>
                      <a:endParaRPr lang="en-US" sz="1150" dirty="0">
                        <a:latin typeface="Manrope" charset="0"/>
                        <a:ea typeface="Manrope" charset="0"/>
                        <a:cs typeface="Manrope" charset="0"/>
                      </a:endParaRPr>
                    </a:p>
                  </a:txBody>
                  <a:tcPr marL="148852" marR="148852"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150" dirty="0">
                          <a:solidFill>
                            <a:srgbClr val="FFFFFF"/>
                          </a:solidFill>
                          <a:latin typeface="Manrope" pitchFamily="34" charset="0"/>
                          <a:ea typeface="Manrope" pitchFamily="34" charset="-122"/>
                          <a:cs typeface="Manrope" pitchFamily="34" charset="-120"/>
                        </a:rPr>
                        <a:t>&gt; 1.000 billones</a:t>
                      </a:r>
                      <a:endParaRPr lang="en-US" sz="1150" dirty="0">
                        <a:latin typeface="Manrope" charset="0"/>
                        <a:ea typeface="Manrope" charset="0"/>
                        <a:cs typeface="Manrope" charset="0"/>
                      </a:endParaRPr>
                    </a:p>
                  </a:txBody>
                  <a:tcPr marL="148852" marR="148852"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sp>
        <p:nvSpPr>
          <p:cNvPr id="9" name="Text 5"/>
          <p:cNvSpPr/>
          <p:nvPr/>
        </p:nvSpPr>
        <p:spPr>
          <a:xfrm>
            <a:off x="6283763" y="5134570"/>
            <a:ext cx="5252807" cy="452438"/>
          </a:xfrm>
          <a:prstGeom prst="rect">
            <a:avLst/>
          </a:prstGeom>
          <a:noFill/>
          <a:ln/>
        </p:spPr>
        <p:txBody>
          <a:bodyPr wrap="square" lIns="0" tIns="0" rIns="0" bIns="0" rtlCol="0" anchor="t">
            <a:normAutofit/>
          </a:bodyPr>
          <a:lstStyle/>
          <a:p>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Un pequeño aumento de n puede convertir un problema en computacionalmente inviable.</a:t>
            </a:r>
            <a:endParaRPr lang="en-US" sz="1150" dirty="0"/>
          </a:p>
        </p:txBody>
      </p:sp>
      <p:pic>
        <p:nvPicPr>
          <p:cNvPr id="1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2" name="Text 6"/>
          <p:cNvSpPr/>
          <p:nvPr/>
        </p:nvSpPr>
        <p:spPr>
          <a:xfrm>
            <a:off x="10828860" y="6300589"/>
            <a:ext cx="116440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61475" y="991096"/>
            <a:ext cx="10868745" cy="289421"/>
          </a:xfrm>
          <a:prstGeom prst="rect">
            <a:avLst/>
          </a:prstGeom>
          <a:noFill/>
          <a:ln/>
        </p:spPr>
        <p:txBody>
          <a:bodyPr wrap="none" lIns="0" tIns="0" rIns="0" bIns="0" rtlCol="0" anchor="t"/>
          <a:lstStyle/>
          <a:p>
            <a:pPr algn="l" indent="0" marL="0">
              <a:lnSpc>
                <a:spcPct val="104000"/>
              </a:lnSpc>
              <a:buNone/>
            </a:pPr>
            <a:r>
              <a:rPr lang="en-US" sz="1800" spc="-18" kern="0" dirty="0">
                <a:solidFill>
                  <a:srgbClr val="FFFFFF"/>
                </a:solidFill>
                <a:latin typeface="Alexandria Medium" pitchFamily="34" charset="0"/>
                <a:ea typeface="Alexandria Medium" pitchFamily="34" charset="-122"/>
                <a:cs typeface="Alexandria Medium" pitchFamily="34" charset="-120"/>
              </a:rPr>
              <a:t>Búsqueda Lineal vs. Búsqueda Binaria</a:t>
            </a:r>
            <a:endParaRPr lang="en-US" sz="1800" dirty="0"/>
          </a:p>
        </p:txBody>
      </p:sp>
      <p:sp>
        <p:nvSpPr>
          <p:cNvPr id="3" name="Text 1"/>
          <p:cNvSpPr/>
          <p:nvPr/>
        </p:nvSpPr>
        <p:spPr>
          <a:xfrm>
            <a:off x="661475" y="1442541"/>
            <a:ext cx="11478330" cy="157460"/>
          </a:xfrm>
          <a:prstGeom prst="rect">
            <a:avLst/>
          </a:prstGeom>
          <a:noFill/>
          <a:ln/>
        </p:spPr>
        <p:txBody>
          <a:bodyPr wrap="none" lIns="0" tIns="0" rIns="0" bIns="0" rtlCol="0" anchor="t"/>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Comprender cómo buscar datos de manera eficiente es fundamental en Big Data. Analicemos dos métodos clave:</a:t>
            </a:r>
            <a:endParaRPr lang="en-US" sz="900" dirty="0"/>
          </a:p>
        </p:txBody>
      </p:sp>
      <p:sp>
        <p:nvSpPr>
          <p:cNvPr id="4" name="Text 2"/>
          <p:cNvSpPr/>
          <p:nvPr/>
        </p:nvSpPr>
        <p:spPr>
          <a:xfrm>
            <a:off x="661475" y="1772047"/>
            <a:ext cx="5293188" cy="180876"/>
          </a:xfrm>
          <a:prstGeom prst="rect">
            <a:avLst/>
          </a:prstGeom>
          <a:noFill/>
          <a:ln/>
        </p:spPr>
        <p:txBody>
          <a:bodyPr wrap="none" lIns="0" tIns="0" rIns="0" bIns="0" rtlCol="0" anchor="t"/>
          <a:lstStyle/>
          <a:p>
            <a:pPr algn="l" indent="0" marL="0">
              <a:lnSpc>
                <a:spcPct val="104000"/>
              </a:lnSpc>
              <a:buNone/>
            </a:pPr>
            <a:r>
              <a:rPr lang="en-US" sz="1100" spc="-11" kern="0" dirty="0">
                <a:solidFill>
                  <a:srgbClr val="FFFFFF"/>
                </a:solidFill>
                <a:latin typeface="Alexandria Medium" pitchFamily="34" charset="0"/>
                <a:ea typeface="Alexandria Medium" pitchFamily="34" charset="-122"/>
                <a:cs typeface="Alexandria Medium" pitchFamily="34" charset="-120"/>
              </a:rPr>
              <a:t>Búsqueda Lineal: O(n)</a:t>
            </a:r>
            <a:endParaRPr lang="en-US" sz="1100" dirty="0"/>
          </a:p>
        </p:txBody>
      </p:sp>
      <p:sp>
        <p:nvSpPr>
          <p:cNvPr id="5" name="Text 3"/>
          <p:cNvSpPr/>
          <p:nvPr/>
        </p:nvSpPr>
        <p:spPr>
          <a:xfrm>
            <a:off x="661475" y="2033885"/>
            <a:ext cx="5293188"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Este método recorre cada elemento de una colección, uno por uno, hasta encontrar el objetivo. En el peor de los casos, debe examinar cada elemento. Su coste crece linealmente con el tamaño de la entrada (</a:t>
            </a:r>
            <a:pPr algn="l" indent="0" marL="0">
              <a:lnSpc>
                <a:spcPct val="113000"/>
              </a:lnSpc>
              <a:buNone/>
            </a:pPr>
            <a:r>
              <a:rPr lang="en-US" sz="900" b="1" dirty="0">
                <a:solidFill>
                  <a:srgbClr val="FFFFFF"/>
                </a:solidFill>
                <a:latin typeface="Manrope Bold" pitchFamily="34" charset="0"/>
                <a:ea typeface="Manrope Bold" pitchFamily="34" charset="-122"/>
                <a:cs typeface="Manrope Bold" pitchFamily="34" charset="-120"/>
              </a:rPr>
              <a:t>n</a:t>
            </a:r>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a:t>
            </a:r>
            <a:endParaRPr lang="en-US" sz="900" dirty="0"/>
          </a:p>
        </p:txBody>
      </p:sp>
      <p:pic>
        <p:nvPicPr>
          <p:cNvPr id="6" name="Image 0" descr="preencoded.png">    </p:cNvPr>
          <p:cNvPicPr>
            <a:picLocks noChangeAspect="1"/>
          </p:cNvPicPr>
          <p:nvPr/>
        </p:nvPicPr>
        <p:blipFill>
          <a:blip r:embed="rId1"/>
          <a:stretch>
            <a:fillRect/>
          </a:stretch>
        </p:blipFill>
        <p:spPr>
          <a:xfrm>
            <a:off x="661475" y="2597348"/>
            <a:ext cx="3705232" cy="1383804"/>
          </a:xfrm>
          <a:prstGeom prst="rect">
            <a:avLst/>
          </a:prstGeom>
        </p:spPr>
      </p:pic>
      <p:sp>
        <p:nvSpPr>
          <p:cNvPr id="7" name="Text 4"/>
          <p:cNvSpPr/>
          <p:nvPr/>
        </p:nvSpPr>
        <p:spPr>
          <a:xfrm>
            <a:off x="661475" y="4072235"/>
            <a:ext cx="5902773" cy="157460"/>
          </a:xfrm>
          <a:prstGeom prst="rect">
            <a:avLst/>
          </a:prstGeom>
          <a:noFill/>
          <a:ln/>
        </p:spPr>
        <p:txBody>
          <a:bodyPr wrap="none" lIns="0" tIns="0" rIns="0" bIns="0" rtlCol="0" anchor="t"/>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En una lista de 16 elementos, si el valor buscado es el último, se requieren 16 comparaciones.</a:t>
            </a:r>
            <a:endParaRPr lang="en-US" sz="900" dirty="0"/>
          </a:p>
        </p:txBody>
      </p:sp>
      <p:sp>
        <p:nvSpPr>
          <p:cNvPr id="8" name="Text 5"/>
          <p:cNvSpPr/>
          <p:nvPr/>
        </p:nvSpPr>
        <p:spPr>
          <a:xfrm>
            <a:off x="6243382" y="1772047"/>
            <a:ext cx="5293188" cy="180876"/>
          </a:xfrm>
          <a:prstGeom prst="rect">
            <a:avLst/>
          </a:prstGeom>
          <a:noFill/>
          <a:ln/>
        </p:spPr>
        <p:txBody>
          <a:bodyPr wrap="none" lIns="0" tIns="0" rIns="0" bIns="0" rtlCol="0" anchor="t"/>
          <a:lstStyle/>
          <a:p>
            <a:pPr algn="l" indent="0" marL="0">
              <a:lnSpc>
                <a:spcPct val="104000"/>
              </a:lnSpc>
              <a:buNone/>
            </a:pPr>
            <a:r>
              <a:rPr lang="en-US" sz="1100" spc="-11" kern="0" dirty="0">
                <a:solidFill>
                  <a:srgbClr val="FFFFFF"/>
                </a:solidFill>
                <a:latin typeface="Alexandria Medium" pitchFamily="34" charset="0"/>
                <a:ea typeface="Alexandria Medium" pitchFamily="34" charset="-122"/>
                <a:cs typeface="Alexandria Medium" pitchFamily="34" charset="-120"/>
              </a:rPr>
              <a:t>Búsqueda Binaria: O(log n)</a:t>
            </a:r>
            <a:endParaRPr lang="en-US" sz="1100" dirty="0"/>
          </a:p>
        </p:txBody>
      </p:sp>
      <p:sp>
        <p:nvSpPr>
          <p:cNvPr id="9" name="Text 6"/>
          <p:cNvSpPr/>
          <p:nvPr/>
        </p:nvSpPr>
        <p:spPr>
          <a:xfrm>
            <a:off x="6243382" y="2033885"/>
            <a:ext cx="5293188"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Requiere que los datos estén ordenados. En cada paso, divide el espacio de búsqueda por la mitad, eliminando la mitad de los elementos. Es extremadamente eficiente para grandes volúmenes de datos.</a:t>
            </a:r>
            <a:endParaRPr lang="en-US" sz="900" dirty="0"/>
          </a:p>
        </p:txBody>
      </p:sp>
      <p:pic>
        <p:nvPicPr>
          <p:cNvPr id="10" name="Image 1" descr="preencoded.png">    </p:cNvPr>
          <p:cNvPicPr>
            <a:picLocks noChangeAspect="1"/>
          </p:cNvPicPr>
          <p:nvPr/>
        </p:nvPicPr>
        <p:blipFill>
          <a:blip r:embed="rId2"/>
          <a:stretch>
            <a:fillRect/>
          </a:stretch>
        </p:blipFill>
        <p:spPr>
          <a:xfrm>
            <a:off x="6243382" y="2597348"/>
            <a:ext cx="3090289" cy="2542084"/>
          </a:xfrm>
          <a:prstGeom prst="rect">
            <a:avLst/>
          </a:prstGeom>
        </p:spPr>
      </p:pic>
      <p:sp>
        <p:nvSpPr>
          <p:cNvPr id="11" name="Text 7"/>
          <p:cNvSpPr/>
          <p:nvPr/>
        </p:nvSpPr>
        <p:spPr>
          <a:xfrm>
            <a:off x="6243382" y="5230515"/>
            <a:ext cx="5293188"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Para una lista de 16 elementos, la búsqueda binaria encuentra el valor en un máximo de </a:t>
            </a:r>
            <a:pPr algn="l" indent="0" marL="0">
              <a:lnSpc>
                <a:spcPct val="113000"/>
              </a:lnSpc>
              <a:buNone/>
            </a:pPr>
            <a:r>
              <a:rPr lang="en-US" sz="900" i="1" dirty="0">
                <a:solidFill>
                  <a:srgbClr val="FFFFFF"/>
                </a:solidFill>
                <a:latin typeface="Manrope" pitchFamily="34" charset="0"/>
                <a:ea typeface="Manrope" pitchFamily="34" charset="-122"/>
                <a:cs typeface="Manrope" pitchFamily="34" charset="-120"/>
              </a:rPr>
              <a:t>      </a:t>
            </a:r>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 comparaciones.</a:t>
            </a:r>
            <a:endParaRPr lang="en-US" sz="900" dirty="0"/>
          </a:p>
        </p:txBody>
      </p:sp>
      <p:pic>
        <p:nvPicPr>
          <p:cNvPr id="12" name="Image 2" descr="preencoded.png">    </p:cNvPr>
          <p:cNvPicPr>
            <a:picLocks noChangeAspect="1"/>
          </p:cNvPicPr>
          <p:nvPr/>
        </p:nvPicPr>
        <p:blipFill>
          <a:blip r:embed="rId3"/>
          <a:stretch>
            <a:fillRect/>
          </a:stretch>
        </p:blipFill>
        <p:spPr>
          <a:xfrm>
            <a:off x="10840766" y="5249565"/>
            <a:ext cx="599862" cy="135731"/>
          </a:xfrm>
          <a:prstGeom prst="rect">
            <a:avLst/>
          </a:prstGeom>
        </p:spPr>
      </p:pic>
      <p:sp>
        <p:nvSpPr>
          <p:cNvPr id="13" name="Text 8"/>
          <p:cNvSpPr/>
          <p:nvPr/>
        </p:nvSpPr>
        <p:spPr>
          <a:xfrm>
            <a:off x="661475" y="5709444"/>
            <a:ext cx="11478330" cy="157460"/>
          </a:xfrm>
          <a:prstGeom prst="rect">
            <a:avLst/>
          </a:prstGeom>
          <a:noFill/>
          <a:ln/>
        </p:spPr>
        <p:txBody>
          <a:bodyPr wrap="none" lIns="0" tIns="0" rIns="0" bIns="0" rtlCol="0" anchor="t"/>
          <a:lstStyle/>
          <a:p>
            <a:pPr algn="l" indent="0" marL="0">
              <a:lnSpc>
                <a:spcPct val="113000"/>
              </a:lnSpc>
              <a:buNone/>
            </a:pPr>
            <a:r>
              <a:rPr lang="en-US" sz="900" dirty="0">
                <a:solidFill>
                  <a:srgbClr val="FFFFFF"/>
                </a:solidFill>
                <a:latin typeface="Manrope" pitchFamily="34" charset="0"/>
                <a:ea typeface="Manrope" pitchFamily="34" charset="-122"/>
                <a:cs typeface="Manrope" pitchFamily="34" charset="-120"/>
              </a:rPr>
              <a:t>La búsqueda binaria demuestra el poder de los algoritmos logarítmicos: un pequeño aumento en las comparaciones permite manejar un crecimiento exponencial en el volumen de datos.</a:t>
            </a:r>
            <a:endParaRPr lang="en-US" sz="900" dirty="0"/>
          </a:p>
        </p:txBody>
      </p:sp>
      <p:pic>
        <p:nvPicPr>
          <p:cNvPr id="14" name="Image 3" descr="preencoded.png">    </p:cNvPr>
          <p:cNvPicPr>
            <a:picLocks noChangeAspect="1"/>
          </p:cNvPicPr>
          <p:nvPr/>
        </p:nvPicPr>
        <p:blipFill>
          <a:blip r:embed="rId4"/>
          <a:stretch>
            <a:fillRect/>
          </a:stretch>
        </p:blipFill>
        <p:spPr>
          <a:xfrm>
            <a:off x="198433" y="203597"/>
            <a:ext cx="676357" cy="568623"/>
          </a:xfrm>
          <a:prstGeom prst="rect">
            <a:avLst/>
          </a:prstGeom>
        </p:spPr>
      </p:pic>
      <p:pic>
        <p:nvPicPr>
          <p:cNvPr id="15" name="Image 4" descr="preencoded.png">    </p:cNvPr>
          <p:cNvPicPr>
            <a:picLocks noChangeAspect="1"/>
          </p:cNvPicPr>
          <p:nvPr/>
        </p:nvPicPr>
        <p:blipFill>
          <a:blip r:embed="rId5"/>
          <a:stretch>
            <a:fillRect/>
          </a:stretch>
        </p:blipFill>
        <p:spPr>
          <a:xfrm>
            <a:off x="11386357" y="268784"/>
            <a:ext cx="606906" cy="438249"/>
          </a:xfrm>
          <a:prstGeom prst="rect">
            <a:avLst/>
          </a:prstGeom>
        </p:spPr>
      </p:pic>
      <p:sp>
        <p:nvSpPr>
          <p:cNvPr id="16" name="Text 9"/>
          <p:cNvSpPr/>
          <p:nvPr/>
        </p:nvSpPr>
        <p:spPr>
          <a:xfrm>
            <a:off x="10824197" y="6300589"/>
            <a:ext cx="1169065"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61475" y="980083"/>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¿Cómo podemos ordenar datos de manera eficiente?</a:t>
            </a:r>
            <a:endParaRPr lang="en-US" sz="2600" dirty="0"/>
          </a:p>
        </p:txBody>
      </p:sp>
      <p:sp>
        <p:nvSpPr>
          <p:cNvPr id="3" name="Text 1"/>
          <p:cNvSpPr/>
          <p:nvPr/>
        </p:nvSpPr>
        <p:spPr>
          <a:xfrm>
            <a:off x="661475" y="172422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La elección del algoritmo de ordenación impacta directamente la eficiencia del procesamiento de datos, especialmente en contextos de Big Data.</a:t>
            </a:r>
            <a:endParaRPr lang="en-US" sz="1300" dirty="0"/>
          </a:p>
        </p:txBody>
      </p:sp>
      <p:pic>
        <p:nvPicPr>
          <p:cNvPr id="4" name="Image 0" descr="preencoded.png">    </p:cNvPr>
          <p:cNvPicPr>
            <a:picLocks noChangeAspect="1"/>
          </p:cNvPicPr>
          <p:nvPr/>
        </p:nvPicPr>
        <p:blipFill>
          <a:blip r:embed="rId1"/>
          <a:stretch>
            <a:fillRect/>
          </a:stretch>
        </p:blipFill>
        <p:spPr>
          <a:xfrm>
            <a:off x="661475" y="2439491"/>
            <a:ext cx="2509179" cy="1550789"/>
          </a:xfrm>
          <a:prstGeom prst="rect">
            <a:avLst/>
          </a:prstGeom>
        </p:spPr>
      </p:pic>
      <p:sp>
        <p:nvSpPr>
          <p:cNvPr id="5" name="Text 2"/>
          <p:cNvSpPr/>
          <p:nvPr/>
        </p:nvSpPr>
        <p:spPr>
          <a:xfrm>
            <a:off x="661475" y="4196953"/>
            <a:ext cx="3485071"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Bubble Sort: O(n²)</a:t>
            </a:r>
            <a:endParaRPr lang="en-US" sz="1600" dirty="0"/>
          </a:p>
        </p:txBody>
      </p:sp>
      <p:sp>
        <p:nvSpPr>
          <p:cNvPr id="6" name="Text 3"/>
          <p:cNvSpPr/>
          <p:nvPr/>
        </p:nvSpPr>
        <p:spPr>
          <a:xfrm>
            <a:off x="661475" y="4554637"/>
            <a:ext cx="3485071"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Compara elementos vecinos repetidamente y los intercambia si están en el orden incorrecto. Su rendimiento se degrada rápidamente con grandes volúmenes de datos.</a:t>
            </a:r>
            <a:endParaRPr lang="en-US" sz="1300" dirty="0"/>
          </a:p>
        </p:txBody>
      </p:sp>
      <p:pic>
        <p:nvPicPr>
          <p:cNvPr id="7" name="Image 1" descr="preencoded.png">    </p:cNvPr>
          <p:cNvPicPr>
            <a:picLocks noChangeAspect="1"/>
          </p:cNvPicPr>
          <p:nvPr/>
        </p:nvPicPr>
        <p:blipFill>
          <a:blip r:embed="rId2"/>
          <a:stretch>
            <a:fillRect/>
          </a:stretch>
        </p:blipFill>
        <p:spPr>
          <a:xfrm>
            <a:off x="4353213" y="2439491"/>
            <a:ext cx="2509279" cy="1550888"/>
          </a:xfrm>
          <a:prstGeom prst="rect">
            <a:avLst/>
          </a:prstGeom>
        </p:spPr>
      </p:pic>
      <p:sp>
        <p:nvSpPr>
          <p:cNvPr id="8" name="Text 4"/>
          <p:cNvSpPr/>
          <p:nvPr/>
        </p:nvSpPr>
        <p:spPr>
          <a:xfrm>
            <a:off x="4353213" y="4197052"/>
            <a:ext cx="348517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Merge Sort: O(n log n)</a:t>
            </a:r>
            <a:endParaRPr lang="en-US" sz="1600" dirty="0"/>
          </a:p>
        </p:txBody>
      </p:sp>
      <p:sp>
        <p:nvSpPr>
          <p:cNvPr id="9" name="Text 5"/>
          <p:cNvSpPr/>
          <p:nvPr/>
        </p:nvSpPr>
        <p:spPr>
          <a:xfrm>
            <a:off x="4353213" y="4554736"/>
            <a:ext cx="3485170"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Divide la lista en mitades hasta que cada sublista tiene un solo elemento, luego fusiona recursivamente las sublistas ordenadas. Es estable y eficiente para grandes conjuntos de datos.</a:t>
            </a:r>
            <a:endParaRPr lang="en-US" sz="1300" dirty="0"/>
          </a:p>
        </p:txBody>
      </p:sp>
      <p:pic>
        <p:nvPicPr>
          <p:cNvPr id="10" name="Image 2" descr="preencoded.png">    </p:cNvPr>
          <p:cNvPicPr>
            <a:picLocks noChangeAspect="1"/>
          </p:cNvPicPr>
          <p:nvPr/>
        </p:nvPicPr>
        <p:blipFill>
          <a:blip r:embed="rId3"/>
          <a:stretch>
            <a:fillRect/>
          </a:stretch>
        </p:blipFill>
        <p:spPr>
          <a:xfrm>
            <a:off x="8045050" y="2439491"/>
            <a:ext cx="2509279" cy="1550888"/>
          </a:xfrm>
          <a:prstGeom prst="rect">
            <a:avLst/>
          </a:prstGeom>
        </p:spPr>
      </p:pic>
      <p:sp>
        <p:nvSpPr>
          <p:cNvPr id="11" name="Text 6"/>
          <p:cNvSpPr/>
          <p:nvPr/>
        </p:nvSpPr>
        <p:spPr>
          <a:xfrm>
            <a:off x="8045050" y="4197052"/>
            <a:ext cx="3485170" cy="258465"/>
          </a:xfrm>
          <a:prstGeom prst="rect">
            <a:avLst/>
          </a:prstGeom>
          <a:noFill/>
          <a:ln/>
        </p:spPr>
        <p:txBody>
          <a:bodyPr wrap="none" lIns="0" tIns="0" rIns="0" bIns="0" rtlCol="0" anchor="t"/>
          <a:lstStyle/>
          <a:p>
            <a:pPr algn="l" indent="0" marL="0">
              <a:lnSpc>
                <a:spcPct val="104000"/>
              </a:lnSpc>
              <a:buNone/>
            </a:pPr>
            <a:r>
              <a:rPr lang="en-US" sz="1600" spc="-16" kern="0" dirty="0">
                <a:solidFill>
                  <a:srgbClr val="FFFFFF"/>
                </a:solidFill>
                <a:latin typeface="Alexandria Medium" pitchFamily="34" charset="0"/>
                <a:ea typeface="Alexandria Medium" pitchFamily="34" charset="-122"/>
                <a:cs typeface="Alexandria Medium" pitchFamily="34" charset="-120"/>
              </a:rPr>
              <a:t>QuickSort: O(n log n) (promedio)</a:t>
            </a:r>
            <a:endParaRPr lang="en-US" sz="1600" dirty="0"/>
          </a:p>
        </p:txBody>
      </p:sp>
      <p:sp>
        <p:nvSpPr>
          <p:cNvPr id="12" name="Text 7"/>
          <p:cNvSpPr/>
          <p:nvPr/>
        </p:nvSpPr>
        <p:spPr>
          <a:xfrm>
            <a:off x="8045050" y="4554736"/>
            <a:ext cx="3485170"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Selecciona un elemento "pivote" y particiona los demás elementos en dos sub-arrays. Luego ordena los sub-arrays recursivamente. Rápido en la práctica, pero puede ser O(n²) en el peor caso.</a:t>
            </a:r>
            <a:endParaRPr lang="en-US" sz="1300" dirty="0"/>
          </a:p>
        </p:txBody>
      </p:sp>
      <p:pic>
        <p:nvPicPr>
          <p:cNvPr id="13" name="Image 3" descr="preencoded.png">    </p:cNvPr>
          <p:cNvPicPr>
            <a:picLocks noChangeAspect="1"/>
          </p:cNvPicPr>
          <p:nvPr/>
        </p:nvPicPr>
        <p:blipFill>
          <a:blip r:embed="rId4"/>
          <a:stretch>
            <a:fillRect/>
          </a:stretch>
        </p:blipFill>
        <p:spPr>
          <a:xfrm>
            <a:off x="198433" y="203597"/>
            <a:ext cx="676357" cy="568623"/>
          </a:xfrm>
          <a:prstGeom prst="rect">
            <a:avLst/>
          </a:prstGeom>
        </p:spPr>
      </p:pic>
      <p:pic>
        <p:nvPicPr>
          <p:cNvPr id="14" name="Image 4" descr="preencoded.png">    </p:cNvPr>
          <p:cNvPicPr>
            <a:picLocks noChangeAspect="1"/>
          </p:cNvPicPr>
          <p:nvPr/>
        </p:nvPicPr>
        <p:blipFill>
          <a:blip r:embed="rId5"/>
          <a:stretch>
            <a:fillRect/>
          </a:stretch>
        </p:blipFill>
        <p:spPr>
          <a:xfrm>
            <a:off x="11386357" y="268784"/>
            <a:ext cx="606906" cy="438249"/>
          </a:xfrm>
          <a:prstGeom prst="rect">
            <a:avLst/>
          </a:prstGeom>
        </p:spPr>
      </p:pic>
      <p:sp>
        <p:nvSpPr>
          <p:cNvPr id="15" name="Text 8"/>
          <p:cNvSpPr/>
          <p:nvPr/>
        </p:nvSpPr>
        <p:spPr>
          <a:xfrm>
            <a:off x="10821221" y="6300589"/>
            <a:ext cx="117204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61475" y="1382117"/>
            <a:ext cx="10868745" cy="413445"/>
          </a:xfrm>
          <a:prstGeom prst="rect">
            <a:avLst/>
          </a:prstGeom>
          <a:noFill/>
          <a:ln/>
        </p:spPr>
        <p:txBody>
          <a:bodyPr wrap="none" lIns="0" tIns="0" rIns="0" bIns="0" rtlCol="0" anchor="t"/>
          <a:lstStyle/>
          <a:p>
            <a:pPr algn="l" indent="0" marL="0">
              <a:lnSpc>
                <a:spcPct val="104000"/>
              </a:lnSpc>
              <a:buNone/>
            </a:pPr>
            <a:r>
              <a:rPr lang="en-US" sz="2600" spc="-26" kern="0" dirty="0">
                <a:solidFill>
                  <a:srgbClr val="FFFFFF"/>
                </a:solidFill>
                <a:latin typeface="Alexandria Medium" pitchFamily="34" charset="0"/>
                <a:ea typeface="Alexandria Medium" pitchFamily="34" charset="-122"/>
                <a:cs typeface="Alexandria Medium" pitchFamily="34" charset="-120"/>
              </a:rPr>
              <a:t>Misma tarea, estrategias muy diferentes</a:t>
            </a:r>
            <a:endParaRPr lang="en-US" sz="2600" dirty="0"/>
          </a:p>
        </p:txBody>
      </p:sp>
      <p:sp>
        <p:nvSpPr>
          <p:cNvPr id="3" name="Text 1"/>
          <p:cNvSpPr/>
          <p:nvPr/>
        </p:nvSpPr>
        <p:spPr>
          <a:xfrm>
            <a:off x="661475" y="2126258"/>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FFFFFF"/>
                </a:solidFill>
                <a:latin typeface="Manrope" pitchFamily="34" charset="0"/>
                <a:ea typeface="Manrope" pitchFamily="34" charset="-122"/>
                <a:cs typeface="Manrope" pitchFamily="34" charset="-120"/>
              </a:rPr>
              <a:t>Elegir el algoritmo correcto puede cambiar drásticamente el rendimiento, convirtiendo un problema intratable en uno eficiente.</a:t>
            </a:r>
            <a:endParaRPr lang="en-US" sz="13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61475" y="2576909"/>
          <a:ext cx="9143771" cy="914400"/>
        </p:xfrm>
        <a:graphic>
          <a:graphicData uri="http://schemas.openxmlformats.org/drawingml/2006/table">
            <a:tbl>
              <a:tblPr/>
              <a:tblGrid>
                <a:gridCol w="2173749"/>
                <a:gridCol w="2173749"/>
                <a:gridCol w="2173749"/>
                <a:gridCol w="4347498"/>
              </a:tblGrid>
              <a:tr h="478917">
                <a:tc>
                  <a:txBody>
                    <a:bodyPr/>
                    <a:lstStyle/>
                    <a:p>
                      <a:pPr indent="0" marL="0">
                        <a:buNone/>
                      </a:pPr>
                      <a:r>
                        <a:rPr lang="en-US" sz="1300" b="1" dirty="0">
                          <a:solidFill>
                            <a:srgbClr val="FFFFFF"/>
                          </a:solidFill>
                          <a:latin typeface="Manrope" pitchFamily="34" charset="0"/>
                          <a:ea typeface="Manrope" pitchFamily="34" charset="-122"/>
                          <a:cs typeface="Manrope" pitchFamily="34" charset="-120"/>
                        </a:rPr>
                        <a:t>Algoritmo</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300" b="1" dirty="0">
                          <a:solidFill>
                            <a:srgbClr val="FFFFFF"/>
                          </a:solidFill>
                          <a:latin typeface="Manrope" pitchFamily="34" charset="0"/>
                          <a:ea typeface="Manrope" pitchFamily="34" charset="-122"/>
                          <a:cs typeface="Manrope" pitchFamily="34" charset="-120"/>
                        </a:rPr>
                        <a:t>Estrategia</a:t>
                      </a:r>
                      <a:endParaRPr lang="en-US" sz="1300" dirty="0">
                        <a:latin typeface="Manrope" charset="0"/>
                        <a:ea typeface="Manrope" charset="0"/>
                        <a:cs typeface="Manrope" charset="0"/>
                      </a:endParaRPr>
                    </a:p>
                  </a:txBody>
                  <a:tcPr marL="165391" marR="165391"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300" b="1" dirty="0">
                          <a:solidFill>
                            <a:srgbClr val="FFFFFF"/>
                          </a:solidFill>
                          <a:latin typeface="Manrope" pitchFamily="34" charset="0"/>
                          <a:ea typeface="Manrope" pitchFamily="34" charset="-122"/>
                          <a:cs typeface="Manrope" pitchFamily="34" charset="-120"/>
                        </a:rPr>
                        <a:t>Complejidad típica</a:t>
                      </a:r>
                      <a:endParaRPr lang="en-US" sz="1300" dirty="0">
                        <a:latin typeface="Manrope" charset="0"/>
                        <a:ea typeface="Manrope" charset="0"/>
                        <a:cs typeface="Manrope" charset="0"/>
                      </a:endParaRPr>
                    </a:p>
                  </a:txBody>
                  <a:tcPr marL="165391" marR="165391"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c>
                  <a:txBody>
                    <a:bodyPr/>
                    <a:lstStyle/>
                    <a:p>
                      <a:pPr indent="0" marL="0">
                        <a:buNone/>
                      </a:pPr>
                      <a:r>
                        <a:rPr lang="en-US" sz="1300" b="1" dirty="0">
                          <a:solidFill>
                            <a:srgbClr val="FFFFFF"/>
                          </a:solidFill>
                          <a:latin typeface="Manrope" pitchFamily="34" charset="0"/>
                          <a:ea typeface="Manrope" pitchFamily="34" charset="-122"/>
                          <a:cs typeface="Manrope" pitchFamily="34" charset="-120"/>
                        </a:rPr>
                        <a:t>Idea clave</a:t>
                      </a:r>
                      <a:endParaRPr lang="en-US" sz="1300" dirty="0">
                        <a:latin typeface="Manrope" charset="0"/>
                        <a:ea typeface="Manrope" charset="0"/>
                        <a:cs typeface="Manrope" charset="0"/>
                      </a:endParaRPr>
                    </a:p>
                  </a:txBody>
                  <a:tcPr marL="165391" marR="165391" marT="6350" marB="6350" anchor="ctr">
                    <a:lnL w="12700" cap="flat" cmpd="sng" algn="ctr">
                      <a:solidFill>
                        <a:srgbClr val="324C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324C85"/>
                    </a:solidFill>
                  </a:tcPr>
                </a:tc>
              </a:tr>
              <a:tr h="482092">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Búsqueda lineal</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Recorrido</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O(n)</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No requiere ordenación de datos</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82092">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Búsqueda binaria</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Dividir</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O(log n)</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Requiere datos ordenados</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82092">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Bubble Sort</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Comparar vecinos</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O(n²)</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Sencillo pero poco escalable</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82092">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Merge Sort</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Divide y vencerás</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O(n log n)</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Rendimiento predecible y estable</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r h="478917">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QuickSort</a:t>
                      </a:r>
                      <a:endParaRPr lang="en-US" sz="1300" dirty="0">
                        <a:latin typeface="Manrope" charset="0"/>
                        <a:ea typeface="Manrope" charset="0"/>
                        <a:cs typeface="Manrope" charset="0"/>
                      </a:endParaRPr>
                    </a:p>
                  </a:txBody>
                  <a:tcPr marL="165391" marR="165391" marT="6350" marB="6350" anchor="ctr">
                    <a:lnL w="12700" cap="flat" cmpd="sng" algn="ctr">
                      <a:solidFill>
                        <a:srgbClr val="765CA2"/>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Partición</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O(n log n) promedio</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4B2885"/>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c>
                  <a:txBody>
                    <a:bodyPr/>
                    <a:lstStyle/>
                    <a:p>
                      <a:pPr indent="0" marL="0">
                        <a:buNone/>
                      </a:pPr>
                      <a:r>
                        <a:rPr lang="en-US" sz="1300" dirty="0">
                          <a:solidFill>
                            <a:srgbClr val="FFFFFF"/>
                          </a:solidFill>
                          <a:latin typeface="Manrope" pitchFamily="34" charset="0"/>
                          <a:ea typeface="Manrope" pitchFamily="34" charset="-122"/>
                          <a:cs typeface="Manrope" pitchFamily="34" charset="-120"/>
                        </a:rPr>
                        <a:t>Generalmente muy eficiente en la práctica</a:t>
                      </a:r>
                      <a:endParaRPr lang="en-US" sz="1300" dirty="0">
                        <a:latin typeface="Manrope" charset="0"/>
                        <a:ea typeface="Manrope" charset="0"/>
                        <a:cs typeface="Manrope" charset="0"/>
                      </a:endParaRPr>
                    </a:p>
                  </a:txBody>
                  <a:tcPr marL="165391" marR="165391" marT="6350" marB="6350" anchor="ctr">
                    <a:lnL w="12700" cap="flat" cmpd="sng" algn="ctr">
                      <a:solidFill>
                        <a:srgbClr val="4B2885"/>
                      </a:solidFill>
                      <a:prstDash val="solid"/>
                      <a:round/>
                      <a:headEnd type="none" w="med" len="med"/>
                      <a:tailEnd type="none" w="med" len="med"/>
                    </a:lnL>
                    <a:lnR w="12700" cap="flat" cmpd="sng" algn="ctr">
                      <a:solidFill>
                        <a:srgbClr val="765CA2"/>
                      </a:solidFill>
                      <a:prstDash val="solid"/>
                      <a:round/>
                      <a:headEnd type="none" w="med" len="med"/>
                      <a:tailEnd type="none" w="med" len="med"/>
                    </a:lnR>
                    <a:lnT w="12700" cap="flat" cmpd="sng" algn="ctr">
                      <a:solidFill>
                        <a:srgbClr val="765CA2"/>
                      </a:solidFill>
                      <a:prstDash val="solid"/>
                      <a:round/>
                      <a:headEnd type="none" w="med" len="med"/>
                      <a:tailEnd type="none" w="med" len="med"/>
                    </a:lnT>
                    <a:lnB w="12700" cap="flat" cmpd="sng" algn="ctr">
                      <a:solidFill>
                        <a:srgbClr val="765CA2"/>
                      </a:solidFill>
                      <a:prstDash val="solid"/>
                      <a:round/>
                      <a:headEnd type="none" w="med" len="med"/>
                      <a:tailEnd type="none" w="med" len="med"/>
                    </a:lnB>
                    <a:solidFill>
                      <a:srgbClr val="4B2885"/>
                    </a:solidFill>
                  </a:tcPr>
                </a:tc>
              </a:tr>
            </a:tbl>
          </a:graphicData>
        </a:graphic>
      </p:graphicFrame>
      <p:pic>
        <p:nvPicPr>
          <p:cNvPr id="5"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6"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7" name="Text 2"/>
          <p:cNvSpPr/>
          <p:nvPr/>
        </p:nvSpPr>
        <p:spPr>
          <a:xfrm>
            <a:off x="10846620" y="6300589"/>
            <a:ext cx="114664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61475" y="1024434"/>
            <a:ext cx="10868745" cy="392708"/>
          </a:xfrm>
          <a:prstGeom prst="rect">
            <a:avLst/>
          </a:prstGeom>
          <a:noFill/>
          <a:ln/>
        </p:spPr>
        <p:txBody>
          <a:bodyPr wrap="none" lIns="0" tIns="0" rIns="0" bIns="0" rtlCol="0" anchor="t"/>
          <a:lstStyle/>
          <a:p>
            <a:pPr algn="l" indent="0" marL="0">
              <a:lnSpc>
                <a:spcPct val="104000"/>
              </a:lnSpc>
              <a:buNone/>
            </a:pPr>
            <a:r>
              <a:rPr lang="en-US" sz="2450" spc="-25" kern="0" dirty="0">
                <a:solidFill>
                  <a:srgbClr val="FFFFFF"/>
                </a:solidFill>
                <a:latin typeface="Alexandria Medium" pitchFamily="34" charset="0"/>
                <a:ea typeface="Alexandria Medium" pitchFamily="34" charset="-122"/>
                <a:cs typeface="Alexandria Medium" pitchFamily="34" charset="-120"/>
              </a:rPr>
              <a:t>¿Por qué importa esto en Big Data?</a:t>
            </a:r>
            <a:endParaRPr lang="en-US" sz="2450" dirty="0"/>
          </a:p>
        </p:txBody>
      </p:sp>
      <p:sp>
        <p:nvSpPr>
          <p:cNvPr id="3" name="Shape 1"/>
          <p:cNvSpPr/>
          <p:nvPr/>
        </p:nvSpPr>
        <p:spPr>
          <a:xfrm>
            <a:off x="548269" y="1640979"/>
            <a:ext cx="5469098" cy="3198515"/>
          </a:xfrm>
          <a:prstGeom prst="roundRect">
            <a:avLst>
              <a:gd name="adj" fmla="val 11790"/>
            </a:avLst>
          </a:prstGeom>
          <a:solidFill>
            <a:srgbClr val="324C85"/>
          </a:solidFill>
          <a:ln/>
        </p:spPr>
      </p:sp>
      <p:sp>
        <p:nvSpPr>
          <p:cNvPr id="4" name="Text 2"/>
          <p:cNvSpPr/>
          <p:nvPr/>
        </p:nvSpPr>
        <p:spPr>
          <a:xfrm>
            <a:off x="705328" y="1790204"/>
            <a:ext cx="5154980" cy="491133"/>
          </a:xfrm>
          <a:prstGeom prst="rect">
            <a:avLst/>
          </a:prstGeom>
          <a:noFill/>
          <a:ln/>
        </p:spPr>
        <p:txBody>
          <a:bodyPr wrap="square" lIns="0" tIns="0" rIns="0" bIns="0" rtlCol="0" anchor="t">
            <a:normAutofit/>
          </a:bodyPr>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El mismo algoritmo, consecuencias radicalmente distintas</a:t>
            </a:r>
            <a:endParaRPr lang="en-US" sz="15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05328" y="2449215"/>
          <a:ext cx="9143771" cy="914400"/>
        </p:xfrm>
        <a:graphic>
          <a:graphicData uri="http://schemas.openxmlformats.org/drawingml/2006/table">
            <a:tbl>
              <a:tblPr/>
              <a:tblGrid>
                <a:gridCol w="2061992"/>
                <a:gridCol w="1546494"/>
                <a:gridCol w="1546494"/>
              </a:tblGrid>
              <a:tr h="440024">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Complejidad</a:t>
                      </a:r>
                      <a:endParaRPr lang="en-US" sz="1200" dirty="0">
                        <a:latin typeface="Manrope" charset="0"/>
                        <a:ea typeface="Manrope" charset="0"/>
                        <a:cs typeface="Manrope" charset="0"/>
                      </a:endParaRPr>
                    </a:p>
                  </a:txBody>
                  <a:tcPr marL="157122" marR="157122" marT="6350" marB="6350" anchor="ctr">
                    <a:lnL w="12700" cap="flat" cmpd="sng" algn="ctr">
                      <a:solidFill>
                        <a:srgbClr val="6377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n = 1.000</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b="1" dirty="0">
                          <a:solidFill>
                            <a:srgbClr val="FFFFFF"/>
                          </a:solidFill>
                          <a:latin typeface="Manrope" pitchFamily="34" charset="0"/>
                          <a:ea typeface="Manrope" pitchFamily="34" charset="-122"/>
                          <a:cs typeface="Manrope" pitchFamily="34" charset="-120"/>
                        </a:rPr>
                        <a:t>n = 100M</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O(n)</a:t>
                      </a:r>
                      <a:endParaRPr lang="en-US" sz="1200" dirty="0">
                        <a:latin typeface="Manrope" charset="0"/>
                        <a:ea typeface="Manrope" charset="0"/>
                        <a:cs typeface="Manrope" charset="0"/>
                      </a:endParaRPr>
                    </a:p>
                  </a:txBody>
                  <a:tcPr marL="157122" marR="157122" marT="6350" marB="6350" anchor="ctr">
                    <a:lnL w="12700" cap="flat" cmpd="sng" algn="ctr">
                      <a:solidFill>
                        <a:srgbClr val="6377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Inmediato</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Minutos</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O(n log n)</a:t>
                      </a:r>
                      <a:endParaRPr lang="en-US" sz="1200" dirty="0">
                        <a:latin typeface="Manrope" charset="0"/>
                        <a:ea typeface="Manrope" charset="0"/>
                        <a:cs typeface="Manrope" charset="0"/>
                      </a:endParaRPr>
                    </a:p>
                  </a:txBody>
                  <a:tcPr marL="157122" marR="157122" marT="6350" marB="6350" anchor="ctr">
                    <a:lnL w="12700" cap="flat" cmpd="sng" algn="ctr">
                      <a:solidFill>
                        <a:srgbClr val="6377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Inmediato</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Horas</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r h="443199">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O(n²)</a:t>
                      </a:r>
                      <a:endParaRPr lang="en-US" sz="1200" dirty="0">
                        <a:latin typeface="Manrope" charset="0"/>
                        <a:ea typeface="Manrope" charset="0"/>
                        <a:cs typeface="Manrope" charset="0"/>
                      </a:endParaRPr>
                    </a:p>
                  </a:txBody>
                  <a:tcPr marL="157122" marR="157122" marT="6350" marB="6350" anchor="ctr">
                    <a:lnL w="12700" cap="flat" cmpd="sng" algn="ctr">
                      <a:solidFill>
                        <a:srgbClr val="6377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Segundos</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Inviable</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r h="440024">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O(2ⁿ)</a:t>
                      </a:r>
                      <a:endParaRPr lang="en-US" sz="1200" dirty="0">
                        <a:latin typeface="Manrope" charset="0"/>
                        <a:ea typeface="Manrope" charset="0"/>
                        <a:cs typeface="Manrope" charset="0"/>
                      </a:endParaRPr>
                    </a:p>
                  </a:txBody>
                  <a:tcPr marL="157122" marR="157122" marT="6350" marB="6350" anchor="ctr">
                    <a:lnL w="12700" cap="flat" cmpd="sng" algn="ctr">
                      <a:solidFill>
                        <a:srgbClr val="6377A2"/>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Inviable</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324C85"/>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c>
                  <a:txBody>
                    <a:bodyPr/>
                    <a:lstStyle/>
                    <a:p>
                      <a:pPr indent="0" marL="0">
                        <a:buNone/>
                      </a:pPr>
                      <a:r>
                        <a:rPr lang="en-US" sz="1200" dirty="0">
                          <a:solidFill>
                            <a:srgbClr val="FFFFFF"/>
                          </a:solidFill>
                          <a:latin typeface="Manrope" pitchFamily="34" charset="0"/>
                          <a:ea typeface="Manrope" pitchFamily="34" charset="-122"/>
                          <a:cs typeface="Manrope" pitchFamily="34" charset="-120"/>
                        </a:rPr>
                        <a:t>Imposible</a:t>
                      </a:r>
                      <a:endParaRPr lang="en-US" sz="1200" dirty="0">
                        <a:latin typeface="Manrope" charset="0"/>
                        <a:ea typeface="Manrope" charset="0"/>
                        <a:cs typeface="Manrope" charset="0"/>
                      </a:endParaRPr>
                    </a:p>
                  </a:txBody>
                  <a:tcPr marL="157122" marR="157122" marT="6350" marB="6350" anchor="ctr">
                    <a:lnL w="12700" cap="flat" cmpd="sng" algn="ctr">
                      <a:solidFill>
                        <a:srgbClr val="324C85"/>
                      </a:solidFill>
                      <a:prstDash val="solid"/>
                      <a:round/>
                      <a:headEnd type="none" w="med" len="med"/>
                      <a:tailEnd type="none" w="med" len="med"/>
                    </a:lnL>
                    <a:lnR w="12700" cap="flat" cmpd="sng" algn="ctr">
                      <a:solidFill>
                        <a:srgbClr val="6377A2"/>
                      </a:solidFill>
                      <a:prstDash val="solid"/>
                      <a:round/>
                      <a:headEnd type="none" w="med" len="med"/>
                      <a:tailEnd type="none" w="med" len="med"/>
                    </a:lnR>
                    <a:lnT w="12700" cap="flat" cmpd="sng" algn="ctr">
                      <a:solidFill>
                        <a:srgbClr val="6377A2"/>
                      </a:solidFill>
                      <a:prstDash val="solid"/>
                      <a:round/>
                      <a:headEnd type="none" w="med" len="med"/>
                      <a:tailEnd type="none" w="med" len="med"/>
                    </a:lnT>
                    <a:lnB w="12700" cap="flat" cmpd="sng" algn="ctr">
                      <a:solidFill>
                        <a:srgbClr val="6377A2"/>
                      </a:solidFill>
                      <a:prstDash val="solid"/>
                      <a:round/>
                      <a:headEnd type="none" w="med" len="med"/>
                      <a:tailEnd type="none" w="med" len="med"/>
                    </a:lnB>
                    <a:solidFill>
                      <a:srgbClr val="324C85"/>
                    </a:solidFill>
                  </a:tcPr>
                </a:tc>
              </a:tr>
            </a:tbl>
          </a:graphicData>
        </a:graphic>
      </p:graphicFrame>
      <p:sp>
        <p:nvSpPr>
          <p:cNvPr id="6" name="Text 3"/>
          <p:cNvSpPr/>
          <p:nvPr/>
        </p:nvSpPr>
        <p:spPr>
          <a:xfrm>
            <a:off x="6293883" y="1790204"/>
            <a:ext cx="5242687" cy="245566"/>
          </a:xfrm>
          <a:prstGeom prst="rect">
            <a:avLst/>
          </a:prstGeom>
          <a:noFill/>
          <a:ln/>
        </p:spPr>
        <p:txBody>
          <a:bodyPr wrap="none" lIns="0" tIns="0" rIns="0" bIns="0" rtlCol="0" anchor="t"/>
          <a:lstStyle/>
          <a:p>
            <a:pPr algn="l" indent="0" marL="0">
              <a:lnSpc>
                <a:spcPct val="104000"/>
              </a:lnSpc>
              <a:buNone/>
            </a:pPr>
            <a:r>
              <a:rPr lang="en-US" sz="1500" spc="-15" kern="0" dirty="0">
                <a:solidFill>
                  <a:srgbClr val="FFFFFF"/>
                </a:solidFill>
                <a:latin typeface="Alexandria Medium" pitchFamily="34" charset="0"/>
                <a:ea typeface="Alexandria Medium" pitchFamily="34" charset="-122"/>
                <a:cs typeface="Alexandria Medium" pitchFamily="34" charset="-120"/>
              </a:rPr>
              <a:t>Las decisiones que determinan si un sistema escala</a:t>
            </a:r>
            <a:endParaRPr lang="en-US" sz="1500" dirty="0"/>
          </a:p>
        </p:txBody>
      </p:sp>
      <p:sp>
        <p:nvSpPr>
          <p:cNvPr id="7" name="Text 4"/>
          <p:cNvSpPr/>
          <p:nvPr/>
        </p:nvSpPr>
        <p:spPr>
          <a:xfrm>
            <a:off x="6293883" y="2184995"/>
            <a:ext cx="5242687" cy="1731963"/>
          </a:xfrm>
          <a:prstGeom prst="rect">
            <a:avLst/>
          </a:prstGeom>
          <a:noFill/>
          <a:ln/>
        </p:spPr>
        <p:txBody>
          <a:bodyPr wrap="square" lIns="0" tIns="0" rIns="0" bIns="0" rtlCol="0" anchor="t">
            <a:normAutofit/>
          </a:bodyPr>
          <a:lstStyle/>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Elección del algoritmo y su complejidad</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Estructuras de datos adecuadas</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Estrategia de almacenamiento</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Uso eficiente de memoria</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Posibilidad de paralelización</a:t>
            </a:r>
            <a:endParaRPr lang="en-US" sz="1200" dirty="0"/>
          </a:p>
          <a:p>
            <a:pPr algn="l" marL="243840" indent="-243840">
              <a:lnSpc>
                <a:spcPct val="130000"/>
              </a:lnSpc>
              <a:buSzPct val="100000"/>
              <a:buChar char="•"/>
            </a:pPr>
            <a:r>
              <a:rPr lang="en-US" sz="1200" dirty="0">
                <a:solidFill>
                  <a:srgbClr val="FFFFFF"/>
                </a:solidFill>
                <a:latin typeface="Manrope" pitchFamily="34" charset="0"/>
                <a:ea typeface="Manrope" pitchFamily="34" charset="-122"/>
                <a:cs typeface="Manrope" pitchFamily="34" charset="-120"/>
              </a:rPr>
              <a:t>Arquitectura del sistema completo</a:t>
            </a:r>
            <a:endParaRPr lang="en-US" sz="1200" dirty="0"/>
          </a:p>
        </p:txBody>
      </p:sp>
      <p:sp>
        <p:nvSpPr>
          <p:cNvPr id="8" name="Text 5"/>
          <p:cNvSpPr/>
          <p:nvPr/>
        </p:nvSpPr>
        <p:spPr>
          <a:xfrm>
            <a:off x="897113" y="5175250"/>
            <a:ext cx="10633107"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FFFFFF"/>
                </a:solidFill>
                <a:latin typeface="Manrope" pitchFamily="34" charset="0"/>
                <a:ea typeface="Manrope" pitchFamily="34" charset="-122"/>
                <a:cs typeface="Manrope" pitchFamily="34" charset="-120"/>
              </a:rPr>
              <a:t>Big Data no consiste únicamente en disponer de muchos datos: consiste en ser capaces de convertirlos en valor de forma eficiente, escalable y fiable.</a:t>
            </a:r>
            <a:endParaRPr lang="en-US" sz="1200" dirty="0"/>
          </a:p>
        </p:txBody>
      </p:sp>
      <p:sp>
        <p:nvSpPr>
          <p:cNvPr id="9" name="Shape 6"/>
          <p:cNvSpPr/>
          <p:nvPr/>
        </p:nvSpPr>
        <p:spPr>
          <a:xfrm>
            <a:off x="661475" y="5007372"/>
            <a:ext cx="19050" cy="826095"/>
          </a:xfrm>
          <a:prstGeom prst="roundRect">
            <a:avLst>
              <a:gd name="adj" fmla="val 49999"/>
            </a:avLst>
          </a:prstGeom>
          <a:solidFill>
            <a:srgbClr val="B499E9"/>
          </a:solidFill>
          <a:ln/>
        </p:spPr>
      </p:sp>
      <p:pic>
        <p:nvPicPr>
          <p:cNvPr id="10"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11"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12" name="Text 7"/>
          <p:cNvSpPr/>
          <p:nvPr/>
        </p:nvSpPr>
        <p:spPr>
          <a:xfrm>
            <a:off x="10825884" y="6300589"/>
            <a:ext cx="1167379"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61475" y="1049437"/>
            <a:ext cx="10868745" cy="372170"/>
          </a:xfrm>
          <a:prstGeom prst="rect">
            <a:avLst/>
          </a:prstGeom>
          <a:noFill/>
          <a:ln/>
        </p:spPr>
        <p:txBody>
          <a:bodyPr wrap="none" lIns="0" tIns="0" rIns="0" bIns="0" rtlCol="0" anchor="t"/>
          <a:lstStyle/>
          <a:p>
            <a:pPr algn="l" indent="0" marL="0">
              <a:lnSpc>
                <a:spcPct val="104000"/>
              </a:lnSpc>
              <a:buNone/>
            </a:pPr>
            <a:r>
              <a:rPr lang="en-US" sz="2300" spc="-23" kern="0" dirty="0">
                <a:solidFill>
                  <a:srgbClr val="FFFFFF"/>
                </a:solidFill>
                <a:latin typeface="Alexandria Medium" pitchFamily="34" charset="0"/>
                <a:ea typeface="Alexandria Medium" pitchFamily="34" charset="-122"/>
                <a:cs typeface="Alexandria Medium" pitchFamily="34" charset="-120"/>
              </a:rPr>
              <a:t>¿Solución exacta o heurística?</a:t>
            </a:r>
            <a:endParaRPr lang="en-US" sz="2300" dirty="0"/>
          </a:p>
        </p:txBody>
      </p:sp>
      <p:sp>
        <p:nvSpPr>
          <p:cNvPr id="3" name="Text 1"/>
          <p:cNvSpPr/>
          <p:nvPr/>
        </p:nvSpPr>
        <p:spPr>
          <a:xfrm>
            <a:off x="661475" y="1689497"/>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Cuando el coste computacional de encontrar la solución óptima es inviable, a menudo recurrimos a enfoques alternativos.</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66429"/>
            <a:ext cx="5367402" cy="1327249"/>
          </a:xfrm>
          <a:prstGeom prst="rect">
            <a:avLst/>
          </a:prstGeom>
        </p:spPr>
      </p:pic>
      <p:sp>
        <p:nvSpPr>
          <p:cNvPr id="5" name="Text 2"/>
          <p:cNvSpPr/>
          <p:nvPr/>
        </p:nvSpPr>
        <p:spPr>
          <a:xfrm>
            <a:off x="905547" y="2234307"/>
            <a:ext cx="495545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Solución Exacta</a:t>
            </a:r>
            <a:endParaRPr lang="en-US" sz="1450" dirty="0"/>
          </a:p>
        </p:txBody>
      </p:sp>
      <p:sp>
        <p:nvSpPr>
          <p:cNvPr id="6" name="Text 3"/>
          <p:cNvSpPr/>
          <p:nvPr/>
        </p:nvSpPr>
        <p:spPr>
          <a:xfrm>
            <a:off x="905547" y="2547144"/>
            <a:ext cx="4955456"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Explora todas las posibilidades para garantizar la solución correcta u óptima. Inviable cuando el espacio de búsqueda crece exponencialmente.</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2818" y="2066429"/>
            <a:ext cx="5367402" cy="1327249"/>
          </a:xfrm>
          <a:prstGeom prst="rect">
            <a:avLst/>
          </a:prstGeom>
        </p:spPr>
      </p:pic>
      <p:sp>
        <p:nvSpPr>
          <p:cNvPr id="8" name="Text 4"/>
          <p:cNvSpPr/>
          <p:nvPr/>
        </p:nvSpPr>
        <p:spPr>
          <a:xfrm>
            <a:off x="6406890" y="2234307"/>
            <a:ext cx="4955456"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Heurística</a:t>
            </a:r>
            <a:endParaRPr lang="en-US" sz="1450" dirty="0"/>
          </a:p>
        </p:txBody>
      </p:sp>
      <p:sp>
        <p:nvSpPr>
          <p:cNvPr id="9" name="Text 5"/>
          <p:cNvSpPr/>
          <p:nvPr/>
        </p:nvSpPr>
        <p:spPr>
          <a:xfrm>
            <a:off x="6406890" y="2547144"/>
            <a:ext cx="4955456"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Utiliza reglas y estrategias para encontrar rápidamente una buena solución. Reduce el coste computacional, pero no garantiza la solución óptima.</a:t>
            </a:r>
            <a:endParaRPr lang="en-US" sz="1150" dirty="0"/>
          </a:p>
        </p:txBody>
      </p:sp>
      <p:sp>
        <p:nvSpPr>
          <p:cNvPr id="10" name="Text 6"/>
          <p:cNvSpPr/>
          <p:nvPr/>
        </p:nvSpPr>
        <p:spPr>
          <a:xfrm>
            <a:off x="661475" y="3594596"/>
            <a:ext cx="10868745" cy="279003"/>
          </a:xfrm>
          <a:prstGeom prst="rect">
            <a:avLst/>
          </a:prstGeom>
          <a:noFill/>
          <a:ln/>
        </p:spPr>
        <p:txBody>
          <a:bodyPr wrap="none" lIns="0" tIns="0" rIns="0" bIns="0" rtlCol="0" anchor="t"/>
          <a:lstStyle/>
          <a:p>
            <a:pPr algn="l" indent="0" marL="0">
              <a:lnSpc>
                <a:spcPct val="104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Ejemplo: El Problema del Viajante</a:t>
            </a:r>
            <a:endParaRPr lang="en-US" sz="1750" dirty="0"/>
          </a:p>
        </p:txBody>
      </p:sp>
      <p:sp>
        <p:nvSpPr>
          <p:cNvPr id="11" name="Text 7"/>
          <p:cNvSpPr/>
          <p:nvPr/>
        </p:nvSpPr>
        <p:spPr>
          <a:xfrm>
            <a:off x="661475" y="4074517"/>
            <a:ext cx="10868745" cy="1055588"/>
          </a:xfrm>
          <a:prstGeom prst="rect">
            <a:avLst/>
          </a:prstGeom>
          <a:noFill/>
          <a:ln/>
        </p:spPr>
        <p:txBody>
          <a:bodyPr wrap="square" lIns="0" tIns="0" rIns="0" bIns="0" rtlCol="0" anchor="t">
            <a:normAutofit/>
          </a:bodyPr>
          <a:lstStyle/>
          <a:p>
            <a:pPr algn="l" indent="0" marL="0">
              <a:lnSpc>
                <a:spcPct val="127000"/>
              </a:lnSpc>
              <a:spcAft>
                <a:spcPts val="1150"/>
              </a:spcAft>
              <a:buNone/>
            </a:pPr>
            <a:r>
              <a:rPr lang="en-US" sz="1150" dirty="0">
                <a:solidFill>
                  <a:srgbClr val="FFFFFF"/>
                </a:solidFill>
                <a:latin typeface="Manrope" pitchFamily="34" charset="0"/>
                <a:ea typeface="Manrope" pitchFamily="34" charset="-122"/>
                <a:cs typeface="Manrope" pitchFamily="34" charset="-120"/>
              </a:rPr>
              <a:t>Un repartidor debe visitar muchas ciudades, y el número de órdenes posibles crece factorialmente (n!). Probar todas las combinaciones es inviable para un número moderado de ciudades.</a:t>
            </a:r>
            <a:endParaRPr lang="en-US" sz="1150" dirty="0"/>
          </a:p>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Una heurística simple podría ser elegir en cada paso la ciudad no visitada más cercana, obteniendo rápidamente una ruta razonable, aunque no garantizada como la más corta.</a:t>
            </a:r>
            <a:endParaRPr lang="en-US" sz="1150" dirty="0"/>
          </a:p>
        </p:txBody>
      </p:sp>
      <p:sp>
        <p:nvSpPr>
          <p:cNvPr id="12" name="Text 8"/>
          <p:cNvSpPr/>
          <p:nvPr/>
        </p:nvSpPr>
        <p:spPr>
          <a:xfrm>
            <a:off x="884711" y="5431532"/>
            <a:ext cx="11255093"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En problemas muy complejos, a veces preferimos una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buena solución en segundos</a:t>
            </a:r>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 a la solución perfecta que tardaría miles de años.</a:t>
            </a:r>
            <a:endParaRPr lang="en-US" sz="1150" dirty="0"/>
          </a:p>
        </p:txBody>
      </p:sp>
      <p:sp>
        <p:nvSpPr>
          <p:cNvPr id="13" name="Shape 9"/>
          <p:cNvSpPr/>
          <p:nvPr/>
        </p:nvSpPr>
        <p:spPr>
          <a:xfrm>
            <a:off x="661475" y="5280819"/>
            <a:ext cx="19050" cy="527645"/>
          </a:xfrm>
          <a:prstGeom prst="roundRect">
            <a:avLst>
              <a:gd name="adj" fmla="val 49999"/>
            </a:avLst>
          </a:prstGeom>
          <a:solidFill>
            <a:srgbClr val="B499E9"/>
          </a:solidFill>
          <a:ln/>
        </p:spPr>
      </p:sp>
      <p:pic>
        <p:nvPicPr>
          <p:cNvPr id="14" name="Image 2" descr="preencoded.png">    </p:cNvPr>
          <p:cNvPicPr>
            <a:picLocks noChangeAspect="1"/>
          </p:cNvPicPr>
          <p:nvPr/>
        </p:nvPicPr>
        <p:blipFill>
          <a:blip r:embed="rId5"/>
          <a:stretch>
            <a:fillRect/>
          </a:stretch>
        </p:blipFill>
        <p:spPr>
          <a:xfrm>
            <a:off x="198433" y="203597"/>
            <a:ext cx="676357" cy="568623"/>
          </a:xfrm>
          <a:prstGeom prst="rect">
            <a:avLst/>
          </a:prstGeom>
        </p:spPr>
      </p:pic>
      <p:pic>
        <p:nvPicPr>
          <p:cNvPr id="15" name="Image 3" descr="preencoded.png">    </p:cNvPr>
          <p:cNvPicPr>
            <a:picLocks noChangeAspect="1"/>
          </p:cNvPicPr>
          <p:nvPr/>
        </p:nvPicPr>
        <p:blipFill>
          <a:blip r:embed="rId6"/>
          <a:stretch>
            <a:fillRect/>
          </a:stretch>
        </p:blipFill>
        <p:spPr>
          <a:xfrm>
            <a:off x="11386357" y="268784"/>
            <a:ext cx="606906" cy="438249"/>
          </a:xfrm>
          <a:prstGeom prst="rect">
            <a:avLst/>
          </a:prstGeom>
        </p:spPr>
      </p:pic>
      <p:sp>
        <p:nvSpPr>
          <p:cNvPr id="16" name="Text 10"/>
          <p:cNvSpPr/>
          <p:nvPr/>
        </p:nvSpPr>
        <p:spPr>
          <a:xfrm>
            <a:off x="10827769" y="6300589"/>
            <a:ext cx="1165493"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61475" y="975816"/>
            <a:ext cx="10868745" cy="134441"/>
          </a:xfrm>
          <a:prstGeom prst="rect">
            <a:avLst/>
          </a:prstGeom>
          <a:noFill/>
          <a:ln/>
        </p:spPr>
        <p:txBody>
          <a:bodyPr wrap="none" lIns="0" tIns="0" rIns="0" bIns="0" rtlCol="0" anchor="t"/>
          <a:lstStyle/>
          <a:p>
            <a:pPr algn="l" indent="0" marL="0">
              <a:lnSpc>
                <a:spcPct val="104000"/>
              </a:lnSpc>
              <a:buNone/>
            </a:pPr>
            <a:r>
              <a:rPr lang="en-US" sz="800" spc="-8" kern="0" dirty="0">
                <a:solidFill>
                  <a:srgbClr val="FFFFFF"/>
                </a:solidFill>
                <a:latin typeface="Alexandria Medium" pitchFamily="34" charset="0"/>
                <a:ea typeface="Alexandria Medium" pitchFamily="34" charset="-122"/>
                <a:cs typeface="Alexandria Medium" pitchFamily="34" charset="-120"/>
              </a:rPr>
              <a:t>¿Solución exacta o heurística?</a:t>
            </a:r>
            <a:endParaRPr lang="en-US" sz="800" dirty="0"/>
          </a:p>
        </p:txBody>
      </p:sp>
      <p:pic>
        <p:nvPicPr>
          <p:cNvPr id="3" name="Image 0" descr="preencoded.png">    </p:cNvPr>
          <p:cNvPicPr>
            <a:picLocks noChangeAspect="1"/>
          </p:cNvPicPr>
          <p:nvPr/>
        </p:nvPicPr>
        <p:blipFill>
          <a:blip r:embed="rId1"/>
          <a:stretch>
            <a:fillRect/>
          </a:stretch>
        </p:blipFill>
        <p:spPr>
          <a:xfrm>
            <a:off x="661475" y="1145183"/>
            <a:ext cx="5617030" cy="3161308"/>
          </a:xfrm>
          <a:prstGeom prst="rect">
            <a:avLst/>
          </a:prstGeom>
        </p:spPr>
      </p:pic>
      <p:pic>
        <p:nvPicPr>
          <p:cNvPr id="4" name="Image 1" descr="preencoded.png">    </p:cNvPr>
          <p:cNvPicPr>
            <a:picLocks noChangeAspect="1"/>
          </p:cNvPicPr>
          <p:nvPr/>
        </p:nvPicPr>
        <p:blipFill>
          <a:blip r:embed="rId2"/>
          <a:stretch>
            <a:fillRect/>
          </a:stretch>
        </p:blipFill>
        <p:spPr>
          <a:xfrm>
            <a:off x="661475" y="4326136"/>
            <a:ext cx="2806034" cy="1579265"/>
          </a:xfrm>
          <a:prstGeom prst="rect">
            <a:avLst/>
          </a:prstGeom>
        </p:spPr>
      </p:pic>
      <p:pic>
        <p:nvPicPr>
          <p:cNvPr id="5" name="Image 2" descr="preencoded.png">    </p:cNvPr>
          <p:cNvPicPr>
            <a:picLocks noChangeAspect="1"/>
          </p:cNvPicPr>
          <p:nvPr/>
        </p:nvPicPr>
        <p:blipFill>
          <a:blip r:embed="rId3"/>
          <a:stretch>
            <a:fillRect/>
          </a:stretch>
        </p:blipFill>
        <p:spPr>
          <a:xfrm>
            <a:off x="198433" y="203597"/>
            <a:ext cx="676357" cy="568623"/>
          </a:xfrm>
          <a:prstGeom prst="rect">
            <a:avLst/>
          </a:prstGeom>
        </p:spPr>
      </p:pic>
      <p:pic>
        <p:nvPicPr>
          <p:cNvPr id="6" name="Image 3" descr="preencoded.png">    </p:cNvPr>
          <p:cNvPicPr>
            <a:picLocks noChangeAspect="1"/>
          </p:cNvPicPr>
          <p:nvPr/>
        </p:nvPicPr>
        <p:blipFill>
          <a:blip r:embed="rId4"/>
          <a:stretch>
            <a:fillRect/>
          </a:stretch>
        </p:blipFill>
        <p:spPr>
          <a:xfrm>
            <a:off x="11386357" y="268784"/>
            <a:ext cx="606906" cy="438249"/>
          </a:xfrm>
          <a:prstGeom prst="rect">
            <a:avLst/>
          </a:prstGeom>
        </p:spPr>
      </p:pic>
      <p:sp>
        <p:nvSpPr>
          <p:cNvPr id="7" name="Text 1"/>
          <p:cNvSpPr/>
          <p:nvPr/>
        </p:nvSpPr>
        <p:spPr>
          <a:xfrm>
            <a:off x="10822411" y="6323806"/>
            <a:ext cx="1170851"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61475" y="1088926"/>
            <a:ext cx="10868745" cy="279003"/>
          </a:xfrm>
          <a:prstGeom prst="rect">
            <a:avLst/>
          </a:prstGeom>
          <a:noFill/>
          <a:ln/>
        </p:spPr>
        <p:txBody>
          <a:bodyPr wrap="none" lIns="0" tIns="0" rIns="0" bIns="0" rtlCol="0" anchor="t"/>
          <a:lstStyle/>
          <a:p>
            <a:pPr algn="l" indent="0" marL="0">
              <a:lnSpc>
                <a:spcPct val="104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El siguiente reto: Construyendo un sistema Big Data</a:t>
            </a:r>
            <a:endParaRPr lang="en-US" sz="1750" dirty="0"/>
          </a:p>
        </p:txBody>
      </p:sp>
      <p:sp>
        <p:nvSpPr>
          <p:cNvPr id="3" name="Text 1"/>
          <p:cNvSpPr/>
          <p:nvPr/>
        </p:nvSpPr>
        <p:spPr>
          <a:xfrm>
            <a:off x="661475" y="1635820"/>
            <a:ext cx="10868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Hasta ahora hemos hablado principalmente de qué son los datos y cómo pensamos sobre ellos. Ahora veremos cómo construir el camino, desde las fuentes hasta el dataset analítico:</a:t>
            </a:r>
            <a:endParaRPr lang="en-US" sz="1150" dirty="0"/>
          </a:p>
        </p:txBody>
      </p:sp>
      <p:sp>
        <p:nvSpPr>
          <p:cNvPr id="4" name="Shape 2"/>
          <p:cNvSpPr/>
          <p:nvPr/>
        </p:nvSpPr>
        <p:spPr>
          <a:xfrm>
            <a:off x="661475" y="2238970"/>
            <a:ext cx="5367402" cy="446484"/>
          </a:xfrm>
          <a:prstGeom prst="roundRect">
            <a:avLst>
              <a:gd name="adj" fmla="val 49999"/>
            </a:avLst>
          </a:prstGeom>
          <a:solidFill>
            <a:srgbClr val="3F2077"/>
          </a:solidFill>
          <a:ln w="6350">
            <a:solidFill>
              <a:srgbClr val="4B3082"/>
            </a:solidFill>
            <a:prstDash val="solid"/>
          </a:ln>
        </p:spPr>
      </p:sp>
      <p:sp>
        <p:nvSpPr>
          <p:cNvPr id="5" name="Text 3"/>
          <p:cNvSpPr/>
          <p:nvPr/>
        </p:nvSpPr>
        <p:spPr>
          <a:xfrm>
            <a:off x="3233557" y="2322612"/>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1</a:t>
            </a:r>
            <a:endParaRPr lang="en-US" sz="1750" dirty="0"/>
          </a:p>
        </p:txBody>
      </p:sp>
      <p:sp>
        <p:nvSpPr>
          <p:cNvPr id="6" name="Text 4"/>
          <p:cNvSpPr/>
          <p:nvPr/>
        </p:nvSpPr>
        <p:spPr>
          <a:xfrm>
            <a:off x="810299" y="2819400"/>
            <a:ext cx="5069753"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Fuentes</a:t>
            </a:r>
            <a:endParaRPr lang="en-US" sz="1450" dirty="0"/>
          </a:p>
        </p:txBody>
      </p:sp>
      <p:sp>
        <p:nvSpPr>
          <p:cNvPr id="7" name="Shape 5"/>
          <p:cNvSpPr/>
          <p:nvPr/>
        </p:nvSpPr>
        <p:spPr>
          <a:xfrm>
            <a:off x="6162818" y="2238970"/>
            <a:ext cx="5367402" cy="446484"/>
          </a:xfrm>
          <a:prstGeom prst="roundRect">
            <a:avLst>
              <a:gd name="adj" fmla="val 49999"/>
            </a:avLst>
          </a:prstGeom>
          <a:solidFill>
            <a:srgbClr val="3F2077"/>
          </a:solidFill>
          <a:ln w="6350">
            <a:solidFill>
              <a:srgbClr val="4B3082"/>
            </a:solidFill>
            <a:prstDash val="solid"/>
          </a:ln>
        </p:spPr>
      </p:sp>
      <p:sp>
        <p:nvSpPr>
          <p:cNvPr id="8" name="Text 6"/>
          <p:cNvSpPr/>
          <p:nvPr/>
        </p:nvSpPr>
        <p:spPr>
          <a:xfrm>
            <a:off x="8734901" y="2322612"/>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2</a:t>
            </a:r>
            <a:endParaRPr lang="en-US" sz="1750" dirty="0"/>
          </a:p>
        </p:txBody>
      </p:sp>
      <p:sp>
        <p:nvSpPr>
          <p:cNvPr id="9" name="Text 7"/>
          <p:cNvSpPr/>
          <p:nvPr/>
        </p:nvSpPr>
        <p:spPr>
          <a:xfrm>
            <a:off x="6311643" y="2819400"/>
            <a:ext cx="5069753"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Ingesta</a:t>
            </a:r>
            <a:endParaRPr lang="en-US" sz="1450" dirty="0"/>
          </a:p>
        </p:txBody>
      </p:sp>
      <p:sp>
        <p:nvSpPr>
          <p:cNvPr id="10" name="Shape 8"/>
          <p:cNvSpPr/>
          <p:nvPr/>
        </p:nvSpPr>
        <p:spPr>
          <a:xfrm>
            <a:off x="661475" y="3334643"/>
            <a:ext cx="5367402" cy="446484"/>
          </a:xfrm>
          <a:prstGeom prst="roundRect">
            <a:avLst>
              <a:gd name="adj" fmla="val 49999"/>
            </a:avLst>
          </a:prstGeom>
          <a:solidFill>
            <a:srgbClr val="3F2077"/>
          </a:solidFill>
          <a:ln w="6350">
            <a:solidFill>
              <a:srgbClr val="4B3082"/>
            </a:solidFill>
            <a:prstDash val="solid"/>
          </a:ln>
        </p:spPr>
      </p:sp>
      <p:sp>
        <p:nvSpPr>
          <p:cNvPr id="11" name="Text 9"/>
          <p:cNvSpPr/>
          <p:nvPr/>
        </p:nvSpPr>
        <p:spPr>
          <a:xfrm>
            <a:off x="3233557" y="3418284"/>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3</a:t>
            </a:r>
            <a:endParaRPr lang="en-US" sz="1750" dirty="0"/>
          </a:p>
        </p:txBody>
      </p:sp>
      <p:sp>
        <p:nvSpPr>
          <p:cNvPr id="12" name="Text 10"/>
          <p:cNvSpPr/>
          <p:nvPr/>
        </p:nvSpPr>
        <p:spPr>
          <a:xfrm>
            <a:off x="810299" y="3915073"/>
            <a:ext cx="5069753"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Transformación</a:t>
            </a:r>
            <a:endParaRPr lang="en-US" sz="1450" dirty="0"/>
          </a:p>
        </p:txBody>
      </p:sp>
      <p:sp>
        <p:nvSpPr>
          <p:cNvPr id="13" name="Shape 11"/>
          <p:cNvSpPr/>
          <p:nvPr/>
        </p:nvSpPr>
        <p:spPr>
          <a:xfrm>
            <a:off x="6162818" y="3334643"/>
            <a:ext cx="5367402" cy="446484"/>
          </a:xfrm>
          <a:prstGeom prst="roundRect">
            <a:avLst>
              <a:gd name="adj" fmla="val 49999"/>
            </a:avLst>
          </a:prstGeom>
          <a:solidFill>
            <a:srgbClr val="3F2077"/>
          </a:solidFill>
          <a:ln w="6350">
            <a:solidFill>
              <a:srgbClr val="4B3082"/>
            </a:solidFill>
            <a:prstDash val="solid"/>
          </a:ln>
        </p:spPr>
      </p:sp>
      <p:sp>
        <p:nvSpPr>
          <p:cNvPr id="14" name="Text 12"/>
          <p:cNvSpPr/>
          <p:nvPr/>
        </p:nvSpPr>
        <p:spPr>
          <a:xfrm>
            <a:off x="8734901" y="3418284"/>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4</a:t>
            </a:r>
            <a:endParaRPr lang="en-US" sz="1750" dirty="0"/>
          </a:p>
        </p:txBody>
      </p:sp>
      <p:sp>
        <p:nvSpPr>
          <p:cNvPr id="15" name="Text 13"/>
          <p:cNvSpPr/>
          <p:nvPr/>
        </p:nvSpPr>
        <p:spPr>
          <a:xfrm>
            <a:off x="6311643" y="3915073"/>
            <a:ext cx="5069753"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Integración</a:t>
            </a:r>
            <a:endParaRPr lang="en-US" sz="1450" dirty="0"/>
          </a:p>
        </p:txBody>
      </p:sp>
      <p:sp>
        <p:nvSpPr>
          <p:cNvPr id="16" name="Shape 14"/>
          <p:cNvSpPr/>
          <p:nvPr/>
        </p:nvSpPr>
        <p:spPr>
          <a:xfrm>
            <a:off x="661475" y="4430316"/>
            <a:ext cx="5367402" cy="446484"/>
          </a:xfrm>
          <a:prstGeom prst="roundRect">
            <a:avLst>
              <a:gd name="adj" fmla="val 49999"/>
            </a:avLst>
          </a:prstGeom>
          <a:solidFill>
            <a:srgbClr val="3F2077"/>
          </a:solidFill>
          <a:ln w="6350">
            <a:solidFill>
              <a:srgbClr val="4B3082"/>
            </a:solidFill>
            <a:prstDash val="solid"/>
          </a:ln>
        </p:spPr>
      </p:sp>
      <p:sp>
        <p:nvSpPr>
          <p:cNvPr id="17" name="Text 15"/>
          <p:cNvSpPr/>
          <p:nvPr/>
        </p:nvSpPr>
        <p:spPr>
          <a:xfrm>
            <a:off x="3233557" y="4513957"/>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5</a:t>
            </a:r>
            <a:endParaRPr lang="en-US" sz="1750" dirty="0"/>
          </a:p>
        </p:txBody>
      </p:sp>
      <p:sp>
        <p:nvSpPr>
          <p:cNvPr id="18" name="Text 16"/>
          <p:cNvSpPr/>
          <p:nvPr/>
        </p:nvSpPr>
        <p:spPr>
          <a:xfrm>
            <a:off x="810299" y="5010745"/>
            <a:ext cx="5069753"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Validación</a:t>
            </a:r>
            <a:endParaRPr lang="en-US" sz="1450" dirty="0"/>
          </a:p>
        </p:txBody>
      </p:sp>
      <p:sp>
        <p:nvSpPr>
          <p:cNvPr id="19" name="Shape 17"/>
          <p:cNvSpPr/>
          <p:nvPr/>
        </p:nvSpPr>
        <p:spPr>
          <a:xfrm>
            <a:off x="6162818" y="4430316"/>
            <a:ext cx="5367402" cy="446484"/>
          </a:xfrm>
          <a:prstGeom prst="roundRect">
            <a:avLst>
              <a:gd name="adj" fmla="val 49999"/>
            </a:avLst>
          </a:prstGeom>
          <a:solidFill>
            <a:srgbClr val="3F2077"/>
          </a:solidFill>
          <a:ln w="6350">
            <a:solidFill>
              <a:srgbClr val="4B3082"/>
            </a:solidFill>
            <a:prstDash val="solid"/>
          </a:ln>
        </p:spPr>
      </p:sp>
      <p:sp>
        <p:nvSpPr>
          <p:cNvPr id="20" name="Text 18"/>
          <p:cNvSpPr/>
          <p:nvPr/>
        </p:nvSpPr>
        <p:spPr>
          <a:xfrm>
            <a:off x="8734901" y="4513957"/>
            <a:ext cx="223237" cy="279102"/>
          </a:xfrm>
          <a:prstGeom prst="rect">
            <a:avLst/>
          </a:prstGeom>
          <a:noFill/>
          <a:ln/>
        </p:spPr>
        <p:txBody>
          <a:bodyPr wrap="none" lIns="0" tIns="0" rIns="0" bIns="0" rtlCol="0" anchor="ctr"/>
          <a:lstStyle/>
          <a:p>
            <a:pPr algn="ctr" indent="0" marL="0">
              <a:lnSpc>
                <a:spcPct val="100000"/>
              </a:lnSpc>
              <a:buNone/>
            </a:pPr>
            <a:r>
              <a:rPr lang="en-US" sz="1750" spc="-18" kern="0" dirty="0">
                <a:solidFill>
                  <a:srgbClr val="FFFFFF"/>
                </a:solidFill>
                <a:latin typeface="Alexandria Medium" pitchFamily="34" charset="0"/>
                <a:ea typeface="Alexandria Medium" pitchFamily="34" charset="-122"/>
                <a:cs typeface="Alexandria Medium" pitchFamily="34" charset="-120"/>
              </a:rPr>
              <a:t>6</a:t>
            </a:r>
            <a:endParaRPr lang="en-US" sz="1750" dirty="0"/>
          </a:p>
        </p:txBody>
      </p:sp>
      <p:sp>
        <p:nvSpPr>
          <p:cNvPr id="21" name="Text 19"/>
          <p:cNvSpPr/>
          <p:nvPr/>
        </p:nvSpPr>
        <p:spPr>
          <a:xfrm>
            <a:off x="6311643" y="5010745"/>
            <a:ext cx="5069753" cy="232470"/>
          </a:xfrm>
          <a:prstGeom prst="rect">
            <a:avLst/>
          </a:prstGeom>
          <a:noFill/>
          <a:ln/>
        </p:spPr>
        <p:txBody>
          <a:bodyPr wrap="none" lIns="0" tIns="0" rIns="0" bIns="0" rtlCol="0" anchor="t"/>
          <a:lstStyle/>
          <a:p>
            <a:pPr algn="l" indent="0" marL="0">
              <a:lnSpc>
                <a:spcPct val="104000"/>
              </a:lnSpc>
              <a:buNone/>
            </a:pPr>
            <a:r>
              <a:rPr lang="en-US" sz="1450" spc="-15" kern="0" dirty="0">
                <a:solidFill>
                  <a:srgbClr val="FFFFFF"/>
                </a:solidFill>
                <a:latin typeface="Alexandria Medium" pitchFamily="34" charset="0"/>
                <a:ea typeface="Alexandria Medium" pitchFamily="34" charset="-122"/>
                <a:cs typeface="Alexandria Medium" pitchFamily="34" charset="-120"/>
              </a:rPr>
              <a:t>Dataset Analítico</a:t>
            </a:r>
            <a:endParaRPr lang="en-US" sz="1450" dirty="0"/>
          </a:p>
        </p:txBody>
      </p:sp>
      <p:sp>
        <p:nvSpPr>
          <p:cNvPr id="22" name="Text 20"/>
          <p:cNvSpPr/>
          <p:nvPr/>
        </p:nvSpPr>
        <p:spPr>
          <a:xfrm>
            <a:off x="661475" y="5542756"/>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FFFFFF"/>
                </a:solidFill>
                <a:latin typeface="Manrope" pitchFamily="34" charset="0"/>
                <a:ea typeface="Manrope" pitchFamily="34" charset="-122"/>
                <a:cs typeface="Manrope" pitchFamily="34" charset="-120"/>
              </a:rPr>
              <a:t>Siguiente unidad: </a:t>
            </a:r>
            <a:pPr algn="l" indent="0" marL="0">
              <a:lnSpc>
                <a:spcPct val="127000"/>
              </a:lnSpc>
              <a:buNone/>
            </a:pPr>
            <a:r>
              <a:rPr lang="en-US" sz="1150" b="1" dirty="0">
                <a:solidFill>
                  <a:srgbClr val="FFFFFF"/>
                </a:solidFill>
                <a:latin typeface="Manrope Bold" pitchFamily="34" charset="0"/>
                <a:ea typeface="Manrope Bold" pitchFamily="34" charset="-122"/>
                <a:cs typeface="Manrope Bold" pitchFamily="34" charset="-120"/>
              </a:rPr>
              <a:t>Ingesta, transformación e integración de datos</a:t>
            </a:r>
            <a:endParaRPr lang="en-US" sz="1150" dirty="0"/>
          </a:p>
        </p:txBody>
      </p:sp>
      <p:pic>
        <p:nvPicPr>
          <p:cNvPr id="23" name="Image 0" descr="preencoded.png">    </p:cNvPr>
          <p:cNvPicPr>
            <a:picLocks noChangeAspect="1"/>
          </p:cNvPicPr>
          <p:nvPr/>
        </p:nvPicPr>
        <p:blipFill>
          <a:blip r:embed="rId1"/>
          <a:stretch>
            <a:fillRect/>
          </a:stretch>
        </p:blipFill>
        <p:spPr>
          <a:xfrm>
            <a:off x="198433" y="203597"/>
            <a:ext cx="676357" cy="568623"/>
          </a:xfrm>
          <a:prstGeom prst="rect">
            <a:avLst/>
          </a:prstGeom>
        </p:spPr>
      </p:pic>
      <p:pic>
        <p:nvPicPr>
          <p:cNvPr id="24" name="Image 1" descr="preencoded.png">    </p:cNvPr>
          <p:cNvPicPr>
            <a:picLocks noChangeAspect="1"/>
          </p:cNvPicPr>
          <p:nvPr/>
        </p:nvPicPr>
        <p:blipFill>
          <a:blip r:embed="rId2"/>
          <a:stretch>
            <a:fillRect/>
          </a:stretch>
        </p:blipFill>
        <p:spPr>
          <a:xfrm>
            <a:off x="11386357" y="268784"/>
            <a:ext cx="606906" cy="438249"/>
          </a:xfrm>
          <a:prstGeom prst="rect">
            <a:avLst/>
          </a:prstGeom>
        </p:spPr>
      </p:pic>
      <p:sp>
        <p:nvSpPr>
          <p:cNvPr id="25" name="Text 21"/>
          <p:cNvSpPr/>
          <p:nvPr/>
        </p:nvSpPr>
        <p:spPr>
          <a:xfrm>
            <a:off x="10824991" y="6300589"/>
            <a:ext cx="1168272" cy="138906"/>
          </a:xfrm>
          <a:prstGeom prst="rect">
            <a:avLst/>
          </a:prstGeom>
          <a:noFill/>
          <a:ln/>
        </p:spPr>
        <p:txBody>
          <a:bodyPr wrap="none" lIns="194500" tIns="0" rIns="229232" bIns="0" rtlCol="0" anchor="t"/>
          <a:lstStyle/>
          <a:p>
            <a:pPr algn="r" indent="0" marL="0">
              <a:lnSpc>
                <a:spcPct val="100000"/>
              </a:lnSpc>
              <a:buNone/>
            </a:pPr>
            <a:r>
              <a:rPr lang="en-US" sz="900" dirty="0">
                <a:solidFill>
                  <a:srgbClr val="FFFFFF"/>
                </a:solidFill>
                <a:latin typeface="Manrope" pitchFamily="34" charset="0"/>
                <a:ea typeface="Manrope" pitchFamily="34" charset="-122"/>
                <a:cs typeface="Manrope" pitchFamily="34" charset="-120"/>
              </a:rPr>
              <a:t>45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2026-09-20T13:43:23Z</dcterms:created>
  <dcterms:modified xsi:type="dcterms:W3CDTF">2026-09-20T13:43:23Z</dcterms:modified>
</cp:coreProperties>
</file>