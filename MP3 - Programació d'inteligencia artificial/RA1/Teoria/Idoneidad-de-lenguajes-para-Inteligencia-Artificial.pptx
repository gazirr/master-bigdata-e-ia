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embeddedFontLst>
    <p:embeddedFont>
      <p:font typeface="Alexandria Medium"/>
      <p:regular r:id="rId201314"/>
    </p:embeddedFont>
    <p:embeddedFont>
      <p:font typeface="Manrope"/>
      <p:regular r:id="rId201315"/>
    </p:embeddedFont>
    <p:embeddedFont>
      <p:font typeface="Manrope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CD0F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gasquer@monlau.com" TargetMode="External"/><Relationship Id="rId1" Type="http://schemas.openxmlformats.org/officeDocument/2006/relationships/image" Target="../media/image-1-1.jpe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1-2.png"/><Relationship Id="rId11" Type="http://schemas.openxmlformats.org/officeDocument/2006/relationships/image" Target="../media/image-1-3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1-2.png"/><Relationship Id="rId10" Type="http://schemas.openxmlformats.org/officeDocument/2006/relationships/image" Target="../media/image-1-3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1-2.png"/><Relationship Id="rId12" Type="http://schemas.openxmlformats.org/officeDocument/2006/relationships/image" Target="../media/image-1-3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1-2.png"/><Relationship Id="rId10" Type="http://schemas.openxmlformats.org/officeDocument/2006/relationships/image" Target="../media/image-1-3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-2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-2.png"/><Relationship Id="rId12" Type="http://schemas.openxmlformats.org/officeDocument/2006/relationships/image" Target="../media/image-1-3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1.png"/><Relationship Id="rId6" Type="http://schemas.openxmlformats.org/officeDocument/2006/relationships/image" Target="../media/image-14-2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1.png"/><Relationship Id="rId10" Type="http://schemas.openxmlformats.org/officeDocument/2006/relationships/image" Target="../media/image-14-2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-2.png"/><Relationship Id="rId14" Type="http://schemas.openxmlformats.org/officeDocument/2006/relationships/image" Target="../media/image-1-3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1-2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50938"/>
            <a:ext cx="6296860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Idoneidad de lenguajes para Inteligencia Artificial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61475" y="3025874"/>
            <a:ext cx="6296860" cy="188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b="1" dirty="0">
                <a:solidFill>
                  <a:srgbClr val="4950B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RA1 · 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Cómo elegir y justificar la tecnología adecuada para cada proyecto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b="1" dirty="0">
                <a:solidFill>
                  <a:srgbClr val="4950B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 · Especialización en IA y Big Data 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Rubén Gasque Todolí 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u="sng" dirty="0">
                <a:solidFill>
                  <a:srgbClr val="244EA8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gasquer@monlau.com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471" y="268784"/>
            <a:ext cx="606906" cy="4382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342995" y="6300589"/>
            <a:ext cx="1078382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8206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Objetivos de la presentación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44355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00000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705497"/>
            <a:ext cx="3512653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826246"/>
            <a:ext cx="351265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Comprender qué significa idoneidad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3442395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Qué significa que un lenguaje sea idóneo para un proyecto concreto.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39422" y="244355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00000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9422" y="2722066"/>
            <a:ext cx="3512752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9" name="Text 7"/>
          <p:cNvSpPr/>
          <p:nvPr/>
        </p:nvSpPr>
        <p:spPr>
          <a:xfrm>
            <a:off x="4339422" y="2826246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Criterios de selección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39422" y="3183930"/>
            <a:ext cx="351275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Identificar los principales criterios para evaluar y comparar lenguajes.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17468" y="244355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00000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7468" y="2722066"/>
            <a:ext cx="3512653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3" name="Text 11"/>
          <p:cNvSpPr/>
          <p:nvPr/>
        </p:nvSpPr>
        <p:spPr>
          <a:xfrm>
            <a:off x="8017468" y="2826246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Fortalezas y limitaciones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17468" y="3183930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Comparar distintos lenguajes: Python, R, C/C++, Java/C#, JavaScript, Julia.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1475" y="426094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00000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4506416"/>
            <a:ext cx="3512653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643636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Requisitos y tecnologías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1475" y="5001320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Relacionar las necesidades técnicas de un proyecto con las tecnologías disponibles.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39422" y="426094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00000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39422" y="4506416"/>
            <a:ext cx="3512752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21" name="Text 19"/>
          <p:cNvSpPr/>
          <p:nvPr/>
        </p:nvSpPr>
        <p:spPr>
          <a:xfrm>
            <a:off x="4339422" y="4643636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Proyectos multilenguaje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39422" y="5001320"/>
            <a:ext cx="3512752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Comprender que una aplicación puede combinar varios lenguajes y tecnologías.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17468" y="426094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13" kern="0" dirty="0">
                <a:solidFill>
                  <a:srgbClr val="000000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06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17468" y="4506416"/>
            <a:ext cx="3512653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25" name="Text 23"/>
          <p:cNvSpPr/>
          <p:nvPr/>
        </p:nvSpPr>
        <p:spPr>
          <a:xfrm>
            <a:off x="8017468" y="4643636"/>
            <a:ext cx="351265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Justificar una elección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017468" y="5001320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Argumentar razonadamente por qué se elige un lenguaje o stack tecnológico.</a:t>
            </a:r>
            <a:endParaRPr lang="en-US" sz="13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0894045" y="6300589"/>
            <a:ext cx="1099217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4115"/>
            <a:ext cx="10868745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spc="-17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¿Qué significa "idoneidad"?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661475" y="1441252"/>
            <a:ext cx="11478330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idoneidad es el </a:t>
            </a:r>
            <a:pPr algn="l" indent="0" marL="0">
              <a:lnSpc>
                <a:spcPct val="111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grado en que un lenguaje y su ecosistema se adaptan a los requisitos de un proyecto concreto</a:t>
            </a:r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No es una propiedad del lenguaje en abstracto, sino de su encaje con un contexto específico.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4060" y="1673820"/>
            <a:ext cx="6383575" cy="37887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47124" y="4583761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spc="-19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Selección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347307" y="4583761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spc="-19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Evaluación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3314884" y="4583761"/>
            <a:ext cx="1586812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spc="-19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Requisitos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546527"/>
            <a:ext cx="10868745" cy="297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idoneidad no depende solo del lenguaje, sino también de sus </a:t>
            </a:r>
            <a:pPr algn="l" indent="0" marL="0">
              <a:lnSpc>
                <a:spcPct val="111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bibliotecas, herramientas, runtimes, comunidad y entorno de ejecución</a:t>
            </a:r>
            <a:pPr algn="l" indent="0" marL="0">
              <a:lnSpc>
                <a:spcPct val="111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Un lenguaje no existe en el vacío: su ecosistema forma parte de la decisión.</a:t>
            </a:r>
            <a:endParaRPr lang="en-US" sz="8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96030" y="6300589"/>
            <a:ext cx="1097233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2264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 existe un lenguaje universalmente mejor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1475" y="2566789"/>
            <a:ext cx="3512653" cy="2017911"/>
          </a:xfrm>
          <a:prstGeom prst="roundRect">
            <a:avLst>
              <a:gd name="adj" fmla="val 12294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3119" y="2738438"/>
            <a:ext cx="31693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Proyecto A · Análisis rápido de datos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3119" y="3354586"/>
            <a:ext cx="31693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Prioridades: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rapidez de experimentación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acceso a herramientas estadísticas, visualización y manipulación de datos.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39422" y="2566789"/>
            <a:ext cx="3512752" cy="2017911"/>
          </a:xfrm>
          <a:prstGeom prst="roundRect">
            <a:avLst>
              <a:gd name="adj" fmla="val 12294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11066" y="2738438"/>
            <a:ext cx="31694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Proyecto B · Robot con visión artificial en tiempo real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11066" y="3354586"/>
            <a:ext cx="31694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Prioridades: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baja latencia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control de hardware, eficiencia de memoria y acceso a aceleradores.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17468" y="2566789"/>
            <a:ext cx="3512653" cy="2017911"/>
          </a:xfrm>
          <a:prstGeom prst="roundRect">
            <a:avLst>
              <a:gd name="adj" fmla="val 12294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9112" y="2738438"/>
            <a:ext cx="31693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Proyecto C · Aplicación empresarial con 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9112" y="3354586"/>
            <a:ext cx="3169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Prioridades: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integración con sistemas existentes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escalabilidad, seguridad y mantenimiento a largo plazo.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82" y="477073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Un lenguaje puede ser excelente para un proyecto y poco adecuado para otro.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891763" y="6300589"/>
            <a:ext cx="1101499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9785"/>
            <a:ext cx="1086874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Los criterios de decisión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61475" y="1564084"/>
            <a:ext cx="1147833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importancia de cada criterio </a:t>
            </a:r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cambia según el proyecto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No hay una ponderación universal: cada contexto requiere una evaluación propia.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207070" y="2107307"/>
            <a:ext cx="332315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Productividad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3772" y="1988245"/>
            <a:ext cx="3804051" cy="38041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46775" y="2508647"/>
            <a:ext cx="208751" cy="26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07070" y="2944316"/>
            <a:ext cx="332315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Ecosistema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772" y="1988245"/>
            <a:ext cx="3804051" cy="380414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44365" y="3094038"/>
            <a:ext cx="208751" cy="26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07070" y="3781326"/>
            <a:ext cx="332315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Comunidad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772" y="1988245"/>
            <a:ext cx="3804051" cy="380414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02516" y="3990975"/>
            <a:ext cx="208751" cy="26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207070" y="4618335"/>
            <a:ext cx="332315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Rendimiento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772" y="1988245"/>
            <a:ext cx="3804051" cy="380414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47212" y="4779764"/>
            <a:ext cx="208751" cy="26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8207070" y="5455345"/>
            <a:ext cx="332315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Portabilidad</a:t>
            </a:r>
            <a:endParaRPr lang="en-US" sz="13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772" y="1988245"/>
            <a:ext cx="3804051" cy="380414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991373" y="5091212"/>
            <a:ext cx="208751" cy="26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661475" y="5350669"/>
            <a:ext cx="332305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Interoperabilidad</a:t>
            </a:r>
            <a:endParaRPr lang="en-US" sz="13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3772" y="1988245"/>
            <a:ext cx="3804051" cy="380414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35533" y="4779764"/>
            <a:ext cx="208751" cy="26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661475" y="4304407"/>
            <a:ext cx="332305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Hardware</a:t>
            </a:r>
            <a:endParaRPr lang="en-US" sz="13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3772" y="1988245"/>
            <a:ext cx="3804051" cy="3804146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680230" y="3990975"/>
            <a:ext cx="208751" cy="26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7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661475" y="3258145"/>
            <a:ext cx="332305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Herramientas</a:t>
            </a:r>
            <a:endParaRPr lang="en-US" sz="13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3772" y="1988245"/>
            <a:ext cx="3804051" cy="380414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4838381" y="3094038"/>
            <a:ext cx="208751" cy="26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18"/>
          <p:cNvSpPr/>
          <p:nvPr/>
        </p:nvSpPr>
        <p:spPr>
          <a:xfrm>
            <a:off x="661475" y="2211884"/>
            <a:ext cx="3323050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Despliegue</a:t>
            </a:r>
            <a:endParaRPr lang="en-US" sz="135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3772" y="1988245"/>
            <a:ext cx="3804051" cy="3804146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535970" y="2508647"/>
            <a:ext cx="208751" cy="26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spc="-11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9</a:t>
            </a:r>
            <a:endParaRPr lang="en-US" sz="1600" dirty="0"/>
          </a:p>
        </p:txBody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10893152" y="6300589"/>
            <a:ext cx="1100110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5816"/>
            <a:ext cx="10868745" cy="400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spc="-2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Facilidad de aprendizaje y productividad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86719"/>
            <a:ext cx="5356786" cy="12064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858" y="1865908"/>
            <a:ext cx="4922218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Sintaxis y legibilidad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916858" y="2209304"/>
            <a:ext cx="4922218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Una sintaxis clara reduce la carga cognitiva y facilita la colaboración entre perfiles distintos.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3435" y="1686719"/>
            <a:ext cx="5356786" cy="12064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28817" y="1865908"/>
            <a:ext cx="4922218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Tiempo de implementación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6428817" y="2209304"/>
            <a:ext cx="4922218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¿Cuánto tarda un equipo en construir y probar una solución funcional desde cero?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048298"/>
            <a:ext cx="5356786" cy="120640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6858" y="3227487"/>
            <a:ext cx="4922218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Facilidad para experimentar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916858" y="3570883"/>
            <a:ext cx="4922218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capacidad de iterar rápidamente sobre hipótesis es muy valiosa en proyectos de IA.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3435" y="3048298"/>
            <a:ext cx="5356786" cy="12064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28817" y="3227487"/>
            <a:ext cx="4922218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Depuración y herramientas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6428817" y="3570883"/>
            <a:ext cx="4922218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Disponibilidad de herramientas de debugging, testing y ejemplos aplicables al dominio.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546086" y="4429224"/>
            <a:ext cx="5469694" cy="1455241"/>
          </a:xfrm>
          <a:prstGeom prst="roundRect">
            <a:avLst>
              <a:gd name="adj" fmla="val 26424"/>
            </a:avLst>
          </a:prstGeom>
          <a:solidFill>
            <a:srgbClr val="4950BC"/>
          </a:solidFill>
          <a:ln/>
        </p:spPr>
      </p:sp>
      <p:sp>
        <p:nvSpPr>
          <p:cNvPr id="16" name="Text 10"/>
          <p:cNvSpPr/>
          <p:nvPr/>
        </p:nvSpPr>
        <p:spPr>
          <a:xfrm>
            <a:off x="706221" y="4584402"/>
            <a:ext cx="5149424" cy="500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FFFFFF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Facilidad de aprender ≠ facilidad de desarrollar proyectos grandes</a:t>
            </a:r>
            <a:endParaRPr lang="en-US" sz="1550" dirty="0"/>
          </a:p>
        </p:txBody>
      </p:sp>
      <p:sp>
        <p:nvSpPr>
          <p:cNvPr id="17" name="Text 11"/>
          <p:cNvSpPr/>
          <p:nvPr/>
        </p:nvSpPr>
        <p:spPr>
          <a:xfrm>
            <a:off x="706221" y="5240238"/>
            <a:ext cx="5149424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lenguaje fácil de aprender puede requerir mayor rigor de ingeniería para proyectos complejos y mantenibles.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6297653" y="4584402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En IA, reducir el tiempo de infraestructura importa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297653" y="4989909"/>
            <a:ext cx="5238917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Concentrarse en los datos y los modelos en lugar de en detalles de bajo nivel puede acelerar significativamente la investigación y el desarrollo.</a:t>
            </a:r>
            <a:endParaRPr lang="en-US" sz="12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888192" y="6302871"/>
            <a:ext cx="1105071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4545"/>
            <a:ext cx="10868745" cy="38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2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Ecosistema de bibliotecas y frameworks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786731"/>
            <a:ext cx="10868745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El ecosistema disponible determina en gran medida qué se puede construir, con cuánto esfuerzo y con qué nivel de fiabilidad. Un ecosistema amplio evita implementar desde cero componentes complejos y ampliamente probados.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2413695"/>
            <a:ext cx="3529222" cy="1706860"/>
          </a:xfrm>
          <a:prstGeom prst="roundRect">
            <a:avLst>
              <a:gd name="adj" fmla="val 13399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0221" y="2572445"/>
            <a:ext cx="457387" cy="457398"/>
          </a:xfrm>
          <a:prstGeom prst="ellipse">
            <a:avLst/>
          </a:prstGeom>
          <a:solidFill>
            <a:srgbClr val="D4CC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6027" y="2698155"/>
            <a:ext cx="205775" cy="2057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0221" y="3170337"/>
            <a:ext cx="321173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0221" y="3492897"/>
            <a:ext cx="3211730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NumPy, pandas — manipulación y análisis de datos estructurados.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1187" y="2413695"/>
            <a:ext cx="3529222" cy="1706860"/>
          </a:xfrm>
          <a:prstGeom prst="roundRect">
            <a:avLst>
              <a:gd name="adj" fmla="val 13399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9933" y="2572445"/>
            <a:ext cx="457387" cy="457398"/>
          </a:xfrm>
          <a:prstGeom prst="ellipse">
            <a:avLst/>
          </a:prstGeom>
          <a:solidFill>
            <a:srgbClr val="D4CCF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5739" y="2698155"/>
            <a:ext cx="205775" cy="2057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9933" y="3170337"/>
            <a:ext cx="321173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Machine Learning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489933" y="3492897"/>
            <a:ext cx="3211730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scikit-learn — algoritmos clásicos, validación y preprocesamiento.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00899" y="2413695"/>
            <a:ext cx="3529321" cy="1706860"/>
          </a:xfrm>
          <a:prstGeom prst="roundRect">
            <a:avLst>
              <a:gd name="adj" fmla="val 13399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59645" y="2572445"/>
            <a:ext cx="457387" cy="457398"/>
          </a:xfrm>
          <a:prstGeom prst="ellipse">
            <a:avLst/>
          </a:prstGeom>
          <a:solidFill>
            <a:srgbClr val="D4CC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5451" y="2698155"/>
            <a:ext cx="205775" cy="2057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59645" y="3170337"/>
            <a:ext cx="3211829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Deep Learning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159645" y="3492897"/>
            <a:ext cx="3211829" cy="46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PyTorch, TensorFlow/Keras — redes neuronales y modelos complejos.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61475" y="4261048"/>
            <a:ext cx="5364128" cy="1472406"/>
          </a:xfrm>
          <a:prstGeom prst="roundRect">
            <a:avLst>
              <a:gd name="adj" fmla="val 15533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0221" y="4419798"/>
            <a:ext cx="457387" cy="457398"/>
          </a:xfrm>
          <a:prstGeom prst="ellipse">
            <a:avLst/>
          </a:prstGeom>
          <a:solidFill>
            <a:srgbClr val="D4CC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6027" y="4545509"/>
            <a:ext cx="205775" cy="2057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0221" y="5017691"/>
            <a:ext cx="5046635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Visión artificial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20221" y="5340251"/>
            <a:ext cx="5046635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OpenCV — procesamiento de imágenes y visión por computador.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166093" y="4261048"/>
            <a:ext cx="5364128" cy="1472406"/>
          </a:xfrm>
          <a:prstGeom prst="roundRect">
            <a:avLst>
              <a:gd name="adj" fmla="val 15533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324839" y="4419798"/>
            <a:ext cx="457387" cy="457398"/>
          </a:xfrm>
          <a:prstGeom prst="ellipse">
            <a:avLst/>
          </a:prstGeom>
          <a:solidFill>
            <a:srgbClr val="D4CCFA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50645" y="4545509"/>
            <a:ext cx="205775" cy="2057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24839" y="5017691"/>
            <a:ext cx="5046635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Despliegue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324839" y="5340251"/>
            <a:ext cx="5046635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ONNX Runtime y otras herramientas para servir modelos en producción.</a:t>
            </a:r>
            <a:endParaRPr lang="en-US" sz="12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901884" y="6300589"/>
            <a:ext cx="1091379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9812"/>
            <a:ext cx="10868745" cy="394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spc="-2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Comunidad, documentación y soporte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34344"/>
            <a:ext cx="3522773" cy="18822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28308" y="1852513"/>
            <a:ext cx="189106" cy="236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spc="-1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38080" y="2364879"/>
            <a:ext cx="316956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Documentación oficial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38080" y="2701230"/>
            <a:ext cx="3169563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Calidad, exhaustividad y actualización de la documentación de referencia del lenguaje y sus principales bibliotecas.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4461" y="1734344"/>
            <a:ext cx="3522773" cy="18822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01294" y="1852513"/>
            <a:ext cx="189106" cy="236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spc="-1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511066" y="2364879"/>
            <a:ext cx="316956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Comunidad activa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511066" y="2701230"/>
            <a:ext cx="3169563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Foros, grupos, conferencias, canales de soporte donde resolver dudas y compartir conocimiento.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07447" y="1734344"/>
            <a:ext cx="3522773" cy="188227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4281" y="1852513"/>
            <a:ext cx="189106" cy="236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spc="-1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184052" y="2364879"/>
            <a:ext cx="3169563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Ejemplos y tutoriales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8184052" y="2701230"/>
            <a:ext cx="3169563" cy="7387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Disponibilidad de materiales de aprendizaje aplicados al dominio de IA y ciencia de datos.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766840"/>
            <a:ext cx="10868745" cy="138975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001294" y="3885009"/>
            <a:ext cx="189106" cy="236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spc="-1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838080" y="4397375"/>
            <a:ext cx="1051553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Evolución y mantenimiento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838080" y="4733727"/>
            <a:ext cx="1051553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Frecuencia de actualizaciones, corrección de errores y adopción de nuevas capacidades.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661475" y="5325566"/>
            <a:ext cx="10868745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Una comunidad grande puede facilitar la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resolución de errores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la disponibilidad de librerías, la actualización tecnológica, la contratación de perfiles y el acceso a recursos de aprendizaje. El tamaño de la comunidad es importante, pero también lo son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la calidad del ecosistema y su mantenimiento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2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892855" y="6300589"/>
            <a:ext cx="1100408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87425"/>
            <a:ext cx="10868745" cy="400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spc="-2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Rendimiento y eficiencia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61475" y="1698327"/>
            <a:ext cx="3519399" cy="1433314"/>
          </a:xfrm>
          <a:prstGeom prst="roundRect">
            <a:avLst>
              <a:gd name="adj" fmla="val 16768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7960" y="1864816"/>
            <a:ext cx="3186430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Tiempo de ejecución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27960" y="2208213"/>
            <a:ext cx="3186430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Velocidad con la que el sistema procesa una tarea. Crítico en entrenamientos largos o inferencias frecuentes.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36049" y="1698327"/>
            <a:ext cx="3519499" cy="1433314"/>
          </a:xfrm>
          <a:prstGeom prst="roundRect">
            <a:avLst>
              <a:gd name="adj" fmla="val 16768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02533" y="1864816"/>
            <a:ext cx="3186529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Memoria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02533" y="2208213"/>
            <a:ext cx="3186529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Cantidad de recursos utilizados. Especialmente relevante en dispositivos con recursos limitados.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10721" y="1698327"/>
            <a:ext cx="3519499" cy="1433314"/>
          </a:xfrm>
          <a:prstGeom prst="roundRect">
            <a:avLst>
              <a:gd name="adj" fmla="val 16768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77206" y="1864816"/>
            <a:ext cx="3186529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Paralelización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177206" y="2208213"/>
            <a:ext cx="3186529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Capacidad de usar múltiples núcleos, GPUs o aceleradores especializados para dividir el trabajo.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1475" y="3286820"/>
            <a:ext cx="10868745" cy="928687"/>
          </a:xfrm>
          <a:prstGeom prst="roundRect">
            <a:avLst>
              <a:gd name="adj" fmla="val 25879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960" y="3453309"/>
            <a:ext cx="10535775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Latencia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27960" y="3796705"/>
            <a:ext cx="10535775" cy="252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Tiempo desde que llega una entrada hasta que se obtiene una respuesta. Determinante en sistemas en tiempo real.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1475" y="4545211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Contextos exigentes en rendimiento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61475" y="4950718"/>
            <a:ext cx="5238917" cy="865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Entrenar un modelo de Deep Learning con millones de parámetros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Inferencia en tiempo real sobre vídeo o señal de sensor</a:t>
            </a:r>
            <a:endParaRPr lang="en-US" sz="1250" dirty="0"/>
          </a:p>
          <a:p>
            <a:pPr algn="l" marL="254000" indent="-254000">
              <a:lnSpc>
                <a:spcPct val="131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Procesar millones de registros en batch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297653" y="4545211"/>
            <a:ext cx="5238917" cy="2503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 siempre es la prioridad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297653" y="4950718"/>
            <a:ext cx="5238917" cy="7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todos los proyectos necesitan maximizar el rendimiento. En análisis exploratorio o prototipado, la productividad puede valer más que la velocidad de ejecución.</a:t>
            </a:r>
            <a:endParaRPr lang="en-US" sz="12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888192" y="6300589"/>
            <a:ext cx="1105071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2924"/>
            <a:ext cx="10868745" cy="374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spc="-2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El rendimiento no depende solo del lenguaje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659235"/>
            <a:ext cx="108687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Aunque el código Python puro puede ser más lento que C/C++, gran parte del ecosistema científico utiliza </a:t>
            </a:r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implementaciones internas optimizadas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que se ejecutan a velocidad nativa.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69232"/>
            <a:ext cx="5434373" cy="599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1291" y="3004542"/>
            <a:ext cx="5134740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Python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11291" y="3320157"/>
            <a:ext cx="51347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Scripts, notebooks, APIs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8" y="2269232"/>
            <a:ext cx="5434373" cy="599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45664" y="3004542"/>
            <a:ext cx="5134740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NumPy · PyTorch · TensorFlow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245664" y="3320157"/>
            <a:ext cx="51347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Bibliotecas de alto nivel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698577"/>
            <a:ext cx="5434373" cy="599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1291" y="4433887"/>
            <a:ext cx="5134740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C/C++ · CUDA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811291" y="4749502"/>
            <a:ext cx="51347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Backends optimizados internos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3698577"/>
            <a:ext cx="5434373" cy="599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45664" y="4433887"/>
            <a:ext cx="5134740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CPU · GPU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245664" y="4749502"/>
            <a:ext cx="51347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Ejecución en hardware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661475" y="5280720"/>
            <a:ext cx="1147833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90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ruta exacta varía según la biblioteca; no todas utilizan GPU.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356682" y="5616377"/>
            <a:ext cx="114783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La eficiencia depende del stack completo, no solo del lenguaje.</a:t>
            </a:r>
            <a:endParaRPr lang="en-US" sz="11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844338" y="6300589"/>
            <a:ext cx="1148924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9903"/>
            <a:ext cx="10868745" cy="374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spc="-2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Portabilidad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776214"/>
            <a:ext cx="114783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¿Dónde debe ejecutarse la aplicación? La respuesta define qué lenguajes, runtimes y dependencias son viables.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157611"/>
            <a:ext cx="299732" cy="2997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0966" y="2209105"/>
            <a:ext cx="3040185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Escritorio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30966" y="2524720"/>
            <a:ext cx="30401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Windows, Linux, macOS. La mayoría de lenguajes principales ofrecen soporte multiplataforma.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0910" y="2157611"/>
            <a:ext cx="299732" cy="2997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10402" y="2209105"/>
            <a:ext cx="3040284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Servidor y Cloud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810402" y="2524720"/>
            <a:ext cx="30402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Entornos Linux, contenedores Docker, plataformas cloud gestionadas.</a:t>
            </a:r>
            <a:endParaRPr lang="en-US" sz="11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0445" y="2157611"/>
            <a:ext cx="299732" cy="2997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89936" y="2209105"/>
            <a:ext cx="3040185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Navegador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8489936" y="2524720"/>
            <a:ext cx="30401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Ejecución en cliente. Restricciones de sandbox y dependencia del motor del navegador.</a:t>
            </a:r>
            <a:endParaRPr lang="en-US" sz="11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482181"/>
            <a:ext cx="299732" cy="2997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30966" y="3533676"/>
            <a:ext cx="3040185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Móvil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130966" y="3849291"/>
            <a:ext cx="30401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iOS, Android. Restricciones de memoria y batería. Runtimes específicos para modelos ligeros.</a:t>
            </a:r>
            <a:endParaRPr lang="en-US" sz="11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0910" y="3482181"/>
            <a:ext cx="299732" cy="2997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10402" y="3533676"/>
            <a:ext cx="3040284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Dispositivo edge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4810402" y="3849291"/>
            <a:ext cx="30402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Microcontroladores, Raspberry Pi, sistemas embebidos. Recursos habitualmente más limitados que en servidores o cloud.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661475" y="4687888"/>
            <a:ext cx="2615242" cy="1040209"/>
          </a:xfrm>
          <a:prstGeom prst="roundRect">
            <a:avLst>
              <a:gd name="adj" fmla="val 21614"/>
            </a:avLst>
          </a:prstGeom>
          <a:solidFill>
            <a:srgbClr val="ACD0FE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830341" y="4856758"/>
            <a:ext cx="2277509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¿Existe runtime para esa plataforma?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3412544" y="4687888"/>
            <a:ext cx="2615341" cy="1040209"/>
          </a:xfrm>
          <a:prstGeom prst="roundRect">
            <a:avLst>
              <a:gd name="adj" fmla="val 21614"/>
            </a:avLst>
          </a:prstGeom>
          <a:solidFill>
            <a:srgbClr val="ACD0FE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3581410" y="4856758"/>
            <a:ext cx="2277609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¿Las dependencias funcionan allí?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6163711" y="4687888"/>
            <a:ext cx="2615341" cy="1040209"/>
          </a:xfrm>
          <a:prstGeom prst="roundRect">
            <a:avLst>
              <a:gd name="adj" fmla="val 21614"/>
            </a:avLst>
          </a:prstGeom>
          <a:solidFill>
            <a:srgbClr val="ACD0FE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332578" y="4856758"/>
            <a:ext cx="2277609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¿El modelo puede ejecutarse?</a:t>
            </a:r>
            <a:endParaRPr lang="en-US" sz="1450" dirty="0"/>
          </a:p>
        </p:txBody>
      </p:sp>
      <p:sp>
        <p:nvSpPr>
          <p:cNvPr id="25" name="Shape 18"/>
          <p:cNvSpPr/>
          <p:nvPr/>
        </p:nvSpPr>
        <p:spPr>
          <a:xfrm>
            <a:off x="8914879" y="4687888"/>
            <a:ext cx="2615341" cy="1040209"/>
          </a:xfrm>
          <a:prstGeom prst="roundRect">
            <a:avLst>
              <a:gd name="adj" fmla="val 21614"/>
            </a:avLst>
          </a:prstGeom>
          <a:solidFill>
            <a:srgbClr val="ACD0FE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9083745" y="4856758"/>
            <a:ext cx="2277609" cy="702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¿Hay límites de memoria o arquitectura?</a:t>
            </a:r>
            <a:endParaRPr lang="en-US" sz="14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869737" y="6300589"/>
            <a:ext cx="1123525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2869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Los lenguajes no trabajan aislados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107009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interoperabilidad permite combinar las fortalezas de distintos lenguajes y sistemas dentro de una misma arquitectura.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Elegir un lenguaje no implica excluir los demás.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98757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Formas habituales de interoperabilidad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475" y="3411339"/>
            <a:ext cx="5232666" cy="202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 puede llamar código C/C++ mediante extensiones nativas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Aplicaciones Java/C# pueden consumir modelos mediante APIs REST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Los modelos pueden exportarse a formatos interoperables como ONNX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e interfaz pueden utilizar tecnologías completamente diferentes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84844" y="2822277"/>
            <a:ext cx="5470785" cy="2672755"/>
          </a:xfrm>
          <a:prstGeom prst="roundRect">
            <a:avLst>
              <a:gd name="adj" fmla="val 14851"/>
            </a:avLst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6350139" y="298757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Ejemplo de arquitectura multilenguaje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0139" y="3411339"/>
            <a:ext cx="5140196" cy="1918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Python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entrenamiento del modelo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↓ Servicio / API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Java / C#</a:t>
            </a:r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backend empresarial</a:t>
            </a:r>
            <a:endParaRPr lang="en-US" sz="1300" dirty="0"/>
          </a:p>
          <a:p>
            <a:pPr algn="l" indent="0" marL="0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↓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JavaScript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interfaz de usuario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848902" y="6300589"/>
            <a:ext cx="1144360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2924"/>
            <a:ext cx="10868745" cy="38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2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Hardware y aceleración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61475" y="1675110"/>
            <a:ext cx="3529222" cy="1343422"/>
          </a:xfrm>
          <a:prstGeom prst="roundRect">
            <a:avLst>
              <a:gd name="adj" fmla="val 17024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0221" y="1833860"/>
            <a:ext cx="321173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CPU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0221" y="2156420"/>
            <a:ext cx="3211730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Procesador de propósito general. Adecuado para cargas moderadas y tareas secuenciales.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31187" y="1675110"/>
            <a:ext cx="3529222" cy="1343422"/>
          </a:xfrm>
          <a:prstGeom prst="roundRect">
            <a:avLst>
              <a:gd name="adj" fmla="val 17024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9933" y="1833860"/>
            <a:ext cx="3211730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GPU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89933" y="2156420"/>
            <a:ext cx="3211730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Paralelización masiva. Especialmente útil para entrenar modelos de Deep Learning de forma eficiente.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00899" y="1675110"/>
            <a:ext cx="3529321" cy="1343422"/>
          </a:xfrm>
          <a:prstGeom prst="roundRect">
            <a:avLst>
              <a:gd name="adj" fmla="val 17024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59645" y="1833860"/>
            <a:ext cx="3211829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TPU / Aceleradores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59645" y="2156420"/>
            <a:ext cx="3211829" cy="703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Hardware especializado para redes neuronales. Rendimiento muy alto en operaciones matriciales.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1475" y="3159026"/>
            <a:ext cx="10868745" cy="874514"/>
          </a:xfrm>
          <a:prstGeom prst="roundRect">
            <a:avLst>
              <a:gd name="adj" fmla="val 26152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221" y="3317776"/>
            <a:ext cx="10551253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Dispositivos edge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0221" y="3640336"/>
            <a:ext cx="10551253" cy="234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Microcontroladores y sistemas embebidos con recursos muy limitados. Requieren modelos compactos.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1475" y="4332089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Preguntas de selección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1475" y="4710807"/>
            <a:ext cx="5248441" cy="1085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¿El lenguaje o la biblioteca tienen soporte GPU?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¿Las librerías pueden usar CUDA u otros aceleradores?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¿Puede ejecutarse en arquitectura ARM?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¿Necesita hardware especializado no disponible en producción?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8129" y="4332089"/>
            <a:ext cx="5248441" cy="238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spc="-15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Ejemplos contextuales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88129" y="4710807"/>
            <a:ext cx="5248441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Entrenamiento de Deep Learning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GPU habitualmente muy recomendable.</a:t>
            </a:r>
            <a:endParaRPr lang="en-US" sz="1200" dirty="0"/>
          </a:p>
          <a:p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Microcontrolador embebido</a:t>
            </a:r>
            <a:pPr algn="l" marL="243840" indent="-243840">
              <a:lnSpc>
                <a:spcPct val="128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→ recursos muy limitados, sin GPU</a:t>
            </a:r>
            <a:endParaRPr lang="en-US" sz="12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850886" y="6300589"/>
            <a:ext cx="1142376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5882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Entornos y herramientas de desarrollo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02966"/>
            <a:ext cx="3512653" cy="228094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3781" y="2442766"/>
            <a:ext cx="248041" cy="2480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45819" y="2983409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IDEs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45819" y="3341092"/>
            <a:ext cx="314396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VS Code, PyCharm, IntelliJ, Visual Studio. Entornos completos con autocompletado, refactoring y depuración integrada.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9422" y="2302966"/>
            <a:ext cx="3512752" cy="228094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71728" y="2442766"/>
            <a:ext cx="248041" cy="24804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23766" y="2983409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Notebooks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523766" y="3341092"/>
            <a:ext cx="31440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Jupyter, Google Colab. Entornos interactivos orientados a la exploración de datos y experimentación iterativa, distintos de un IDE tradicional.</a:t>
            </a:r>
            <a:endParaRPr lang="en-US" sz="13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17468" y="2302966"/>
            <a:ext cx="3512653" cy="2280940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49774" y="2442766"/>
            <a:ext cx="248041" cy="24804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201812" y="2983409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Herramientas de calidad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8201812" y="3341092"/>
            <a:ext cx="314396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Debugging, testing automatizado, linters y control de versiones. Fundamentales para proyectos mantenibles.</a:t>
            </a:r>
            <a:endParaRPr lang="en-US" sz="1300" dirty="0"/>
          </a:p>
        </p:txBody>
      </p:sp>
      <p:sp>
        <p:nvSpPr>
          <p:cNvPr id="15" name="Text 7"/>
          <p:cNvSpPr/>
          <p:nvPr/>
        </p:nvSpPr>
        <p:spPr>
          <a:xfrm>
            <a:off x="661475" y="4769941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buen ecosistema de desarrollo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aumenta la productividad y facilita el mantenimiento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 lo largo del tiempo. La disponibilidad de estas herramientas para un lenguaje concreto es un factor relevante en la decisión.</a:t>
            </a:r>
            <a:endParaRPr lang="en-US" sz="13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0846620" y="6300589"/>
            <a:ext cx="1146642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2648"/>
            <a:ext cx="10868745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spc="-2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Despliegue y mantenimiento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61475" y="1637605"/>
            <a:ext cx="1147833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 elección tecnológica también debe considerar </a:t>
            </a:r>
            <a:pPr algn="l"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qué ocurre después de entrenar el modelo</a:t>
            </a:r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El ciclo de vida completo influye en la idoneidad.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0616" y="1997075"/>
            <a:ext cx="5030364" cy="1972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01055" y="2093789"/>
            <a:ext cx="920847" cy="295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spc="-9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Desarrollo del modelo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7569601" y="2093789"/>
            <a:ext cx="920848" cy="295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9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Integración en sistema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569601" y="3576391"/>
            <a:ext cx="920848" cy="295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spc="-9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Despliegue en producción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701055" y="3576391"/>
            <a:ext cx="920847" cy="295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00" spc="-9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Monitorización y actualización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61475" y="4111526"/>
            <a:ext cx="2622187" cy="1723727"/>
          </a:xfrm>
          <a:prstGeom prst="roundRect">
            <a:avLst>
              <a:gd name="adj" fmla="val 12593"/>
            </a:avLst>
          </a:prstGeom>
          <a:solidFill>
            <a:srgbClr val="ACD0FE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5182" y="4275237"/>
            <a:ext cx="229477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APIs y contenedores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5182" y="4577159"/>
            <a:ext cx="2294773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¿El lenguaje facilita exponer el modelo como servicio REST o integrarlo en Docker?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10262" y="4111526"/>
            <a:ext cx="2622286" cy="1723727"/>
          </a:xfrm>
          <a:prstGeom prst="roundRect">
            <a:avLst>
              <a:gd name="adj" fmla="val 12593"/>
            </a:avLst>
          </a:prstGeom>
          <a:solidFill>
            <a:srgbClr val="ACD0FE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73968" y="4275237"/>
            <a:ext cx="229487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Cloud e integración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573968" y="4577159"/>
            <a:ext cx="229487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Compatibilidad con plataformas cloud y sistemas empresariales existentes.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59147" y="4111526"/>
            <a:ext cx="2622187" cy="1723727"/>
          </a:xfrm>
          <a:prstGeom prst="roundRect">
            <a:avLst>
              <a:gd name="adj" fmla="val 12593"/>
            </a:avLst>
          </a:prstGeom>
          <a:solidFill>
            <a:srgbClr val="ACD0FE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22854" y="4275237"/>
            <a:ext cx="229477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Actualización de dependencias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322854" y="4803180"/>
            <a:ext cx="2294773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¿Cómo de complejo es mantener el stack actualizado sin romper el sistema en producción?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907934" y="4111526"/>
            <a:ext cx="2622286" cy="1723727"/>
          </a:xfrm>
          <a:prstGeom prst="roundRect">
            <a:avLst>
              <a:gd name="adj" fmla="val 12593"/>
            </a:avLst>
          </a:prstGeom>
          <a:solidFill>
            <a:srgbClr val="ACD0FE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71641" y="4275237"/>
            <a:ext cx="229487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Monitorización y versionado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071641" y="4803180"/>
            <a:ext cx="2294872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Herramientas para seguir el rendimiento del modelo y gestionar versiones en producción.</a:t>
            </a:r>
            <a:endParaRPr lang="en-US" sz="11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848009" y="6300589"/>
            <a:ext cx="1145253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32955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Python — ecosistema y productividad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559745"/>
            <a:ext cx="33163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Fortalezas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983508"/>
            <a:ext cx="3316304" cy="2083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Sintaxis accesible y legible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Desarrollo y prototipado rápido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Ecosistema muy amplio para IA y datos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Excelente soporte de notebooks y experimentación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Integración con código optimizado en C/C++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68482" y="2394446"/>
            <a:ext cx="3667232" cy="2730599"/>
          </a:xfrm>
          <a:prstGeom prst="roundRect">
            <a:avLst>
              <a:gd name="adj" fmla="val 14537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4433777" y="2559745"/>
            <a:ext cx="333664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33777" y="2983508"/>
            <a:ext cx="3336643" cy="170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Rendimiento limitado en código Python puro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Gestión de dependencias y entornos puede complicarse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siempre es la mejor opción para sistemas extremadamente restringidos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6418" y="2559745"/>
            <a:ext cx="33163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Casos habituales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6418" y="2983508"/>
            <a:ext cx="3316304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 Learning y Deep Learning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Análisis y manipulación de datos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Investigación y prototipado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de servicios de IA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843048" y="6300589"/>
            <a:ext cx="1150214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00597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 — estadística y análisis de datos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427387"/>
            <a:ext cx="33163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Fortalezas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851150"/>
            <a:ext cx="3316304" cy="2348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Herramientas estadísticas muy maduras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Visualización de datos avanzada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Análisis exploratorio ágil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Ecosistema académico y científico consolidado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Dataframes y manipulación de datos tabulares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68482" y="2262088"/>
            <a:ext cx="3667232" cy="2995216"/>
          </a:xfrm>
          <a:prstGeom prst="roundRect">
            <a:avLst>
              <a:gd name="adj" fmla="val 13252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4433777" y="2427387"/>
            <a:ext cx="333664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33777" y="2851150"/>
            <a:ext cx="3336643" cy="170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Menor presencia que Python en algunos ámbitos de producción de IA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Menor orientación a aplicaciones generales de software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Integración empresarial variable según el contexto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6418" y="2427387"/>
            <a:ext cx="33163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Casos habituales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6418" y="2851150"/>
            <a:ext cx="3316304" cy="149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Bioestadística e investigación clínica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Ciencia de datos académica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Análisis estadístico avanzado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Publicaciones científicas con visualizaciones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856740" y="6300589"/>
            <a:ext cx="1136522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5213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C/C++ — rendimiento y control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692003"/>
            <a:ext cx="33163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Fortalezas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3115766"/>
            <a:ext cx="3316304" cy="1819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Alto rendimiento de ejecución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Control fino de la memoria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Cercanía al hardware y baja latencia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Soporte para sistemas embebidos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Muchas bibliotecas de IA usan C/C++ internamente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68482" y="2526705"/>
            <a:ext cx="3667232" cy="2465983"/>
          </a:xfrm>
          <a:prstGeom prst="roundRect">
            <a:avLst>
              <a:gd name="adj" fmla="val 16097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4433777" y="2692003"/>
            <a:ext cx="333664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33777" y="3115766"/>
            <a:ext cx="3336643" cy="1761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Mayor complejidad de desarrollo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Gestión de recursos y memoria más compleja.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Curva de aprendizaje elevada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Ciclos de desarrollo más lentos que lenguajes de alto nivel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6418" y="2692003"/>
            <a:ext cx="33163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Casos habituales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6418" y="3115766"/>
            <a:ext cx="3316304" cy="149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Robótica y sistemas de control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Dispositivos edge y embebidos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Visión artificial en tiempo real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Motores de inferencia y componentes críticos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847711" y="6300589"/>
            <a:ext cx="1145551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8338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Java / C# — integración empresarial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295128"/>
            <a:ext cx="33163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Fortalezas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718891"/>
            <a:ext cx="3316304" cy="26129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Ecosistemas empresariales maduros y estables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Tipado estático y herramientas robustas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Buen rendimiento en aplicaciones de servidor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Escalabilidad y mantenibilidad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y servicios con larga trayectoria en producción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68482" y="2129830"/>
            <a:ext cx="3667232" cy="3259832"/>
          </a:xfrm>
          <a:prstGeom prst="roundRect">
            <a:avLst>
              <a:gd name="adj" fmla="val 12177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4433777" y="2295128"/>
            <a:ext cx="333664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33777" y="2718891"/>
            <a:ext cx="3336643" cy="170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Ecosistema de experimentación en IA menor que Python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Mayor cantidad de código para prototipos sencillos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Algunas bibliotecas de investigación aparecen antes en Python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6418" y="2295128"/>
            <a:ext cx="33163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Casos habituales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6418" y="2718891"/>
            <a:ext cx="3316304" cy="1438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de aplicaciones corporativas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Integración de modelos en sistemas existentes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Servicios empresariales que consumen APIs de IA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843048" y="6300589"/>
            <a:ext cx="1150214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65213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JavaScript / TypeScript — IA en aplicaciones web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692003"/>
            <a:ext cx="33163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Fortalezas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3115766"/>
            <a:ext cx="3316304" cy="1819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Ejecución nativa en el navegador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Construcción de interfaces interactivas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con Node.js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Posibilidad de inferencia en el cliente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TypeScript añade tipado estático al ecosistema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68482" y="2526705"/>
            <a:ext cx="3667232" cy="2465983"/>
          </a:xfrm>
          <a:prstGeom prst="roundRect">
            <a:avLst>
              <a:gd name="adj" fmla="val 16097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4433777" y="2692003"/>
            <a:ext cx="333664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33777" y="3115766"/>
            <a:ext cx="3336643" cy="1438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Ecosistema de entrenamiento científico menor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Menos habitual en investigación de ML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Limitaciones del entorno sandbox del navegador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6418" y="2692003"/>
            <a:ext cx="331630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Casos habituales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6418" y="3115766"/>
            <a:ext cx="3316304" cy="1438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Interfaces de aplicaciones de IA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Inferencia en navegador (con bibliotecas como TensorFlow.js)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Dashboards interactivos y visualizaciones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823503" y="6300589"/>
            <a:ext cx="1169760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950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Julia — computación científica de alto rendimiento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23629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Fortalezas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660055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Diseñada específicamente para cálculo científico y numérico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Rendimiento próximo a C en muchos escenarios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Sintaxis relativamente accesible para científicos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Compilación JIT que combina expresividad y velocidad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405735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Casos habituales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4481116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Computación numérica intensiva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Simulaciones científicas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Investigación académica en matemáticas aplicadas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4844" y="2070993"/>
            <a:ext cx="5470785" cy="3377505"/>
          </a:xfrm>
          <a:prstGeom prst="roundRect">
            <a:avLst>
              <a:gd name="adj" fmla="val 11752"/>
            </a:avLst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6350139" y="2236291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Limitaciones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0139" y="2660055"/>
            <a:ext cx="514019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Comunidad considerablemente menor que Python o R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Ecosistema de IA más pequeño y menos maduro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Menor presencia en entornos empresariales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Menos recursos de aprendizaje disponibles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50139" y="4057352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FFFFFF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Reflexión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0139" y="4481116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Julia muestra que un lenguaje puede ser técnicamente muy potente y, aun así, el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ecosistema y la adopción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pueden influir enormemente en su idoneidad para un proyecto real.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848902" y="6300589"/>
            <a:ext cx="1144360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2152"/>
            <a:ext cx="10868745" cy="38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spc="-2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Matriz comparativa de lenguajes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684338"/>
          <a:ext cx="9143771" cy="914400"/>
        </p:xfrm>
        <a:graphic>
          <a:graphicData uri="http://schemas.openxmlformats.org/drawingml/2006/table">
            <a:tbl>
              <a:tblPr/>
              <a:tblGrid>
                <a:gridCol w="2391124"/>
                <a:gridCol w="1412937"/>
                <a:gridCol w="1412937"/>
                <a:gridCol w="1412937"/>
                <a:gridCol w="1412937"/>
                <a:gridCol w="1412937"/>
                <a:gridCol w="1412937"/>
              </a:tblGrid>
              <a:tr h="4189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Criterio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50B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Python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50B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50B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C++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50B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Java/C#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50B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JS/TS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50B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Julia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950BC"/>
                    </a:solidFill>
                  </a:tcPr>
                </a:tc>
              </a:tr>
              <a:tr h="422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Facilidad de aprendizaje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Muy 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Ecosistema IA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Muy 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Datos y estadística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Muy 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Muy 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Rendimiento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Muy 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Desarrollo rápido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Muy 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Integración empresarial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Muy 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1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Edge / hardware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Muy 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Medio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89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Comunidad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Muy 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Muy 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Muy alto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Bajo</a:t>
                      </a:r>
                      <a:endParaRPr lang="en-US" sz="1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52470" marR="152470" marT="6350" marB="6350" anchor="ctr">
                    <a:lnL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5648325"/>
            <a:ext cx="11478330" cy="187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i="1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Valoraciones orientativas. El resultado depende del proyecto, las bibliotecas y el entorno concreto.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828067" y="6300589"/>
            <a:ext cx="1165196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0232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Elegir según el escenario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1475" y="2124373"/>
            <a:ext cx="3512653" cy="1858665"/>
          </a:xfrm>
          <a:prstGeom prst="roundRect">
            <a:avLst>
              <a:gd name="adj" fmla="val 13348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33119" y="2296021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Análisis y prototipado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3119" y="2653705"/>
            <a:ext cx="3169364" cy="893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Prioridades: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datos, rapidez, experimentación iterativa.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Opciones habituales: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Python / 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39422" y="2124373"/>
            <a:ext cx="3512752" cy="1858665"/>
          </a:xfrm>
          <a:prstGeom prst="roundRect">
            <a:avLst>
              <a:gd name="adj" fmla="val 13348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11066" y="2296021"/>
            <a:ext cx="31694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Robot o edge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11066" y="2653705"/>
            <a:ext cx="3169464" cy="1157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Prioridades: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latencia, memoria, control de hardware.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Opciones habituales: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C/C++ + herramientas optimizadas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17468" y="2124373"/>
            <a:ext cx="3512653" cy="1858665"/>
          </a:xfrm>
          <a:prstGeom prst="roundRect">
            <a:avLst>
              <a:gd name="adj" fmla="val 13348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9112" y="2296021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Aplicación empresarial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9112" y="2653705"/>
            <a:ext cx="3169364" cy="1157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Prioridades: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integración, seguridad, mantenimiento.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Opciones: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Java / C# / Python según arquitectura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148336"/>
            <a:ext cx="10868646" cy="1329432"/>
          </a:xfrm>
          <a:prstGeom prst="roundRect">
            <a:avLst>
              <a:gd name="adj" fmla="val 18661"/>
            </a:avLst>
          </a:prstGeom>
          <a:solidFill>
            <a:srgbClr val="BDE0FE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119" y="4319984"/>
            <a:ext cx="1052535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Aplicación web con IA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3119" y="4677668"/>
            <a:ext cx="10525358" cy="628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Prioridades: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navegador, interfaz, experiencia de usuario.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Opciones: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JavaScript/TypeScript + backend o modelo externo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830051" y="6300589"/>
            <a:ext cx="1163212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2783"/>
            <a:ext cx="1086874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 siempre elegimos un lenguaje: elegimos un stack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61475" y="1577082"/>
            <a:ext cx="1147833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Caso:</a:t>
            </a:r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Sistema de visión artificial para control de calidad industrial con múltiples componentes tecnológicos.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2033091"/>
            <a:ext cx="526421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Una posible arquitectura</a:t>
            </a:r>
            <a:endParaRPr lang="en-US" sz="13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383532"/>
            <a:ext cx="697689" cy="8373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6834" y="2523034"/>
            <a:ext cx="444885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Python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476834" y="2858691"/>
            <a:ext cx="4448857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Entrenamiento y análisis de datos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220839"/>
            <a:ext cx="697689" cy="8373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76834" y="3360341"/>
            <a:ext cx="444885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C++ / Runtime optimizado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476834" y="3695998"/>
            <a:ext cx="4448857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Inferencia rápida en producción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058146"/>
            <a:ext cx="697689" cy="83730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76834" y="4197648"/>
            <a:ext cx="444885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API REST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476834" y="4533305"/>
            <a:ext cx="4448857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Comunicación entre componentes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895453"/>
            <a:ext cx="697689" cy="83730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76834" y="5034955"/>
            <a:ext cx="444885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Java / C# · JavaScript/TS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476834" y="5370612"/>
            <a:ext cx="4448857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empresarial y dashboard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171946" y="1915418"/>
            <a:ext cx="5465030" cy="3949799"/>
          </a:xfrm>
          <a:prstGeom prst="roundRect">
            <a:avLst>
              <a:gd name="adj" fmla="val 8479"/>
            </a:avLst>
          </a:prstGeom>
          <a:solidFill>
            <a:srgbClr val="4950BC"/>
          </a:solidFill>
          <a:ln/>
        </p:spPr>
      </p:sp>
      <p:sp>
        <p:nvSpPr>
          <p:cNvPr id="18" name="Text 12"/>
          <p:cNvSpPr/>
          <p:nvPr/>
        </p:nvSpPr>
        <p:spPr>
          <a:xfrm>
            <a:off x="6311444" y="2033091"/>
            <a:ext cx="518603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FFFFFF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Esta es una posible solución, no la única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311444" y="2368748"/>
            <a:ext cx="5186034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Diferentes equipos, presupuestos y restricciones podrían llevar a arquitecturas distintas igualmente válidas.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311444" y="2947789"/>
            <a:ext cx="5186034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311444" y="3134122"/>
            <a:ext cx="5186034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spc="-14" kern="0" dirty="0">
                <a:solidFill>
                  <a:srgbClr val="FFFFFF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Pregunta para reflexionar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6311444" y="3469779"/>
            <a:ext cx="5186034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¿Qué cambiarías si el modelo tuviera que ejecutarse completamente en un dispositivo sin conexión?</a:t>
            </a:r>
            <a:endParaRPr lang="en-US" sz="10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828166" y="6300589"/>
            <a:ext cx="1165097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1243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spc="-2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Ideas clave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1475" y="2363291"/>
            <a:ext cx="82647" cy="82649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4" name="Text 2"/>
          <p:cNvSpPr/>
          <p:nvPr/>
        </p:nvSpPr>
        <p:spPr>
          <a:xfrm>
            <a:off x="909416" y="2275384"/>
            <a:ext cx="508304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La idoneidad depende de los requisitos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09416" y="2633067"/>
            <a:ext cx="508304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Cada proyecto tiene sus propias prioridades.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99132" y="2363291"/>
            <a:ext cx="82647" cy="82649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7" name="Text 5"/>
          <p:cNvSpPr/>
          <p:nvPr/>
        </p:nvSpPr>
        <p:spPr>
          <a:xfrm>
            <a:off x="6447073" y="2275384"/>
            <a:ext cx="50831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 existe un lenguaje universalmente mejor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7073" y="2633067"/>
            <a:ext cx="508314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Todos tienen fortalezas y limitaciones según el contexto.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316288"/>
            <a:ext cx="82647" cy="82649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10" name="Text 8"/>
          <p:cNvSpPr/>
          <p:nvPr/>
        </p:nvSpPr>
        <p:spPr>
          <a:xfrm>
            <a:off x="909416" y="3228380"/>
            <a:ext cx="508304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El ecosistema importa tanto como el lenguaje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9416" y="3586063"/>
            <a:ext cx="508304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Bibliotecas, comunidad y herramientas forman parte de la decisión.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132" y="3316288"/>
            <a:ext cx="82647" cy="82649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7073" y="3228380"/>
            <a:ext cx="508314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Rendimiento y productividad implican compromisos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7073" y="3844528"/>
            <a:ext cx="508314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Optimizar uno puede significar ceder en el otro.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475" y="4527748"/>
            <a:ext cx="82647" cy="82649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16" name="Text 14"/>
          <p:cNvSpPr/>
          <p:nvPr/>
        </p:nvSpPr>
        <p:spPr>
          <a:xfrm>
            <a:off x="909416" y="4439841"/>
            <a:ext cx="508304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Las aplicaciones reales pueden ser multilenguaje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9416" y="4797524"/>
            <a:ext cx="508304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 buen stack combina las tecnologías más adecuadas para cada capa.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99132" y="4527748"/>
            <a:ext cx="82647" cy="82649"/>
          </a:xfrm>
          <a:prstGeom prst="ellipse">
            <a:avLst/>
          </a:prstGeom>
          <a:solidFill>
            <a:srgbClr val="D4CCFA"/>
          </a:solidFill>
          <a:ln/>
        </p:spPr>
      </p:sp>
      <p:sp>
        <p:nvSpPr>
          <p:cNvPr id="19" name="Text 17"/>
          <p:cNvSpPr/>
          <p:nvPr/>
        </p:nvSpPr>
        <p:spPr>
          <a:xfrm>
            <a:off x="6447073" y="4439841"/>
            <a:ext cx="508314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spc="-16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Una buena elección debe poder justificarse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7073" y="4797524"/>
            <a:ext cx="508314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Argumentar decisiones tecnológicas es clave en ingeniería.</a:t>
            </a:r>
            <a:endParaRPr lang="en-US" sz="13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33" y="203597"/>
            <a:ext cx="676357" cy="568623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357" y="268784"/>
            <a:ext cx="606906" cy="438249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0827273" y="6300589"/>
            <a:ext cx="1165990" cy="138906"/>
          </a:xfrm>
          <a:prstGeom prst="rect">
            <a:avLst/>
          </a:prstGeom>
          <a:noFill/>
          <a:ln/>
        </p:spPr>
        <p:txBody>
          <a:bodyPr wrap="none" lIns="194500" tIns="0" rIns="229232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44EA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2026-09-29T08:43:06Z</dcterms:created>
  <dcterms:modified xsi:type="dcterms:W3CDTF">2026-09-29T08:43:06Z</dcterms:modified>
</cp:coreProperties>
</file>