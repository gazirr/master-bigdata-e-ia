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906000"/>
  <p:notesSz cx="6858000" cy="9144000"/>
  <p:embeddedFontLst>
    <p:embeddedFont>
      <p:font typeface="Arial Black"/>
      <p:regular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lzJ1RDIKUGC9I5AYnRxMrnpys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D714530-9DBE-4E9E-9AC6-A46D12633866}">
  <a:tblStyle styleId="{BD714530-9DBE-4E9E-9AC6-A46D1263386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ArialBlack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" name="Google Shape;63;p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" name="Google Shape;70;p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0c18be8d8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g30c18be8d82_0_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0a13173369_0_1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g30a13173369_0_174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0a13173369_0_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g30a13173369_0_8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d4389be9f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g2d4389be9f9_0_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0a13173369_0_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g30a13173369_0_98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0a13173369_0_1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g30a13173369_0_114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0a1317336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0a13173369_0_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0a13173369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0a13173369_0_7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1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Diapositiva de títul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/>
          <p:cNvSpPr txBox="1"/>
          <p:nvPr>
            <p:ph type="ctrTitle"/>
          </p:nvPr>
        </p:nvSpPr>
        <p:spPr>
          <a:xfrm>
            <a:off x="941032" y="1344305"/>
            <a:ext cx="7831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4400"/>
              <a:buFont typeface="Arial Black"/>
              <a:buNone/>
              <a:defRPr sz="4400">
                <a:solidFill>
                  <a:srgbClr val="004E9A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" type="subTitle"/>
          </p:nvPr>
        </p:nvSpPr>
        <p:spPr>
          <a:xfrm>
            <a:off x="941032" y="3731906"/>
            <a:ext cx="7336100" cy="982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2400"/>
              <a:buNone/>
              <a:defRPr sz="2400">
                <a:solidFill>
                  <a:srgbClr val="838383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12"/>
          <p:cNvSpPr txBox="1"/>
          <p:nvPr>
            <p:ph idx="2" type="body"/>
          </p:nvPr>
        </p:nvSpPr>
        <p:spPr>
          <a:xfrm>
            <a:off x="941032" y="5254857"/>
            <a:ext cx="3764133" cy="147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b="0" sz="1600">
                <a:solidFill>
                  <a:srgbClr val="FFFFFF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>
  <p:cSld name="Título y objeto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681038" y="866326"/>
            <a:ext cx="8543925" cy="113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body"/>
          </p:nvPr>
        </p:nvSpPr>
        <p:spPr>
          <a:xfrm>
            <a:off x="681038" y="2219417"/>
            <a:ext cx="8543925" cy="3957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1" name="Google Shape;21;p13"/>
          <p:cNvSpPr txBox="1"/>
          <p:nvPr>
            <p:ph idx="2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  <a:defRPr sz="16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3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  <a:defRPr sz="12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>
  <p:cSld name="Dos objeto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type="title"/>
          </p:nvPr>
        </p:nvSpPr>
        <p:spPr>
          <a:xfrm>
            <a:off x="681038" y="866326"/>
            <a:ext cx="8543925" cy="113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" type="body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2" type="body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8" name="Google Shape;28;p14"/>
          <p:cNvSpPr txBox="1"/>
          <p:nvPr>
            <p:ph idx="3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  <a:defRPr sz="16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4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  <a:defRPr sz="12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>
  <p:cSld name="Comparación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 txBox="1"/>
          <p:nvPr>
            <p:ph type="title"/>
          </p:nvPr>
        </p:nvSpPr>
        <p:spPr>
          <a:xfrm>
            <a:off x="682328" y="866778"/>
            <a:ext cx="8543925" cy="8143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" type="body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3" name="Google Shape;33;p15"/>
          <p:cNvSpPr txBox="1"/>
          <p:nvPr>
            <p:ph idx="2" type="body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3" type="body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15"/>
          <p:cNvSpPr txBox="1"/>
          <p:nvPr>
            <p:ph idx="4" type="body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37" name="Google Shape;37;p15"/>
          <p:cNvSpPr txBox="1"/>
          <p:nvPr>
            <p:ph idx="5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  <a:defRPr sz="16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6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  <a:defRPr sz="12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>
  <p:cSld name="Solo el título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6"/>
          <p:cNvSpPr txBox="1"/>
          <p:nvPr>
            <p:ph type="title"/>
          </p:nvPr>
        </p:nvSpPr>
        <p:spPr>
          <a:xfrm>
            <a:off x="681038" y="866326"/>
            <a:ext cx="8543925" cy="113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6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  <a:defRPr sz="16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  <a:defRPr sz="12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>
  <p:cSld name="En blanco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46" name="Google Shape;46;p17"/>
          <p:cNvSpPr txBox="1"/>
          <p:nvPr>
            <p:ph idx="1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  <a:defRPr sz="16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2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  <a:defRPr sz="12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>
  <p:cSld name="Contenido con título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/>
          <p:nvPr>
            <p:ph type="title"/>
          </p:nvPr>
        </p:nvSpPr>
        <p:spPr>
          <a:xfrm>
            <a:off x="682328" y="987426"/>
            <a:ext cx="3194943" cy="10699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" type="body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18"/>
          <p:cNvSpPr txBox="1"/>
          <p:nvPr>
            <p:ph idx="2" type="body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18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53" name="Google Shape;53;p18"/>
          <p:cNvSpPr txBox="1"/>
          <p:nvPr>
            <p:ph idx="3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  <a:defRPr sz="16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4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  <a:defRPr sz="12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>
  <p:cSld name="Imagen con título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 txBox="1"/>
          <p:nvPr>
            <p:ph type="title"/>
          </p:nvPr>
        </p:nvSpPr>
        <p:spPr>
          <a:xfrm>
            <a:off x="682328" y="987426"/>
            <a:ext cx="3194943" cy="10699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/>
          <p:nvPr>
            <p:ph idx="2" type="pic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9"/>
          <p:cNvSpPr txBox="1"/>
          <p:nvPr>
            <p:ph idx="1" type="body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19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60" name="Google Shape;60;p19"/>
          <p:cNvSpPr txBox="1"/>
          <p:nvPr>
            <p:ph idx="3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  <a:defRPr sz="16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681038" y="866326"/>
            <a:ext cx="8543925" cy="113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3600"/>
              <a:buFont typeface="Calibri"/>
              <a:buNone/>
              <a:defRPr b="0" i="0" sz="3600" u="none" cap="none" strike="noStrike">
                <a:solidFill>
                  <a:srgbClr val="004E9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681038" y="2219417"/>
            <a:ext cx="8543925" cy="3957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 txBox="1"/>
          <p:nvPr>
            <p:ph type="ctrTitle"/>
          </p:nvPr>
        </p:nvSpPr>
        <p:spPr>
          <a:xfrm>
            <a:off x="941032" y="1344305"/>
            <a:ext cx="7831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4400"/>
              <a:buFont typeface="Arial Black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66" name="Google Shape;66;p1"/>
          <p:cNvSpPr txBox="1"/>
          <p:nvPr>
            <p:ph idx="1" type="subTitle"/>
          </p:nvPr>
        </p:nvSpPr>
        <p:spPr>
          <a:xfrm>
            <a:off x="941032" y="3731906"/>
            <a:ext cx="7336100" cy="982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2400"/>
              <a:buNone/>
            </a:pPr>
            <a:r>
              <a:rPr lang="es-ES"/>
              <a:t>Classe 4 – Tema 1 – 18/10/2024</a:t>
            </a:r>
            <a:endParaRPr/>
          </a:p>
        </p:txBody>
      </p:sp>
      <p:sp>
        <p:nvSpPr>
          <p:cNvPr id="67" name="Google Shape;67;p1"/>
          <p:cNvSpPr txBox="1"/>
          <p:nvPr>
            <p:ph idx="2" type="body"/>
          </p:nvPr>
        </p:nvSpPr>
        <p:spPr>
          <a:xfrm>
            <a:off x="941032" y="5254857"/>
            <a:ext cx="3764133" cy="147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</a:pPr>
            <a:r>
              <a:rPr lang="es-ES"/>
              <a:t>Nil Redón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/>
          <p:cNvSpPr txBox="1"/>
          <p:nvPr>
            <p:ph type="title"/>
          </p:nvPr>
        </p:nvSpPr>
        <p:spPr>
          <a:xfrm>
            <a:off x="681038" y="866326"/>
            <a:ext cx="8543925" cy="113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3600"/>
              <a:buFont typeface="Calibri"/>
              <a:buNone/>
            </a:pPr>
            <a:r>
              <a:rPr lang="es-ES"/>
              <a:t>Classe anterior</a:t>
            </a:r>
            <a:endParaRPr/>
          </a:p>
        </p:txBody>
      </p:sp>
      <p:sp>
        <p:nvSpPr>
          <p:cNvPr id="73" name="Google Shape;73;p2"/>
          <p:cNvSpPr txBox="1"/>
          <p:nvPr>
            <p:ph idx="1" type="body"/>
          </p:nvPr>
        </p:nvSpPr>
        <p:spPr>
          <a:xfrm>
            <a:off x="681038" y="2219417"/>
            <a:ext cx="8543925" cy="3957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s-ES"/>
              <a:t>Definició de IA Forta i IA Dèbil</a:t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s-ES"/>
              <a:t>Caracterització i aplicacions de la IA Dèbil</a:t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s-ES"/>
              <a:t>Avantatges i inconvenients</a:t>
            </a:r>
            <a:r>
              <a:rPr lang="es-ES"/>
              <a:t> de la IA Dèbil</a:t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s-ES"/>
              <a:t>Possibilitats futures de la IA Dèbil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s-ES"/>
              <a:t>Dubtes / preguntes?</a:t>
            </a:r>
            <a:endParaRPr/>
          </a:p>
        </p:txBody>
      </p:sp>
      <p:sp>
        <p:nvSpPr>
          <p:cNvPr id="74" name="Google Shape;74;p2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75" name="Google Shape;75;p2"/>
          <p:cNvSpPr txBox="1"/>
          <p:nvPr>
            <p:ph idx="2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76" name="Google Shape;76;p2"/>
          <p:cNvSpPr txBox="1"/>
          <p:nvPr>
            <p:ph idx="3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/>
          <p:nvPr>
            <p:ph type="title"/>
          </p:nvPr>
        </p:nvSpPr>
        <p:spPr>
          <a:xfrm>
            <a:off x="681038" y="866326"/>
            <a:ext cx="8543925" cy="113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3600"/>
              <a:buFont typeface="Calibri"/>
              <a:buNone/>
            </a:pPr>
            <a:r>
              <a:rPr lang="es-ES"/>
              <a:t>Continguts de la classe</a:t>
            </a:r>
            <a:endParaRPr/>
          </a:p>
        </p:txBody>
      </p:sp>
      <p:sp>
        <p:nvSpPr>
          <p:cNvPr id="82" name="Google Shape;82;p3"/>
          <p:cNvSpPr txBox="1"/>
          <p:nvPr>
            <p:ph idx="1" type="body"/>
          </p:nvPr>
        </p:nvSpPr>
        <p:spPr>
          <a:xfrm>
            <a:off x="681038" y="2219417"/>
            <a:ext cx="8543925" cy="3957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s-ES"/>
              <a:t>Caracterització de la IA Forta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s-ES"/>
              <a:t>Riscos potencials de la IA Forta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s-ES"/>
              <a:t>Possibilitats futures de la IA Forta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s-ES"/>
              <a:t>Activitat 2: </a:t>
            </a:r>
            <a:r>
              <a:rPr lang="es-ES"/>
              <a:t>Per què ChatGPT no és IA Forta?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s-ES"/>
              <a:t>Activitat 3: Exemples de IA Forta a la ficció</a:t>
            </a:r>
            <a:endParaRPr/>
          </a:p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84" name="Google Shape;84;p3"/>
          <p:cNvSpPr txBox="1"/>
          <p:nvPr>
            <p:ph idx="2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85" name="Google Shape;85;p3"/>
          <p:cNvSpPr txBox="1"/>
          <p:nvPr>
            <p:ph idx="3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0c18be8d82_0_0"/>
          <p:cNvSpPr txBox="1"/>
          <p:nvPr>
            <p:ph type="title"/>
          </p:nvPr>
        </p:nvSpPr>
        <p:spPr>
          <a:xfrm>
            <a:off x="681038" y="866326"/>
            <a:ext cx="85440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3600"/>
              <a:buFont typeface="Calibri"/>
              <a:buNone/>
            </a:pPr>
            <a:r>
              <a:rPr lang="es-ES"/>
              <a:t>Marc legal a Europa</a:t>
            </a:r>
            <a:endParaRPr/>
          </a:p>
        </p:txBody>
      </p:sp>
      <p:sp>
        <p:nvSpPr>
          <p:cNvPr id="91" name="Google Shape;91;g30c18be8d82_0_0"/>
          <p:cNvSpPr txBox="1"/>
          <p:nvPr>
            <p:ph idx="12" type="sldNum"/>
          </p:nvPr>
        </p:nvSpPr>
        <p:spPr>
          <a:xfrm>
            <a:off x="6445697" y="102377"/>
            <a:ext cx="22290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92" name="Google Shape;92;g30c18be8d82_0_0"/>
          <p:cNvSpPr txBox="1"/>
          <p:nvPr>
            <p:ph idx="2" type="body"/>
          </p:nvPr>
        </p:nvSpPr>
        <p:spPr>
          <a:xfrm>
            <a:off x="681038" y="230819"/>
            <a:ext cx="4387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93" name="Google Shape;93;g30c18be8d82_0_0"/>
          <p:cNvSpPr txBox="1"/>
          <p:nvPr>
            <p:ph idx="3" type="body"/>
          </p:nvPr>
        </p:nvSpPr>
        <p:spPr>
          <a:xfrm>
            <a:off x="681038" y="6560598"/>
            <a:ext cx="4387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t/>
            </a:r>
            <a:endParaRPr/>
          </a:p>
        </p:txBody>
      </p:sp>
      <p:pic>
        <p:nvPicPr>
          <p:cNvPr id="94" name="Google Shape;94;g30c18be8d82_0_0"/>
          <p:cNvPicPr preferRelativeResize="0"/>
          <p:nvPr/>
        </p:nvPicPr>
        <p:blipFill rotWithShape="1">
          <a:blip r:embed="rId3">
            <a:alphaModFix/>
          </a:blip>
          <a:srcRect b="0" l="0" r="33823" t="0"/>
          <a:stretch/>
        </p:blipFill>
        <p:spPr>
          <a:xfrm>
            <a:off x="4975977" y="0"/>
            <a:ext cx="28775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0a13173369_0_174"/>
          <p:cNvSpPr txBox="1"/>
          <p:nvPr>
            <p:ph type="title"/>
          </p:nvPr>
        </p:nvSpPr>
        <p:spPr>
          <a:xfrm>
            <a:off x="681038" y="866326"/>
            <a:ext cx="85440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3600"/>
              <a:buFont typeface="Calibri"/>
              <a:buNone/>
            </a:pPr>
            <a:r>
              <a:rPr lang="es-ES"/>
              <a:t>IA Dèbil vs IA Forta</a:t>
            </a:r>
            <a:endParaRPr/>
          </a:p>
        </p:txBody>
      </p:sp>
      <p:sp>
        <p:nvSpPr>
          <p:cNvPr id="100" name="Google Shape;100;g30a13173369_0_174"/>
          <p:cNvSpPr txBox="1"/>
          <p:nvPr>
            <p:ph idx="12" type="sldNum"/>
          </p:nvPr>
        </p:nvSpPr>
        <p:spPr>
          <a:xfrm>
            <a:off x="6445697" y="102377"/>
            <a:ext cx="22290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01" name="Google Shape;101;g30a13173369_0_174"/>
          <p:cNvSpPr txBox="1"/>
          <p:nvPr>
            <p:ph idx="2" type="body"/>
          </p:nvPr>
        </p:nvSpPr>
        <p:spPr>
          <a:xfrm>
            <a:off x="681038" y="230819"/>
            <a:ext cx="4387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102" name="Google Shape;102;g30a13173369_0_174"/>
          <p:cNvSpPr txBox="1"/>
          <p:nvPr>
            <p:ph idx="3" type="body"/>
          </p:nvPr>
        </p:nvSpPr>
        <p:spPr>
          <a:xfrm>
            <a:off x="681038" y="6560598"/>
            <a:ext cx="4387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03" name="Google Shape;103;g30a13173369_0_174"/>
          <p:cNvSpPr txBox="1"/>
          <p:nvPr>
            <p:ph idx="1" type="body"/>
          </p:nvPr>
        </p:nvSpPr>
        <p:spPr>
          <a:xfrm>
            <a:off x="681038" y="2219417"/>
            <a:ext cx="8544000" cy="39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La IA Dèbil és capaç de realitzar tasques concretes que requereixen Intel·ligència humana.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La IA Forta és capaç de raonar, interactuar amb l’entorn, tenir autoconsciència i aprendre a realitzar qualsevol tipus de tasca.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Tots els algoritmes que coneixem a dia d’avui son IA Dèbil. La IA Forta no existeix avui en dia.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0a13173369_0_82"/>
          <p:cNvSpPr txBox="1"/>
          <p:nvPr>
            <p:ph type="title"/>
          </p:nvPr>
        </p:nvSpPr>
        <p:spPr>
          <a:xfrm>
            <a:off x="681038" y="866326"/>
            <a:ext cx="85440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Caracterització de la IA Forta</a:t>
            </a:r>
            <a:endParaRPr/>
          </a:p>
        </p:txBody>
      </p:sp>
      <p:sp>
        <p:nvSpPr>
          <p:cNvPr id="109" name="Google Shape;109;g30a13173369_0_82"/>
          <p:cNvSpPr txBox="1"/>
          <p:nvPr>
            <p:ph idx="12" type="sldNum"/>
          </p:nvPr>
        </p:nvSpPr>
        <p:spPr>
          <a:xfrm>
            <a:off x="6445697" y="102377"/>
            <a:ext cx="22290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10" name="Google Shape;110;g30a13173369_0_82"/>
          <p:cNvSpPr txBox="1"/>
          <p:nvPr>
            <p:ph idx="2" type="body"/>
          </p:nvPr>
        </p:nvSpPr>
        <p:spPr>
          <a:xfrm>
            <a:off x="681038" y="230819"/>
            <a:ext cx="4387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111" name="Google Shape;111;g30a13173369_0_82"/>
          <p:cNvSpPr txBox="1"/>
          <p:nvPr>
            <p:ph idx="3" type="body"/>
          </p:nvPr>
        </p:nvSpPr>
        <p:spPr>
          <a:xfrm>
            <a:off x="681038" y="6560598"/>
            <a:ext cx="4387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12" name="Google Shape;112;g30a13173369_0_82"/>
          <p:cNvSpPr txBox="1"/>
          <p:nvPr>
            <p:ph idx="1" type="body"/>
          </p:nvPr>
        </p:nvSpPr>
        <p:spPr>
          <a:xfrm>
            <a:off x="681038" y="2219417"/>
            <a:ext cx="8544000" cy="39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/>
              <a:t>Característiques: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Consciència de si mateixa.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Capacitat d’aprenentatge i adaptació.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Raonament lògic.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s-ES"/>
              <a:t>Resolució de problemes.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s-ES"/>
              <a:t>Planificació i previsió.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d4389be9f9_0_0"/>
          <p:cNvSpPr txBox="1"/>
          <p:nvPr>
            <p:ph type="title"/>
          </p:nvPr>
        </p:nvSpPr>
        <p:spPr>
          <a:xfrm>
            <a:off x="680988" y="2632351"/>
            <a:ext cx="85440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Debatim: Quines possibilitats futures i riscos potencials pot tenir en la societat el descobriment d’una IA Forta?</a:t>
            </a:r>
            <a:endParaRPr/>
          </a:p>
        </p:txBody>
      </p:sp>
      <p:sp>
        <p:nvSpPr>
          <p:cNvPr id="118" name="Google Shape;118;g2d4389be9f9_0_0"/>
          <p:cNvSpPr txBox="1"/>
          <p:nvPr>
            <p:ph idx="12" type="sldNum"/>
          </p:nvPr>
        </p:nvSpPr>
        <p:spPr>
          <a:xfrm>
            <a:off x="6445697" y="102377"/>
            <a:ext cx="22290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19" name="Google Shape;119;g2d4389be9f9_0_0"/>
          <p:cNvSpPr txBox="1"/>
          <p:nvPr>
            <p:ph idx="2" type="body"/>
          </p:nvPr>
        </p:nvSpPr>
        <p:spPr>
          <a:xfrm>
            <a:off x="681038" y="230819"/>
            <a:ext cx="4387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120" name="Google Shape;120;g2d4389be9f9_0_0"/>
          <p:cNvSpPr txBox="1"/>
          <p:nvPr>
            <p:ph idx="3" type="body"/>
          </p:nvPr>
        </p:nvSpPr>
        <p:spPr>
          <a:xfrm>
            <a:off x="681038" y="6560598"/>
            <a:ext cx="4387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0a13173369_0_98"/>
          <p:cNvSpPr txBox="1"/>
          <p:nvPr>
            <p:ph type="title"/>
          </p:nvPr>
        </p:nvSpPr>
        <p:spPr>
          <a:xfrm>
            <a:off x="681038" y="866326"/>
            <a:ext cx="85440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Riscos potencials de la IA Forta</a:t>
            </a:r>
            <a:endParaRPr/>
          </a:p>
        </p:txBody>
      </p:sp>
      <p:sp>
        <p:nvSpPr>
          <p:cNvPr id="126" name="Google Shape;126;g30a13173369_0_98"/>
          <p:cNvSpPr txBox="1"/>
          <p:nvPr>
            <p:ph idx="12" type="sldNum"/>
          </p:nvPr>
        </p:nvSpPr>
        <p:spPr>
          <a:xfrm>
            <a:off x="6445697" y="102377"/>
            <a:ext cx="22290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27" name="Google Shape;127;g30a13173369_0_98"/>
          <p:cNvSpPr txBox="1"/>
          <p:nvPr>
            <p:ph idx="2" type="body"/>
          </p:nvPr>
        </p:nvSpPr>
        <p:spPr>
          <a:xfrm>
            <a:off x="681038" y="230819"/>
            <a:ext cx="4387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128" name="Google Shape;128;g30a13173369_0_98"/>
          <p:cNvSpPr txBox="1"/>
          <p:nvPr>
            <p:ph idx="3" type="body"/>
          </p:nvPr>
        </p:nvSpPr>
        <p:spPr>
          <a:xfrm>
            <a:off x="681038" y="6560598"/>
            <a:ext cx="4387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29" name="Google Shape;129;g30a13173369_0_98"/>
          <p:cNvSpPr txBox="1"/>
          <p:nvPr>
            <p:ph idx="1" type="body"/>
          </p:nvPr>
        </p:nvSpPr>
        <p:spPr>
          <a:xfrm>
            <a:off x="681038" y="2219417"/>
            <a:ext cx="8544000" cy="39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Nivell d’autonomia i estructura de control sobre la IA.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Responsabilitat sobre les decisions de la IA.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Impacte al treball.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s-ES"/>
              <a:t>Privacitat i seguretat.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s-ES"/>
              <a:t>Desalineació d’objectius.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s-ES"/>
              <a:t>Manipulació d’informació.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s-ES"/>
              <a:t>Dependència tecnològica.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0a13173369_0_114"/>
          <p:cNvSpPr txBox="1"/>
          <p:nvPr>
            <p:ph type="title"/>
          </p:nvPr>
        </p:nvSpPr>
        <p:spPr>
          <a:xfrm>
            <a:off x="681038" y="866326"/>
            <a:ext cx="85440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Possibilitats futures de la IA Forta</a:t>
            </a:r>
            <a:endParaRPr/>
          </a:p>
        </p:txBody>
      </p:sp>
      <p:sp>
        <p:nvSpPr>
          <p:cNvPr id="135" name="Google Shape;135;g30a13173369_0_114"/>
          <p:cNvSpPr txBox="1"/>
          <p:nvPr>
            <p:ph idx="12" type="sldNum"/>
          </p:nvPr>
        </p:nvSpPr>
        <p:spPr>
          <a:xfrm>
            <a:off x="6445697" y="102377"/>
            <a:ext cx="22290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36" name="Google Shape;136;g30a13173369_0_114"/>
          <p:cNvSpPr txBox="1"/>
          <p:nvPr>
            <p:ph idx="2" type="body"/>
          </p:nvPr>
        </p:nvSpPr>
        <p:spPr>
          <a:xfrm>
            <a:off x="681038" y="230819"/>
            <a:ext cx="4387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137" name="Google Shape;137;g30a13173369_0_114"/>
          <p:cNvSpPr txBox="1"/>
          <p:nvPr>
            <p:ph idx="3" type="body"/>
          </p:nvPr>
        </p:nvSpPr>
        <p:spPr>
          <a:xfrm>
            <a:off x="681038" y="6560598"/>
            <a:ext cx="4387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38" name="Google Shape;138;g30a13173369_0_114"/>
          <p:cNvSpPr txBox="1"/>
          <p:nvPr>
            <p:ph idx="1" type="body"/>
          </p:nvPr>
        </p:nvSpPr>
        <p:spPr>
          <a:xfrm>
            <a:off x="681038" y="2219417"/>
            <a:ext cx="8544000" cy="39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s-ES"/>
              <a:t>Medicina i diagnòstic.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s-ES"/>
              <a:t>Automatització industrial.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s-ES"/>
              <a:t>Assistents virtuals intel·ligents.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s-ES"/>
              <a:t>Educació personalitzada.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s-ES"/>
              <a:t>Seguretat i vigilància.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s-ES"/>
              <a:t>Entreteniment i creativitat.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s-ES"/>
              <a:t>…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0a13173369_0_0"/>
          <p:cNvSpPr txBox="1"/>
          <p:nvPr>
            <p:ph type="title"/>
          </p:nvPr>
        </p:nvSpPr>
        <p:spPr>
          <a:xfrm>
            <a:off x="681038" y="866326"/>
            <a:ext cx="85440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Activitat 2: Per què ChatGPT no és IA Forta?</a:t>
            </a:r>
            <a:endParaRPr/>
          </a:p>
        </p:txBody>
      </p:sp>
      <p:sp>
        <p:nvSpPr>
          <p:cNvPr id="144" name="Google Shape;144;g30a13173369_0_0"/>
          <p:cNvSpPr txBox="1"/>
          <p:nvPr>
            <p:ph idx="12" type="sldNum"/>
          </p:nvPr>
        </p:nvSpPr>
        <p:spPr>
          <a:xfrm>
            <a:off x="6445697" y="102377"/>
            <a:ext cx="22290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45" name="Google Shape;145;g30a13173369_0_0"/>
          <p:cNvSpPr txBox="1"/>
          <p:nvPr>
            <p:ph idx="2" type="body"/>
          </p:nvPr>
        </p:nvSpPr>
        <p:spPr>
          <a:xfrm>
            <a:off x="681038" y="230819"/>
            <a:ext cx="4387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146" name="Google Shape;146;g30a13173369_0_0"/>
          <p:cNvSpPr txBox="1"/>
          <p:nvPr>
            <p:ph idx="3" type="body"/>
          </p:nvPr>
        </p:nvSpPr>
        <p:spPr>
          <a:xfrm>
            <a:off x="681038" y="6560598"/>
            <a:ext cx="4387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t/>
            </a:r>
            <a:endParaRPr/>
          </a:p>
        </p:txBody>
      </p:sp>
      <p:graphicFrame>
        <p:nvGraphicFramePr>
          <p:cNvPr id="147" name="Google Shape;147;g30a13173369_0_0"/>
          <p:cNvGraphicFramePr/>
          <p:nvPr/>
        </p:nvGraphicFramePr>
        <p:xfrm>
          <a:off x="1061525" y="231302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{BD714530-9DBE-4E9E-9AC6-A46D12633866}</a:tableStyleId>
              </a:tblPr>
              <a:tblGrid>
                <a:gridCol w="3157400"/>
                <a:gridCol w="4625650"/>
              </a:tblGrid>
              <a:tr h="828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CARACTERÍSTICA</a:t>
                      </a:r>
                      <a:endParaRPr b="1"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EXPLICACIÓN DE POR QUÉ CHATGPT NO LA CUMPLE</a:t>
                      </a:r>
                      <a:endParaRPr b="1"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418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Conciencia de sí misma</a:t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828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Capacidad de aprendizaje y adaptación</a:t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418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Razonamiento lógico</a:t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418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Resolución de problemas</a:t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418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Planificación y previsión</a:t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0a13173369_0_70"/>
          <p:cNvSpPr txBox="1"/>
          <p:nvPr>
            <p:ph type="title"/>
          </p:nvPr>
        </p:nvSpPr>
        <p:spPr>
          <a:xfrm>
            <a:off x="681038" y="866326"/>
            <a:ext cx="85440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Activitat 3: Exemples de IA Forta a la ficció</a:t>
            </a:r>
            <a:endParaRPr/>
          </a:p>
        </p:txBody>
      </p:sp>
      <p:sp>
        <p:nvSpPr>
          <p:cNvPr id="153" name="Google Shape;153;g30a13173369_0_70"/>
          <p:cNvSpPr txBox="1"/>
          <p:nvPr>
            <p:ph idx="12" type="sldNum"/>
          </p:nvPr>
        </p:nvSpPr>
        <p:spPr>
          <a:xfrm>
            <a:off x="6445697" y="102377"/>
            <a:ext cx="22290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54" name="Google Shape;154;g30a13173369_0_70"/>
          <p:cNvSpPr txBox="1"/>
          <p:nvPr>
            <p:ph idx="2" type="body"/>
          </p:nvPr>
        </p:nvSpPr>
        <p:spPr>
          <a:xfrm>
            <a:off x="681038" y="230819"/>
            <a:ext cx="4387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155" name="Google Shape;155;g30a13173369_0_70"/>
          <p:cNvSpPr txBox="1"/>
          <p:nvPr>
            <p:ph idx="3" type="body"/>
          </p:nvPr>
        </p:nvSpPr>
        <p:spPr>
          <a:xfrm>
            <a:off x="681038" y="6560598"/>
            <a:ext cx="4387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t/>
            </a:r>
            <a:endParaRPr/>
          </a:p>
        </p:txBody>
      </p:sp>
      <p:graphicFrame>
        <p:nvGraphicFramePr>
          <p:cNvPr id="156" name="Google Shape;156;g30a13173369_0_70"/>
          <p:cNvGraphicFramePr/>
          <p:nvPr/>
        </p:nvGraphicFramePr>
        <p:xfrm>
          <a:off x="1576175" y="3019013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{BD714530-9DBE-4E9E-9AC6-A46D12633866}</a:tableStyleId>
              </a:tblPr>
              <a:tblGrid>
                <a:gridCol w="3937850"/>
                <a:gridCol w="3347725"/>
              </a:tblGrid>
              <a:tr h="84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CARACTERÍSTICA</a:t>
                      </a:r>
                      <a:endParaRPr b="1"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EJEMPLO QUE DEMUESTRA QUE LA IA FUERTE ELEGIDA LA CUMPLE</a:t>
                      </a:r>
                      <a:endParaRPr b="1"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499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Conciencia de sí misma</a:t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/>
                    </a:p>
                  </a:txBody>
                  <a:tcPr marT="0" marB="0" marR="68575" marL="68575"/>
                </a:tc>
              </a:tr>
              <a:tr h="499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Capacidad de aprendizaje y adaptación</a:t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/>
                    </a:p>
                  </a:txBody>
                  <a:tcPr marT="0" marB="0" marR="68575" marL="68575"/>
                </a:tc>
              </a:tr>
              <a:tr h="499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Razonamiento lógico</a:t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/>
                    </a:p>
                  </a:txBody>
                  <a:tcPr marT="0" marB="0" marR="68575" marL="68575"/>
                </a:tc>
              </a:tr>
              <a:tr h="499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Resolución de problemas</a:t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/>
                    </a:p>
                  </a:txBody>
                  <a:tcPr marT="0" marB="0" marR="68575" marL="68575"/>
                </a:tc>
              </a:tr>
              <a:tr h="499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Planificación y previsión</a:t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/>
                    </a:p>
                  </a:txBody>
                  <a:tcPr marT="0" marB="0" marR="68575" marL="68575"/>
                </a:tc>
              </a:tr>
            </a:tbl>
          </a:graphicData>
        </a:graphic>
      </p:graphicFrame>
      <p:sp>
        <p:nvSpPr>
          <p:cNvPr id="157" name="Google Shape;157;g30a13173369_0_70"/>
          <p:cNvSpPr txBox="1"/>
          <p:nvPr/>
        </p:nvSpPr>
        <p:spPr>
          <a:xfrm>
            <a:off x="405650" y="1797425"/>
            <a:ext cx="8456100" cy="12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26695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latin typeface="Calibri"/>
                <a:ea typeface="Calibri"/>
                <a:cs typeface="Calibri"/>
                <a:sym typeface="Calibri"/>
              </a:rPr>
              <a:t>EJERCICIO 3: Busca 1 ejemplo de IA Fuerte en la ciencia ficción (libros o películas), y escribe un ejemplo que demuestra por qué cumple con cada una de las características de la IA Fuerte: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7916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s-ES" sz="1600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Skynet, la inteligencia artificial de la franquicia de ciencia ficción “Terminator”, es un ejemplo clásico de IA Fuerte en la ficción.</a:t>
            </a:r>
            <a:endParaRPr sz="1600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/>
          <p:nvPr>
            <p:ph type="title"/>
          </p:nvPr>
        </p:nvSpPr>
        <p:spPr>
          <a:xfrm>
            <a:off x="681038" y="866326"/>
            <a:ext cx="8543925" cy="113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3600"/>
              <a:buFont typeface="Calibri"/>
              <a:buNone/>
            </a:pPr>
            <a:r>
              <a:rPr lang="es-ES"/>
              <a:t>Següent classe – Tancament tema 1 i formació en prompting</a:t>
            </a:r>
            <a:endParaRPr/>
          </a:p>
        </p:txBody>
      </p:sp>
      <p:sp>
        <p:nvSpPr>
          <p:cNvPr id="163" name="Google Shape;163;p10"/>
          <p:cNvSpPr txBox="1"/>
          <p:nvPr>
            <p:ph idx="1" type="body"/>
          </p:nvPr>
        </p:nvSpPr>
        <p:spPr>
          <a:xfrm>
            <a:off x="681038" y="2219417"/>
            <a:ext cx="8543925" cy="3957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Repàs del tema 1 i posada en comú de l’activitat 3.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Formació en prompting: Com utilitzar de la millor manera possible GPT?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Sabies que GPT significa Generative Pre-trained Transformer?</a:t>
            </a:r>
            <a:endParaRPr/>
          </a:p>
        </p:txBody>
      </p:sp>
      <p:sp>
        <p:nvSpPr>
          <p:cNvPr id="164" name="Google Shape;164;p10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65" name="Google Shape;165;p10"/>
          <p:cNvSpPr txBox="1"/>
          <p:nvPr>
            <p:ph idx="2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166" name="Google Shape;166;p10"/>
          <p:cNvSpPr txBox="1"/>
          <p:nvPr>
            <p:ph idx="3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20_P_FP_CAT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2024-10-03T12:02:25Z</dcterms:created>
  <dc:creator>Nil Redon</dc:creator>
</cp:coreProperties>
</file>