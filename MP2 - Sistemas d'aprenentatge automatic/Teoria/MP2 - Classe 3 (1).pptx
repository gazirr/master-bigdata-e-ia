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906000"/>
  <p:notesSz cx="6858000" cy="9144000"/>
  <p:embeddedFontLst>
    <p:embeddedFont>
      <p:font typeface="Arial Black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BhuHc2szAQVOaVkHt4iDpXBpN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142019-1653-422D-8294-714396C03104}">
  <a:tblStyle styleId="{F1142019-1653-422D-8294-714396C031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aebf29ce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0aebf29ce2_0_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a4b287b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0a4b287b3c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a44f73dc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0a44f73dce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aebf29ce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0aebf29ce2_0_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a44f73dce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0a44f73dce_0_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aebf29ce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0aebf29ce2_0_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a44f73dce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0a44f73dce_0_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a44f73dce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0a44f73dce_0_2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aebf29ce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0aebf29ce2_0_2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a44f73dc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0a44f73dce_0_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  <a:defRPr sz="4400">
                <a:solidFill>
                  <a:srgbClr val="004E9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  <a:defRPr sz="2400">
                <a:solidFill>
                  <a:srgbClr val="83838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2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0" sz="1600"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" name="Google Shape;21;p13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8" name="Google Shape;28;p14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682328" y="866778"/>
            <a:ext cx="8543925" cy="814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5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15"/>
          <p:cNvSpPr txBox="1"/>
          <p:nvPr>
            <p:ph idx="5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6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>
  <p:cSld name="Contenido con títul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3" name="Google Shape;53;p18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4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  <a:defRPr sz="12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682328" y="987426"/>
            <a:ext cx="3194943" cy="10699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9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0" name="Google Shape;60;p19"/>
          <p:cNvSpPr txBox="1"/>
          <p:nvPr>
            <p:ph idx="3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  <a:defRPr sz="1600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800"/>
              <a:buChar char="•"/>
              <a:defRPr sz="1800">
                <a:solidFill>
                  <a:srgbClr val="838383"/>
                </a:solidFill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600"/>
              <a:buChar char="•"/>
              <a:defRPr sz="1600">
                <a:solidFill>
                  <a:srgbClr val="838383"/>
                </a:solidFill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38383"/>
              </a:buClr>
              <a:buSzPts val="1400"/>
              <a:buChar char="•"/>
              <a:defRPr sz="1400">
                <a:solidFill>
                  <a:srgbClr val="83838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004E9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3838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941032" y="1344305"/>
            <a:ext cx="7831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4400"/>
              <a:buFont typeface="Arial Black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941032" y="3731906"/>
            <a:ext cx="7336100" cy="982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2400"/>
              <a:buNone/>
            </a:pPr>
            <a:r>
              <a:rPr lang="es-ES"/>
              <a:t>Classe 3 – Tema 1 – 17/10/2024</a:t>
            </a:r>
            <a:endParaRPr/>
          </a:p>
        </p:txBody>
      </p:sp>
      <p:sp>
        <p:nvSpPr>
          <p:cNvPr id="67" name="Google Shape;67;p1"/>
          <p:cNvSpPr txBox="1"/>
          <p:nvPr>
            <p:ph idx="2" type="body"/>
          </p:nvPr>
        </p:nvSpPr>
        <p:spPr>
          <a:xfrm>
            <a:off x="941032" y="5254857"/>
            <a:ext cx="3764133" cy="14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es-ES"/>
              <a:t>Nil Redón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Classe anterior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Definició de IA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Definició d’algoritme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Evolució histórica de la IA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IA vs sistemes tradicionals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Tipus de IA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Definició de IA Forta i IA Dèbil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Activitat 1 feta i corregida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ES"/>
              <a:t>Dubtes / preguntes?</a:t>
            </a:r>
            <a:endParaRPr/>
          </a:p>
        </p:txBody>
      </p:sp>
      <p:sp>
        <p:nvSpPr>
          <p:cNvPr id="74" name="Google Shape;74;p2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" name="Google Shape;75;p2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76" name="Google Shape;76;p2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Continguts de la classe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Definició de IA Forta i IA Dèbil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Caracterització i aplicacions de la IA Dèbil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Avantatges i inconvenients de la IA Dèbil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Possibilitats futures de la IA Dèbil</a:t>
            </a:r>
            <a:endParaRPr/>
          </a:p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4" name="Google Shape;84;p3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85" name="Google Shape;85;p3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/>
          <p:nvPr>
            <p:ph type="title"/>
          </p:nvPr>
        </p:nvSpPr>
        <p:spPr>
          <a:xfrm>
            <a:off x="681038" y="454251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Demostració visual dels models d’embedding</a:t>
            </a:r>
            <a:endParaRPr/>
          </a:p>
        </p:txBody>
      </p:sp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2" name="Google Shape;92;p9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93" name="Google Shape;93;p9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94" name="Google Shape;9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325" y="1585551"/>
            <a:ext cx="6323913" cy="4670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aebf29ce2_0_32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IA Dèbil vs IA Forta</a:t>
            </a:r>
            <a:endParaRPr/>
          </a:p>
        </p:txBody>
      </p:sp>
      <p:sp>
        <p:nvSpPr>
          <p:cNvPr id="100" name="Google Shape;100;g30aebf29ce2_0_32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1" name="Google Shape;101;g30aebf29ce2_0_32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02" name="Google Shape;102;g30aebf29ce2_0_32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3" name="Google Shape;103;g30aebf29ce2_0_32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Dèbil és capaç de realitzar tasques concretes que requereixen Intel·ligència humana.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La IA Forta és capaç de raonar, interactuar amb l’entorn, tenir autoconsciència i aprendre a realitzar qualsevol tipus de tasca.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Tots els algoritmes que coneixem a dia d’avui son IA Dèbil. La IA Forta no existeix avui en dia.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a4b287b3c_0_0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Solució a l’activitat 1</a:t>
            </a:r>
            <a:endParaRPr/>
          </a:p>
        </p:txBody>
      </p:sp>
      <p:sp>
        <p:nvSpPr>
          <p:cNvPr id="109" name="Google Shape;109;g30a4b287b3c_0_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0" name="Google Shape;110;g30a4b287b3c_0_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11" name="Google Shape;111;g30a4b287b3c_0_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graphicFrame>
        <p:nvGraphicFramePr>
          <p:cNvPr id="112" name="Google Shape;112;g30a4b287b3c_0_0"/>
          <p:cNvGraphicFramePr/>
          <p:nvPr/>
        </p:nvGraphicFramePr>
        <p:xfrm>
          <a:off x="681050" y="20964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{F1142019-1653-422D-8294-714396C03104}</a:tableStyleId>
              </a:tblPr>
              <a:tblGrid>
                <a:gridCol w="4580725"/>
                <a:gridCol w="2019750"/>
                <a:gridCol w="1861325"/>
              </a:tblGrid>
              <a:tr h="34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PREMISA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VERDADERA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FALSA</a:t>
                      </a:r>
                      <a:endParaRPr b="1"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Débil está diseñada para realizar tareas específicas y limitadas.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Fuerte puede entender, razonar y tener conciencia similar a la humana.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 asistente virtual como Siri o Alexa es un ejemplo de IA Fuerte.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Débil puede aprender y adaptarse a nuevas situaciones sin intervención humana.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9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IA Fuerte es actualmente una realidad y se utiliza en diversas aplicaciones comerciales.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a44f73dce_0_0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Caracterització i aplicacions de la IA Dèbil</a:t>
            </a:r>
            <a:endParaRPr/>
          </a:p>
        </p:txBody>
      </p:sp>
      <p:sp>
        <p:nvSpPr>
          <p:cNvPr id="118" name="Google Shape;118;g30a44f73dce_0_0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9" name="Google Shape;119;g30a44f73dce_0_0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0" name="Google Shape;120;g30a44f73dce_0_0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1" name="Google Shape;121;g30a44f73dce_0_0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Característiques: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Especialització en tasques concretes.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Gran dependència de les dades d’entrada.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Necessitat d’actualització per nous casos.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Us de mètriques per mesurar la precisió.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Falta de consciència i comprensió general.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aebf29ce2_0_8"/>
          <p:cNvSpPr txBox="1"/>
          <p:nvPr>
            <p:ph type="title"/>
          </p:nvPr>
        </p:nvSpPr>
        <p:spPr>
          <a:xfrm>
            <a:off x="680988" y="2632351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Debatim: </a:t>
            </a:r>
            <a:r>
              <a:rPr lang="es-ES"/>
              <a:t>Quines aplicacions coneixeu de la IA Dèbil i quin valor aporten?</a:t>
            </a:r>
            <a:endParaRPr/>
          </a:p>
        </p:txBody>
      </p:sp>
      <p:sp>
        <p:nvSpPr>
          <p:cNvPr id="127" name="Google Shape;127;g30aebf29ce2_0_8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28" name="Google Shape;128;g30aebf29ce2_0_8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29" name="Google Shape;129;g30aebf29ce2_0_8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a44f73dce_0_9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Caracterització i aplicacions de la IA Dèbil</a:t>
            </a:r>
            <a:endParaRPr/>
          </a:p>
        </p:txBody>
      </p:sp>
      <p:sp>
        <p:nvSpPr>
          <p:cNvPr id="135" name="Google Shape;135;g30a44f73dce_0_9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36" name="Google Shape;136;g30a44f73dce_0_9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37" name="Google Shape;137;g30a44f73dce_0_9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8" name="Google Shape;138;g30a44f73dce_0_9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Algunes aplicacions: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Traducció automàtica.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Assistents virtuals.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Sistemes de recomanació.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Reconeixement de veu.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Filtres de spam.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Diagnòstic mèdic.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aebf29ce2_0_17"/>
          <p:cNvSpPr txBox="1"/>
          <p:nvPr>
            <p:ph type="title"/>
          </p:nvPr>
        </p:nvSpPr>
        <p:spPr>
          <a:xfrm>
            <a:off x="680988" y="2632351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Debatim: Quins avantatges i inconvenients trobem?</a:t>
            </a:r>
            <a:endParaRPr/>
          </a:p>
        </p:txBody>
      </p:sp>
      <p:sp>
        <p:nvSpPr>
          <p:cNvPr id="144" name="Google Shape;144;g30aebf29ce2_0_17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5" name="Google Shape;145;g30aebf29ce2_0_17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46" name="Google Shape;146;g30aebf29ce2_0_17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a44f73dce_0_17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Avantatges i inconvenients de la IA Dèbil</a:t>
            </a:r>
            <a:endParaRPr/>
          </a:p>
        </p:txBody>
      </p:sp>
      <p:sp>
        <p:nvSpPr>
          <p:cNvPr id="152" name="Google Shape;152;g30a44f73dce_0_17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3" name="Google Shape;153;g30a44f73dce_0_17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54" name="Google Shape;154;g30a44f73dce_0_17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5" name="Google Shape;155;g30a44f73dce_0_17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Avantatges principals: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Capacitat de resolució de tasques complexes.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Automatització de tasques.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Precisió, exactitud i reducció d’errors humans.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Personalització i millora de l’experiència.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a44f73dce_0_25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Avantatges i inconvenients de la IA Dèbil</a:t>
            </a:r>
            <a:endParaRPr/>
          </a:p>
        </p:txBody>
      </p:sp>
      <p:sp>
        <p:nvSpPr>
          <p:cNvPr id="161" name="Google Shape;161;g30a44f73dce_0_25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2" name="Google Shape;162;g30a44f73dce_0_25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63" name="Google Shape;163;g30a44f73dce_0_25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4" name="Google Shape;164;g30a44f73dce_0_25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Inconvenients principals: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Falta de flexibilitat.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Dependència de les dades.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Privacitat i seguretat.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Impacte en la societat.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Ètica, transparència i explicabilitat.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Costos de manteniment i ús.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aebf29ce2_0_24"/>
          <p:cNvSpPr txBox="1"/>
          <p:nvPr>
            <p:ph type="title"/>
          </p:nvPr>
        </p:nvSpPr>
        <p:spPr>
          <a:xfrm>
            <a:off x="680988" y="2632351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Debatim: Com creieu que evolucionarà la IA Dèbil?</a:t>
            </a:r>
            <a:endParaRPr/>
          </a:p>
        </p:txBody>
      </p:sp>
      <p:sp>
        <p:nvSpPr>
          <p:cNvPr id="170" name="Google Shape;170;g30aebf29ce2_0_24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71" name="Google Shape;171;g30aebf29ce2_0_24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72" name="Google Shape;172;g30aebf29ce2_0_24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a44f73dce_0_33"/>
          <p:cNvSpPr txBox="1"/>
          <p:nvPr>
            <p:ph type="title"/>
          </p:nvPr>
        </p:nvSpPr>
        <p:spPr>
          <a:xfrm>
            <a:off x="681038" y="866326"/>
            <a:ext cx="8544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Possibilitats futures de la IA Dèbil</a:t>
            </a:r>
            <a:endParaRPr/>
          </a:p>
        </p:txBody>
      </p:sp>
      <p:sp>
        <p:nvSpPr>
          <p:cNvPr id="178" name="Google Shape;178;g30a44f73dce_0_33"/>
          <p:cNvSpPr txBox="1"/>
          <p:nvPr>
            <p:ph idx="12" type="sldNum"/>
          </p:nvPr>
        </p:nvSpPr>
        <p:spPr>
          <a:xfrm>
            <a:off x="6445697" y="102377"/>
            <a:ext cx="22290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79" name="Google Shape;179;g30a44f73dce_0_33"/>
          <p:cNvSpPr txBox="1"/>
          <p:nvPr>
            <p:ph idx="2" type="body"/>
          </p:nvPr>
        </p:nvSpPr>
        <p:spPr>
          <a:xfrm>
            <a:off x="681038" y="230819"/>
            <a:ext cx="438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80" name="Google Shape;180;g30a44f73dce_0_33"/>
          <p:cNvSpPr txBox="1"/>
          <p:nvPr>
            <p:ph idx="3" type="body"/>
          </p:nvPr>
        </p:nvSpPr>
        <p:spPr>
          <a:xfrm>
            <a:off x="681038" y="6560598"/>
            <a:ext cx="438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1" name="Google Shape;181;g30a44f73dce_0_33"/>
          <p:cNvSpPr txBox="1"/>
          <p:nvPr>
            <p:ph idx="1" type="body"/>
          </p:nvPr>
        </p:nvSpPr>
        <p:spPr>
          <a:xfrm>
            <a:off x="681038" y="2219417"/>
            <a:ext cx="85440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Millora contínua de la personalització.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Integració en noves àrees.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Acceleració de la innovació.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Automatització avançada.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Interacció humà-màquina millorada.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s-ES"/>
              <a:t>…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681038" y="866326"/>
            <a:ext cx="8543925" cy="1131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E9A"/>
              </a:buClr>
              <a:buSzPts val="3600"/>
              <a:buFont typeface="Calibri"/>
              <a:buNone/>
            </a:pPr>
            <a:r>
              <a:rPr lang="es-ES"/>
              <a:t>Següent classe – Caracterització de la IA Forta</a:t>
            </a:r>
            <a:endParaRPr/>
          </a:p>
        </p:txBody>
      </p:sp>
      <p:sp>
        <p:nvSpPr>
          <p:cNvPr id="187" name="Google Shape;187;p10"/>
          <p:cNvSpPr txBox="1"/>
          <p:nvPr>
            <p:ph idx="1" type="body"/>
          </p:nvPr>
        </p:nvSpPr>
        <p:spPr>
          <a:xfrm>
            <a:off x="681038" y="2219417"/>
            <a:ext cx="8543925" cy="395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Entrarem en detall sobre la IA Forta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Parlarem 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Característiques dels algoritmes de IA Forta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Aplicacions reals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/>
              <a:t>Avantatges i inconvenients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/>
              <a:t>Sabies que hi ha diferents camps que volen aconseguir arribar a la IA Forta des de punts de vista diferents?</a:t>
            </a:r>
            <a:endParaRPr/>
          </a:p>
        </p:txBody>
      </p:sp>
      <p:sp>
        <p:nvSpPr>
          <p:cNvPr id="188" name="Google Shape;188;p10"/>
          <p:cNvSpPr txBox="1"/>
          <p:nvPr>
            <p:ph idx="12" type="sldNum"/>
          </p:nvPr>
        </p:nvSpPr>
        <p:spPr>
          <a:xfrm>
            <a:off x="6445697" y="102377"/>
            <a:ext cx="2228850" cy="435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9" name="Google Shape;189;p10"/>
          <p:cNvSpPr txBox="1"/>
          <p:nvPr>
            <p:ph idx="2" type="body"/>
          </p:nvPr>
        </p:nvSpPr>
        <p:spPr>
          <a:xfrm>
            <a:off x="681038" y="230819"/>
            <a:ext cx="4387850" cy="32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600"/>
              <a:buNone/>
            </a:pPr>
            <a:r>
              <a:rPr lang="es-ES"/>
              <a:t>MP2: Sistemes d’aprenentatge automàtic</a:t>
            </a:r>
            <a:endParaRPr/>
          </a:p>
        </p:txBody>
      </p:sp>
      <p:sp>
        <p:nvSpPr>
          <p:cNvPr id="190" name="Google Shape;190;p10"/>
          <p:cNvSpPr txBox="1"/>
          <p:nvPr>
            <p:ph idx="3" type="body"/>
          </p:nvPr>
        </p:nvSpPr>
        <p:spPr>
          <a:xfrm>
            <a:off x="681038" y="6560598"/>
            <a:ext cx="4387850" cy="2974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8383"/>
              </a:buClr>
              <a:buSzPts val="1200"/>
              <a:buNone/>
            </a:pPr>
            <a:r>
              <a:rPr lang="es-ES"/>
              <a:t>Classe 1 - Introducció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20_P_FP_CAT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2024-10-03T12:02:25Z</dcterms:created>
  <dc:creator>Nil Redon</dc:creator>
</cp:coreProperties>
</file>